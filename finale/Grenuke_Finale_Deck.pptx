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5"/>
  </p:notesMasterIdLst>
  <p:sldIdLst>
    <p:sldId id="257" r:id="rId2"/>
    <p:sldId id="279" r:id="rId4"/>
    <p:sldId id="262" r:id="rId3"/>
    <p:sldId id="297" r:id="rId38"/>
    <p:sldId id="296" r:id="rId37"/>
    <p:sldId id="295" r:id="rId36"/>
    <p:sldId id="294" r:id="rId35"/>
    <p:sldId id="302" r:id="rId43"/>
    <p:sldId id="293" r:id="rId34"/>
    <p:sldId id="292" r:id="rId33"/>
    <p:sldId id="291" r:id="rId32"/>
    <p:sldId id="290" r:id="rId31"/>
    <p:sldId id="289" r:id="rId30"/>
    <p:sldId id="288" r:id="rId29"/>
    <p:sldId id="301" r:id="rId42"/>
    <p:sldId id="287" r:id="rId28"/>
    <p:sldId id="286" r:id="rId27"/>
    <p:sldId id="300" r:id="rId41"/>
    <p:sldId id="285" r:id="rId26"/>
    <p:sldId id="284" r:id="rId25"/>
    <p:sldId id="283" r:id="rId24"/>
    <p:sldId id="282" r:id="rId23"/>
    <p:sldId id="299" r:id="rId40"/>
    <p:sldId id="281" r:id="rId22"/>
    <p:sldId id="280" r:id="rId21"/>
    <p:sldId id="298" r:id="rId39"/>
  </p:sldIdLst>
  <p:sldSz cx="9144000" cy="5143500" type="screen16x9"/>
  <p:notesSz cx="6858000" cy="9144000"/>
  <p:embeddedFontLst>
    <p:embeddedFont>
      <p:font typeface="Ember Modern Display Standard" panose="020B0503020204020204" pitchFamily="34" charset="0"/>
      <p:regular r:id="rId6"/>
      <p:bold r:id="rId7"/>
    </p:embeddedFont>
    <p:embeddedFont>
      <p:font typeface="Helvetica Neue" panose="020B0604020202020204" charset="0"/>
      <p:regular r:id="rId8"/>
      <p:bold r:id="rId9"/>
      <p:italic r:id="rId10"/>
      <p:boldItalic r:id="rId11"/>
    </p:embeddedFont>
    <p:embeddedFont>
      <p:font typeface="Play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ylec@amazon.co.uk" initials="" lastIdx="8" clrIdx="0"/>
  <p:cmAuthor id="1" name="Monika Lumb" initials="" lastIdx="4" clrIdx="1"/>
  <p:cmAuthor id="2" name="Samantha Trup" initials="" lastIdx="1" clrIdx="2"/>
  <p:cmAuthor id="3" name="Gabriela Beitel" initials="" lastIdx="17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101"/>
    <a:srgbClr val="131C27"/>
    <a:srgbClr val="EEEEEE"/>
    <a:srgbClr val="F491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26"/>
  </p:normalViewPr>
  <p:slideViewPr>
    <p:cSldViewPr snapToGrid="0">
      <p:cViewPr varScale="1">
        <p:scale>
          <a:sx n="93" d="100"/>
          <a:sy n="93" d="100"/>
        </p:scale>
        <p:origin x="544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font" Target="fonts/font6.fntdata"/><Relationship Id="rId12" Type="http://schemas.openxmlformats.org/officeDocument/2006/relationships/font" Target="fonts/font7.fntdata"/><Relationship Id="rId13" Type="http://schemas.openxmlformats.org/officeDocument/2006/relationships/font" Target="fonts/font8.fntdata"/><Relationship Id="rId14" Type="http://schemas.openxmlformats.org/officeDocument/2006/relationships/font" Target="fonts/font9.fntdata"/><Relationship Id="rId15" Type="http://schemas.openxmlformats.org/officeDocument/2006/relationships/font" Target="fonts/font10.fntdata"/><Relationship Id="rId16" Type="http://schemas.openxmlformats.org/officeDocument/2006/relationships/commentAuthors" Target="commentAuthors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20.xml"/><Relationship Id="rId22" Type="http://schemas.openxmlformats.org/officeDocument/2006/relationships/slide" Target="slides/slide19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6.xml"/><Relationship Id="rId26" Type="http://schemas.openxmlformats.org/officeDocument/2006/relationships/slide" Target="slides/slide15.xml"/><Relationship Id="rId27" Type="http://schemas.openxmlformats.org/officeDocument/2006/relationships/slide" Target="slides/slide14.xml"/><Relationship Id="rId28" Type="http://schemas.openxmlformats.org/officeDocument/2006/relationships/slide" Target="slides/slide13.xml"/><Relationship Id="rId29" Type="http://schemas.openxmlformats.org/officeDocument/2006/relationships/slide" Target="slides/slide12.xml"/><Relationship Id="rId30" Type="http://schemas.openxmlformats.org/officeDocument/2006/relationships/slide" Target="slides/slide11.xml"/><Relationship Id="rId31" Type="http://schemas.openxmlformats.org/officeDocument/2006/relationships/slide" Target="slides/slide10.xml"/><Relationship Id="rId32" Type="http://schemas.openxmlformats.org/officeDocument/2006/relationships/slide" Target="slides/slide9.xml"/><Relationship Id="rId33" Type="http://schemas.openxmlformats.org/officeDocument/2006/relationships/slide" Target="slides/slide8.xml"/><Relationship Id="rId34" Type="http://schemas.openxmlformats.org/officeDocument/2006/relationships/slide" Target="slides/slide7.xml"/><Relationship Id="rId35" Type="http://schemas.openxmlformats.org/officeDocument/2006/relationships/slide" Target="slides/slide6.xml"/><Relationship Id="rId36" Type="http://schemas.openxmlformats.org/officeDocument/2006/relationships/slide" Target="slides/slide5.xml"/><Relationship Id="rId37" Type="http://schemas.openxmlformats.org/officeDocument/2006/relationships/slide" Target="slides/slide4.xml"/><Relationship Id="rId38" Type="http://schemas.openxmlformats.org/officeDocument/2006/relationships/slide" Target="slides/slide3.xml"/><Relationship Id="rId39" Type="http://schemas.openxmlformats.org/officeDocument/2006/relationships/slide" Target="slides/slide26.xml"/><Relationship Id="rId40" Type="http://schemas.openxmlformats.org/officeDocument/2006/relationships/slide" Target="slides/slide25.xml"/><Relationship Id="rId41" Type="http://schemas.openxmlformats.org/officeDocument/2006/relationships/slide" Target="slides/slide24.xml"/><Relationship Id="rId42" Type="http://schemas.openxmlformats.org/officeDocument/2006/relationships/slide" Target="slides/slide23.xml"/><Relationship Id="rId43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US</c:v>
                </c:pt>
              </c:strCache>
            </c:strRef>
          </c:tx>
          <c:spPr>
            <a:solidFill>
              <a:srgbClr val="161D26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Ember Modern Display Standard"/>
                      </a:rPr>
                      <a:t>1.32M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Ember Modern Display Standard"/>
                      </a:rPr>
                      <a:t>0.66M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Training set</c:v>
                </c:pt>
                <c:pt idx="1">
                  <c:v>Test set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1.324</c:v>
                </c:pt>
                <c:pt idx="1">
                  <c:v>0.663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India</c:v>
                </c:pt>
              </c:strCache>
            </c:strRef>
          </c:tx>
          <c:spPr>
            <a:solidFill>
              <a:srgbClr val="D6DCE7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0.88M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0.81M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Training set</c:v>
                </c:pt>
                <c:pt idx="1">
                  <c:v>Test set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0.883</c:v>
                </c:pt>
                <c:pt idx="1">
                  <c:v>0.81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France</c:v>
                </c:pt>
              </c:strCache>
            </c:strRef>
          </c:tx>
          <c:spPr>
            <a:solidFill>
              <a:srgbClr val="FF6200"/>
            </a:solidFill>
          </c:spPr>
          <c:dLbls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Ember Modern Display Standard"/>
                      </a:rPr>
                      <a:t>0.26M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Training set</c:v>
                </c:pt>
                <c:pt idx="1">
                  <c:v>Test set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0.259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3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F6200"/>
              </a:solidFill>
            </c:spPr>
          </c:dPt>
          <c:dPt>
            <c:idx val="1"/>
            <c:spPr>
              <a:solidFill>
                <a:srgbClr val="D6DCE7"/>
              </a:solidFill>
            </c:spPr>
          </c:dPt>
          <c:dPt>
            <c:idx val="2"/>
            <c:spPr>
              <a:solidFill>
                <a:srgbClr val="D6DCE7"/>
              </a:solidFill>
            </c:spPr>
          </c:dPt>
          <c:dPt>
            <c:idx val="3"/>
            <c:spPr>
              <a:solidFill>
                <a:srgbClr val="D6DCE7"/>
              </a:solidFill>
            </c:spPr>
          </c:dPt>
          <c:dPt>
            <c:idx val="4"/>
            <c:spPr>
              <a:solidFill>
                <a:srgbClr val="D6DCE7"/>
              </a:solidFill>
            </c:spPr>
          </c:dPt>
          <c:dPt>
            <c:idx val="5"/>
            <c:spPr>
              <a:solidFill>
                <a:srgbClr val="D6DCE7"/>
              </a:solidFill>
            </c:spPr>
          </c:dPt>
          <c:dPt>
            <c:idx val="6"/>
            <c:spPr>
              <a:solidFill>
                <a:srgbClr val="D6DCE7"/>
              </a:solidFill>
            </c:spPr>
          </c:dPt>
          <c:dPt>
            <c:idx val="7"/>
            <c:spPr>
              <a:solidFill>
                <a:srgbClr val="D6DCE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5.6%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5.4%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17%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24%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22%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14.6%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7.5%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5.6</c:v>
                </c:pt>
                <c:pt idx="1">
                  <c:v>5.4</c:v>
                </c:pt>
                <c:pt idx="2">
                  <c:v>17</c:v>
                </c:pt>
                <c:pt idx="3">
                  <c:v>24</c:v>
                </c:pt>
                <c:pt idx="4">
                  <c:v>22</c:v>
                </c:pt>
                <c:pt idx="5">
                  <c:v>14.6</c:v>
                </c:pt>
                <c:pt idx="6">
                  <c:v>7.5</c:v>
                </c:pt>
                <c:pt idx="7">
                  <c:v>4.0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D6DCE7"/>
              </a:solidFill>
            </c:spPr>
          </c:dPt>
          <c:dPt>
            <c:idx val="1"/>
            <c:spPr>
              <a:solidFill>
                <a:srgbClr val="D6DCE7"/>
              </a:solidFill>
            </c:spPr>
          </c:dPt>
          <c:dPt>
            <c:idx val="2"/>
            <c:spPr>
              <a:solidFill>
                <a:srgbClr val="FF62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15.9%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4.7%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0.09%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Weak name</c:v>
                </c:pt>
                <c:pt idx="1">
                  <c:v>Weak address</c:v>
                </c:pt>
                <c:pt idx="2">
                  <c:v>Both weak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4.7</c:v>
                </c:pt>
                <c:pt idx="2">
                  <c:v>0.09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True copies</c:v>
                </c:pt>
              </c:strCache>
            </c:strRef>
          </c:tx>
          <c:spPr>
            <a:solidFill>
              <a:srgbClr val="161D26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85%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23%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Keeps the house number</c:v>
                </c:pt>
                <c:pt idx="1">
                  <c:v>Adds a name word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84.8</c:v>
                </c:pt>
                <c:pt idx="1">
                  <c:v>23.3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Look-alikes</c:v>
                </c:pt>
              </c:strCache>
            </c:strRef>
          </c:tx>
          <c:spPr>
            <a:solidFill>
              <a:srgbClr val="FF6200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12%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61D26"/>
                        </a:solidFill>
                        <a:latin typeface="Ember Modern Display Standard"/>
                      </a:rPr>
                      <a:t>77%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Keeps the house number</c:v>
                </c:pt>
                <c:pt idx="1">
                  <c:v>Adds a name word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12.4</c:v>
                </c:pt>
                <c:pt idx="1">
                  <c:v>76.5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F6200"/>
              </a:solidFill>
              <a:ln>
                <a:noFill/>
              </a:ln>
            </c:spPr>
          </c:dPt>
          <c:dPt>
            <c:idx val="1"/>
            <c:spPr>
              <a:solidFill>
                <a:srgbClr val="3A4555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2.6</c:v>
                </c:pt>
                <c:pt idx="1">
                  <c:v>97.4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161D26"/>
          </a:solidFill>
          <a:latin typeface="Ember Modern Display Standard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D6DCE7"/>
              </a:solidFill>
            </c:spPr>
          </c:dPt>
          <c:dPt>
            <c:idx val="1"/>
            <c:spPr>
              <a:solidFill>
                <a:srgbClr val="D6DCE7"/>
              </a:solidFill>
            </c:spPr>
          </c:dPt>
          <c:dPt>
            <c:idx val="2"/>
            <c:spPr>
              <a:solidFill>
                <a:srgbClr val="FF6200"/>
              </a:solidFill>
            </c:spPr>
          </c:dPt>
          <c:dPt>
            <c:idx val="3"/>
            <c:spPr>
              <a:solidFill>
                <a:srgbClr val="161D2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33.7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4.8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3.70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3.38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Retrieved</c:v>
                </c:pt>
                <c:pt idx="1">
                  <c:v>After a cheap filter</c:v>
                </c:pt>
                <c:pt idx="2">
                  <c:v>Candidates</c:v>
                </c:pt>
                <c:pt idx="3">
                  <c:v>Final matches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33.73</c:v>
                </c:pt>
                <c:pt idx="1">
                  <c:v>4.77</c:v>
                </c:pt>
                <c:pt idx="2">
                  <c:v>3.7</c:v>
                </c:pt>
                <c:pt idx="3">
                  <c:v>3.38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D6DCE7"/>
              </a:solidFill>
            </c:spPr>
          </c:dPt>
          <c:dPt>
            <c:idx val="1"/>
            <c:spPr>
              <a:solidFill>
                <a:srgbClr val="FF62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0.9888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0.9796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Our validation</c:v>
                </c:pt>
                <c:pt idx="1">
                  <c:v>Leaderboard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0.9888</c:v>
                </c:pt>
                <c:pt idx="1">
                  <c:v>0.9796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93"/>
          <c:min val="0.96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61D26"/>
              </a:solidFill>
            </c:spPr>
          </c:dPt>
          <c:dPt>
            <c:idx val="1"/>
            <c:spPr>
              <a:solidFill>
                <a:srgbClr val="161D26"/>
              </a:solidFill>
            </c:spPr>
          </c:dPt>
          <c:dPt>
            <c:idx val="2"/>
            <c:spPr>
              <a:solidFill>
                <a:srgbClr val="FFB28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≈ 0.99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≈ 0.99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≈ 0.93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US</c:v>
                </c:pt>
                <c:pt idx="1">
                  <c:v>India</c:v>
                </c:pt>
                <c:pt idx="2">
                  <c:v>France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</c:v>
                </c:pt>
                <c:pt idx="1">
                  <c:v>0.99</c:v>
                </c:pt>
                <c:pt idx="2">
                  <c:v>0.93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05"/>
          <c:min val="0.88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FB28B"/>
              </a:solidFill>
            </c:spPr>
          </c:dPt>
          <c:dPt>
            <c:idx val="1"/>
            <c:spPr>
              <a:solidFill>
                <a:srgbClr val="FF62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≈ 0.93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1D26"/>
                        </a:solidFill>
                        <a:latin typeface="Ember Modern Display Standard"/>
                      </a:rPr>
                      <a:t>≈ 0.98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0.93</c:v>
                </c:pt>
                <c:pt idx="1">
                  <c:v>0.98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88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F6200"/>
              </a:solidFill>
              <a:ln>
                <a:noFill/>
              </a:ln>
            </c:spPr>
          </c:dPt>
          <c:dPt>
            <c:idx val="1"/>
            <c:spPr>
              <a:solidFill>
                <a:srgbClr val="161D26"/>
              </a:solidFill>
              <a:ln>
                <a:noFill/>
              </a:ln>
            </c:spPr>
          </c:dPt>
          <c:dPt>
            <c:idx val="2"/>
            <c:spPr>
              <a:solidFill>
                <a:srgbClr val="D6DCE7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0</c:v>
                </c:pt>
                <c:pt idx="1">
                  <c:v>1</c:v>
                </c:pt>
                <c:pt idx="2">
                  <c:v>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177</c:v>
                </c:pt>
                <c:pt idx="1">
                  <c:v>126</c:v>
                </c:pt>
                <c:pt idx="2">
                  <c:v>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6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161D26"/>
          </a:solidFill>
          <a:latin typeface="Ember Modern Display Standard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leaderboard</c:v>
                </c:pt>
              </c:strCache>
            </c:strRef>
          </c:tx>
          <c:spPr>
            <a:ln w="34925">
              <a:solidFill>
                <a:srgbClr val="FF6200"/>
              </a:solidFill>
            </a:ln>
          </c:spPr>
          <c:marker>
            <c:symbol val="circle"/>
            <c:size val="7"/>
            <c:spPr>
              <a:solidFill>
                <a:srgbClr val="161D26"/>
              </a:solidFill>
              <a:ln>
                <a:noFill/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61D26"/>
                        </a:solidFill>
                        <a:latin typeface="Ember Modern Display Standard"/>
                      </a:rPr>
                      <a:t>0.976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61D26"/>
                        </a:solidFill>
                        <a:latin typeface="Ember Modern Display Standard"/>
                      </a:rPr>
                      <a:t>0.988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61D26"/>
                        </a:solidFill>
                        <a:latin typeface="Ember Modern Display Standard"/>
                      </a:rPr>
                      <a:t>0.990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61D26"/>
                        </a:solidFill>
                        <a:latin typeface="Ember Modern Display Standard"/>
                      </a:rPr>
                      <a:t>0.991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first
model</c:v>
                </c:pt>
                <c:pt idx="1">
                  <c:v>+ legal
forms</c:v>
                </c:pt>
                <c:pt idx="2">
                  <c:v>+ France
rules</c:v>
                </c:pt>
                <c:pt idx="3">
                  <c:v>+ stage 3,
repairs</c:v>
                </c:pt>
                <c:pt idx="4">
                  <c:v>+ trans-
formers</c:v>
                </c:pt>
                <c:pt idx="5">
                  <c:v>+ self-
training</c:v>
                </c:pt>
                <c:pt idx="6">
                  <c:v>+ decision
layer</c:v>
                </c:pt>
                <c:pt idx="7">
                  <c:v>+ French
models</c:v>
                </c:pt>
                <c:pt idx="8">
                  <c:v>+ France
layer</c:v>
                </c:pt>
                <c:pt idx="9">
                  <c:v>+ 7B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0.97608</c:v>
                </c:pt>
                <c:pt idx="1">
                  <c:v>0.97961</c:v>
                </c:pt>
                <c:pt idx="2">
                  <c:v>0.98781</c:v>
                </c:pt>
                <c:pt idx="3">
                  <c:v>0.988609</c:v>
                </c:pt>
                <c:pt idx="4">
                  <c:v>0.989721</c:v>
                </c:pt>
                <c:pt idx="5">
                  <c:v>0.990179</c:v>
                </c:pt>
                <c:pt idx="6">
                  <c:v>0.990264</c:v>
                </c:pt>
                <c:pt idx="7">
                  <c:v>0.990545</c:v>
                </c:pt>
                <c:pt idx="8">
                  <c:v>0.990699</c:v>
                </c:pt>
                <c:pt idx="9">
                  <c:v>0.990879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92"/>
          <c:min val="0.975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0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005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6B7280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F6200"/>
              </a:solidFill>
            </c:spPr>
          </c:dPt>
          <c:dPt>
            <c:idx val="1"/>
            <c:spPr>
              <a:solidFill>
                <a:srgbClr val="D6DCE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61D26"/>
                        </a:solidFill>
                        <a:latin typeface="Ember Modern Display Standard"/>
                      </a:rPr>
                      <a:t>99.9%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61D26"/>
                        </a:solidFill>
                        <a:latin typeface="Ember Modern Display Standard"/>
                      </a:rPr>
                      <a:t>97.5%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Precision</c:v>
                </c:pt>
                <c:pt idx="1">
                  <c:v>Recall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99.9</c:v>
                </c:pt>
                <c:pt idx="1">
                  <c:v>97.5</c:v>
                </c:pt>
              </c:numCache>
            </c:numRef>
          </c:val>
        </c:ser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4"/>
          <c:min val="9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61D26"/>
          </a:solidFill>
          <a:latin typeface="Ember Modern Display Sta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e4afcfa35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ae4afcfa35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(12 s) Hi, we are team Grenuke: Ameya, Aarush and Sachi. Three students, 72 hours, one laptop and a few rented GPUs. This is how 24 million records became a solution ranked second among more than 32,000 teams.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4273c6775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4273c6775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(25 s) We began where every ML project should: with the data. 24.2 million records in three sources: Source 1 is a clean reference, and Sources 2 and 3 are noisy vendor copies. Training covers the US and India; the test adds France, 15 percent, with no labels. And the US test pool is half the size, which shifts count features.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>
          <a:extLst>
            <a:ext uri="{FF2B5EF4-FFF2-40B4-BE49-F238E27FC236}">
              <a16:creationId xmlns:a16="http://schemas.microsoft.com/office/drawing/2014/main" id="{8DDBAE79-5551-27A9-A762-591EA6DD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e4afcfa35_0_222:notes">
            <a:extLst>
              <a:ext uri="{FF2B5EF4-FFF2-40B4-BE49-F238E27FC236}">
                <a16:creationId xmlns:a16="http://schemas.microsoft.com/office/drawing/2014/main" id="{1ADA5E14-48EE-1348-1869-2ED73EC4F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e4afcfa35_0_222:notes">
            <a:extLst>
              <a:ext uri="{FF2B5EF4-FFF2-40B4-BE49-F238E27FC236}">
                <a16:creationId xmlns:a16="http://schemas.microsoft.com/office/drawing/2014/main" id="{FAB588EA-0C48-4CD3-973F-7335AD8C7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(5 seconds) It all started with the data.</a:t>
            </a:r>
          </a:p>
        </p:txBody>
      </p:sp>
    </p:spTree>
    <p:extLst>
      <p:ext uri="{BB962C8B-B14F-4D97-AF65-F5344CB8AC3E}">
        <p14:creationId xmlns:p14="http://schemas.microsoft.com/office/powerpoint/2010/main" val="164226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(22 s) We framed the task as: for each reference business, pick the right set of copies, possibly none. An entity has about three and a half copies, up to eleven. 5.6 percent have none, where an empty answer is right. And no record ever belongs to two entities, so every record gets one owner.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True copies are noisy: 16 percent have a weak name and 5 percent a weak address, but both at once is under a tenth of a percent, so name and address rescue each other. House numbers agree 83 percent of the time, and there are almost no postcodes.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Then we found the decoys. The test has 23 percent more records but the same true matches, so the extras are look-alikes. A true copy keeps the house number 85 percent of the time, a look-alike only 12, and look-alikes add a business word three times as often.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So we set two rules. Decide like the metric: one wrong merge costs as much as four missed copies, so precision comes first. And spend compute where the model is unsure: a cheap model reads every pair, and only 2.6 percent reach our expensive models.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(5 seconds) Then we built the solution.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(25 s) Comparing everything would mean 17 trillion pairs. So we search each country separately, by name and address words, with a name-only search when the address is empty, after repairing spellings. That keeps 99.1 percent of true matches, and a learned cut leaves 3.7 candidates per entity while keeping 98.4. Hard city keys would lose copies with empty addresses.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(25 s) Our architecture has seven steps: blue is data, navy our models, orange our decisions. We clean and retrieve. XGBoost scores every pair. Transformers, e5, bge and Qwen, re-read only the unsure pairs. A second XGBoost turns their votes into a calibrated probability. We decide per entity, and rules plus a 7B model catch the last decoys.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(22 s) Our features came straight from the noise we saw. Typos get fuzzy name scores. Inc versus Incorporated gets a legal-form check. A moved house number gets number features. A swapped business word gets look-alike word odds learned from the data. Shared names get rival features, and empty addresses get their own signals.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Here is one decision. Each candidate gets a probability. We keep adding matches while the expected F0.5 rises: the two real copies stay; the similar name and the bakery at the same address go. And each record has one owner.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Three edge cases. Singletons: 5.6 percent have no match, so the decision can return an empty set. Noisy names and addresses: repairs before search, fuzzy features, and a name-only search when the address is empty. And an unseen country, France, which is the next part of our story.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We kept performance in mind throughout. Each stage shrinks the next: 34 candidates per entity, under 5 after a cheap filter, 3.7 into the main models. The core pipeline ran on one 12 gigabyte GPU, with blocking in about 13 minutes. Only the transformers needed rented GPUs.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(5 seconds) Then the leaderboard started teaching us.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Our first scores were humbling: 0.989 on our validation, 0.980 on the leaderboard. We treated the gap like a bug report. By country, the US and India were fine; the gap was France, at about 0.93. Reading the French errors by hand showed us the decoys.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(25 s) France had no labels, so we let the data teach us. We learned which French words mark a look-alike, without labels. The model learned from its own confident answers, cross-checked so no pair grades itself; honestly, that failed twice before it worked. And different models vote, with a 7B re-check. France rose from about 0.93 to 0.98, an estimate.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(5 seconds) Here is how we worked, and where we landed.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(20 s) As three people, we tried everything: 329 experiments, 177 kept, 126 dropped, each upload testing one change. Ameya led data, blocking and France; Aarush the 7B model and the final submission; Sachi our testing gates, a Qwen model and synthetic French. When two ideas tied, we kept the simpler one.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(18 s) This is our climb, from 0.976 to 0.991, one understood change per upload. Behind it: long nights, a laptop that froze at 3:35 in the morning, a GPU lost mid-run. We finished at 0.990879, second of the top ten among more than 32,000 teams.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(22 s) How did we measure? A fixed quarter of the entities, about 550 thousand, was held out, and every change was judged on it with a paired bootstrap. Under F0.5 we chose precision: 99.9 percent precision against 97.5 percent recall, adding a match only when it was about 75 percent likely.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(22 s) What worked: reading the data first, mixing different models, and deciding per entity. What didn't: our France estimates shared our model's blind spots, and no recall rule passed the 75 percent bar. What we would do differently: label a few hundred French pairs early, and spend one upload measuring France directly.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(5 seconds) And this is where it could go next.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(22 s) At billions of records, we would shard by country and region, so new records search only their own shard; distil the transformers into one small, quantised model; and at sign-up, run XGBoost and a small model on a CPU, with the 7B in the cloud. Cost follows candidates per entity, so we keep it at 3.7.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(18 s) Next, we would add a few hundred labels per new country, use city and state as soft keys, improve empty-address matching, and send unsure pairs to human review. And this applies to sign-ups, seller and supplier records, fake accounts, and new marketplaces.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(8 s) Thank you. Read the data, decide like the metric, and spend compute where it matters. We are happy to take your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73175" y="11322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ser Purple">
  <p:cSld name="TITLE_ONLY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rgbClr val="FF6200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6"/>
          <p:cNvSpPr/>
          <p:nvPr/>
        </p:nvSpPr>
        <p:spPr>
          <a:xfrm>
            <a:off x="0" y="0"/>
            <a:ext cx="9147366" cy="5145465"/>
          </a:xfrm>
          <a:custGeom>
            <a:avLst/>
            <a:gdLst/>
            <a:ahLst/>
            <a:cxnLst/>
            <a:rect l="l" t="t" r="r" b="b"/>
            <a:pathLst>
              <a:path w="20104100" h="11308715" extrusionOk="0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FF62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/>
          </a:p>
        </p:txBody>
      </p:sp>
      <p:sp>
        <p:nvSpPr>
          <p:cNvPr id="98" name="Google Shape;98;p26"/>
          <p:cNvSpPr txBox="1">
            <a:spLocks noGrp="1"/>
          </p:cNvSpPr>
          <p:nvPr>
            <p:ph type="title"/>
          </p:nvPr>
        </p:nvSpPr>
        <p:spPr>
          <a:xfrm>
            <a:off x="351411" y="268461"/>
            <a:ext cx="42804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2300" b="1" i="0">
                <a:solidFill>
                  <a:srgbClr val="FF6200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6"/>
          <p:cNvSpPr txBox="1">
            <a:spLocks noGrp="1"/>
          </p:cNvSpPr>
          <p:nvPr>
            <p:ph type="body" idx="1"/>
          </p:nvPr>
        </p:nvSpPr>
        <p:spPr>
          <a:xfrm>
            <a:off x="4701119" y="2487711"/>
            <a:ext cx="3905700" cy="21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2300" b="1" i="0">
                <a:solidFill>
                  <a:srgbClr val="161D26"/>
                </a:solidFill>
                <a:latin typeface="Play"/>
                <a:ea typeface="Play"/>
                <a:cs typeface="Play"/>
                <a:sym typeface="Play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6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59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"/>
              <a:buNone/>
              <a:defRPr sz="6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2pPr>
            <a:lvl3pPr lvl="2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3pPr>
            <a:lvl4pPr lvl="3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4pPr>
            <a:lvl5pPr lvl="4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5pPr>
            <a:lvl6pPr lvl="5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6pPr>
            <a:lvl7pPr lvl="6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7pPr>
            <a:lvl8pPr lvl="7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8pPr>
            <a:lvl9pPr lvl="8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9pPr>
          </a:lstStyle>
          <a:p>
            <a:endParaRPr/>
          </a:p>
        </p:txBody>
      </p:sp>
      <p:sp>
        <p:nvSpPr>
          <p:cNvPr id="101" name="Google Shape;101;p26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600"/>
              <a:buNone/>
              <a:defRPr sz="6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2pPr>
            <a:lvl3pPr lvl="2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3pPr>
            <a:lvl4pPr lvl="3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4pPr>
            <a:lvl5pPr lvl="4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5pPr>
            <a:lvl6pPr lvl="5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6pPr>
            <a:lvl7pPr lvl="6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7pPr>
            <a:lvl8pPr lvl="7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8pPr>
            <a:lvl9pPr lvl="8">
              <a:spcBef>
                <a:spcPts val="0"/>
              </a:spcBef>
              <a:spcAft>
                <a:spcPts val="0"/>
              </a:spcAft>
              <a:buSzPts val="600"/>
              <a:buNone/>
              <a:defRPr sz="600"/>
            </a:lvl9pPr>
          </a:lstStyle>
          <a:p>
            <a:endParaRPr/>
          </a:p>
        </p:txBody>
      </p:sp>
      <p:sp>
        <p:nvSpPr>
          <p:cNvPr id="102" name="Google Shape;102;p26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ser Plum" userDrawn="1">
  <p:cSld name="TITLE_AND_TWO_COLUMNS_1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443B5F7-EF56-1F15-49A3-569995F718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9463" y="1866864"/>
            <a:ext cx="1773237" cy="202410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454DC439-9F8D-9427-12C5-06A07E1271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7445" y="1866864"/>
            <a:ext cx="1773237" cy="202410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5A368EE7-3E3B-2F44-2596-2B5B8D64F89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8603" y="1866864"/>
            <a:ext cx="1773237" cy="202410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8BA25F23-E8C1-8698-C67D-C52C2F761A8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86585" y="1866864"/>
            <a:ext cx="1773237" cy="202410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ser Plum" preserve="1" userDrawn="1">
  <p:cSld name="1_Wiser Plum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D637DBAA-E392-5870-4249-46419E9FE03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9876" y="1559700"/>
            <a:ext cx="1692771" cy="193225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F1E19A5-6345-E0C3-F089-1BC3F23E186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807" y="1559700"/>
            <a:ext cx="1692771" cy="193225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D7EEFAC9-5F28-4633-D474-BAB20FB1B4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916091" y="1559700"/>
            <a:ext cx="1692771" cy="193225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B7913989-BE66-F651-DF45-ABC524911D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11022" y="1559700"/>
            <a:ext cx="1692771" cy="1932250"/>
          </a:xfrm>
          <a:prstGeom prst="roundRect">
            <a:avLst>
              <a:gd name="adj" fmla="val 12434"/>
            </a:avLst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858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ser Purple 1">
  <p:cSld name="TITLE_ONLY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ser Plum 4">
  <p:cSld name="TITLE_AND_TWO_COLUMNS_5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6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31"/>
          <p:cNvSpPr/>
          <p:nvPr/>
        </p:nvSpPr>
        <p:spPr>
          <a:xfrm>
            <a:off x="3200525" y="0"/>
            <a:ext cx="59436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 1 1 1">
  <p:cSld name="CUSTOM_2_1_1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_1">
  <p:cSld name="SECTION_HEADER_1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8" name="Google Shape;118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1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RCLAYS–LIGHT 1 1">
  <p:cSld name="TITLE_ONLY_1_1_2">
    <p:bg>
      <p:bgPr>
        <a:solidFill>
          <a:srgbClr val="00AEE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62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73175" y="11322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70" r:id="rId11"/>
    <p:sldLayoutId id="2147483671" r:id="rId12"/>
    <p:sldLayoutId id="2147483673" r:id="rId13"/>
    <p:sldLayoutId id="2147483681" r:id="rId14"/>
    <p:sldLayoutId id="2147483674" r:id="rId15"/>
    <p:sldLayoutId id="2147483675" r:id="rId16"/>
    <p:sldLayoutId id="2147483676" r:id="rId17"/>
    <p:sldLayoutId id="2147483678" r:id="rId18"/>
    <p:sldLayoutId id="2147483679" r:id="rId19"/>
    <p:sldLayoutId id="2147483680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6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7.xml"/><Relationship Id="rId3" Type="http://schemas.openxmlformats.org/officeDocument/2006/relationships/image" Target="../media/image2.png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7"/>
          <p:cNvSpPr txBox="1"/>
          <p:nvPr/>
        </p:nvSpPr>
        <p:spPr>
          <a:xfrm>
            <a:off x="3712464" y="4084778"/>
            <a:ext cx="1716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63" b="1" dirty="0">
                <a:solidFill>
                  <a:schemeClr val="lt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AARUSH BAKSHI</a:t>
            </a:r>
            <a:endParaRPr sz="1063" b="1" dirty="0">
              <a:solidFill>
                <a:schemeClr val="lt1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63" b="1" dirty="0">
              <a:solidFill>
                <a:srgbClr val="FFFFFF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158" name="Google Shape;158;p37"/>
          <p:cNvSpPr txBox="1"/>
          <p:nvPr/>
        </p:nvSpPr>
        <p:spPr>
          <a:xfrm>
            <a:off x="1664208" y="4084837"/>
            <a:ext cx="1716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63" b="1" dirty="0">
                <a:solidFill>
                  <a:srgbClr val="FFFFFF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AMEYA BORKAR</a:t>
            </a:r>
            <a:endParaRPr sz="1063" b="1" dirty="0">
              <a:solidFill>
                <a:srgbClr val="FFFFFF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99" b="1" dirty="0">
              <a:solidFill>
                <a:srgbClr val="FFFFFF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159" name="Google Shape;159;p37"/>
          <p:cNvSpPr txBox="1"/>
          <p:nvPr/>
        </p:nvSpPr>
        <p:spPr>
          <a:xfrm>
            <a:off x="779287" y="663396"/>
            <a:ext cx="7585425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chemeClr val="l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Team </a:t>
            </a:r>
            <a:r>
              <a:rPr lang="en" sz="5500" b="1" dirty="0">
                <a:solidFill>
                  <a:srgbClr val="FF610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Grenuke</a:t>
            </a:r>
            <a:endParaRPr sz="2000" b="1" dirty="0">
              <a:solidFill>
                <a:schemeClr val="lt1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161" name="Google Shape;161;p37"/>
          <p:cNvSpPr txBox="1"/>
          <p:nvPr/>
        </p:nvSpPr>
        <p:spPr>
          <a:xfrm>
            <a:off x="5760720" y="4084808"/>
            <a:ext cx="1716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63" b="1" dirty="0">
                <a:solidFill>
                  <a:schemeClr val="lt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SACHI DHOKA</a:t>
            </a:r>
            <a:endParaRPr sz="1063" b="1" dirty="0">
              <a:solidFill>
                <a:schemeClr val="lt1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63" b="1" dirty="0">
              <a:solidFill>
                <a:srgbClr val="FFFFFF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pic>
        <p:nvPicPr>
          <p:cNvPr id="13" name="Picture 12" descr="A logo of a company&#10;&#10;AI-generated content may be incorrect.">
            <a:extLst>
              <a:ext uri="{FF2B5EF4-FFF2-40B4-BE49-F238E27FC236}">
                <a16:creationId xmlns:a16="http://schemas.microsoft.com/office/drawing/2014/main" id="{54E96A6D-C6EA-9D61-ED22-340732ADB5AA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B6EBC231-E852-2F1A-C156-0432CEF758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36776" y="1865376"/>
            <a:ext cx="1773936" cy="2020824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AB9B1BB-405A-843D-39F8-98C2FD91D45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85032" y="1865376"/>
            <a:ext cx="1773936" cy="2020824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AB42942B-65ED-01F3-97B1-DDAE12BA2B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3288" y="1865376"/>
            <a:ext cx="1773936" cy="2020824"/>
          </a:xfrm>
        </p:spPr>
        <p:txBody>
          <a:bodyPr/>
          <a:lstStyle/>
          <a:p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777240" y="148132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D6DCE7"/>
                </a:solidFill>
                <a:latin typeface="Ember Modern Display Standard"/>
              </a:rPr>
              <a:t>Business Entity Resolution   ·   Amazon ML Challenge 2026 Grand Finale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The Data at a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Glance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24.2 million records in three sources, and one country we had never seen.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F6200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Dive Deep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4315968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Ember Modern Display Standard"/>
              </a:rPr>
              <a:t>entities (Source 1) by country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2" name="Oval 271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Source 1 is a clean reference; Sources 2 and 3 are noisy copies</a:t>
            </a:r>
          </a:p>
        </p:txBody>
      </p:sp>
      <p:sp>
        <p:nvSpPr>
          <p:cNvPr id="274" name="Oval 273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The test adds France: 15%, with no labels</a:t>
            </a:r>
          </a:p>
        </p:txBody>
      </p:sp>
      <p:sp>
        <p:nvSpPr>
          <p:cNvPr id="276" name="Oval 275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The US half of the test is half the size, so counts shift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3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What a Match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Looks Like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We framed it as picking the right set of copies for each entity, sometimes none.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F6200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Learn and Be Curious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42702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Ember Modern Display Standard"/>
              </a:rPr>
              <a:t>copies per entity, share of entities (training)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2" name="Oval 271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Average 3.46 copies, at most 11</a:t>
            </a:r>
          </a:p>
        </p:txBody>
      </p:sp>
      <p:sp>
        <p:nvSpPr>
          <p:cNvPr id="274" name="Oval 273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5.6% have none: an empty answer is right</a:t>
            </a:r>
          </a:p>
        </p:txBody>
      </p:sp>
      <p:sp>
        <p:nvSpPr>
          <p:cNvPr id="276" name="Oval 275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No record ever has two owners (0 in 7.6M)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How True Copies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Differ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Copies are noisy, but almost never in both the name and the address.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F6200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Dive Deep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384048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Ember Modern Display Standard"/>
              </a:rPr>
              <a:t>share of true copies (training)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02920" y="409651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6200"/>
                </a:solidFill>
                <a:latin typeface="Ember Modern Display Standard"/>
              </a:rPr>
              <a:t>83%</a:t>
            </a:r>
            <a:r>
              <a:rPr sz="1250" b="0">
                <a:solidFill>
                  <a:srgbClr val="161D26"/>
                </a:solidFill>
                <a:latin typeface="Ember Modern Display Standard"/>
              </a:rPr>
              <a:t> keep the same house number   ·   </a:t>
            </a:r>
            <a:r>
              <a:rPr sz="1250" b="1">
                <a:solidFill>
                  <a:srgbClr val="FF6200"/>
                </a:solidFill>
                <a:latin typeface="Ember Modern Display Standard"/>
              </a:rPr>
              <a:t>≤0.5%</a:t>
            </a:r>
            <a:r>
              <a:rPr sz="1250" b="0">
                <a:solidFill>
                  <a:srgbClr val="161D26"/>
                </a:solidFill>
                <a:latin typeface="Ember Modern Display Standard"/>
              </a:rPr>
              <a:t> of addresses have a postcode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3" name="Oval 272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Name and address rescue each other</a:t>
            </a:r>
          </a:p>
        </p:txBody>
      </p:sp>
      <p:sp>
        <p:nvSpPr>
          <p:cNvPr id="275" name="Oval 274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House numbers are strong evidence</a:t>
            </a:r>
          </a:p>
        </p:txBody>
      </p:sp>
      <p:sp>
        <p:nvSpPr>
          <p:cNvPr id="277" name="Oval 276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There is no postcode to lean 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2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The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Decoys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The extra test records were look-alikes, and they left fingerprints.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F6200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Are Right, A Lot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1" name="Oval 270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The test has 23% more records, but the same matches</a:t>
            </a:r>
          </a:p>
        </p:txBody>
      </p:sp>
      <p:sp>
        <p:nvSpPr>
          <p:cNvPr id="273" name="Oval 272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Decoys move the number and add a word</a:t>
            </a:r>
          </a:p>
        </p:txBody>
      </p:sp>
      <p:sp>
        <p:nvSpPr>
          <p:cNvPr id="275" name="Oval 274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One word swapped, same address: 0.6% real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Two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Principles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Two rules we set before building anything.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F6200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Customer Obsession  ·  Frugality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371600"/>
            <a:ext cx="3931920" cy="3008376"/>
          </a:xfrm>
          <a:prstGeom prst="roundRect">
            <a:avLst>
              <a:gd name="adj" fmla="val 1823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731520" y="15544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6200"/>
                </a:solidFill>
                <a:latin typeface="Ember Modern Display Standard"/>
              </a:rPr>
              <a:t>1  </a:t>
            </a:r>
            <a:r>
              <a:rPr sz="1800" b="1">
                <a:solidFill>
                  <a:srgbClr val="161D26"/>
                </a:solidFill>
                <a:latin typeface="Ember Modern Display Standard"/>
              </a:rPr>
              <a:t>Decide like the metric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914400" y="22860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572768" y="2304288"/>
            <a:ext cx="365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61D26"/>
                </a:solidFill>
                <a:latin typeface="Ember Modern Display Standard"/>
              </a:rPr>
              <a:t>=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029968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ounded Rectangle 273"/>
          <p:cNvSpPr/>
          <p:nvPr/>
        </p:nvSpPr>
        <p:spPr>
          <a:xfrm>
            <a:off x="2596896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ounded Rectangle 274"/>
          <p:cNvSpPr/>
          <p:nvPr/>
        </p:nvSpPr>
        <p:spPr>
          <a:xfrm>
            <a:off x="3163824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3730752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31520" y="310896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1 wrong merge costs as much as 4 missed copies.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6B7280"/>
                </a:solidFill>
                <a:latin typeface="Ember Modern Display Standard"/>
              </a:rPr>
              <a:t>So: precision first.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4709160" y="1371600"/>
            <a:ext cx="3931920" cy="3008376"/>
          </a:xfrm>
          <a:prstGeom prst="roundRect">
            <a:avLst>
              <a:gd name="adj" fmla="val 1823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937760" y="15544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6200"/>
                </a:solidFill>
                <a:latin typeface="Ember Modern Display Standard"/>
              </a:rPr>
              <a:t>2  </a:t>
            </a:r>
            <a:r>
              <a:rPr sz="1800" b="1">
                <a:solidFill>
                  <a:srgbClr val="FFFFFF"/>
                </a:solidFill>
                <a:latin typeface="Ember Modern Display Standard"/>
              </a:rPr>
              <a:t>Compute where it's unsure</a:t>
            </a:r>
          </a:p>
        </p:txBody>
      </p:sp>
      <p:graphicFrame>
        <p:nvGraphicFramePr>
          <p:cNvPr id="280" name="Chart 279"/>
          <p:cNvGraphicFramePr>
            <a:graphicFrameLocks noGrp="1"/>
          </p:cNvGraphicFramePr>
          <p:nvPr/>
        </p:nvGraphicFramePr>
        <p:xfrm>
          <a:off x="4892040" y="2011680"/>
          <a:ext cx="1691640" cy="1691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1" name="TextBox 280"/>
          <p:cNvSpPr txBox="1"/>
          <p:nvPr/>
        </p:nvSpPr>
        <p:spPr>
          <a:xfrm>
            <a:off x="4892040" y="2633472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6200"/>
                </a:solidFill>
                <a:latin typeface="Ember Modern Display Standard"/>
              </a:rPr>
              <a:t>2.6%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720840" y="2377440"/>
            <a:ext cx="1783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Ember Modern Display Standard"/>
              </a:rPr>
              <a:t>of pairs reach our expensive models.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B8C0CC"/>
                </a:solidFill>
                <a:latin typeface="Ember Modern Display Standard"/>
              </a:rPr>
              <a:t>A cheap model reads every pair first.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9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3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8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3" grpId="0" animBg="1"/>
      <p:bldP spid="274" grpId="0" animBg="1"/>
      <p:bldP spid="275" grpId="0" animBg="1"/>
      <p:bldP spid="276" grpId="0" animBg="1"/>
      <p:bldP spid="272" grpId="0" animBg="1"/>
      <p:bldP spid="277" grpId="0" animBg="1"/>
      <p:bldP spid="278" grpId="0" animBg="1"/>
      <p:bldP spid="279" grpId="0" animBg="1"/>
      <p:bldGraphic spid="280" grpId="0">
        <p:bldAsOne/>
      </p:bldGraphic>
      <p:bldP spid="281" grpId="0" animBg="1"/>
      <p:bldP spid="28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Smart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Blocking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From 17 trillion possible pairs to 3.7 candidates per entity.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Invent and Simplify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640080" y="1371600"/>
            <a:ext cx="7863840" cy="585216"/>
          </a:xfrm>
          <a:prstGeom prst="roundRect">
            <a:avLst>
              <a:gd name="adj" fmla="val 15625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40080" y="1371600"/>
            <a:ext cx="78638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61D26"/>
                </a:solidFill>
                <a:latin typeface="Ember Modern Display Standard"/>
              </a:rPr>
              <a:t>Every possible pair  ·  </a:t>
            </a:r>
            <a:r>
              <a:rPr sz="1400" b="1">
                <a:solidFill>
                  <a:srgbClr val="161D26"/>
                </a:solidFill>
                <a:latin typeface="Ember Modern Display Standard"/>
              </a:rPr>
              <a:t>17 trillion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2011680" y="2103120"/>
            <a:ext cx="5120640" cy="585216"/>
          </a:xfrm>
          <a:prstGeom prst="roundRect">
            <a:avLst>
              <a:gd name="adj" fmla="val 15625"/>
            </a:avLst>
          </a:prstGeom>
          <a:solidFill>
            <a:srgbClr val="C2C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2011680" y="2103120"/>
            <a:ext cx="5120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61D26"/>
                </a:solidFill>
                <a:latin typeface="Ember Modern Display Standard"/>
              </a:rPr>
              <a:t>Retrieval  ·  </a:t>
            </a:r>
            <a:r>
              <a:rPr sz="1400" b="1">
                <a:solidFill>
                  <a:srgbClr val="161D26"/>
                </a:solidFill>
                <a:latin typeface="Ember Modern Display Standard"/>
              </a:rPr>
              <a:t>58.4M pairs</a:t>
            </a:r>
            <a:r>
              <a:rPr sz="1400" b="0">
                <a:solidFill>
                  <a:srgbClr val="161D26"/>
                </a:solidFill>
                <a:latin typeface="Ember Modern Display Standard"/>
              </a:rPr>
              <a:t>  ·  99.1% of matches kept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3337560" y="2834640"/>
            <a:ext cx="2468880" cy="585216"/>
          </a:xfrm>
          <a:prstGeom prst="roundRect">
            <a:avLst>
              <a:gd name="adj" fmla="val 15625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3337560" y="2834640"/>
            <a:ext cx="2468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6200"/>
                </a:solidFill>
                <a:latin typeface="Ember Modern Display Standard"/>
              </a:rPr>
              <a:t>3.7</a:t>
            </a:r>
            <a:r>
              <a:rPr sz="1400" b="1">
                <a:solidFill>
                  <a:srgbClr val="FFFFFF"/>
                </a:solidFill>
                <a:latin typeface="Ember Modern Display Standard"/>
              </a:rPr>
              <a:t>  per entity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943600" y="2926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6.4M pairs  ·  </a:t>
            </a:r>
            <a:r>
              <a:rPr sz="1300" b="1">
                <a:solidFill>
                  <a:srgbClr val="161D26"/>
                </a:solidFill>
                <a:latin typeface="Ember Modern Display Standard"/>
              </a:rPr>
              <a:t>98.4% kept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2920" y="3639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HOW WE SEARCH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02920" y="3913632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Each country separately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2560320" y="3913632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Name + address words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617720" y="3913632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Name only, if no address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675120" y="3913632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Repair spellings first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5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Our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Architecture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Seven steps, from raw records to final matches.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Think Big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161D26"/>
                </a:solidFill>
                <a:latin typeface="Ember Modern Display Standard"/>
              </a:rPr>
              <a:t>Clean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66344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fix spellings, OCR digits and web names</a:t>
            </a:r>
          </a:p>
        </p:txBody>
      </p:sp>
      <p:sp>
        <p:nvSpPr>
          <p:cNvPr id="271" name="Chevron 270"/>
          <p:cNvSpPr/>
          <p:nvPr/>
        </p:nvSpPr>
        <p:spPr>
          <a:xfrm>
            <a:off x="1540764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1682496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161D26"/>
                </a:solidFill>
                <a:latin typeface="Ember Modern Display Standard"/>
              </a:rPr>
              <a:t>Retrieve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645920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search name and address words, per country</a:t>
            </a:r>
          </a:p>
        </p:txBody>
      </p:sp>
      <p:sp>
        <p:nvSpPr>
          <p:cNvPr id="274" name="Chevron 273"/>
          <p:cNvSpPr/>
          <p:nvPr/>
        </p:nvSpPr>
        <p:spPr>
          <a:xfrm>
            <a:off x="2720340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ounded Rectangle 274"/>
          <p:cNvSpPr/>
          <p:nvPr/>
        </p:nvSpPr>
        <p:spPr>
          <a:xfrm>
            <a:off x="2862072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Score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825496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XGBoost on name, address, number and rival features</a:t>
            </a:r>
          </a:p>
        </p:txBody>
      </p:sp>
      <p:sp>
        <p:nvSpPr>
          <p:cNvPr id="277" name="Chevron 276"/>
          <p:cNvSpPr/>
          <p:nvPr/>
        </p:nvSpPr>
        <p:spPr>
          <a:xfrm>
            <a:off x="3899915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4041648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Re-read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005072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transformers read the unsure 2.6%</a:t>
            </a:r>
          </a:p>
        </p:txBody>
      </p:sp>
      <p:sp>
        <p:nvSpPr>
          <p:cNvPr id="280" name="Chevron 279"/>
          <p:cNvSpPr/>
          <p:nvPr/>
        </p:nvSpPr>
        <p:spPr>
          <a:xfrm>
            <a:off x="5079492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ounded Rectangle 280"/>
          <p:cNvSpPr/>
          <p:nvPr/>
        </p:nvSpPr>
        <p:spPr>
          <a:xfrm>
            <a:off x="5221224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Rescore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184648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XGBoost adds their votes; calibrated</a:t>
            </a:r>
          </a:p>
        </p:txBody>
      </p:sp>
      <p:sp>
        <p:nvSpPr>
          <p:cNvPr id="283" name="Chevron 282"/>
          <p:cNvSpPr/>
          <p:nvPr/>
        </p:nvSpPr>
        <p:spPr>
          <a:xfrm>
            <a:off x="6259068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6400800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Decide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364224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best set per entity; one owner per record</a:t>
            </a:r>
          </a:p>
        </p:txBody>
      </p:sp>
      <p:sp>
        <p:nvSpPr>
          <p:cNvPr id="286" name="Chevron 285"/>
          <p:cNvSpPr/>
          <p:nvPr/>
        </p:nvSpPr>
        <p:spPr>
          <a:xfrm>
            <a:off x="7438644" y="1856231"/>
            <a:ext cx="128016" cy="128016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ounded Rectangle 286"/>
          <p:cNvSpPr/>
          <p:nvPr/>
        </p:nvSpPr>
        <p:spPr>
          <a:xfrm>
            <a:off x="7580376" y="1508760"/>
            <a:ext cx="1024128" cy="822960"/>
          </a:xfrm>
          <a:prstGeom prst="roundRect">
            <a:avLst>
              <a:gd name="adj" fmla="val 8888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Check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7543800" y="2487168"/>
            <a:ext cx="1097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rules for known decoys; a 7B model re-checks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502920" y="4005072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95528" y="39684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Ember Modern Display Standard"/>
              </a:rPr>
              <a:t>data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1874519" y="4005072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2167127" y="39684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Ember Modern Display Standard"/>
              </a:rPr>
              <a:t>models</a:t>
            </a:r>
          </a:p>
        </p:txBody>
      </p:sp>
      <p:sp>
        <p:nvSpPr>
          <p:cNvPr id="293" name="Rounded Rectangle 292"/>
          <p:cNvSpPr/>
          <p:nvPr/>
        </p:nvSpPr>
        <p:spPr>
          <a:xfrm>
            <a:off x="3246120" y="4005072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3538727" y="39684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Ember Modern Display Standard"/>
              </a:rPr>
              <a:t>decisions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4572000" y="393192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161D26"/>
                </a:solidFill>
                <a:latin typeface="Ember Modern Display Standard"/>
              </a:rPr>
              <a:t>Cheap steps read everything; </a:t>
            </a:r>
            <a:r>
              <a:rPr sz="1200" b="1">
                <a:solidFill>
                  <a:srgbClr val="161D26"/>
                </a:solidFill>
                <a:latin typeface="Ember Modern Display Standard"/>
              </a:rPr>
              <a:t>expensive ones only what they must.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5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  <p:bldP spid="281" grpId="0" animBg="1"/>
      <p:bldP spid="282" grpId="0" animBg="1"/>
      <p:bldP spid="283" grpId="0" animBg="1"/>
      <p:bldP spid="284" grpId="0" animBg="1"/>
      <p:bldP spid="285" grpId="0" animBg="1"/>
      <p:bldP spid="286" grpId="0" animBg="1"/>
      <p:bldP spid="287" grpId="0" animBg="1"/>
      <p:bldP spid="288" grpId="0" animBg="1"/>
      <p:bldP spid="289" grpId="0" animBg="1"/>
      <p:bldP spid="290" grpId="0" animBg="1"/>
      <p:bldP spid="291" grpId="0" animBg="1"/>
      <p:bldP spid="292" grpId="0" animBg="1"/>
      <p:bldP spid="293" grpId="0" animBg="1"/>
      <p:bldP spid="294" grpId="0" animBg="1"/>
      <p:bldP spid="29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Features for Noisy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Records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Each kind of noise we found got a feature built to see through it.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Invent and Simplify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02920" y="1298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NOISE WE SAW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251960" y="1298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WE BUILT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502920" y="1627632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Typos, abbreviations, word order</a:t>
            </a:r>
          </a:p>
        </p:txBody>
      </p:sp>
      <p:sp>
        <p:nvSpPr>
          <p:cNvPr id="272" name="Chevron 271"/>
          <p:cNvSpPr/>
          <p:nvPr/>
        </p:nvSpPr>
        <p:spPr>
          <a:xfrm>
            <a:off x="3904487" y="1746504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4251960" y="1627632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fuzzy name scores and word overlap</a:t>
            </a:r>
          </a:p>
        </p:txBody>
      </p:sp>
      <p:sp>
        <p:nvSpPr>
          <p:cNvPr id="274" name="Rounded Rectangle 273"/>
          <p:cNvSpPr/>
          <p:nvPr/>
        </p:nvSpPr>
        <p:spPr>
          <a:xfrm>
            <a:off x="502920" y="210312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Inc vs Incorporated, legal forms</a:t>
            </a:r>
          </a:p>
        </p:txBody>
      </p:sp>
      <p:sp>
        <p:nvSpPr>
          <p:cNvPr id="275" name="Chevron 274"/>
          <p:cNvSpPr/>
          <p:nvPr/>
        </p:nvSpPr>
        <p:spPr>
          <a:xfrm>
            <a:off x="3904487" y="2221991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251960" y="210312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a legal-form agreement check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02920" y="257860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A moved house number</a:t>
            </a:r>
          </a:p>
        </p:txBody>
      </p:sp>
      <p:sp>
        <p:nvSpPr>
          <p:cNvPr id="278" name="Chevron 277"/>
          <p:cNvSpPr/>
          <p:nvPr/>
        </p:nvSpPr>
        <p:spPr>
          <a:xfrm>
            <a:off x="3904487" y="2697480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251960" y="2578608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number match and small-nudge features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502920" y="3054096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A swapped business word</a:t>
            </a:r>
          </a:p>
        </p:txBody>
      </p:sp>
      <p:sp>
        <p:nvSpPr>
          <p:cNvPr id="281" name="Chevron 280"/>
          <p:cNvSpPr/>
          <p:nvPr/>
        </p:nvSpPr>
        <p:spPr>
          <a:xfrm>
            <a:off x="3904487" y="3172968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251960" y="3054096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look-alike word odds, learned from data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502920" y="3529584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Names shared by many entities</a:t>
            </a:r>
          </a:p>
        </p:txBody>
      </p:sp>
      <p:sp>
        <p:nvSpPr>
          <p:cNvPr id="284" name="Chevron 283"/>
          <p:cNvSpPr/>
          <p:nvPr/>
        </p:nvSpPr>
        <p:spPr>
          <a:xfrm>
            <a:off x="3904487" y="3648456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4251960" y="35295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rival and rank features</a:t>
            </a:r>
          </a:p>
        </p:txBody>
      </p:sp>
      <p:sp>
        <p:nvSpPr>
          <p:cNvPr id="286" name="Rounded Rectangle 285"/>
          <p:cNvSpPr/>
          <p:nvPr/>
        </p:nvSpPr>
        <p:spPr>
          <a:xfrm>
            <a:off x="502920" y="4005072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0">
                <a:solidFill>
                  <a:srgbClr val="161D26"/>
                </a:solidFill>
                <a:latin typeface="Ember Modern Display Standard"/>
              </a:rPr>
              <a:t>Empty or landmark addresses</a:t>
            </a:r>
          </a:p>
        </p:txBody>
      </p:sp>
      <p:sp>
        <p:nvSpPr>
          <p:cNvPr id="287" name="Chevron 286"/>
          <p:cNvSpPr/>
          <p:nvPr/>
        </p:nvSpPr>
        <p:spPr>
          <a:xfrm>
            <a:off x="3904487" y="4123944"/>
            <a:ext cx="146304" cy="146304"/>
          </a:xfrm>
          <a:prstGeom prst="chevron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4251960" y="4005072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1D26"/>
                </a:solidFill>
                <a:latin typeface="Ember Modern Display Standard"/>
              </a:rPr>
              <a:t>name-only signals and empty flags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95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45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  <p:bldP spid="281" grpId="0" animBg="1"/>
      <p:bldP spid="282" grpId="0" animBg="1"/>
      <p:bldP spid="283" grpId="0" animBg="1"/>
      <p:bldP spid="284" grpId="0" animBg="1"/>
      <p:bldP spid="285" grpId="0" animBg="1"/>
      <p:bldP spid="286" grpId="0" animBg="1"/>
      <p:bldP spid="287" grpId="0" animBg="1"/>
      <p:bldP spid="28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How a Match Is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Decided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One entity, four candidates: a simple example.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Customer Obsession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325880"/>
            <a:ext cx="5577840" cy="566928"/>
          </a:xfrm>
          <a:prstGeom prst="roundRect">
            <a:avLst>
              <a:gd name="adj" fmla="val 12903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85800" y="1325880"/>
            <a:ext cx="5303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Ember Modern Display Standard"/>
              </a:rPr>
              <a:t>ENTITY   </a:t>
            </a:r>
            <a:r>
              <a:rPr sz="1350" b="1">
                <a:solidFill>
                  <a:srgbClr val="161D26"/>
                </a:solidFill>
                <a:latin typeface="Ember Modern Display Standard"/>
              </a:rPr>
              <a:t>Acme Robotics Inc  ·  500 Market St, San Jose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02920" y="2103120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61D26"/>
                </a:solidFill>
                <a:latin typeface="Ember Modern Display Standard"/>
              </a:rPr>
              <a:t>Acme Robotics Incorporated · 500 Market Street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3474720" y="2212848"/>
            <a:ext cx="1920240" cy="201168"/>
          </a:xfrm>
          <a:prstGeom prst="roundRect">
            <a:avLst>
              <a:gd name="adj" fmla="val 50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ounded Rectangle 272"/>
          <p:cNvSpPr/>
          <p:nvPr/>
        </p:nvSpPr>
        <p:spPr>
          <a:xfrm>
            <a:off x="3474720" y="2212848"/>
            <a:ext cx="1881835" cy="201168"/>
          </a:xfrm>
          <a:prstGeom prst="roundRect">
            <a:avLst>
              <a:gd name="adj" fmla="val 50000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5468112" y="21031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61D26"/>
                </a:solidFill>
                <a:latin typeface="Ember Modern Display Standard"/>
              </a:rPr>
              <a:t>0.98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870448" y="2103120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6200"/>
                </a:solidFill>
                <a:latin typeface="Ember Modern Display Standard"/>
              </a:rPr>
              <a:t>✓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2920" y="2651760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61D26"/>
                </a:solidFill>
                <a:latin typeface="Ember Modern Display Standard"/>
              </a:rPr>
              <a:t>Acme Robotics · Nr. City Hall, San Jose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3474720" y="2761488"/>
            <a:ext cx="1920240" cy="201168"/>
          </a:xfrm>
          <a:prstGeom prst="roundRect">
            <a:avLst>
              <a:gd name="adj" fmla="val 50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3474720" y="2761488"/>
            <a:ext cx="1555394" cy="201168"/>
          </a:xfrm>
          <a:prstGeom prst="roundRect">
            <a:avLst>
              <a:gd name="adj" fmla="val 50000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5468112" y="26517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61D26"/>
                </a:solidFill>
                <a:latin typeface="Ember Modern Display Standard"/>
              </a:rPr>
              <a:t>0.81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5870448" y="2651760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6200"/>
                </a:solidFill>
                <a:latin typeface="Ember Modern Display Standard"/>
              </a:rPr>
              <a:t>✓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502920" y="3200400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61D26"/>
                </a:solidFill>
                <a:latin typeface="Ember Modern Display Standard"/>
              </a:rPr>
              <a:t>Acme Robotix · 12 Elm Rd</a:t>
            </a:r>
          </a:p>
        </p:txBody>
      </p:sp>
      <p:sp>
        <p:nvSpPr>
          <p:cNvPr id="282" name="Rounded Rectangle 281"/>
          <p:cNvSpPr/>
          <p:nvPr/>
        </p:nvSpPr>
        <p:spPr>
          <a:xfrm>
            <a:off x="3474720" y="3310128"/>
            <a:ext cx="1920240" cy="201168"/>
          </a:xfrm>
          <a:prstGeom prst="roundRect">
            <a:avLst>
              <a:gd name="adj" fmla="val 50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ounded Rectangle 282"/>
          <p:cNvSpPr/>
          <p:nvPr/>
        </p:nvSpPr>
        <p:spPr>
          <a:xfrm>
            <a:off x="3474720" y="3310128"/>
            <a:ext cx="230428" cy="201168"/>
          </a:xfrm>
          <a:prstGeom prst="roundRect">
            <a:avLst>
              <a:gd name="adj" fmla="val 50000"/>
            </a:avLst>
          </a:prstGeom>
          <a:solidFill>
            <a:srgbClr val="B8C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468112" y="3200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61D26"/>
                </a:solidFill>
                <a:latin typeface="Ember Modern Display Standard"/>
              </a:rPr>
              <a:t>0.12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5870448" y="3200400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6B7280"/>
                </a:solidFill>
                <a:latin typeface="Ember Modern Display Standard"/>
              </a:rPr>
              <a:t>✗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02920" y="3749039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61D26"/>
                </a:solidFill>
                <a:latin typeface="Ember Modern Display Standard"/>
              </a:rPr>
              <a:t>Acme Bakery · 500 Market St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3474720" y="3858768"/>
            <a:ext cx="1920240" cy="201168"/>
          </a:xfrm>
          <a:prstGeom prst="roundRect">
            <a:avLst>
              <a:gd name="adj" fmla="val 50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3474720" y="3858768"/>
            <a:ext cx="109728" cy="201168"/>
          </a:xfrm>
          <a:prstGeom prst="roundRect">
            <a:avLst>
              <a:gd name="adj" fmla="val 50000"/>
            </a:avLst>
          </a:prstGeom>
          <a:solidFill>
            <a:srgbClr val="B8C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5468112" y="374903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61D26"/>
                </a:solidFill>
                <a:latin typeface="Ember Modern Display Standard"/>
              </a:rPr>
              <a:t>0.03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5870448" y="3749039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6B7280"/>
                </a:solidFill>
                <a:latin typeface="Ember Modern Display Standard"/>
              </a:rPr>
              <a:t>✗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502920" y="4315968"/>
            <a:ext cx="5577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Ember Modern Display Standard"/>
              </a:rPr>
              <a:t>Illustrative probabilities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6400800" y="1325880"/>
            <a:ext cx="2240280" cy="3054096"/>
          </a:xfrm>
          <a:prstGeom prst="roundRect">
            <a:avLst>
              <a:gd name="adj" fmla="val 2448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6583680" y="1554480"/>
            <a:ext cx="329184" cy="32918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7040880" y="153619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Ember Modern Display Standard"/>
              </a:rPr>
              <a:t>Score each pair: a calibrated probability</a:t>
            </a:r>
          </a:p>
        </p:txBody>
      </p:sp>
      <p:sp>
        <p:nvSpPr>
          <p:cNvPr id="295" name="Oval 294"/>
          <p:cNvSpPr/>
          <p:nvPr/>
        </p:nvSpPr>
        <p:spPr>
          <a:xfrm>
            <a:off x="6583680" y="2468880"/>
            <a:ext cx="329184" cy="32918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7040880" y="245059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Ember Modern Display Standard"/>
              </a:rPr>
              <a:t>Add matches while the expected F0.5 rises</a:t>
            </a:r>
          </a:p>
        </p:txBody>
      </p:sp>
      <p:sp>
        <p:nvSpPr>
          <p:cNvPr id="297" name="Oval 296"/>
          <p:cNvSpPr/>
          <p:nvPr/>
        </p:nvSpPr>
        <p:spPr>
          <a:xfrm>
            <a:off x="6583680" y="3383280"/>
            <a:ext cx="329184" cy="32918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040880" y="336499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Ember Modern Display Standard"/>
              </a:rPr>
              <a:t>Each record goes to one entity only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9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45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95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45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9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  <p:bldP spid="281" grpId="0" animBg="1"/>
      <p:bldP spid="282" grpId="0" animBg="1"/>
      <p:bldP spid="283" grpId="0" animBg="1"/>
      <p:bldP spid="284" grpId="0" animBg="1"/>
      <p:bldP spid="285" grpId="0" animBg="1"/>
      <p:bldP spid="286" grpId="0" animBg="1"/>
      <p:bldP spid="287" grpId="0" animBg="1"/>
      <p:bldP spid="288" grpId="0" animBg="1"/>
      <p:bldP spid="289" grpId="0" animBg="1"/>
      <p:bldP spid="290" grpId="0" animBg="1"/>
      <p:bldP spid="291" grpId="0" animBg="1"/>
      <p:bldP spid="292" grpId="0" animBg="1"/>
      <p:bldP spid="293" grpId="0" animBg="1"/>
      <p:bldP spid="294" grpId="0" animBg="1"/>
      <p:bldP spid="295" grpId="0" animBg="1"/>
      <p:bldP spid="296" grpId="0" animBg="1"/>
      <p:bldP spid="297" grpId="0" animBg="1"/>
      <p:bldP spid="29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Handling Edge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Cases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Singletons, noisy names and addresses, and a country we had never seen.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Customer Obsession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371600"/>
            <a:ext cx="2606040" cy="2971800"/>
          </a:xfrm>
          <a:prstGeom prst="roundRect">
            <a:avLst>
              <a:gd name="adj" fmla="val 2105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731520" y="1554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1D26"/>
                </a:solidFill>
                <a:latin typeface="Ember Modern Display Standard"/>
              </a:rPr>
              <a:t>Singletons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731520" y="21031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6200"/>
                </a:solidFill>
                <a:latin typeface="Ember Modern Display Standard"/>
              </a:rPr>
              <a:t>5.6%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31520" y="27432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of entities have no match. The decision may return an empty set.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3268980" y="1371600"/>
            <a:ext cx="2606040" cy="2971800"/>
          </a:xfrm>
          <a:prstGeom prst="roundRect">
            <a:avLst>
              <a:gd name="adj" fmla="val 2105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3497580" y="1554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1D26"/>
                </a:solidFill>
                <a:latin typeface="Ember Modern Display Standard"/>
              </a:rPr>
              <a:t>Noisy names and addresses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497580" y="21031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6200"/>
                </a:solidFill>
                <a:latin typeface="Ember Modern Display Standard"/>
              </a:rPr>
              <a:t>Repair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497580" y="27432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spellings before search; fuzzy features; name-only search if the address is empty.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6035040" y="1371600"/>
            <a:ext cx="2606040" cy="2971800"/>
          </a:xfrm>
          <a:prstGeom prst="roundRect">
            <a:avLst>
              <a:gd name="adj" fmla="val 2105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263640" y="1554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Ember Modern Display Standard"/>
              </a:rPr>
              <a:t>An unseen country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263640" y="21031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6200"/>
                </a:solidFill>
                <a:latin typeface="Ember Modern Display Standard"/>
              </a:rPr>
              <a:t>France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263640" y="27432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6DCE7"/>
                </a:solidFill>
                <a:latin typeface="Ember Modern Display Standard"/>
              </a:rPr>
              <a:t>no labels: learned word odds, guarded self-training, diverse models. Next section.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9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Built for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Performance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Every step only touches what it must, on laptop-sized hardware.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Frugality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Ember Modern Display Standard"/>
              </a:rPr>
              <a:t>pairs per entity at each stage (test)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2" name="Oval 271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Core pipeline on one 12 GB GPU and 31 GB RAM</a:t>
            </a:r>
          </a:p>
        </p:txBody>
      </p:sp>
      <p:sp>
        <p:nvSpPr>
          <p:cNvPr id="274" name="Oval 273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Blocking about 13 min; memory peaks at 19 GB</a:t>
            </a:r>
          </a:p>
        </p:txBody>
      </p:sp>
      <p:sp>
        <p:nvSpPr>
          <p:cNvPr id="276" name="Oval 275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Heavy models read under 3% of pairs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The Leaderboard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Talked Back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Our first scores showed a gap our validation could not see.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Dive Deep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02920" y="1325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7280"/>
                </a:solidFill>
                <a:latin typeface="Ember Modern Display Standard"/>
              </a:rPr>
              <a:t>Our first scores (zoomed scale)</a:t>
            </a:r>
          </a:p>
        </p:txBody>
      </p:sp>
      <p:graphicFrame>
        <p:nvGraphicFramePr>
          <p:cNvPr id="270" name="Chart 269"/>
          <p:cNvGraphicFramePr>
            <a:graphicFrameLocks noGrp="1"/>
          </p:cNvGraphicFramePr>
          <p:nvPr/>
        </p:nvGraphicFramePr>
        <p:xfrm>
          <a:off x="411480" y="1554480"/>
          <a:ext cx="39319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1" name="TextBox 270"/>
          <p:cNvSpPr txBox="1"/>
          <p:nvPr/>
        </p:nvSpPr>
        <p:spPr>
          <a:xfrm>
            <a:off x="4709160" y="13258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7280"/>
                </a:solidFill>
                <a:latin typeface="Ember Modern Display Standard"/>
              </a:rPr>
              <a:t>By country (estimated, zoomed)</a:t>
            </a:r>
          </a:p>
        </p:txBody>
      </p:sp>
      <p:graphicFrame>
        <p:nvGraphicFramePr>
          <p:cNvPr id="272" name="Chart 271"/>
          <p:cNvGraphicFramePr>
            <a:graphicFrameLocks noGrp="1"/>
          </p:cNvGraphicFramePr>
          <p:nvPr/>
        </p:nvGraphicFramePr>
        <p:xfrm>
          <a:off x="4617720" y="1554480"/>
          <a:ext cx="4023360" cy="2331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3" name="TextBox 272"/>
          <p:cNvSpPr txBox="1"/>
          <p:nvPr/>
        </p:nvSpPr>
        <p:spPr>
          <a:xfrm>
            <a:off x="502920" y="404164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We ruled out bugs, split the gap by country, then </a:t>
            </a:r>
            <a:r>
              <a:rPr sz="1300" b="1">
                <a:solidFill>
                  <a:srgbClr val="161D26"/>
                </a:solidFill>
                <a:latin typeface="Ember Modern Display Standard"/>
              </a:rPr>
              <a:t>read the French errors by hand.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Graphic spid="270" grpId="0">
        <p:bldAsOne/>
      </p:bldGraphic>
      <p:bldP spid="271" grpId="0" animBg="1"/>
      <p:bldGraphic spid="272" grpId="0">
        <p:bldAsOne/>
      </p:bldGraphic>
      <p:bldP spid="27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A Country We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Never Saw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France had no labels, so we let the data teach us, with guards.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Learn and Be Curious</a:t>
            </a:r>
          </a:p>
        </p:txBody>
      </p:sp>
      <p:sp>
        <p:nvSpPr>
          <p:cNvPr id="269" name="Oval 268"/>
          <p:cNvSpPr/>
          <p:nvPr/>
        </p:nvSpPr>
        <p:spPr>
          <a:xfrm>
            <a:off x="502920" y="1417320"/>
            <a:ext cx="420624" cy="42062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97280" y="1399032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1D26"/>
                </a:solidFill>
                <a:latin typeface="Ember Modern Display Standard"/>
              </a:rPr>
              <a:t>Learn its words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word statistics, without labels</a:t>
            </a:r>
          </a:p>
        </p:txBody>
      </p:sp>
      <p:sp>
        <p:nvSpPr>
          <p:cNvPr id="271" name="Oval 270"/>
          <p:cNvSpPr/>
          <p:nvPr/>
        </p:nvSpPr>
        <p:spPr>
          <a:xfrm>
            <a:off x="502920" y="2286000"/>
            <a:ext cx="420624" cy="42062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097280" y="2267712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1D26"/>
                </a:solidFill>
                <a:latin typeface="Ember Modern Display Standard"/>
              </a:rPr>
              <a:t>Teach itself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learn from its own confident answers, cross-checked</a:t>
            </a:r>
          </a:p>
        </p:txBody>
      </p:sp>
      <p:sp>
        <p:nvSpPr>
          <p:cNvPr id="273" name="Oval 272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" y="3136392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1D26"/>
                </a:solidFill>
                <a:latin typeface="Ember Modern Display Standard"/>
              </a:rPr>
              <a:t>Second opinion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different models vote; a 7B re-checks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02920" y="40690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7280"/>
                </a:solidFill>
                <a:latin typeface="Ember Modern Display Standard"/>
              </a:rPr>
              <a:t>Honestly: </a:t>
            </a:r>
            <a:r>
              <a:rPr sz="1250" b="0">
                <a:solidFill>
                  <a:srgbClr val="6B7280"/>
                </a:solidFill>
                <a:latin typeface="Ember Modern Display Standard"/>
              </a:rPr>
              <a:t>self-training failed twice before it worked.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623560" y="1325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7280"/>
                </a:solidFill>
                <a:latin typeface="Ember Modern Display Standard"/>
              </a:rPr>
              <a:t>France (estimated, zoomed)</a:t>
            </a:r>
          </a:p>
        </p:txBody>
      </p:sp>
      <p:graphicFrame>
        <p:nvGraphicFramePr>
          <p:cNvPr id="277" name="Chart 276"/>
          <p:cNvGraphicFramePr>
            <a:graphicFrameLocks noGrp="1"/>
          </p:cNvGraphicFramePr>
          <p:nvPr/>
        </p:nvGraphicFramePr>
        <p:xfrm>
          <a:off x="5532120" y="1554480"/>
          <a:ext cx="310896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8" name="TextBox 277"/>
          <p:cNvSpPr txBox="1"/>
          <p:nvPr/>
        </p:nvSpPr>
        <p:spPr>
          <a:xfrm>
            <a:off x="5623560" y="40416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Ember Modern Display Standard"/>
              </a:rPr>
              <a:t>never measured directly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3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Graphic spid="277" grpId="0">
        <p:bldAsOne/>
      </p:bldGraphic>
      <p:bldP spid="27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Every Idea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Tested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Three people, 329 experiments, and only evidence decided.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Bias for Action  ·  Ownership  ·  Earn Trust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502920" y="1325880"/>
          <a:ext cx="251460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2212848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61D26"/>
                </a:solidFill>
                <a:latin typeface="Ember Modern Display Standard"/>
              </a:rPr>
              <a:t>329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Ember Modern Display Standard"/>
              </a:rPr>
              <a:t>experiments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02920" y="397763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6200"/>
                </a:solidFill>
                <a:latin typeface="Ember Modern Display Standard"/>
              </a:rPr>
              <a:t>■ </a:t>
            </a:r>
            <a:r>
              <a:rPr sz="1100" b="0">
                <a:solidFill>
                  <a:srgbClr val="161D26"/>
                </a:solidFill>
                <a:latin typeface="Ember Modern Display Standard"/>
              </a:rPr>
              <a:t>177 kept   </a:t>
            </a:r>
            <a:r>
              <a:rPr sz="1100" b="0">
                <a:solidFill>
                  <a:srgbClr val="161D26"/>
                </a:solidFill>
                <a:latin typeface="Ember Modern Display Standard"/>
              </a:rPr>
              <a:t>■ </a:t>
            </a:r>
            <a:r>
              <a:rPr sz="1100" b="0">
                <a:solidFill>
                  <a:srgbClr val="161D26"/>
                </a:solidFill>
                <a:latin typeface="Ember Modern Display Standard"/>
              </a:rPr>
              <a:t>126 dropped   </a:t>
            </a:r>
            <a:r>
              <a:rPr sz="1100" b="0">
                <a:solidFill>
                  <a:srgbClr val="D6DCE7"/>
                </a:solidFill>
                <a:latin typeface="Ember Modern Display Standard"/>
              </a:rPr>
              <a:t>■ </a:t>
            </a:r>
            <a:r>
              <a:rPr sz="1100" b="0">
                <a:solidFill>
                  <a:srgbClr val="161D26"/>
                </a:solidFill>
                <a:latin typeface="Ember Modern Display Standard"/>
              </a:rPr>
              <a:t>26 other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657600" y="14173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200"/>
                </a:solidFill>
                <a:latin typeface="Ember Modern Display Standard"/>
              </a:rPr>
              <a:t>Ameya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data, blocking, the pipeline, France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657600" y="213055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200"/>
                </a:solidFill>
                <a:latin typeface="Ember Modern Display Standard"/>
              </a:rPr>
              <a:t>Aarush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the 7B model, the re-check, the final submission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657600" y="28437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200"/>
                </a:solidFill>
                <a:latin typeface="Ember Modern Display Standard"/>
              </a:rPr>
              <a:t>Sachi</a:t>
            </a:r>
          </a:p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testing gates, a Qwen model, synthetic French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3657600" y="3611880"/>
            <a:ext cx="4983480" cy="502920"/>
          </a:xfrm>
          <a:prstGeom prst="roundRect">
            <a:avLst>
              <a:gd name="adj" fmla="val 4909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50" b="0">
                <a:solidFill>
                  <a:srgbClr val="161D26"/>
                </a:solidFill>
                <a:latin typeface="Ember Modern Display Standard"/>
              </a:rPr>
              <a:t>Our rule: when two ideas tie, keep the simpler one.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The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Climb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Each upload changed one thing, and we learned from each.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Deliver Results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80644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41879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Ember Modern Display Standard"/>
              </a:rPr>
              <a:t>Behind this line: long nights, a laptop that froze at 3:35 am, a GPU lost mid-run.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6400800" y="1371600"/>
            <a:ext cx="2240280" cy="3008376"/>
          </a:xfrm>
          <a:prstGeom prst="roundRect">
            <a:avLst>
              <a:gd name="adj" fmla="val 2448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601968" y="160020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B28B"/>
                </a:solidFill>
                <a:latin typeface="Ember Modern Display Standard"/>
              </a:rPr>
              <a:t>FINAL SCORE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601968" y="182880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6200"/>
                </a:solidFill>
                <a:latin typeface="Ember Modern Display Standard"/>
              </a:rPr>
              <a:t>0.990879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601968" y="2304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0CC"/>
                </a:solidFill>
                <a:latin typeface="Ember Modern Display Standard"/>
              </a:rPr>
              <a:t>public leaderboard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601968" y="292608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2nd</a:t>
            </a:r>
            <a:r>
              <a:rPr sz="1300" b="0">
                <a:solidFill>
                  <a:srgbClr val="FFFFFF"/>
                </a:solidFill>
                <a:latin typeface="Ember Modern Display Standard"/>
              </a:rPr>
              <a:t>  of the Top 10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6601968" y="36118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B28B"/>
                </a:solidFill>
                <a:latin typeface="Ember Modern Display Standard"/>
              </a:rPr>
              <a:t>among 32,000+ teams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4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How We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Measured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One fixed holdout, careful statistics, and precision first.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Insist on the Highest Standards</a:t>
            </a:r>
          </a:p>
        </p:txBody>
      </p:sp>
      <p:graphicFrame>
        <p:nvGraphicFramePr>
          <p:cNvPr id="269" name="Chart 268"/>
          <p:cNvGraphicFramePr>
            <a:graphicFrameLocks noGrp="1"/>
          </p:cNvGraphicFramePr>
          <p:nvPr/>
        </p:nvGraphicFramePr>
        <p:xfrm>
          <a:off x="411480" y="1280160"/>
          <a:ext cx="53035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Ember Modern Display Standard"/>
              </a:rPr>
              <a:t>local holdout: US and India, 549,699 entities  ·  scale starts at 95%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89320" y="1371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200"/>
                </a:solidFill>
                <a:latin typeface="Ember Modern Display Standard"/>
              </a:rPr>
              <a:t>WHAT IT TELLS US</a:t>
            </a:r>
          </a:p>
        </p:txBody>
      </p:sp>
      <p:sp>
        <p:nvSpPr>
          <p:cNvPr id="272" name="Oval 271"/>
          <p:cNvSpPr/>
          <p:nvPr/>
        </p:nvSpPr>
        <p:spPr>
          <a:xfrm>
            <a:off x="5989320" y="1783080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46520" y="1764792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A fixed quarter of entities held out for every decision</a:t>
            </a:r>
          </a:p>
        </p:txBody>
      </p:sp>
      <p:sp>
        <p:nvSpPr>
          <p:cNvPr id="274" name="Oval 273"/>
          <p:cNvSpPr/>
          <p:nvPr/>
        </p:nvSpPr>
        <p:spPr>
          <a:xfrm>
            <a:off x="5989320" y="2715768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46520" y="2697479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Every change tested with a paired bootstrap</a:t>
            </a:r>
          </a:p>
        </p:txBody>
      </p:sp>
      <p:sp>
        <p:nvSpPr>
          <p:cNvPr id="276" name="Oval 275"/>
          <p:cNvSpPr/>
          <p:nvPr/>
        </p:nvSpPr>
        <p:spPr>
          <a:xfrm>
            <a:off x="5989320" y="3648456"/>
            <a:ext cx="329184" cy="329184"/>
          </a:xfrm>
          <a:prstGeom prst="ellipse">
            <a:avLst/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446520" y="3630168"/>
            <a:ext cx="2194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Add a match only if it is about 75% likely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69" grpId="0">
        <p:bldAsOne/>
      </p:bldGraphic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What We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Learned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What worked, what didn't, and what we would do differently.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Are Right, A Lot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41732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731520" y="1600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6200"/>
                </a:solidFill>
                <a:latin typeface="Ember Modern Display Standard"/>
              </a:rPr>
              <a:t>What worked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731520" y="2194560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FFFFFF"/>
                </a:solidFill>
                <a:latin typeface="Ember Modern Display Standard"/>
              </a:rPr>
              <a:t>Reading the data first</a:t>
            </a:r>
          </a:p>
          <a:p>
            <a:pPr algn="l">
              <a:spcBef>
                <a:spcPts val="1000"/>
              </a:spcBef>
            </a:pPr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FFFFFF"/>
                </a:solidFill>
                <a:latin typeface="Ember Modern Display Standard"/>
              </a:rPr>
              <a:t>Mixing different models</a:t>
            </a:r>
          </a:p>
          <a:p>
            <a:pPr algn="l">
              <a:spcBef>
                <a:spcPts val="1000"/>
              </a:spcBef>
            </a:pPr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FFFFFF"/>
                </a:solidFill>
                <a:latin typeface="Ember Modern Display Standard"/>
              </a:rPr>
              <a:t>Deciding per entity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3268980" y="141732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3497580" y="1600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6200"/>
                </a:solidFill>
                <a:latin typeface="Ember Modern Display Standard"/>
              </a:rPr>
              <a:t>What didn't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497580" y="2194560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161D26"/>
                </a:solidFill>
                <a:latin typeface="Ember Modern Display Standard"/>
              </a:rPr>
              <a:t>Our France estimates shared our model's blind spots</a:t>
            </a:r>
          </a:p>
          <a:p>
            <a:pPr algn="l">
              <a:spcBef>
                <a:spcPts val="1000"/>
              </a:spcBef>
            </a:pPr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161D26"/>
                </a:solidFill>
                <a:latin typeface="Ember Modern Display Standard"/>
              </a:rPr>
              <a:t>No recall rule passed the 75% bar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6035040" y="141732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263640" y="1600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6200"/>
                </a:solidFill>
                <a:latin typeface="Ember Modern Display Standard"/>
              </a:rPr>
              <a:t>Do differently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263640" y="2194560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161D26"/>
                </a:solidFill>
                <a:latin typeface="Ember Modern Display Standard"/>
              </a:rPr>
              <a:t>Label a few hundred French pairs early</a:t>
            </a:r>
          </a:p>
          <a:p>
            <a:pPr algn="l">
              <a:spcBef>
                <a:spcPts val="1000"/>
              </a:spcBef>
            </a:pPr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300" b="0">
                <a:solidFill>
                  <a:srgbClr val="161D26"/>
                </a:solidFill>
                <a:latin typeface="Ember Modern Display Standard"/>
              </a:rPr>
              <a:t>Spend one upload measuring France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Scale and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Speed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How this would run on billions of records, and at the moment of sign-up.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Think Big  ·  Frugality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371600"/>
            <a:ext cx="2606040" cy="2331720"/>
          </a:xfrm>
          <a:prstGeom prst="roundRect">
            <a:avLst>
              <a:gd name="adj" fmla="val 2352"/>
            </a:avLst>
          </a:prstGeom>
          <a:solidFill>
            <a:srgbClr val="D6D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731520" y="1536192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61D26"/>
                </a:solidFill>
                <a:latin typeface="Ember Modern Display Standard"/>
              </a:rPr>
              <a:t>Scale out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731520" y="205740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61D26"/>
                </a:solidFill>
                <a:latin typeface="Ember Modern Display Standard"/>
              </a:rPr>
              <a:t>Shard by country and region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161D26"/>
                </a:solidFill>
                <a:latin typeface="Ember Modern Display Standard"/>
              </a:rPr>
              <a:t>New records search only their shard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3268980" y="1371600"/>
            <a:ext cx="2606040" cy="2331720"/>
          </a:xfrm>
          <a:prstGeom prst="roundRect">
            <a:avLst>
              <a:gd name="adj" fmla="val 2352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3497580" y="1536192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Ember Modern Display Standard"/>
              </a:rPr>
              <a:t>Run lighter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497580" y="205740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Ember Modern Display Standard"/>
              </a:rPr>
              <a:t>Distil the transformers into one small model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Ember Modern Display Standard"/>
              </a:rPr>
              <a:t>Quantise it; cache scores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6035040" y="1371600"/>
            <a:ext cx="2606040" cy="2331720"/>
          </a:xfrm>
          <a:prstGeom prst="roundRect">
            <a:avLst>
              <a:gd name="adj" fmla="val 2352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263640" y="1536192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Ember Modern Display Standard"/>
              </a:rPr>
              <a:t>At the edge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263640" y="205740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Ember Modern Display Standard"/>
              </a:rPr>
              <a:t>XGBoost + a small model on a CPU, at sign-up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Ember Modern Display Standard"/>
              </a:rPr>
              <a:t>The 7B stays in the cloud, in batch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502920" y="3886200"/>
            <a:ext cx="8138160" cy="457200"/>
          </a:xfrm>
          <a:prstGeom prst="roundRect">
            <a:avLst>
              <a:gd name="adj" fmla="val 50000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502920" y="38862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61D26"/>
                </a:solidFill>
                <a:latin typeface="Ember Modern Display Standard"/>
              </a:rPr>
              <a:t>Cost  ≈  entities  ×  candidates per entity   →   </a:t>
            </a:r>
            <a:r>
              <a:rPr sz="1400" b="1">
                <a:solidFill>
                  <a:srgbClr val="FF6200"/>
                </a:solidFill>
                <a:latin typeface="Ember Modern Display Standard"/>
              </a:rPr>
              <a:t>we keep it at 3.7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9400" y="198600"/>
            <a:ext cx="8665200" cy="4746300"/>
          </a:xfrm>
          <a:prstGeom prst="roundRect">
            <a:avLst>
              <a:gd name="adj" fmla="val 2303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Ember Modern Display Standard" panose="020B0503020204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ECEFE9-E472-7AAB-38A6-250A92180EB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20900" y="352642"/>
            <a:ext cx="554186" cy="185610"/>
          </a:xfrm>
          <a:prstGeom prst="rect">
            <a:avLst/>
          </a:prstGeom>
        </p:spPr>
      </p:pic>
      <p:sp>
        <p:nvSpPr>
          <p:cNvPr id="2" name="Google Shape;267;p42">
            <a:extLst>
              <a:ext uri="{FF2B5EF4-FFF2-40B4-BE49-F238E27FC236}">
                <a16:creationId xmlns:a16="http://schemas.microsoft.com/office/drawing/2014/main" id="{25C426BC-3C84-EEEE-F6B4-050A4A5F0CF5}"/>
              </a:ext>
            </a:extLst>
          </p:cNvPr>
          <p:cNvSpPr txBox="1"/>
          <p:nvPr/>
        </p:nvSpPr>
        <p:spPr>
          <a:xfrm>
            <a:off x="316975" y="441425"/>
            <a:ext cx="8358111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accent2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What Comes</a:t>
            </a:r>
            <a:r>
              <a:rPr lang="en" sz="3000" b="1" dirty="0">
                <a:solidFill>
                  <a:schemeClr val="dk1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 </a:t>
            </a:r>
            <a:r>
              <a:rPr lang="en" sz="3000" b="1" dirty="0">
                <a:solidFill>
                  <a:srgbClr val="FF6200"/>
                </a:solidFill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  <a:t>Next</a:t>
            </a:r>
            <a:br>
              <a:rPr lang="en" sz="1100" dirty="0">
                <a:solidFill>
                  <a:srgbClr val="22222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br>
              <a:rPr lang="en" sz="1100" dirty="0">
                <a:solidFill>
                  <a:schemeClr val="accent2"/>
                </a:solidFill>
                <a:highlight>
                  <a:srgbClr val="FFFFFF"/>
                </a:highlight>
                <a:latin typeface="Ember Modern Display Standard" panose="020B0503020204020204" pitchFamily="34" charset="0"/>
                <a:ea typeface="Special Gothic"/>
                <a:cs typeface="Special Gothic"/>
                <a:sym typeface="Special Gothic"/>
              </a:rPr>
            </a:br>
            <a:r>
              <a:rPr lang="en" sz="1100" dirty="0">
                <a:solidFill>
                  <a:schemeClr val="accent2"/>
                </a:solidFill>
                <a:latin typeface="Ember Modern Display Standard" panose="020B0503020204020204" pitchFamily="34" charset="0"/>
              </a:rPr>
              <a:t>What we would build next, and where it matters.</a:t>
            </a:r>
            <a:endParaRPr sz="3000" b="1" dirty="0">
              <a:solidFill>
                <a:schemeClr val="accent2"/>
              </a:solidFill>
              <a:latin typeface="Ember Modern Display Standard" panose="020B0503020204020204" pitchFamily="34" charset="0"/>
              <a:ea typeface="Special Gothic"/>
              <a:cs typeface="Special Gothic"/>
              <a:sym typeface="Special Gothic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502920" y="460857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8C0CC"/>
                </a:solidFill>
                <a:latin typeface="Ember Modern Display Standard"/>
              </a:rPr>
              <a:t>01 Understanding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02 Building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03 Feedback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0">
                <a:solidFill>
                  <a:srgbClr val="B8C0CC"/>
                </a:solidFill>
                <a:latin typeface="Ember Modern Display Standard"/>
              </a:rPr>
              <a:t>04 Results</a:t>
            </a:r>
            <a:r>
              <a:rPr sz="850" b="0">
                <a:solidFill>
                  <a:srgbClr val="161D26"/>
                </a:solidFill>
                <a:latin typeface="Ember Modern Display Standard"/>
              </a:rPr>
              <a:t>    </a:t>
            </a:r>
            <a:r>
              <a:rPr sz="850" b="1">
                <a:solidFill>
                  <a:srgbClr val="FF6200"/>
                </a:solidFill>
                <a:latin typeface="Ember Modern Display Standard"/>
              </a:rPr>
              <a:t>05 Ahead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5486400" y="4608576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FF6200"/>
                </a:solidFill>
                <a:latin typeface="Ember Modern Display Standard"/>
              </a:rPr>
              <a:t>● </a:t>
            </a:r>
            <a:r>
              <a:rPr sz="850" b="0">
                <a:solidFill>
                  <a:srgbClr val="6B7280"/>
                </a:solidFill>
                <a:latin typeface="Ember Modern Display Standard"/>
              </a:rPr>
              <a:t>Customer Obsession  ·  Success and Scale Bring Broad Responsibility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502920" y="1371600"/>
            <a:ext cx="3931920" cy="3008376"/>
          </a:xfrm>
          <a:prstGeom prst="roundRect">
            <a:avLst>
              <a:gd name="adj" fmla="val 1823"/>
            </a:avLst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731520" y="153619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6200"/>
                </a:solidFill>
                <a:latin typeface="Ember Modern Display Standard"/>
              </a:rPr>
              <a:t>Improve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4709160" y="1371600"/>
            <a:ext cx="3931920" cy="3008376"/>
          </a:xfrm>
          <a:prstGeom prst="roundRect">
            <a:avLst>
              <a:gd name="adj" fmla="val 1823"/>
            </a:avLst>
          </a:prstGeom>
          <a:solidFill>
            <a:srgbClr val="16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4937760" y="153619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6200"/>
                </a:solidFill>
                <a:latin typeface="Ember Modern Display Standard"/>
              </a:rPr>
              <a:t>Apply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31520" y="20116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161D26"/>
                </a:solidFill>
                <a:latin typeface="Ember Modern Display Standard"/>
              </a:rPr>
              <a:t>A few hundred labels per new country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31520" y="25603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161D26"/>
                </a:solidFill>
                <a:latin typeface="Ember Modern Display Standard"/>
              </a:rPr>
              <a:t>City and state as soft keys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31520" y="31089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161D26"/>
                </a:solidFill>
                <a:latin typeface="Ember Modern Display Standard"/>
              </a:rPr>
              <a:t>Better empty-address matching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731520" y="3657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161D26"/>
                </a:solidFill>
                <a:latin typeface="Ember Modern Display Standard"/>
              </a:rPr>
              <a:t>Human review for unsure pairs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937760" y="20116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FFFFFF"/>
                </a:solidFill>
                <a:latin typeface="Ember Modern Display Standard"/>
              </a:rPr>
              <a:t>De-duplicate business sign-ups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937760" y="25603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FFFFFF"/>
                </a:solidFill>
                <a:latin typeface="Ember Modern Display Standard"/>
              </a:rPr>
              <a:t>Clean seller and supplier records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937760" y="31089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FFFFFF"/>
                </a:solidFill>
                <a:latin typeface="Ember Modern Display Standard"/>
              </a:rPr>
              <a:t>Catch duplicate or fake accounts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937760" y="3657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200"/>
                </a:solidFill>
                <a:latin typeface="Ember Modern Display Standard"/>
              </a:rPr>
              <a:t>●  </a:t>
            </a:r>
            <a:r>
              <a:rPr sz="1400" b="0">
                <a:solidFill>
                  <a:srgbClr val="FFFFFF"/>
                </a:solidFill>
                <a:latin typeface="Ember Modern Display Standard"/>
              </a:rPr>
              <a:t>Launch new marketplaces faster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1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0" animBg="1"/>
      <p:bldP spid="270" grpId="0" animBg="1"/>
      <p:bldP spid="273" grpId="0" animBg="1"/>
      <p:bldP spid="274" grpId="0" animBg="1"/>
      <p:bldP spid="275" grpId="0" animBg="1"/>
      <p:bldP spid="276" grpId="0" animBg="1"/>
      <p:bldP spid="271" grpId="0" animBg="1"/>
      <p:bldP spid="272" grpId="0" animBg="1"/>
      <p:bldP spid="277" grpId="0" animBg="1"/>
      <p:bldP spid="278" grpId="0" animBg="1"/>
      <p:bldP spid="279" grpId="0" animBg="1"/>
      <p:bldP spid="28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114300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Ember Modern Display Standard"/>
              </a:rPr>
              <a:t>Part 1 of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109728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6200"/>
                </a:solidFill>
                <a:latin typeface="Ember Modern Display Standard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219456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Understanding the problem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285292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6DCE7"/>
                </a:solidFill>
                <a:latin typeface="Ember Modern Display Standard"/>
              </a:rPr>
              <a:t>What the data told us, and the rules we set ourselves.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128" grpId="0" animBg="1"/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114300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Ember Modern Display Standard"/>
              </a:rPr>
              <a:t>Part 2 of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109728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6200"/>
                </a:solidFill>
                <a:latin typeface="Ember Modern Display Standard"/>
              </a:rPr>
              <a:t>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219456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Building the solution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285292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6DCE7"/>
                </a:solidFill>
                <a:latin typeface="Ember Modern Display Standard"/>
              </a:rPr>
              <a:t>How we search, score, decide, and stay fast.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128" grpId="0" animBg="1"/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114300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Ember Modern Display Standard"/>
              </a:rPr>
              <a:t>Part 3 of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109728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6200"/>
                </a:solidFill>
                <a:latin typeface="Ember Modern Display Standard"/>
              </a:rPr>
              <a:t>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219456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Learning from feedback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285292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6DCE7"/>
                </a:solidFill>
                <a:latin typeface="Ember Modern Display Standard"/>
              </a:rPr>
              <a:t>What the leaderboard showed us, and how we responded.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128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114300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Ember Modern Display Standard"/>
              </a:rPr>
              <a:t>Part 4 of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109728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6200"/>
                </a:solidFill>
                <a:latin typeface="Ember Modern Display Standard"/>
              </a:rPr>
              <a:t>04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219456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Results and reflection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285292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6DCE7"/>
                </a:solidFill>
                <a:latin typeface="Ember Modern Display Standard"/>
              </a:rPr>
              <a:t>How we worked, where we landed, and what we learned.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128" grpId="0" animBg="1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114300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Ember Modern Display Standard"/>
              </a:rPr>
              <a:t>Part 5 of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109728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6200"/>
                </a:solidFill>
                <a:latin typeface="Ember Modern Display Standard"/>
              </a:rPr>
              <a:t>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219456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Ember Modern Display Standard"/>
              </a:rPr>
              <a:t>Looking ahead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285292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6DCE7"/>
                </a:solidFill>
                <a:latin typeface="Ember Modern Display Standard"/>
              </a:rPr>
              <a:t>How it scales, and where it goes next.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128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D26"/>
        </a:solidFill>
        <a:effectLst/>
      </p:bgPr>
    </p:bg>
    <p:spTree>
      <p:nvGrpSpPr>
        <p:cNvPr id="1" name="Shape 124">
          <a:extLst>
            <a:ext uri="{FF2B5EF4-FFF2-40B4-BE49-F238E27FC236}">
              <a16:creationId xmlns:a16="http://schemas.microsoft.com/office/drawing/2014/main" id="{73DD50EC-CAFF-8F02-F010-6694E0B1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6">
            <a:extLst>
              <a:ext uri="{FF2B5EF4-FFF2-40B4-BE49-F238E27FC236}">
                <a16:creationId xmlns:a16="http://schemas.microsoft.com/office/drawing/2014/main" id="{FB03AD22-4ED4-FE94-6FE7-8417ED8F8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7675" y="403650"/>
            <a:ext cx="8181300" cy="4153800"/>
          </a:xfrm>
          <a:prstGeom prst="roundRect">
            <a:avLst>
              <a:gd name="adj" fmla="val 2303"/>
            </a:avLst>
          </a:prstGeom>
          <a:solidFill>
            <a:srgbClr val="293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 descr="A logo of a company&#10;&#10;AI-generated content may be incorrect.">
            <a:extLst>
              <a:ext uri="{FF2B5EF4-FFF2-40B4-BE49-F238E27FC236}">
                <a16:creationId xmlns:a16="http://schemas.microsoft.com/office/drawing/2014/main" id="{7EBF125C-021C-FEB9-9139-9A3274BE58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4907" y="4731974"/>
            <a:ext cx="554186" cy="185801"/>
          </a:xfrm>
          <a:prstGeom prst="rect">
            <a:avLst/>
          </a:prstGeom>
        </p:spPr>
      </p:pic>
      <p:sp>
        <p:nvSpPr>
          <p:cNvPr id="4" name="Google Shape;572;p58">
            <a:extLst>
              <a:ext uri="{FF2B5EF4-FFF2-40B4-BE49-F238E27FC236}">
                <a16:creationId xmlns:a16="http://schemas.microsoft.com/office/drawing/2014/main" id="{2BD61A1F-1DC5-B773-FCE6-6725995FE91D}"/>
              </a:ext>
            </a:extLst>
          </p:cNvPr>
          <p:cNvSpPr/>
          <p:nvPr/>
        </p:nvSpPr>
        <p:spPr>
          <a:xfrm>
            <a:off x="3035315" y="3156693"/>
            <a:ext cx="3114474" cy="292800"/>
          </a:xfrm>
          <a:prstGeom prst="roundRect">
            <a:avLst>
              <a:gd name="adj" fmla="val 50000"/>
            </a:avLst>
          </a:prstGeom>
          <a:solidFill>
            <a:srgbClr val="FF6200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Ember Modern Display Standard"/>
              </a:rPr>
              <a:t>Questions welcome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4632" y="1051560"/>
            <a:ext cx="8183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Ember Modern Display Standard"/>
              </a:rPr>
              <a:t>Thank </a:t>
            </a:r>
            <a:r>
              <a:rPr sz="4400" b="1">
                <a:solidFill>
                  <a:srgbClr val="FF6200"/>
                </a:solidFill>
                <a:latin typeface="Ember Modern Display Standard"/>
              </a:rPr>
              <a:t>You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D6DCE7"/>
                </a:solidFill>
                <a:latin typeface="Ember Modern Display Standard"/>
              </a:rPr>
              <a:t>Read the data.   Decide like the metric.   Spend compute where it matters.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4632" y="3749039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8C0CC"/>
                </a:solidFill>
                <a:latin typeface="Ember Modern Display Standard"/>
              </a:rPr>
              <a:t>Team Grenuke  ·  Ameya Borkar  ·  Aarush Bakshi  ·  Sachi Dhoka</a:t>
            </a:r>
          </a:p>
        </p:txBody>
      </p:sp>
    </p:spTree>
    <p:extLst>
      <p:ext uri="{BB962C8B-B14F-4D97-AF65-F5344CB8AC3E}">
        <p14:creationId xmlns:p14="http://schemas.microsoft.com/office/powerpoint/2010/main" val="3227969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animBg="1"/>
      <p:bldP spid="127" grpId="0" animBg="1"/>
      <p:bldP spid="4" grpId="0" animBg="1"/>
      <p:bldP spid="128" grpId="0" animBg="1"/>
    </p:bldLst>
  </p:timing>
</p:sld>
</file>

<file path=ppt/theme/theme1.xml><?xml version="1.0" encoding="utf-8"?>
<a:theme xmlns:a="http://schemas.openxmlformats.org/drawingml/2006/main" name="Amazo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6200"/>
      </a:accent1>
      <a:accent2>
        <a:srgbClr val="161D26"/>
      </a:accent2>
      <a:accent3>
        <a:srgbClr val="F5F3EF"/>
      </a:accent3>
      <a:accent4>
        <a:srgbClr val="FFB28B"/>
      </a:accent4>
      <a:accent5>
        <a:srgbClr val="D1CAC2"/>
      </a:accent5>
      <a:accent6>
        <a:srgbClr val="D6DCE7"/>
      </a:accent6>
      <a:hlink>
        <a:srgbClr val="B6BFB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285</Words>
  <Application>Microsoft Office PowerPoint</Application>
  <PresentationFormat>On-screen Show (16:9)</PresentationFormat>
  <Paragraphs>13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Ember Modern Display Standard</vt:lpstr>
      <vt:lpstr>Arial</vt:lpstr>
      <vt:lpstr>Helvetica Neue</vt:lpstr>
      <vt:lpstr>Play</vt:lpstr>
      <vt:lpstr>Amazon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Kumar A, Lathish</dc:creator>
  <cp:lastModifiedBy>Kumar A, Lathish</cp:lastModifiedBy>
  <cp:revision>16</cp:revision>
  <dcterms:modified xsi:type="dcterms:W3CDTF">2026-10-03T09:35:33Z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2026-01-29T18:51:21Z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c58a1bf8-dfa2-42af-b639-c349773bb8a9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10, 3, 0, 1</vt:lpwstr>
  </property>
</Properties>
</file>