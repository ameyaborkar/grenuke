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5"/>
  </p:notesMasterIdLst>
  <p:sldIdLst>
    <p:sldId id="257" r:id="rId2"/>
    <p:sldId id="279" r:id="rId4"/>
    <p:sldId id="262" r:id="rId3"/>
    <p:sldId id="294" r:id="rId35"/>
    <p:sldId id="293" r:id="rId34"/>
    <p:sldId id="292" r:id="rId33"/>
    <p:sldId id="291" r:id="rId32"/>
    <p:sldId id="299" r:id="rId40"/>
    <p:sldId id="290" r:id="rId31"/>
    <p:sldId id="289" r:id="rId30"/>
    <p:sldId id="288" r:id="rId29"/>
    <p:sldId id="287" r:id="rId28"/>
    <p:sldId id="298" r:id="rId39"/>
    <p:sldId id="286" r:id="rId27"/>
    <p:sldId id="285" r:id="rId26"/>
    <p:sldId id="297" r:id="rId38"/>
    <p:sldId id="284" r:id="rId25"/>
    <p:sldId id="283" r:id="rId24"/>
    <p:sldId id="282" r:id="rId23"/>
    <p:sldId id="296" r:id="rId37"/>
    <p:sldId id="281" r:id="rId22"/>
    <p:sldId id="280" r:id="rId21"/>
    <p:sldId id="295" r:id="rId36"/>
  </p:sldIdLst>
  <p:sldSz cx="9144000" cy="5143500" type="screen16x9"/>
  <p:notesSz cx="6858000" cy="9144000"/>
  <p:embeddedFontLst>
    <p:embeddedFont>
      <p:font typeface="Ember Modern Display Standard" panose="020B0503020204020204" pitchFamily="34" charset="0"/>
      <p:regular r:id="rId6"/>
      <p:bold r:id="rId7"/>
    </p:embeddedFont>
    <p:embeddedFont>
      <p:font typeface="Helvetica Neue" panose="020B0604020202020204" charset="0"/>
      <p:regular r:id="rId8"/>
      <p:bold r:id="rId9"/>
      <p:italic r:id="rId10"/>
      <p:boldItalic r:id="rId11"/>
    </p:embeddedFont>
    <p:embeddedFont>
      <p:font typeface="Play"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lec@amazon.co.uk" initials="" lastIdx="8" clrIdx="0"/>
  <p:cmAuthor id="1" name="Monika Lumb" initials="" lastIdx="4" clrIdx="1"/>
  <p:cmAuthor id="2" name="Samantha Trup" initials="" lastIdx="1" clrIdx="2"/>
  <p:cmAuthor id="3" name="Gabriela Beitel" initials="" lastIdx="17"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101"/>
    <a:srgbClr val="131C27"/>
    <a:srgbClr val="EEEEEE"/>
    <a:srgbClr val="F491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6"/>
  </p:normalViewPr>
  <p:slideViewPr>
    <p:cSldViewPr snapToGrid="0">
      <p:cViewPr varScale="1">
        <p:scale>
          <a:sx n="93" d="100"/>
          <a:sy n="93" d="100"/>
        </p:scale>
        <p:origin x="544"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18.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font" Target="fonts/font5.fntdata"/><Relationship Id="rId11" Type="http://schemas.openxmlformats.org/officeDocument/2006/relationships/font" Target="fonts/font6.fntdata"/><Relationship Id="rId12" Type="http://schemas.openxmlformats.org/officeDocument/2006/relationships/font" Target="fonts/font7.fntdata"/><Relationship Id="rId13" Type="http://schemas.openxmlformats.org/officeDocument/2006/relationships/font" Target="fonts/font8.fntdata"/><Relationship Id="rId14" Type="http://schemas.openxmlformats.org/officeDocument/2006/relationships/font" Target="fonts/font9.fntdata"/><Relationship Id="rId15" Type="http://schemas.openxmlformats.org/officeDocument/2006/relationships/font" Target="fonts/font10.fntdata"/><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7.xml"/><Relationship Id="rId22" Type="http://schemas.openxmlformats.org/officeDocument/2006/relationships/slide" Target="slides/slide16.xml"/><Relationship Id="rId23" Type="http://schemas.openxmlformats.org/officeDocument/2006/relationships/slide" Target="slides/slide15.xml"/><Relationship Id="rId24" Type="http://schemas.openxmlformats.org/officeDocument/2006/relationships/slide" Target="slides/slide14.xml"/><Relationship Id="rId25" Type="http://schemas.openxmlformats.org/officeDocument/2006/relationships/slide" Target="slides/slide13.xml"/><Relationship Id="rId26" Type="http://schemas.openxmlformats.org/officeDocument/2006/relationships/slide" Target="slides/slide12.xml"/><Relationship Id="rId27" Type="http://schemas.openxmlformats.org/officeDocument/2006/relationships/slide" Target="slides/slide11.xml"/><Relationship Id="rId28" Type="http://schemas.openxmlformats.org/officeDocument/2006/relationships/slide" Target="slides/slide10.xml"/><Relationship Id="rId29" Type="http://schemas.openxmlformats.org/officeDocument/2006/relationships/slide" Target="slides/slide9.xml"/><Relationship Id="rId30" Type="http://schemas.openxmlformats.org/officeDocument/2006/relationships/slide" Target="slides/slide8.xml"/><Relationship Id="rId31" Type="http://schemas.openxmlformats.org/officeDocument/2006/relationships/slide" Target="slides/slide7.xml"/><Relationship Id="rId32" Type="http://schemas.openxmlformats.org/officeDocument/2006/relationships/slide" Target="slides/slide6.xml"/><Relationship Id="rId33" Type="http://schemas.openxmlformats.org/officeDocument/2006/relationships/slide" Target="slides/slide5.xml"/><Relationship Id="rId34" Type="http://schemas.openxmlformats.org/officeDocument/2006/relationships/slide" Target="slides/slide4.xml"/><Relationship Id="rId35" Type="http://schemas.openxmlformats.org/officeDocument/2006/relationships/slide" Target="slides/slide3.xml"/><Relationship Id="rId36" Type="http://schemas.openxmlformats.org/officeDocument/2006/relationships/slide" Target="slides/slide23.xml"/><Relationship Id="rId37" Type="http://schemas.openxmlformats.org/officeDocument/2006/relationships/slide" Target="slides/slide22.xml"/><Relationship Id="rId38" Type="http://schemas.openxmlformats.org/officeDocument/2006/relationships/slide" Target="slides/slide21.xml"/><Relationship Id="rId39" Type="http://schemas.openxmlformats.org/officeDocument/2006/relationships/slide" Target="slides/slide20.xml"/><Relationship Id="rId40"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US</c:v>
                </c:pt>
              </c:strCache>
            </c:strRef>
          </c:tx>
          <c:spPr>
            <a:solidFill>
              <a:srgbClr val="161D26"/>
            </a:solidFill>
          </c:spPr>
          <c:dLbls>
            <c:dLbl>
              <c:idx val="0"/>
              <c:tx>
                <c:rich>
                  <a:bodyPr/>
                  <a:lstStyle/>
                  <a:p>
                    <a:r>
                      <a:rPr sz="1200" b="1">
                        <a:solidFill>
                          <a:srgbClr val="FFFFFF"/>
                        </a:solidFill>
                        <a:latin typeface="Ember Modern Display Standard"/>
                      </a:rPr>
                      <a:t>1.32M</a:t>
                    </a:r>
                  </a:p>
                </c:rich>
              </c:tx>
              <c:dLblPos val="ctr"/>
              <c:showLegendKey val="0"/>
              <c:showVal val="1"/>
              <c:showCatName val="0"/>
              <c:showSerName val="0"/>
              <c:showPercent val="0"/>
              <c:showBubbleSize val="0"/>
            </c:dLbl>
            <c:dLbl>
              <c:idx val="1"/>
              <c:tx>
                <c:rich>
                  <a:bodyPr/>
                  <a:lstStyle/>
                  <a:p>
                    <a:r>
                      <a:rPr sz="1200" b="1">
                        <a:solidFill>
                          <a:srgbClr val="FFFFFF"/>
                        </a:solidFill>
                        <a:latin typeface="Ember Modern Display Standard"/>
                      </a:rPr>
                      <a:t>0.66M</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Training set</c:v>
                </c:pt>
                <c:pt idx="1">
                  <c:v>Test set</c:v>
                </c:pt>
              </c:strCache>
            </c:strRef>
          </c:cat>
          <c:val>
            <c:numRef>
              <c:f>Sheet1!$B$2:$B$3</c:f>
              <c:numCache>
                <c:formatCode>General</c:formatCode>
                <c:ptCount val="2"/>
                <c:pt idx="0">
                  <c:v>1.324</c:v>
                </c:pt>
                <c:pt idx="1">
                  <c:v>0.663</c:v>
                </c:pt>
              </c:numCache>
            </c:numRef>
          </c:val>
        </c:ser>
        <c:ser>
          <c:idx val="1"/>
          <c:order val="1"/>
          <c:tx>
            <c:strRef>
              <c:f>Sheet1!$C$1</c:f>
              <c:strCache>
                <c:ptCount val="1"/>
                <c:pt idx="0">
                  <c:v>India</c:v>
                </c:pt>
              </c:strCache>
            </c:strRef>
          </c:tx>
          <c:spPr>
            <a:solidFill>
              <a:srgbClr val="D6DCE7"/>
            </a:solidFill>
          </c:spPr>
          <c:dLbls>
            <c:dLbl>
              <c:idx val="0"/>
              <c:tx>
                <c:rich>
                  <a:bodyPr/>
                  <a:lstStyle/>
                  <a:p>
                    <a:r>
                      <a:rPr sz="1200" b="1">
                        <a:solidFill>
                          <a:srgbClr val="161D26"/>
                        </a:solidFill>
                        <a:latin typeface="Ember Modern Display Standard"/>
                      </a:rPr>
                      <a:t>0.88M</a:t>
                    </a:r>
                  </a:p>
                </c:rich>
              </c:tx>
              <c:dLblPos val="ctr"/>
              <c:showLegendKey val="0"/>
              <c:showVal val="1"/>
              <c:showCatName val="0"/>
              <c:showSerName val="0"/>
              <c:showPercent val="0"/>
              <c:showBubbleSize val="0"/>
            </c:dLbl>
            <c:dLbl>
              <c:idx val="1"/>
              <c:tx>
                <c:rich>
                  <a:bodyPr/>
                  <a:lstStyle/>
                  <a:p>
                    <a:r>
                      <a:rPr sz="1200" b="1">
                        <a:solidFill>
                          <a:srgbClr val="161D26"/>
                        </a:solidFill>
                        <a:latin typeface="Ember Modern Display Standard"/>
                      </a:rPr>
                      <a:t>0.81M</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Training set</c:v>
                </c:pt>
                <c:pt idx="1">
                  <c:v>Test set</c:v>
                </c:pt>
              </c:strCache>
            </c:strRef>
          </c:cat>
          <c:val>
            <c:numRef>
              <c:f>Sheet1!$C$2:$C$3</c:f>
              <c:numCache>
                <c:formatCode>General</c:formatCode>
                <c:ptCount val="2"/>
                <c:pt idx="0">
                  <c:v>0.883</c:v>
                </c:pt>
                <c:pt idx="1">
                  <c:v>0.81</c:v>
                </c:pt>
              </c:numCache>
            </c:numRef>
          </c:val>
        </c:ser>
        <c:ser>
          <c:idx val="2"/>
          <c:order val="2"/>
          <c:tx>
            <c:strRef>
              <c:f>Sheet1!$D$1</c:f>
              <c:strCache>
                <c:ptCount val="1"/>
                <c:pt idx="0">
                  <c:v>France</c:v>
                </c:pt>
              </c:strCache>
            </c:strRef>
          </c:tx>
          <c:spPr>
            <a:solidFill>
              <a:srgbClr val="FF6200"/>
            </a:solidFill>
          </c:spPr>
          <c:dLbls>
            <c:dLbl>
              <c:idx val="1"/>
              <c:tx>
                <c:rich>
                  <a:bodyPr/>
                  <a:lstStyle/>
                  <a:p>
                    <a:r>
                      <a:rPr sz="1200" b="1">
                        <a:solidFill>
                          <a:srgbClr val="FFFFFF"/>
                        </a:solidFill>
                        <a:latin typeface="Ember Modern Display Standard"/>
                      </a:rPr>
                      <a:t>0.26M</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Training set</c:v>
                </c:pt>
                <c:pt idx="1">
                  <c:v>Test set</c:v>
                </c:pt>
              </c:strCache>
            </c:strRef>
          </c:cat>
          <c:val>
            <c:numRef>
              <c:f>Sheet1!$D$2:$D$3</c:f>
              <c:numCache>
                <c:formatCode>General</c:formatCode>
                <c:ptCount val="2"/>
                <c:pt idx="0">
                  <c:v>0</c:v>
                </c:pt>
                <c:pt idx="1">
                  <c:v>0.259</c:v>
                </c:pt>
              </c:numCache>
            </c:numRef>
          </c:val>
        </c:ser>
        <c:gapWidth val="55"/>
        <c:overlap val="100"/>
        <c:axId val="-2068027336"/>
        <c:axId val="-2113994440"/>
      </c:barChart>
      <c:catAx>
        <c:axId val="-2068027336"/>
        <c:scaling>
          <c:orientation val="minMax"/>
        </c:scaling>
        <c:delete val="0"/>
        <c:axPos val="b"/>
        <c:majorTickMark val="out"/>
        <c:minorTickMark val="none"/>
        <c:tickLblPos val="nextTo"/>
        <c:spPr>
          <a:ln>
            <a:solidFill>
              <a:srgbClr val="B8C0CC"/>
            </a:solidFill>
          </a:ln>
        </c:spPr>
        <c:crossAx val="-2113994440"/>
        <c:crosses val="autoZero"/>
        <c:auto val="1"/>
        <c:lblAlgn val="ctr"/>
        <c:lblOffset val="100"/>
        <c:noMultiLvlLbl val="0"/>
      </c:catAx>
      <c:valAx>
        <c:axId val="-2113994440"/>
        <c:scaling>
          <c:max val="2.3"/>
          <c:min val="0.0"/>
        </c:scaling>
        <c:delete/>
        <c:axPos val="l"/>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D26"/>
          </a:solidFill>
          <a:latin typeface="Ember Modern Display Standard"/>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FF6200"/>
              </a:solidFill>
            </c:spPr>
          </c:dPt>
          <c:dPt>
            <c:idx val="1"/>
            <c:spPr>
              <a:solidFill>
                <a:srgbClr val="D6DCE7"/>
              </a:solidFill>
            </c:spPr>
          </c:dPt>
          <c:dPt>
            <c:idx val="2"/>
            <c:spPr>
              <a:solidFill>
                <a:srgbClr val="D6DCE7"/>
              </a:solidFill>
            </c:spPr>
          </c:dPt>
          <c:dPt>
            <c:idx val="3"/>
            <c:spPr>
              <a:solidFill>
                <a:srgbClr val="D6DCE7"/>
              </a:solidFill>
            </c:spPr>
          </c:dPt>
          <c:dPt>
            <c:idx val="4"/>
            <c:spPr>
              <a:solidFill>
                <a:srgbClr val="D6DCE7"/>
              </a:solidFill>
            </c:spPr>
          </c:dPt>
          <c:dPt>
            <c:idx val="5"/>
            <c:spPr>
              <a:solidFill>
                <a:srgbClr val="D6DCE7"/>
              </a:solidFill>
            </c:spPr>
          </c:dPt>
          <c:dPt>
            <c:idx val="6"/>
            <c:spPr>
              <a:solidFill>
                <a:srgbClr val="D6DCE7"/>
              </a:solidFill>
            </c:spPr>
          </c:dPt>
          <c:dPt>
            <c:idx val="7"/>
            <c:spPr>
              <a:solidFill>
                <a:srgbClr val="D6DCE7"/>
              </a:solidFill>
            </c:spPr>
          </c:dPt>
          <c:dLbls>
            <c:dLbl>
              <c:idx val="0"/>
              <c:tx>
                <c:rich>
                  <a:bodyPr/>
                  <a:lstStyle/>
                  <a:p>
                    <a:r>
                      <a:rPr sz="1200" b="1">
                        <a:solidFill>
                          <a:srgbClr val="161D26"/>
                        </a:solidFill>
                        <a:latin typeface="Ember Modern Display Standard"/>
                      </a:rPr>
                      <a:t>5.6%</a:t>
                    </a:r>
                  </a:p>
                </c:rich>
              </c:tx>
              <c:dLblPos val="outEnd"/>
              <c:showLegendKey val="0"/>
              <c:showVal val="1"/>
              <c:showCatName val="0"/>
              <c:showSerName val="0"/>
              <c:showPercent val="0"/>
              <c:showBubbleSize val="0"/>
            </c:dLbl>
            <c:dLbl>
              <c:idx val="1"/>
              <c:tx>
                <c:rich>
                  <a:bodyPr/>
                  <a:lstStyle/>
                  <a:p>
                    <a:r>
                      <a:rPr sz="1200" b="1">
                        <a:solidFill>
                          <a:srgbClr val="161D26"/>
                        </a:solidFill>
                        <a:latin typeface="Ember Modern Display Standard"/>
                      </a:rPr>
                      <a:t>5.4%</a:t>
                    </a:r>
                  </a:p>
                </c:rich>
              </c:tx>
              <c:dLblPos val="outEnd"/>
              <c:showLegendKey val="0"/>
              <c:showVal val="1"/>
              <c:showCatName val="0"/>
              <c:showSerName val="0"/>
              <c:showPercent val="0"/>
              <c:showBubbleSize val="0"/>
            </c:dLbl>
            <c:dLbl>
              <c:idx val="2"/>
              <c:tx>
                <c:rich>
                  <a:bodyPr/>
                  <a:lstStyle/>
                  <a:p>
                    <a:r>
                      <a:rPr sz="1200" b="1">
                        <a:solidFill>
                          <a:srgbClr val="161D26"/>
                        </a:solidFill>
                        <a:latin typeface="Ember Modern Display Standard"/>
                      </a:rPr>
                      <a:t>17%</a:t>
                    </a:r>
                  </a:p>
                </c:rich>
              </c:tx>
              <c:dLblPos val="outEnd"/>
              <c:showLegendKey val="0"/>
              <c:showVal val="1"/>
              <c:showCatName val="0"/>
              <c:showSerName val="0"/>
              <c:showPercent val="0"/>
              <c:showBubbleSize val="0"/>
            </c:dLbl>
            <c:dLbl>
              <c:idx val="3"/>
              <c:tx>
                <c:rich>
                  <a:bodyPr/>
                  <a:lstStyle/>
                  <a:p>
                    <a:r>
                      <a:rPr sz="1200" b="1">
                        <a:solidFill>
                          <a:srgbClr val="161D26"/>
                        </a:solidFill>
                        <a:latin typeface="Ember Modern Display Standard"/>
                      </a:rPr>
                      <a:t>24%</a:t>
                    </a:r>
                  </a:p>
                </c:rich>
              </c:tx>
              <c:dLblPos val="outEnd"/>
              <c:showLegendKey val="0"/>
              <c:showVal val="1"/>
              <c:showCatName val="0"/>
              <c:showSerName val="0"/>
              <c:showPercent val="0"/>
              <c:showBubbleSize val="0"/>
            </c:dLbl>
            <c:dLbl>
              <c:idx val="4"/>
              <c:tx>
                <c:rich>
                  <a:bodyPr/>
                  <a:lstStyle/>
                  <a:p>
                    <a:r>
                      <a:rPr sz="1200" b="1">
                        <a:solidFill>
                          <a:srgbClr val="161D26"/>
                        </a:solidFill>
                        <a:latin typeface="Ember Modern Display Standard"/>
                      </a:rPr>
                      <a:t>22%</a:t>
                    </a:r>
                  </a:p>
                </c:rich>
              </c:tx>
              <c:dLblPos val="outEnd"/>
              <c:showLegendKey val="0"/>
              <c:showVal val="1"/>
              <c:showCatName val="0"/>
              <c:showSerName val="0"/>
              <c:showPercent val="0"/>
              <c:showBubbleSize val="0"/>
            </c:dLbl>
            <c:dLbl>
              <c:idx val="5"/>
              <c:tx>
                <c:rich>
                  <a:bodyPr/>
                  <a:lstStyle/>
                  <a:p>
                    <a:r>
                      <a:rPr sz="1200" b="1">
                        <a:solidFill>
                          <a:srgbClr val="161D26"/>
                        </a:solidFill>
                        <a:latin typeface="Ember Modern Display Standard"/>
                      </a:rPr>
                      <a:t>14.6%</a:t>
                    </a:r>
                  </a:p>
                </c:rich>
              </c:tx>
              <c:dLblPos val="outEnd"/>
              <c:showLegendKey val="0"/>
              <c:showVal val="1"/>
              <c:showCatName val="0"/>
              <c:showSerName val="0"/>
              <c:showPercent val="0"/>
              <c:showBubbleSize val="0"/>
            </c:dLbl>
            <c:dLbl>
              <c:idx val="6"/>
              <c:tx>
                <c:rich>
                  <a:bodyPr/>
                  <a:lstStyle/>
                  <a:p>
                    <a:r>
                      <a:rPr sz="1200" b="1">
                        <a:solidFill>
                          <a:srgbClr val="161D26"/>
                        </a:solidFill>
                        <a:latin typeface="Ember Modern Display Standard"/>
                      </a:rPr>
                      <a:t>7.5%</a:t>
                    </a:r>
                  </a:p>
                </c:rich>
              </c:tx>
              <c:dLblPos val="outEnd"/>
              <c:showLegendKey val="0"/>
              <c:showVal val="1"/>
              <c:showCatName val="0"/>
              <c:showSerName val="0"/>
              <c:showPercent val="0"/>
              <c:showBubbleSize val="0"/>
            </c:dLbl>
            <c:dLbl>
              <c:idx val="7"/>
              <c:tx>
                <c:rich>
                  <a:bodyPr/>
                  <a:lstStyle/>
                  <a:p>
                    <a:r>
                      <a:rPr sz="1200" b="1">
                        <a:solidFill>
                          <a:srgbClr val="161D26"/>
                        </a:solidFill>
                        <a:latin typeface="Ember Modern Display Standard"/>
                      </a:rPr>
                      <a:t>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0</c:v>
                </c:pt>
                <c:pt idx="1">
                  <c:v>1</c:v>
                </c:pt>
                <c:pt idx="2">
                  <c:v>2</c:v>
                </c:pt>
                <c:pt idx="3">
                  <c:v>3</c:v>
                </c:pt>
                <c:pt idx="4">
                  <c:v>4</c:v>
                </c:pt>
                <c:pt idx="5">
                  <c:v>5</c:v>
                </c:pt>
                <c:pt idx="6">
                  <c:v>6</c:v>
                </c:pt>
                <c:pt idx="7">
                  <c:v>7+</c:v>
                </c:pt>
              </c:strCache>
            </c:strRef>
          </c:cat>
          <c:val>
            <c:numRef>
              <c:f>Sheet1!$B$2:$B$9</c:f>
              <c:numCache>
                <c:formatCode>General</c:formatCode>
                <c:ptCount val="8"/>
                <c:pt idx="0">
                  <c:v>5.6</c:v>
                </c:pt>
                <c:pt idx="1">
                  <c:v>5.4</c:v>
                </c:pt>
                <c:pt idx="2">
                  <c:v>17</c:v>
                </c:pt>
                <c:pt idx="3">
                  <c:v>24</c:v>
                </c:pt>
                <c:pt idx="4">
                  <c:v>22</c:v>
                </c:pt>
                <c:pt idx="5">
                  <c:v>14.6</c:v>
                </c:pt>
                <c:pt idx="6">
                  <c:v>7.5</c:v>
                </c:pt>
                <c:pt idx="7">
                  <c:v>4.0</c:v>
                </c:pt>
              </c:numCache>
            </c:numRef>
          </c:val>
        </c:ser>
        <c:gapWidth val="35"/>
        <c:axId val="-2068027336"/>
        <c:axId val="-2113994440"/>
      </c:barChart>
      <c:catAx>
        <c:axId val="-2068027336"/>
        <c:scaling>
          <c:orientation val="minMax"/>
        </c:scaling>
        <c:delete val="0"/>
        <c:axPos val="b"/>
        <c:majorTickMark val="out"/>
        <c:minorTickMark val="none"/>
        <c:tickLblPos val="nextTo"/>
        <c:spPr>
          <a:ln>
            <a:solidFill>
              <a:srgbClr val="B8C0CC"/>
            </a:solidFill>
          </a:ln>
        </c:spPr>
        <c:crossAx val="-2113994440"/>
        <c:crosses val="autoZero"/>
        <c:auto val="1"/>
        <c:lblAlgn val="ctr"/>
        <c:lblOffset val="100"/>
        <c:noMultiLvlLbl val="0"/>
      </c:catAx>
      <c:valAx>
        <c:axId val="-2113994440"/>
        <c:scaling>
          <c:max val="28.0"/>
          <c:min val="0.0"/>
        </c:scaling>
        <c:delete/>
        <c:axPos val="l"/>
        <c:majorTickMark val="out"/>
        <c:minorTickMark val="none"/>
        <c:tickLblPos val="nextTo"/>
        <c:crossAx val="-2068027336"/>
        <c:crosses val="autoZero"/>
      </c:valAx>
    </c:plotArea>
    <c:dispBlanksAs val="gap"/>
  </c:chart>
  <c:txPr>
    <a:bodyPr/>
    <a:lstStyle/>
    <a:p>
      <a:pPr>
        <a:defRPr sz="1100">
          <a:solidFill>
            <a:srgbClr val="161D26"/>
          </a:solidFill>
          <a:latin typeface="Ember Modern Display Standard"/>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D6DCE7"/>
              </a:solidFill>
            </c:spPr>
          </c:dPt>
          <c:dPt>
            <c:idx val="1"/>
            <c:spPr>
              <a:solidFill>
                <a:srgbClr val="D6DCE7"/>
              </a:solidFill>
            </c:spPr>
          </c:dPt>
          <c:dPt>
            <c:idx val="2"/>
            <c:spPr>
              <a:solidFill>
                <a:srgbClr val="FF6200"/>
              </a:solidFill>
            </c:spPr>
          </c:dPt>
          <c:dLbls>
            <c:dLbl>
              <c:idx val="0"/>
              <c:tx>
                <c:rich>
                  <a:bodyPr/>
                  <a:lstStyle/>
                  <a:p>
                    <a:r>
                      <a:rPr sz="1300" b="1">
                        <a:solidFill>
                          <a:srgbClr val="161D26"/>
                        </a:solidFill>
                        <a:latin typeface="Ember Modern Display Standard"/>
                      </a:rPr>
                      <a:t>15.9%</a:t>
                    </a:r>
                  </a:p>
                </c:rich>
              </c:tx>
              <c:dLblPos val="outEnd"/>
              <c:showLegendKey val="0"/>
              <c:showVal val="1"/>
              <c:showCatName val="0"/>
              <c:showSerName val="0"/>
              <c:showPercent val="0"/>
              <c:showBubbleSize val="0"/>
            </c:dLbl>
            <c:dLbl>
              <c:idx val="1"/>
              <c:tx>
                <c:rich>
                  <a:bodyPr/>
                  <a:lstStyle/>
                  <a:p>
                    <a:r>
                      <a:rPr sz="1300" b="1">
                        <a:solidFill>
                          <a:srgbClr val="161D26"/>
                        </a:solidFill>
                        <a:latin typeface="Ember Modern Display Standard"/>
                      </a:rPr>
                      <a:t>4.7%</a:t>
                    </a:r>
                  </a:p>
                </c:rich>
              </c:tx>
              <c:dLblPos val="outEnd"/>
              <c:showLegendKey val="0"/>
              <c:showVal val="1"/>
              <c:showCatName val="0"/>
              <c:showSerName val="0"/>
              <c:showPercent val="0"/>
              <c:showBubbleSize val="0"/>
            </c:dLbl>
            <c:dLbl>
              <c:idx val="2"/>
              <c:tx>
                <c:rich>
                  <a:bodyPr/>
                  <a:lstStyle/>
                  <a:p>
                    <a:r>
                      <a:rPr sz="1300" b="1">
                        <a:solidFill>
                          <a:srgbClr val="161D26"/>
                        </a:solidFill>
                        <a:latin typeface="Ember Modern Display Standard"/>
                      </a:rPr>
                      <a:t>0.09%</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Weak name</c:v>
                </c:pt>
                <c:pt idx="1">
                  <c:v>Weak address</c:v>
                </c:pt>
                <c:pt idx="2">
                  <c:v>Both weak</c:v>
                </c:pt>
              </c:strCache>
            </c:strRef>
          </c:cat>
          <c:val>
            <c:numRef>
              <c:f>Sheet1!$B$2:$B$4</c:f>
              <c:numCache>
                <c:formatCode>General</c:formatCode>
                <c:ptCount val="3"/>
                <c:pt idx="0">
                  <c:v>15.9</c:v>
                </c:pt>
                <c:pt idx="1">
                  <c:v>4.7</c:v>
                </c:pt>
                <c:pt idx="2">
                  <c:v>0.09</c:v>
                </c:pt>
              </c:numCache>
            </c:numRef>
          </c:val>
        </c:ser>
        <c:gapWidth val="55"/>
        <c:axId val="-2068027336"/>
        <c:axId val="-2113994440"/>
      </c:barChart>
      <c:catAx>
        <c:axId val="-2068027336"/>
        <c:scaling>
          <c:orientation val="minMax"/>
        </c:scaling>
        <c:delete val="0"/>
        <c:axPos val="b"/>
        <c:majorTickMark val="out"/>
        <c:minorTickMark val="none"/>
        <c:tickLblPos val="nextTo"/>
        <c:spPr>
          <a:ln>
            <a:solidFill>
              <a:srgbClr val="B8C0CC"/>
            </a:solidFill>
          </a:ln>
        </c:spPr>
        <c:crossAx val="-2113994440"/>
        <c:crosses val="autoZero"/>
        <c:auto val="1"/>
        <c:lblAlgn val="ctr"/>
        <c:lblOffset val="100"/>
        <c:noMultiLvlLbl val="0"/>
      </c:catAx>
      <c:valAx>
        <c:axId val="-2113994440"/>
        <c:scaling>
          <c:max val="19.0"/>
          <c:min val="0.0"/>
        </c:scaling>
        <c:delete/>
        <c:axPos val="l"/>
        <c:majorTickMark val="out"/>
        <c:minorTickMark val="none"/>
        <c:tickLblPos val="nextTo"/>
        <c:crossAx val="-2068027336"/>
        <c:crosses val="autoZero"/>
      </c:valAx>
    </c:plotArea>
    <c:dispBlanksAs val="gap"/>
  </c:chart>
  <c:txPr>
    <a:bodyPr/>
    <a:lstStyle/>
    <a:p>
      <a:pPr>
        <a:defRPr sz="1200">
          <a:solidFill>
            <a:srgbClr val="161D26"/>
          </a:solidFill>
          <a:latin typeface="Ember Modern Display Standard"/>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True copies</c:v>
                </c:pt>
              </c:strCache>
            </c:strRef>
          </c:tx>
          <c:spPr>
            <a:solidFill>
              <a:srgbClr val="161D26"/>
            </a:solidFill>
          </c:spPr>
          <c:dLbls>
            <c:dLbl>
              <c:idx val="0"/>
              <c:tx>
                <c:rich>
                  <a:bodyPr/>
                  <a:lstStyle/>
                  <a:p>
                    <a:r>
                      <a:rPr sz="1200" b="1">
                        <a:solidFill>
                          <a:srgbClr val="161D26"/>
                        </a:solidFill>
                        <a:latin typeface="Ember Modern Display Standard"/>
                      </a:rPr>
                      <a:t>85%</a:t>
                    </a:r>
                  </a:p>
                </c:rich>
              </c:tx>
              <c:dLblPos val="outEnd"/>
              <c:showLegendKey val="0"/>
              <c:showVal val="1"/>
              <c:showCatName val="0"/>
              <c:showSerName val="0"/>
              <c:showPercent val="0"/>
              <c:showBubbleSize val="0"/>
            </c:dLbl>
            <c:dLbl>
              <c:idx val="1"/>
              <c:tx>
                <c:rich>
                  <a:bodyPr/>
                  <a:lstStyle/>
                  <a:p>
                    <a:r>
                      <a:rPr sz="1200" b="1">
                        <a:solidFill>
                          <a:srgbClr val="161D26"/>
                        </a:solidFill>
                        <a:latin typeface="Ember Modern Display Standard"/>
                      </a:rPr>
                      <a:t>23%</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Keeps the house number</c:v>
                </c:pt>
                <c:pt idx="1">
                  <c:v>Adds a name word</c:v>
                </c:pt>
              </c:strCache>
            </c:strRef>
          </c:cat>
          <c:val>
            <c:numRef>
              <c:f>Sheet1!$B$2:$B$3</c:f>
              <c:numCache>
                <c:formatCode>General</c:formatCode>
                <c:ptCount val="2"/>
                <c:pt idx="0">
                  <c:v>84.8</c:v>
                </c:pt>
                <c:pt idx="1">
                  <c:v>23.3</c:v>
                </c:pt>
              </c:numCache>
            </c:numRef>
          </c:val>
        </c:ser>
        <c:ser>
          <c:idx val="1"/>
          <c:order val="1"/>
          <c:tx>
            <c:strRef>
              <c:f>Sheet1!$C$1</c:f>
              <c:strCache>
                <c:ptCount val="1"/>
                <c:pt idx="0">
                  <c:v>Look-alikes</c:v>
                </c:pt>
              </c:strCache>
            </c:strRef>
          </c:tx>
          <c:spPr>
            <a:solidFill>
              <a:srgbClr val="FF6200"/>
            </a:solidFill>
          </c:spPr>
          <c:dLbls>
            <c:dLbl>
              <c:idx val="0"/>
              <c:tx>
                <c:rich>
                  <a:bodyPr/>
                  <a:lstStyle/>
                  <a:p>
                    <a:r>
                      <a:rPr sz="1200" b="1">
                        <a:solidFill>
                          <a:srgbClr val="161D26"/>
                        </a:solidFill>
                        <a:latin typeface="Ember Modern Display Standard"/>
                      </a:rPr>
                      <a:t>12%</a:t>
                    </a:r>
                  </a:p>
                </c:rich>
              </c:tx>
              <c:dLblPos val="outEnd"/>
              <c:showLegendKey val="0"/>
              <c:showVal val="1"/>
              <c:showCatName val="0"/>
              <c:showSerName val="0"/>
              <c:showPercent val="0"/>
              <c:showBubbleSize val="0"/>
            </c:dLbl>
            <c:dLbl>
              <c:idx val="1"/>
              <c:tx>
                <c:rich>
                  <a:bodyPr/>
                  <a:lstStyle/>
                  <a:p>
                    <a:r>
                      <a:rPr sz="1200" b="1">
                        <a:solidFill>
                          <a:srgbClr val="161D26"/>
                        </a:solidFill>
                        <a:latin typeface="Ember Modern Display Standard"/>
                      </a:rPr>
                      <a:t>77%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Keeps the house number</c:v>
                </c:pt>
                <c:pt idx="1">
                  <c:v>Adds a name word</c:v>
                </c:pt>
              </c:strCache>
            </c:strRef>
          </c:cat>
          <c:val>
            <c:numRef>
              <c:f>Sheet1!$C$2:$C$3</c:f>
              <c:numCache>
                <c:formatCode>General</c:formatCode>
                <c:ptCount val="2"/>
                <c:pt idx="0">
                  <c:v>12.4</c:v>
                </c:pt>
                <c:pt idx="1">
                  <c:v>76.5</c:v>
                </c:pt>
              </c:numCache>
            </c:numRef>
          </c:val>
        </c:ser>
        <c:gapWidth val="70"/>
        <c:overlap val="-10"/>
        <c:axId val="-2068027336"/>
        <c:axId val="-2113994440"/>
      </c:barChart>
      <c:catAx>
        <c:axId val="-2068027336"/>
        <c:scaling>
          <c:orientation val="minMax"/>
        </c:scaling>
        <c:delete val="0"/>
        <c:axPos val="b"/>
        <c:majorTickMark val="out"/>
        <c:minorTickMark val="none"/>
        <c:tickLblPos val="nextTo"/>
        <c:spPr>
          <a:ln>
            <a:solidFill>
              <a:srgbClr val="B8C0CC"/>
            </a:solidFill>
          </a:ln>
        </c:sp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D26"/>
          </a:solidFill>
          <a:latin typeface="Ember Modern Display Standard"/>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rgbClr val="FF6200"/>
              </a:solidFill>
              <a:ln>
                <a:noFill/>
              </a:ln>
            </c:spPr>
          </c:dPt>
          <c:dPt>
            <c:idx val="1"/>
            <c:spPr>
              <a:solidFill>
                <a:srgbClr val="3A4555"/>
              </a:solidFill>
              <a:ln>
                <a:noFill/>
              </a:ln>
            </c:spPr>
          </c:dPt>
          <c:cat>
            <c:strRef>
              <c:f>Sheet1!$A$2:$A$3</c:f>
              <c:strCache>
                <c:ptCount val="2"/>
                <c:pt idx="0">
                  <c:v>0</c:v>
                </c:pt>
                <c:pt idx="1">
                  <c:v>1</c:v>
                </c:pt>
              </c:strCache>
            </c:strRef>
          </c:cat>
          <c:val>
            <c:numRef>
              <c:f>Sheet1!$B$2:$B$3</c:f>
              <c:numCache>
                <c:formatCode>General</c:formatCode>
                <c:ptCount val="2"/>
                <c:pt idx="0">
                  <c:v>2.6</c:v>
                </c:pt>
                <c:pt idx="1">
                  <c:v>97.4</c:v>
                </c:pt>
              </c:numCache>
            </c:numRef>
          </c:val>
        </c:ser>
        <c:dLbls>
          <c:showLegendKey val="0"/>
          <c:showVal val="0"/>
          <c:showCatName val="0"/>
          <c:showSerName val="0"/>
          <c:showPercent val="0"/>
          <c:showBubbleSize val="0"/>
          <c:showLeaderLines val="1"/>
        </c:dLbls>
        <c:firstSliceAng val="0"/>
        <c:holeSize val="68"/>
      </c:doughnutChart>
    </c:plotArea>
    <c:plotVisOnly val="1"/>
    <c:dispBlanksAs val="gap"/>
    <c:showDLblsOverMax val="0"/>
  </c:chart>
  <c:txPr>
    <a:bodyPr/>
    <a:lstStyle/>
    <a:p>
      <a:pPr>
        <a:defRPr sz="1100">
          <a:solidFill>
            <a:srgbClr val="161D26"/>
          </a:solidFill>
          <a:latin typeface="Ember Modern Display Standard"/>
        </a:defRPr>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D6DCE7"/>
              </a:solidFill>
            </c:spPr>
          </c:dPt>
          <c:dPt>
            <c:idx val="1"/>
            <c:spPr>
              <a:solidFill>
                <a:srgbClr val="D6DCE7"/>
              </a:solidFill>
            </c:spPr>
          </c:dPt>
          <c:dPt>
            <c:idx val="2"/>
            <c:spPr>
              <a:solidFill>
                <a:srgbClr val="FF6200"/>
              </a:solidFill>
            </c:spPr>
          </c:dPt>
          <c:dPt>
            <c:idx val="3"/>
            <c:spPr>
              <a:solidFill>
                <a:srgbClr val="161D26"/>
              </a:solidFill>
            </c:spPr>
          </c:dPt>
          <c:dLbls>
            <c:dLbl>
              <c:idx val="0"/>
              <c:tx>
                <c:rich>
                  <a:bodyPr/>
                  <a:lstStyle/>
                  <a:p>
                    <a:r>
                      <a:rPr sz="1300" b="1">
                        <a:solidFill>
                          <a:srgbClr val="161D26"/>
                        </a:solidFill>
                        <a:latin typeface="Ember Modern Display Standard"/>
                      </a:rPr>
                      <a:t>33.7</a:t>
                    </a:r>
                  </a:p>
                </c:rich>
              </c:tx>
              <c:dLblPos val="outEnd"/>
              <c:showLegendKey val="0"/>
              <c:showVal val="1"/>
              <c:showCatName val="0"/>
              <c:showSerName val="0"/>
              <c:showPercent val="0"/>
              <c:showBubbleSize val="0"/>
            </c:dLbl>
            <c:dLbl>
              <c:idx val="1"/>
              <c:tx>
                <c:rich>
                  <a:bodyPr/>
                  <a:lstStyle/>
                  <a:p>
                    <a:r>
                      <a:rPr sz="1300" b="1">
                        <a:solidFill>
                          <a:srgbClr val="161D26"/>
                        </a:solidFill>
                        <a:latin typeface="Ember Modern Display Standard"/>
                      </a:rPr>
                      <a:t>4.8</a:t>
                    </a:r>
                  </a:p>
                </c:rich>
              </c:tx>
              <c:dLblPos val="outEnd"/>
              <c:showLegendKey val="0"/>
              <c:showVal val="1"/>
              <c:showCatName val="0"/>
              <c:showSerName val="0"/>
              <c:showPercent val="0"/>
              <c:showBubbleSize val="0"/>
            </c:dLbl>
            <c:dLbl>
              <c:idx val="2"/>
              <c:tx>
                <c:rich>
                  <a:bodyPr/>
                  <a:lstStyle/>
                  <a:p>
                    <a:r>
                      <a:rPr sz="1300" b="1">
                        <a:solidFill>
                          <a:srgbClr val="161D26"/>
                        </a:solidFill>
                        <a:latin typeface="Ember Modern Display Standard"/>
                      </a:rPr>
                      <a:t>3.70</a:t>
                    </a:r>
                  </a:p>
                </c:rich>
              </c:tx>
              <c:dLblPos val="outEnd"/>
              <c:showLegendKey val="0"/>
              <c:showVal val="1"/>
              <c:showCatName val="0"/>
              <c:showSerName val="0"/>
              <c:showPercent val="0"/>
              <c:showBubbleSize val="0"/>
            </c:dLbl>
            <c:dLbl>
              <c:idx val="3"/>
              <c:tx>
                <c:rich>
                  <a:bodyPr/>
                  <a:lstStyle/>
                  <a:p>
                    <a:r>
                      <a:rPr sz="1300" b="1">
                        <a:solidFill>
                          <a:srgbClr val="161D26"/>
                        </a:solidFill>
                        <a:latin typeface="Ember Modern Display Standard"/>
                      </a:rPr>
                      <a:t>3.38</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Retrieved</c:v>
                </c:pt>
                <c:pt idx="1">
                  <c:v>After a cheap filter</c:v>
                </c:pt>
                <c:pt idx="2">
                  <c:v>Candidates</c:v>
                </c:pt>
                <c:pt idx="3">
                  <c:v>Final matches</c:v>
                </c:pt>
              </c:strCache>
            </c:strRef>
          </c:cat>
          <c:val>
            <c:numRef>
              <c:f>Sheet1!$B$2:$B$5</c:f>
              <c:numCache>
                <c:formatCode>General</c:formatCode>
                <c:ptCount val="4"/>
                <c:pt idx="0">
                  <c:v>33.73</c:v>
                </c:pt>
                <c:pt idx="1">
                  <c:v>4.77</c:v>
                </c:pt>
                <c:pt idx="2">
                  <c:v>3.7</c:v>
                </c:pt>
                <c:pt idx="3">
                  <c:v>3.38</c:v>
                </c:pt>
              </c:numCache>
            </c:numRef>
          </c:val>
        </c:ser>
        <c:gapWidth val="45"/>
        <c:axId val="-2068027336"/>
        <c:axId val="-2113994440"/>
      </c:barChart>
      <c:catAx>
        <c:axId val="-2068027336"/>
        <c:scaling>
          <c:orientation val="minMax"/>
        </c:scaling>
        <c:delete val="0"/>
        <c:axPos val="b"/>
        <c:majorTickMark val="out"/>
        <c:minorTickMark val="none"/>
        <c:tickLblPos val="nextTo"/>
        <c:spPr>
          <a:ln>
            <a:solidFill>
              <a:srgbClr val="B8C0CC"/>
            </a:solidFill>
          </a:ln>
        </c:spPr>
        <c:crossAx val="-2113994440"/>
        <c:crosses val="autoZero"/>
        <c:auto val="1"/>
        <c:lblAlgn val="ctr"/>
        <c:lblOffset val="100"/>
        <c:noMultiLvlLbl val="0"/>
      </c:catAx>
      <c:valAx>
        <c:axId val="-2113994440"/>
        <c:scaling>
          <c:max val="39.0"/>
          <c:min val="0.0"/>
        </c:scaling>
        <c:delete/>
        <c:axPos val="l"/>
        <c:majorTickMark val="out"/>
        <c:minorTickMark val="none"/>
        <c:tickLblPos val="nextTo"/>
        <c:crossAx val="-2068027336"/>
        <c:crosses val="autoZero"/>
      </c:valAx>
    </c:plotArea>
    <c:dispBlanksAs val="gap"/>
  </c:chart>
  <c:txPr>
    <a:bodyPr/>
    <a:lstStyle/>
    <a:p>
      <a:pPr>
        <a:defRPr sz="1200">
          <a:solidFill>
            <a:srgbClr val="161D26"/>
          </a:solidFill>
          <a:latin typeface="Ember Modern Display Standard"/>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D6DCE7"/>
              </a:solidFill>
            </c:spPr>
          </c:dPt>
          <c:dPt>
            <c:idx val="1"/>
            <c:spPr>
              <a:solidFill>
                <a:srgbClr val="FF6200"/>
              </a:solidFill>
            </c:spPr>
          </c:dPt>
          <c:dLbls>
            <c:dLbl>
              <c:idx val="0"/>
              <c:tx>
                <c:rich>
                  <a:bodyPr/>
                  <a:lstStyle/>
                  <a:p>
                    <a:r>
                      <a:rPr sz="1300" b="1">
                        <a:solidFill>
                          <a:srgbClr val="161D26"/>
                        </a:solidFill>
                        <a:latin typeface="Ember Modern Display Standard"/>
                      </a:rPr>
                      <a:t>0.9888</a:t>
                    </a:r>
                  </a:p>
                </c:rich>
              </c:tx>
              <c:dLblPos val="outEnd"/>
              <c:showLegendKey val="0"/>
              <c:showVal val="1"/>
              <c:showCatName val="0"/>
              <c:showSerName val="0"/>
              <c:showPercent val="0"/>
              <c:showBubbleSize val="0"/>
            </c:dLbl>
            <c:dLbl>
              <c:idx val="1"/>
              <c:tx>
                <c:rich>
                  <a:bodyPr/>
                  <a:lstStyle/>
                  <a:p>
                    <a:r>
                      <a:rPr sz="1300" b="1">
                        <a:solidFill>
                          <a:srgbClr val="161D26"/>
                        </a:solidFill>
                        <a:latin typeface="Ember Modern Display Standard"/>
                      </a:rPr>
                      <a:t>0.9796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Our validation</c:v>
                </c:pt>
                <c:pt idx="1">
                  <c:v>Leaderboard</c:v>
                </c:pt>
              </c:strCache>
            </c:strRef>
          </c:cat>
          <c:val>
            <c:numRef>
              <c:f>Sheet1!$B$2:$B$3</c:f>
              <c:numCache>
                <c:formatCode>General</c:formatCode>
                <c:ptCount val="2"/>
                <c:pt idx="0">
                  <c:v>0.9888</c:v>
                </c:pt>
                <c:pt idx="1">
                  <c:v>0.9796</c:v>
                </c:pt>
              </c:numCache>
            </c:numRef>
          </c:val>
        </c:ser>
        <c:gapWidth val="70"/>
        <c:axId val="-2068027336"/>
        <c:axId val="-2113994440"/>
      </c:barChart>
      <c:catAx>
        <c:axId val="-2068027336"/>
        <c:scaling>
          <c:orientation val="minMax"/>
        </c:scaling>
        <c:delete val="0"/>
        <c:axPos val="b"/>
        <c:majorTickMark val="out"/>
        <c:minorTickMark val="none"/>
        <c:tickLblPos val="nextTo"/>
        <c:spPr>
          <a:ln>
            <a:solidFill>
              <a:srgbClr val="B8C0CC"/>
            </a:solidFill>
          </a:ln>
        </c:spPr>
        <c:crossAx val="-2113994440"/>
        <c:crosses val="autoZero"/>
        <c:auto val="1"/>
        <c:lblAlgn val="ctr"/>
        <c:lblOffset val="100"/>
        <c:noMultiLvlLbl val="0"/>
      </c:catAx>
      <c:valAx>
        <c:axId val="-2113994440"/>
        <c:scaling>
          <c:max val="0.993"/>
          <c:min val="0.965"/>
        </c:scaling>
        <c:delete/>
        <c:axPos val="l"/>
        <c:majorTickMark val="out"/>
        <c:minorTickMark val="none"/>
        <c:tickLblPos val="nextTo"/>
        <c:crossAx val="-2068027336"/>
        <c:crosses val="autoZero"/>
      </c:valAx>
    </c:plotArea>
    <c:dispBlanksAs val="gap"/>
  </c:chart>
  <c:txPr>
    <a:bodyPr/>
    <a:lstStyle/>
    <a:p>
      <a:pPr>
        <a:defRPr sz="1200">
          <a:solidFill>
            <a:srgbClr val="161D26"/>
          </a:solidFill>
          <a:latin typeface="Ember Modern Display Standard"/>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161D26"/>
              </a:solidFill>
            </c:spPr>
          </c:dPt>
          <c:dPt>
            <c:idx val="1"/>
            <c:spPr>
              <a:solidFill>
                <a:srgbClr val="161D26"/>
              </a:solidFill>
            </c:spPr>
          </c:dPt>
          <c:dPt>
            <c:idx val="2"/>
            <c:spPr>
              <a:solidFill>
                <a:srgbClr val="FFB28B"/>
              </a:solidFill>
            </c:spPr>
          </c:dPt>
          <c:dLbls>
            <c:dLbl>
              <c:idx val="0"/>
              <c:tx>
                <c:rich>
                  <a:bodyPr/>
                  <a:lstStyle/>
                  <a:p>
                    <a:r>
                      <a:rPr sz="1300" b="1">
                        <a:solidFill>
                          <a:srgbClr val="161D26"/>
                        </a:solidFill>
                        <a:latin typeface="Ember Modern Display Standard"/>
                      </a:rPr>
                      <a:t>≈ 0.99</a:t>
                    </a:r>
                  </a:p>
                </c:rich>
              </c:tx>
              <c:dLblPos val="outEnd"/>
              <c:showLegendKey val="0"/>
              <c:showVal val="1"/>
              <c:showCatName val="0"/>
              <c:showSerName val="0"/>
              <c:showPercent val="0"/>
              <c:showBubbleSize val="0"/>
            </c:dLbl>
            <c:dLbl>
              <c:idx val="1"/>
              <c:tx>
                <c:rich>
                  <a:bodyPr/>
                  <a:lstStyle/>
                  <a:p>
                    <a:r>
                      <a:rPr sz="1300" b="1">
                        <a:solidFill>
                          <a:srgbClr val="161D26"/>
                        </a:solidFill>
                        <a:latin typeface="Ember Modern Display Standard"/>
                      </a:rPr>
                      <a:t>≈ 0.99</a:t>
                    </a:r>
                  </a:p>
                </c:rich>
              </c:tx>
              <c:dLblPos val="outEnd"/>
              <c:showLegendKey val="0"/>
              <c:showVal val="1"/>
              <c:showCatName val="0"/>
              <c:showSerName val="0"/>
              <c:showPercent val="0"/>
              <c:showBubbleSize val="0"/>
            </c:dLbl>
            <c:dLbl>
              <c:idx val="2"/>
              <c:tx>
                <c:rich>
                  <a:bodyPr/>
                  <a:lstStyle/>
                  <a:p>
                    <a:r>
                      <a:rPr sz="1300" b="1">
                        <a:solidFill>
                          <a:srgbClr val="161D26"/>
                        </a:solidFill>
                        <a:latin typeface="Ember Modern Display Standard"/>
                      </a:rPr>
                      <a:t>≈ 0.93</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US</c:v>
                </c:pt>
                <c:pt idx="1">
                  <c:v>India</c:v>
                </c:pt>
                <c:pt idx="2">
                  <c:v>France</c:v>
                </c:pt>
              </c:strCache>
            </c:strRef>
          </c:cat>
          <c:val>
            <c:numRef>
              <c:f>Sheet1!$B$2:$B$4</c:f>
              <c:numCache>
                <c:formatCode>General</c:formatCode>
                <c:ptCount val="3"/>
                <c:pt idx="0">
                  <c:v>0.99</c:v>
                </c:pt>
                <c:pt idx="1">
                  <c:v>0.99</c:v>
                </c:pt>
                <c:pt idx="2">
                  <c:v>0.93</c:v>
                </c:pt>
              </c:numCache>
            </c:numRef>
          </c:val>
        </c:ser>
        <c:gapWidth val="70"/>
        <c:axId val="-2068027336"/>
        <c:axId val="-2113994440"/>
      </c:barChart>
      <c:catAx>
        <c:axId val="-2068027336"/>
        <c:scaling>
          <c:orientation val="minMax"/>
        </c:scaling>
        <c:delete val="0"/>
        <c:axPos val="b"/>
        <c:majorTickMark val="out"/>
        <c:minorTickMark val="none"/>
        <c:tickLblPos val="nextTo"/>
        <c:spPr>
          <a:ln>
            <a:solidFill>
              <a:srgbClr val="B8C0CC"/>
            </a:solidFill>
          </a:ln>
        </c:spPr>
        <c:crossAx val="-2113994440"/>
        <c:crosses val="autoZero"/>
        <c:auto val="1"/>
        <c:lblAlgn val="ctr"/>
        <c:lblOffset val="100"/>
        <c:noMultiLvlLbl val="0"/>
      </c:catAx>
      <c:valAx>
        <c:axId val="-2113994440"/>
        <c:scaling>
          <c:max val="1.005"/>
          <c:min val="0.88"/>
        </c:scaling>
        <c:delete/>
        <c:axPos val="l"/>
        <c:majorTickMark val="out"/>
        <c:minorTickMark val="none"/>
        <c:tickLblPos val="nextTo"/>
        <c:crossAx val="-2068027336"/>
        <c:crosses val="autoZero"/>
      </c:valAx>
    </c:plotArea>
    <c:dispBlanksAs val="gap"/>
  </c:chart>
  <c:txPr>
    <a:bodyPr/>
    <a:lstStyle/>
    <a:p>
      <a:pPr>
        <a:defRPr sz="1200">
          <a:solidFill>
            <a:srgbClr val="161D26"/>
          </a:solidFill>
          <a:latin typeface="Ember Modern Display Standard"/>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FFB28B"/>
              </a:solidFill>
            </c:spPr>
          </c:dPt>
          <c:dPt>
            <c:idx val="1"/>
            <c:spPr>
              <a:solidFill>
                <a:srgbClr val="FF6200"/>
              </a:solidFill>
            </c:spPr>
          </c:dPt>
          <c:dLbls>
            <c:dLbl>
              <c:idx val="0"/>
              <c:tx>
                <c:rich>
                  <a:bodyPr/>
                  <a:lstStyle/>
                  <a:p>
                    <a:r>
                      <a:rPr sz="1300" b="1">
                        <a:solidFill>
                          <a:srgbClr val="161D26"/>
                        </a:solidFill>
                        <a:latin typeface="Ember Modern Display Standard"/>
                      </a:rPr>
                      <a:t>≈ 0.93</a:t>
                    </a:r>
                  </a:p>
                </c:rich>
              </c:tx>
              <c:dLblPos val="outEnd"/>
              <c:showLegendKey val="0"/>
              <c:showVal val="1"/>
              <c:showCatName val="0"/>
              <c:showSerName val="0"/>
              <c:showPercent val="0"/>
              <c:showBubbleSize val="0"/>
            </c:dLbl>
            <c:dLbl>
              <c:idx val="1"/>
              <c:tx>
                <c:rich>
                  <a:bodyPr/>
                  <a:lstStyle/>
                  <a:p>
                    <a:r>
                      <a:rPr sz="1300" b="1">
                        <a:solidFill>
                          <a:srgbClr val="161D26"/>
                        </a:solidFill>
                        <a:latin typeface="Ember Modern Display Standard"/>
                      </a:rPr>
                      <a:t>≈ 0.98</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Before</c:v>
                </c:pt>
                <c:pt idx="1">
                  <c:v>After</c:v>
                </c:pt>
              </c:strCache>
            </c:strRef>
          </c:cat>
          <c:val>
            <c:numRef>
              <c:f>Sheet1!$B$2:$B$3</c:f>
              <c:numCache>
                <c:formatCode>General</c:formatCode>
                <c:ptCount val="2"/>
                <c:pt idx="0">
                  <c:v>0.93</c:v>
                </c:pt>
                <c:pt idx="1">
                  <c:v>0.98</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B8C0CC"/>
            </a:solidFill>
          </a:ln>
        </c:spPr>
        <c:crossAx val="-2113994440"/>
        <c:crosses val="autoZero"/>
        <c:auto val="1"/>
        <c:lblAlgn val="ctr"/>
        <c:lblOffset val="100"/>
        <c:noMultiLvlLbl val="0"/>
      </c:catAx>
      <c:valAx>
        <c:axId val="-2113994440"/>
        <c:scaling>
          <c:max val="1.0"/>
          <c:min val="0.88"/>
        </c:scaling>
        <c:delete/>
        <c:axPos val="l"/>
        <c:majorTickMark val="out"/>
        <c:minorTickMark val="none"/>
        <c:tickLblPos val="nextTo"/>
        <c:crossAx val="-2068027336"/>
        <c:crosses val="autoZero"/>
      </c:valAx>
    </c:plotArea>
    <c:dispBlanksAs val="gap"/>
  </c:chart>
  <c:txPr>
    <a:bodyPr/>
    <a:lstStyle/>
    <a:p>
      <a:pPr>
        <a:defRPr sz="1200">
          <a:solidFill>
            <a:srgbClr val="161D26"/>
          </a:solidFill>
          <a:latin typeface="Ember Modern Display Standard"/>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rgbClr val="FF6200"/>
              </a:solidFill>
              <a:ln>
                <a:noFill/>
              </a:ln>
            </c:spPr>
          </c:dPt>
          <c:dPt>
            <c:idx val="1"/>
            <c:spPr>
              <a:solidFill>
                <a:srgbClr val="161D26"/>
              </a:solidFill>
              <a:ln>
                <a:noFill/>
              </a:ln>
            </c:spPr>
          </c:dPt>
          <c:dPt>
            <c:idx val="2"/>
            <c:spPr>
              <a:solidFill>
                <a:srgbClr val="D6DCE7"/>
              </a:solidFill>
              <a:ln>
                <a:noFill/>
              </a:ln>
            </c:spPr>
          </c:dPt>
          <c:cat>
            <c:strRef>
              <c:f>Sheet1!$A$2:$A$4</c:f>
              <c:strCache>
                <c:ptCount val="3"/>
                <c:pt idx="0">
                  <c:v>0</c:v>
                </c:pt>
                <c:pt idx="1">
                  <c:v>1</c:v>
                </c:pt>
                <c:pt idx="2">
                  <c:v>2</c:v>
                </c:pt>
              </c:strCache>
            </c:strRef>
          </c:cat>
          <c:val>
            <c:numRef>
              <c:f>Sheet1!$B$2:$B$4</c:f>
              <c:numCache>
                <c:formatCode>General</c:formatCode>
                <c:ptCount val="3"/>
                <c:pt idx="0">
                  <c:v>177</c:v>
                </c:pt>
                <c:pt idx="1">
                  <c:v>126</c:v>
                </c:pt>
                <c:pt idx="2">
                  <c:v>26</c:v>
                </c:pt>
              </c:numCache>
            </c:numRef>
          </c:val>
        </c:ser>
        <c:dLbls>
          <c:showLegendKey val="0"/>
          <c:showVal val="0"/>
          <c:showCatName val="0"/>
          <c:showSerName val="0"/>
          <c:showPercent val="0"/>
          <c:showBubbleSize val="0"/>
          <c:showLeaderLines val="1"/>
        </c:dLbls>
        <c:firstSliceAng val="0"/>
        <c:holeSize val="66"/>
      </c:doughnutChart>
    </c:plotArea>
    <c:plotVisOnly val="1"/>
    <c:dispBlanksAs val="gap"/>
    <c:showDLblsOverMax val="0"/>
  </c:chart>
  <c:txPr>
    <a:bodyPr/>
    <a:lstStyle/>
    <a:p>
      <a:pPr>
        <a:defRPr sz="1100">
          <a:solidFill>
            <a:srgbClr val="161D26"/>
          </a:solidFill>
          <a:latin typeface="Ember Modern Display Standard"/>
        </a:defRPr>
      </a:pPr>
      <a:endParaR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public leaderboard</c:v>
                </c:pt>
              </c:strCache>
            </c:strRef>
          </c:tx>
          <c:spPr>
            <a:ln w="34925">
              <a:solidFill>
                <a:srgbClr val="FF6200"/>
              </a:solidFill>
            </a:ln>
          </c:spPr>
          <c:marker>
            <c:symbol val="circle"/>
            <c:size val="7"/>
            <c:spPr>
              <a:solidFill>
                <a:srgbClr val="161D26"/>
              </a:solidFill>
              <a:ln>
                <a:noFill/>
              </a:ln>
            </c:spPr>
          </c:marker>
          <c:dLbls>
            <c:dLbl>
              <c:idx val="0"/>
              <c:tx>
                <c:rich>
                  <a:bodyPr/>
                  <a:lstStyle/>
                  <a:p>
                    <a:r>
                      <a:rPr sz="1100" b="1">
                        <a:solidFill>
                          <a:srgbClr val="161D26"/>
                        </a:solidFill>
                        <a:latin typeface="Ember Modern Display Standard"/>
                      </a:rPr>
                      <a:t>0.976</a:t>
                    </a:r>
                  </a:p>
                </c:rich>
              </c:tx>
              <c:dLblPos val="t"/>
              <c:showLegendKey val="0"/>
              <c:showVal val="1"/>
              <c:showCatName val="0"/>
              <c:showSerName val="0"/>
              <c:showPercent val="0"/>
              <c:showBubbleSize val="0"/>
            </c:dLbl>
            <c:dLbl>
              <c:idx val="2"/>
              <c:tx>
                <c:rich>
                  <a:bodyPr/>
                  <a:lstStyle/>
                  <a:p>
                    <a:r>
                      <a:rPr sz="1100" b="1">
                        <a:solidFill>
                          <a:srgbClr val="161D26"/>
                        </a:solidFill>
                        <a:latin typeface="Ember Modern Display Standard"/>
                      </a:rPr>
                      <a:t>0.988</a:t>
                    </a:r>
                  </a:p>
                </c:rich>
              </c:tx>
              <c:dLblPos val="t"/>
              <c:showLegendKey val="0"/>
              <c:showVal val="1"/>
              <c:showCatName val="0"/>
              <c:showSerName val="0"/>
              <c:showPercent val="0"/>
              <c:showBubbleSize val="0"/>
            </c:dLbl>
            <c:dLbl>
              <c:idx val="4"/>
              <c:tx>
                <c:rich>
                  <a:bodyPr/>
                  <a:lstStyle/>
                  <a:p>
                    <a:r>
                      <a:rPr sz="1100" b="1">
                        <a:solidFill>
                          <a:srgbClr val="161D26"/>
                        </a:solidFill>
                        <a:latin typeface="Ember Modern Display Standard"/>
                      </a:rPr>
                      <a:t>0.990</a:t>
                    </a:r>
                  </a:p>
                </c:rich>
              </c:tx>
              <c:dLblPos val="t"/>
              <c:showLegendKey val="0"/>
              <c:showVal val="1"/>
              <c:showCatName val="0"/>
              <c:showSerName val="0"/>
              <c:showPercent val="0"/>
              <c:showBubbleSize val="0"/>
            </c:dLbl>
            <c:dLbl>
              <c:idx val="9"/>
              <c:tx>
                <c:rich>
                  <a:bodyPr/>
                  <a:lstStyle/>
                  <a:p>
                    <a:r>
                      <a:rPr sz="1100" b="1">
                        <a:solidFill>
                          <a:srgbClr val="161D26"/>
                        </a:solidFill>
                        <a:latin typeface="Ember Modern Display Standard"/>
                      </a:rPr>
                      <a:t>0.991</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Sheet1!$A$2:$A$11</c:f>
              <c:strCache>
                <c:ptCount val="10"/>
                <c:pt idx="0">
                  <c:v>first
model</c:v>
                </c:pt>
                <c:pt idx="1">
                  <c:v>+ legal
forms</c:v>
                </c:pt>
                <c:pt idx="2">
                  <c:v>+ France
rules</c:v>
                </c:pt>
                <c:pt idx="3">
                  <c:v>+ stage 3,
repairs</c:v>
                </c:pt>
                <c:pt idx="4">
                  <c:v>+ trans-
formers</c:v>
                </c:pt>
                <c:pt idx="5">
                  <c:v>+ self-
training</c:v>
                </c:pt>
                <c:pt idx="6">
                  <c:v>+ decision
layer</c:v>
                </c:pt>
                <c:pt idx="7">
                  <c:v>+ French
models</c:v>
                </c:pt>
                <c:pt idx="8">
                  <c:v>+ France
layer</c:v>
                </c:pt>
                <c:pt idx="9">
                  <c:v>+ 7B</c:v>
                </c:pt>
              </c:strCache>
            </c:strRef>
          </c:cat>
          <c:val>
            <c:numRef>
              <c:f>Sheet1!$B$2:$B$11</c:f>
              <c:numCache>
                <c:formatCode>General</c:formatCode>
                <c:ptCount val="10"/>
                <c:pt idx="0">
                  <c:v>0.97608</c:v>
                </c:pt>
                <c:pt idx="1">
                  <c:v>0.97961</c:v>
                </c:pt>
                <c:pt idx="2">
                  <c:v>0.98781</c:v>
                </c:pt>
                <c:pt idx="3">
                  <c:v>0.988609</c:v>
                </c:pt>
                <c:pt idx="4">
                  <c:v>0.989721</c:v>
                </c:pt>
                <c:pt idx="5">
                  <c:v>0.990179</c:v>
                </c:pt>
                <c:pt idx="6">
                  <c:v>0.990264</c:v>
                </c:pt>
                <c:pt idx="7">
                  <c:v>0.990545</c:v>
                </c:pt>
                <c:pt idx="8">
                  <c:v>0.990699</c:v>
                </c:pt>
                <c:pt idx="9">
                  <c:v>0.990879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C0CC"/>
            </a:solidFill>
          </a:ln>
        </c:spPr>
        <c:crossAx val="2140495176"/>
        <c:crosses val="autoZero"/>
        <c:auto val="1"/>
        <c:lblAlgn val="ctr"/>
        <c:lblOffset val="100"/>
        <c:noMultiLvlLbl val="0"/>
      </c:catAx>
      <c:valAx>
        <c:axId val="2140495176"/>
        <c:scaling>
          <c:max val="0.992"/>
          <c:min val="0.975"/>
        </c:scaling>
        <c:delete val="0"/>
        <c:axPos val="l"/>
        <c:majorGridlines>
          <c:spPr>
            <a:ln>
              <a:solidFill>
                <a:srgbClr val="E3E6EB"/>
              </a:solidFill>
            </a:ln>
          </c:spPr>
        </c:majorGridlines>
        <c:numFmt formatCode="0.000" sourceLinked="0"/>
        <c:majorTickMark val="out"/>
        <c:minorTickMark val="none"/>
        <c:tickLblPos val="nextTo"/>
        <c:spPr>
          <a:ln>
            <a:noFill/>
          </a:ln>
        </c:spPr>
        <c:crossAx val="2118791784"/>
        <c:crosses val="autoZero"/>
        <c:majorUnit val="0.005"/>
      </c:valAx>
    </c:plotArea>
    <c:plotVisOnly val="1"/>
    <c:dispBlanksAs val="gap"/>
    <c:showDLblsOverMax val="0"/>
  </c:chart>
  <c:txPr>
    <a:bodyPr/>
    <a:lstStyle/>
    <a:p>
      <a:pPr>
        <a:defRPr sz="900">
          <a:solidFill>
            <a:srgbClr val="6B7280"/>
          </a:solidFill>
          <a:latin typeface="Ember Modern Display Standard"/>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ae4afcfa35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ae4afcfa35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(15 s) Hi, we are team Grenuke: Ameya, Aarush and Sachi. Three students, about 72 hours, one laptop and a few rented GPUs. This is how we turned 24 million records into a solution that finished second among more than 32,000 teams.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a4273c6775_0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a4273c6775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(25 s) We began where every ML project should: with the data. 24.2 million records from three sources. Training covers only the US and India. The test adds France, 15 percent, with no labels at all. And the US part of the test is half the size, which quietly shifts any count-based feature.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8DDBAE79-5551-27A9-A762-591EA6DD9A2F}"/>
            </a:ext>
          </a:extLst>
        </p:cNvPr>
        <p:cNvGrpSpPr/>
        <p:nvPr/>
      </p:nvGrpSpPr>
      <p:grpSpPr>
        <a:xfrm>
          <a:off x="0" y="0"/>
          <a:ext cx="0" cy="0"/>
          <a:chOff x="0" y="0"/>
          <a:chExt cx="0" cy="0"/>
        </a:xfrm>
      </p:grpSpPr>
      <p:sp>
        <p:nvSpPr>
          <p:cNvPr id="122" name="Google Shape;122;g3ae4afcfa35_0_222:notes">
            <a:extLst>
              <a:ext uri="{FF2B5EF4-FFF2-40B4-BE49-F238E27FC236}">
                <a16:creationId xmlns:a16="http://schemas.microsoft.com/office/drawing/2014/main" id="{1ADA5E14-48EE-1348-1869-2ED73EC4F1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ae4afcfa35_0_222:notes">
            <a:extLst>
              <a:ext uri="{FF2B5EF4-FFF2-40B4-BE49-F238E27FC236}">
                <a16:creationId xmlns:a16="http://schemas.microsoft.com/office/drawing/2014/main" id="{FAB588EA-0C48-4CD3-973F-7335AD8C7D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(5 seconds) It all started with the data.</a:t>
            </a:r>
          </a:p>
        </p:txBody>
      </p:sp>
    </p:spTree>
    <p:extLst>
      <p:ext uri="{BB962C8B-B14F-4D97-AF65-F5344CB8AC3E}">
        <p14:creationId xmlns:p14="http://schemas.microsoft.com/office/powerpoint/2010/main" val="164226886"/>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(25 s) An entity has about three and a half copies on average, and up to eleven. But 5.6 percent have none, and for them an empty answer is right and scores full marks. Across 7.6 million true pairs, no record belongs to two entities, so we gave every record one owner.</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(25 s) True copies are noisy: 16 percent have a weak name, mostly transliterated Indian names, and 5 percent a weak or empty address. But both weak at once is under a tenth of a percent, so name and address rescue each other. House numbers agree 83 percent of the time, and there are almost no postcodes.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(25 s) Then we found the decoys. The test has 23 percent more records per entity but the same true matches, so the extras are look-alikes. They leave fingerprints: a true copy keeps the house number 85 percent of the time, a look-alike only 12, and look-alikes add a business word three times as often.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(25 s) So we set two rules. Decide like the metric: one wrong merge costs as much as four missed copies, and it hurts a real customer, so precision comes first. And spend compute where the model is unsure: a cheap model reads every pair, and only 2.6 percent reach our expensive models.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seconds) Then we built the solution.</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(30 s) Comparing everything would mean 17 trillion pairs. So we search each country separately, by name and address words, with a name-only search when the address is empty, after repairing spellings. That keeps 99.1 percent of true matches, and a learned cut leaves 3.7 candidates per entity while keeping 98.4. We avoided hard city keys because many true copies have no usable address.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(30 s) Our architecture has seven steps. Blue is data, navy our models, orange our decisions. We clean records and retrieve candidates. XGBoost scores every pair on name, address, number and rival features. Transformers, e5, bge and Qwen, re-read the unsure pairs. A second XGBoost turns their votes into a calibrated probability. We decide per entity, and finally rules and a 7B model check for decoys.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(25 s) Here is one decision. Each candidate gets a probability. We keep adding matches while the expected F0.5 goes up: the two real copies stay; the look-alike name and the bakery at the same address go. And each record has one owner, so two entities can never share it.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(25 s) We kept performance in mind throughout. Each stage shrinks the next: 34 candidates per entity, under 5 after a cheap filter, 3.7 into the main models. The core pipeline ran on one 12 gigabyte GPU with 31 gigabytes of memory, blocking in about 13 minutes. Only the transformers needed rented GPUs, and they read under 3 percent of pairs.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seconds) Then the leaderboard started teaching 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(25 s) Our first scores were humbling: 0.989 on our validation, 0.980 on the leaderboard. We treated the gap like a bug report. Splitting it by country showed the US and India were fine; the whole gap was France, at about 0.93. Reading the French errors by hand showed us the decoys we were accepting.</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(30 s) France had no labels, so we let the data teach us. We learned which French words mark a look-alike, without labels. The model learned from its own confident answers, cross-checked so no pair grades itself; honestly, that failed twice before it worked. And different models vote, with a 7B re-check. France rose from about 0.93 to 0.98, an estimate, since it was never measured directly.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seconds) Here is how we worked, and where we landed.</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(25 s) As three people, we tried everything: 329 experiments, 177 kept, 126 dropped, each upload testing one change. Ameya led the data, blocking and France; Aarush the 7B model and the final submission; Sachi our testing gates, a Qwen model and synthetic French. Our rule: when two ideas tie, keep the simpler one.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 s) This is our climb, from 0.976 to 0.991, one understood change per upload. Behind it are long nights, a laptop that froze at 3:35 in the morning, and a GPU lost mid-run. We finished at 0.990879, second of the top ten among more than 32,000 teams.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(15 s) Three lessons. Data first: every good decision traced back to it. Doubt your estimates: ours shared our model's blind spots. Diversity wins: different models together beat one strong model, especially in the unknown.</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seconds) And this is where it could go next.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(30 s) At billions of records, we would shard by country and region, so new records only search their own shard. We would distil the transformers into one small, quantised model and cache scores. At sign-up, XGBoost and a small model can check for duplicates instantly on a CPU, with the 7B in the cloud for batch checks. Cost follows candidates per entity, so we keep it at 3.7.</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(25 s) Next, we would add a few hundred labels per new country, use city and state as soft keys, match empty addresses better, and send unsure pairs to people for review. And this applies widely: business sign-ups, seller and supplier records, fake accounts, and launching new marketplaces, which is exactly our France problem.</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(10 s) Thank you for listening. Read the data, decide like the metric, and spend compute where it matters. We are happy to take 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73175" y="11322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iser Purple">
  <p:cSld name="TITLE_ONLY_1">
    <p:spTree>
      <p:nvGrpSpPr>
        <p:cNvPr id="1" name="Shape 9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bg>
      <p:bgPr>
        <a:solidFill>
          <a:srgbClr val="FF6200"/>
        </a:solidFill>
        <a:effectLst/>
      </p:bgPr>
    </p:bg>
    <p:spTree>
      <p:nvGrpSpPr>
        <p:cNvPr id="1" name="Shape 96"/>
        <p:cNvGrpSpPr/>
        <p:nvPr/>
      </p:nvGrpSpPr>
      <p:grpSpPr>
        <a:xfrm>
          <a:off x="0" y="0"/>
          <a:ext cx="0" cy="0"/>
          <a:chOff x="0" y="0"/>
          <a:chExt cx="0" cy="0"/>
        </a:xfrm>
      </p:grpSpPr>
      <p:sp>
        <p:nvSpPr>
          <p:cNvPr id="97" name="Google Shape;97;p26"/>
          <p:cNvSpPr/>
          <p:nvPr/>
        </p:nvSpPr>
        <p:spPr>
          <a:xfrm>
            <a:off x="0" y="0"/>
            <a:ext cx="9147366" cy="5145465"/>
          </a:xfrm>
          <a:custGeom>
            <a:avLst/>
            <a:gdLst/>
            <a:ahLst/>
            <a:cxnLst/>
            <a:rect l="l" t="t" r="r" b="b"/>
            <a:pathLst>
              <a:path w="20104100" h="11308715" extrusionOk="0">
                <a:moveTo>
                  <a:pt x="20104099" y="0"/>
                </a:moveTo>
                <a:lnTo>
                  <a:pt x="0" y="0"/>
                </a:lnTo>
                <a:lnTo>
                  <a:pt x="0" y="11308556"/>
                </a:lnTo>
                <a:lnTo>
                  <a:pt x="20104099" y="11308556"/>
                </a:lnTo>
                <a:lnTo>
                  <a:pt x="20104099" y="0"/>
                </a:lnTo>
                <a:close/>
              </a:path>
            </a:pathLst>
          </a:custGeom>
          <a:solidFill>
            <a:srgbClr val="FF6200"/>
          </a:solidFill>
          <a:ln>
            <a:noFill/>
          </a:ln>
        </p:spPr>
        <p:txBody>
          <a:bodyPr spcFirstLastPara="1" wrap="square" lIns="0" tIns="0" rIns="0" bIns="0" anchor="t" anchorCtr="0">
            <a:noAutofit/>
          </a:bodyPr>
          <a:lstStyle/>
          <a:p>
            <a:pPr marL="0" lvl="0" indent="0" algn="l" rtl="0">
              <a:spcBef>
                <a:spcPts val="0"/>
              </a:spcBef>
              <a:spcAft>
                <a:spcPts val="0"/>
              </a:spcAft>
              <a:buNone/>
            </a:pPr>
            <a:endParaRPr sz="800"/>
          </a:p>
        </p:txBody>
      </p:sp>
      <p:sp>
        <p:nvSpPr>
          <p:cNvPr id="98" name="Google Shape;98;p26"/>
          <p:cNvSpPr txBox="1">
            <a:spLocks noGrp="1"/>
          </p:cNvSpPr>
          <p:nvPr>
            <p:ph type="title"/>
          </p:nvPr>
        </p:nvSpPr>
        <p:spPr>
          <a:xfrm>
            <a:off x="351411" y="268461"/>
            <a:ext cx="4280400" cy="6117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800"/>
              <a:buNone/>
              <a:defRPr sz="2300" b="1" i="0">
                <a:solidFill>
                  <a:srgbClr val="FF6200"/>
                </a:solidFill>
                <a:latin typeface="Play"/>
                <a:ea typeface="Play"/>
                <a:cs typeface="Play"/>
                <a:sym typeface="Play"/>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9" name="Google Shape;99;p26"/>
          <p:cNvSpPr txBox="1">
            <a:spLocks noGrp="1"/>
          </p:cNvSpPr>
          <p:nvPr>
            <p:ph type="body" idx="1"/>
          </p:nvPr>
        </p:nvSpPr>
        <p:spPr>
          <a:xfrm>
            <a:off x="4701119" y="2487711"/>
            <a:ext cx="3905700" cy="21639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sz="2300" b="1" i="0">
                <a:solidFill>
                  <a:srgbClr val="161D26"/>
                </a:solidFill>
                <a:latin typeface="Play"/>
                <a:ea typeface="Play"/>
                <a:cs typeface="Play"/>
                <a:sym typeface="Play"/>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100" name="Google Shape;100;p26"/>
          <p:cNvSpPr txBox="1">
            <a:spLocks noGrp="1"/>
          </p:cNvSpPr>
          <p:nvPr>
            <p:ph type="ftr" idx="11"/>
          </p:nvPr>
        </p:nvSpPr>
        <p:spPr>
          <a:xfrm>
            <a:off x="3108960" y="4783455"/>
            <a:ext cx="29259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600"/>
              <a:buNone/>
              <a:defRPr sz="600">
                <a:solidFill>
                  <a:srgbClr val="888888"/>
                </a:solidFill>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a:endParaRPr/>
          </a:p>
        </p:txBody>
      </p:sp>
      <p:sp>
        <p:nvSpPr>
          <p:cNvPr id="101" name="Google Shape;101;p2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600"/>
              <a:buNone/>
              <a:defRPr sz="600">
                <a:solidFill>
                  <a:srgbClr val="888888"/>
                </a:solidFill>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a:endParaRPr/>
          </a:p>
        </p:txBody>
      </p:sp>
      <p:sp>
        <p:nvSpPr>
          <p:cNvPr id="102" name="Google Shape;102;p26"/>
          <p:cNvSpPr txBox="1">
            <a:spLocks noGrp="1"/>
          </p:cNvSpPr>
          <p:nvPr>
            <p:ph type="sldNum" idx="12"/>
          </p:nvPr>
        </p:nvSpPr>
        <p:spPr>
          <a:xfrm>
            <a:off x="6583680" y="4783455"/>
            <a:ext cx="2103000" cy="153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iser Plum" userDrawn="1">
  <p:cSld name="TITLE_AND_TWO_COLUMNS_1">
    <p:spTree>
      <p:nvGrpSpPr>
        <p:cNvPr id="1" name="Shape 105"/>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443B5F7-EF56-1F15-49A3-569995F7184C}"/>
              </a:ext>
            </a:extLst>
          </p:cNvPr>
          <p:cNvSpPr>
            <a:spLocks noGrp="1"/>
          </p:cNvSpPr>
          <p:nvPr>
            <p:ph type="pic" sz="quarter" idx="13"/>
          </p:nvPr>
        </p:nvSpPr>
        <p:spPr>
          <a:xfrm>
            <a:off x="779463" y="1866864"/>
            <a:ext cx="1773237" cy="2024100"/>
          </a:xfrm>
          <a:prstGeom prst="roundRect">
            <a:avLst>
              <a:gd name="adj" fmla="val 12434"/>
            </a:avLst>
          </a:prstGeom>
          <a:solidFill>
            <a:schemeClr val="bg1">
              <a:lumMod val="95000"/>
            </a:schemeClr>
          </a:solidFill>
        </p:spPr>
        <p:txBody>
          <a:bodyPr/>
          <a:lstStyle/>
          <a:p>
            <a:endParaRPr lang="en-US"/>
          </a:p>
        </p:txBody>
      </p:sp>
      <p:sp>
        <p:nvSpPr>
          <p:cNvPr id="8" name="Picture Placeholder 6">
            <a:extLst>
              <a:ext uri="{FF2B5EF4-FFF2-40B4-BE49-F238E27FC236}">
                <a16:creationId xmlns:a16="http://schemas.microsoft.com/office/drawing/2014/main" id="{454DC439-9F8D-9427-12C5-06A07E1271E1}"/>
              </a:ext>
            </a:extLst>
          </p:cNvPr>
          <p:cNvSpPr>
            <a:spLocks noGrp="1"/>
          </p:cNvSpPr>
          <p:nvPr>
            <p:ph type="pic" sz="quarter" idx="14"/>
          </p:nvPr>
        </p:nvSpPr>
        <p:spPr>
          <a:xfrm>
            <a:off x="2717445" y="1866864"/>
            <a:ext cx="1773237" cy="2024100"/>
          </a:xfrm>
          <a:prstGeom prst="roundRect">
            <a:avLst>
              <a:gd name="adj" fmla="val 12434"/>
            </a:avLst>
          </a:prstGeom>
          <a:solidFill>
            <a:schemeClr val="bg1">
              <a:lumMod val="95000"/>
            </a:schemeClr>
          </a:solidFill>
        </p:spPr>
        <p:txBody>
          <a:bodyPr/>
          <a:lstStyle/>
          <a:p>
            <a:endParaRPr lang="en-US"/>
          </a:p>
        </p:txBody>
      </p:sp>
      <p:sp>
        <p:nvSpPr>
          <p:cNvPr id="9" name="Picture Placeholder 6">
            <a:extLst>
              <a:ext uri="{FF2B5EF4-FFF2-40B4-BE49-F238E27FC236}">
                <a16:creationId xmlns:a16="http://schemas.microsoft.com/office/drawing/2014/main" id="{5A368EE7-3E3B-2F44-2596-2B5B8D64F892}"/>
              </a:ext>
            </a:extLst>
          </p:cNvPr>
          <p:cNvSpPr>
            <a:spLocks noGrp="1"/>
          </p:cNvSpPr>
          <p:nvPr>
            <p:ph type="pic" sz="quarter" idx="15"/>
          </p:nvPr>
        </p:nvSpPr>
        <p:spPr>
          <a:xfrm>
            <a:off x="4648603" y="1866864"/>
            <a:ext cx="1773237" cy="2024100"/>
          </a:xfrm>
          <a:prstGeom prst="roundRect">
            <a:avLst>
              <a:gd name="adj" fmla="val 12434"/>
            </a:avLst>
          </a:prstGeom>
          <a:solidFill>
            <a:schemeClr val="bg1">
              <a:lumMod val="95000"/>
            </a:schemeClr>
          </a:solidFill>
        </p:spPr>
        <p:txBody>
          <a:bodyPr/>
          <a:lstStyle/>
          <a:p>
            <a:endParaRPr lang="en-US"/>
          </a:p>
        </p:txBody>
      </p:sp>
      <p:sp>
        <p:nvSpPr>
          <p:cNvPr id="10" name="Picture Placeholder 6">
            <a:extLst>
              <a:ext uri="{FF2B5EF4-FFF2-40B4-BE49-F238E27FC236}">
                <a16:creationId xmlns:a16="http://schemas.microsoft.com/office/drawing/2014/main" id="{8BA25F23-E8C1-8698-C67D-C52C2F761A8A}"/>
              </a:ext>
            </a:extLst>
          </p:cNvPr>
          <p:cNvSpPr>
            <a:spLocks noGrp="1"/>
          </p:cNvSpPr>
          <p:nvPr>
            <p:ph type="pic" sz="quarter" idx="16"/>
          </p:nvPr>
        </p:nvSpPr>
        <p:spPr>
          <a:xfrm>
            <a:off x="6586585" y="1866864"/>
            <a:ext cx="1773237" cy="2024100"/>
          </a:xfrm>
          <a:prstGeom prst="roundRect">
            <a:avLst>
              <a:gd name="adj" fmla="val 12434"/>
            </a:avLst>
          </a:prstGeom>
          <a:solidFill>
            <a:schemeClr val="bg1">
              <a:lumMod val="95000"/>
            </a:schemeClr>
          </a:solidFill>
        </p:spPr>
        <p:txBody>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Wiser Plum" preserve="1" userDrawn="1">
  <p:cSld name="1_Wiser Plum">
    <p:spTree>
      <p:nvGrpSpPr>
        <p:cNvPr id="1" name="Shape 105"/>
        <p:cNvGrpSpPr/>
        <p:nvPr/>
      </p:nvGrpSpPr>
      <p:grpSpPr>
        <a:xfrm>
          <a:off x="0" y="0"/>
          <a:ext cx="0" cy="0"/>
          <a:chOff x="0" y="0"/>
          <a:chExt cx="0" cy="0"/>
        </a:xfrm>
      </p:grpSpPr>
      <p:sp>
        <p:nvSpPr>
          <p:cNvPr id="6" name="Picture Placeholder 6">
            <a:extLst>
              <a:ext uri="{FF2B5EF4-FFF2-40B4-BE49-F238E27FC236}">
                <a16:creationId xmlns:a16="http://schemas.microsoft.com/office/drawing/2014/main" id="{D637DBAA-E392-5870-4249-46419E9FE035}"/>
              </a:ext>
            </a:extLst>
          </p:cNvPr>
          <p:cNvSpPr>
            <a:spLocks noGrp="1"/>
          </p:cNvSpPr>
          <p:nvPr>
            <p:ph type="pic" sz="quarter" idx="13"/>
          </p:nvPr>
        </p:nvSpPr>
        <p:spPr>
          <a:xfrm>
            <a:off x="739876" y="1559700"/>
            <a:ext cx="1692771" cy="1932250"/>
          </a:xfrm>
          <a:prstGeom prst="roundRect">
            <a:avLst>
              <a:gd name="adj" fmla="val 12434"/>
            </a:avLst>
          </a:prstGeom>
          <a:solidFill>
            <a:schemeClr val="bg1">
              <a:lumMod val="95000"/>
            </a:schemeClr>
          </a:solidFill>
        </p:spPr>
        <p:txBody>
          <a:bodyPr/>
          <a:lstStyle/>
          <a:p>
            <a:endParaRPr lang="en-US"/>
          </a:p>
        </p:txBody>
      </p:sp>
      <p:sp>
        <p:nvSpPr>
          <p:cNvPr id="11" name="Picture Placeholder 6">
            <a:extLst>
              <a:ext uri="{FF2B5EF4-FFF2-40B4-BE49-F238E27FC236}">
                <a16:creationId xmlns:a16="http://schemas.microsoft.com/office/drawing/2014/main" id="{0F1E19A5-6345-E0C3-F089-1BC3F23E186E}"/>
              </a:ext>
            </a:extLst>
          </p:cNvPr>
          <p:cNvSpPr>
            <a:spLocks noGrp="1"/>
          </p:cNvSpPr>
          <p:nvPr>
            <p:ph type="pic" sz="quarter" idx="14"/>
          </p:nvPr>
        </p:nvSpPr>
        <p:spPr>
          <a:xfrm>
            <a:off x="2834807" y="1559700"/>
            <a:ext cx="1692771" cy="1932250"/>
          </a:xfrm>
          <a:prstGeom prst="roundRect">
            <a:avLst>
              <a:gd name="adj" fmla="val 12434"/>
            </a:avLst>
          </a:prstGeom>
          <a:solidFill>
            <a:schemeClr val="bg1">
              <a:lumMod val="95000"/>
            </a:schemeClr>
          </a:solidFill>
        </p:spPr>
        <p:txBody>
          <a:bodyPr/>
          <a:lstStyle/>
          <a:p>
            <a:endParaRPr lang="en-US"/>
          </a:p>
        </p:txBody>
      </p:sp>
      <p:sp>
        <p:nvSpPr>
          <p:cNvPr id="12" name="Picture Placeholder 6">
            <a:extLst>
              <a:ext uri="{FF2B5EF4-FFF2-40B4-BE49-F238E27FC236}">
                <a16:creationId xmlns:a16="http://schemas.microsoft.com/office/drawing/2014/main" id="{D7EEFAC9-5F28-4633-D474-BAB20FB1B427}"/>
              </a:ext>
            </a:extLst>
          </p:cNvPr>
          <p:cNvSpPr>
            <a:spLocks noGrp="1"/>
          </p:cNvSpPr>
          <p:nvPr>
            <p:ph type="pic" sz="quarter" idx="15"/>
          </p:nvPr>
        </p:nvSpPr>
        <p:spPr>
          <a:xfrm>
            <a:off x="4916091" y="1559700"/>
            <a:ext cx="1692771" cy="1932250"/>
          </a:xfrm>
          <a:prstGeom prst="roundRect">
            <a:avLst>
              <a:gd name="adj" fmla="val 12434"/>
            </a:avLst>
          </a:prstGeom>
          <a:solidFill>
            <a:schemeClr val="bg1">
              <a:lumMod val="95000"/>
            </a:schemeClr>
          </a:solidFill>
        </p:spPr>
        <p:txBody>
          <a:bodyPr/>
          <a:lstStyle/>
          <a:p>
            <a:endParaRPr lang="en-US"/>
          </a:p>
        </p:txBody>
      </p:sp>
      <p:sp>
        <p:nvSpPr>
          <p:cNvPr id="13" name="Picture Placeholder 6">
            <a:extLst>
              <a:ext uri="{FF2B5EF4-FFF2-40B4-BE49-F238E27FC236}">
                <a16:creationId xmlns:a16="http://schemas.microsoft.com/office/drawing/2014/main" id="{B7913989-BE66-F651-DF45-ABC524911DEB}"/>
              </a:ext>
            </a:extLst>
          </p:cNvPr>
          <p:cNvSpPr>
            <a:spLocks noGrp="1"/>
          </p:cNvSpPr>
          <p:nvPr>
            <p:ph type="pic" sz="quarter" idx="16"/>
          </p:nvPr>
        </p:nvSpPr>
        <p:spPr>
          <a:xfrm>
            <a:off x="7011022" y="1559700"/>
            <a:ext cx="1692771" cy="1932250"/>
          </a:xfrm>
          <a:prstGeom prst="roundRect">
            <a:avLst>
              <a:gd name="adj" fmla="val 12434"/>
            </a:avLst>
          </a:prstGeom>
          <a:solidFill>
            <a:schemeClr val="bg1">
              <a:lumMod val="95000"/>
            </a:schemeClr>
          </a:solidFill>
        </p:spPr>
        <p:txBody>
          <a:bodyPr/>
          <a:lstStyle/>
          <a:p>
            <a:endParaRPr lang="en-US"/>
          </a:p>
        </p:txBody>
      </p:sp>
    </p:spTree>
    <p:extLst>
      <p:ext uri="{BB962C8B-B14F-4D97-AF65-F5344CB8AC3E}">
        <p14:creationId xmlns:p14="http://schemas.microsoft.com/office/powerpoint/2010/main" val="34338586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Wiser Purple 1">
  <p:cSld name="TITLE_ONLY_2">
    <p:spTree>
      <p:nvGrpSpPr>
        <p:cNvPr id="1" name="Shape 107"/>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Wiser Plum 4">
  <p:cSld name="TITLE_AND_TWO_COLUMNS_5">
    <p:spTree>
      <p:nvGrpSpPr>
        <p:cNvPr id="1" name="Shape 108"/>
        <p:cNvGrpSpPr/>
        <p:nvPr/>
      </p:nvGrpSpPr>
      <p:grpSpPr>
        <a:xfrm>
          <a:off x="0" y="0"/>
          <a:ext cx="0" cy="0"/>
          <a:chOff x="0" y="0"/>
          <a:chExt cx="0" cy="0"/>
        </a:xfrm>
      </p:grpSpPr>
      <p:sp>
        <p:nvSpPr>
          <p:cNvPr id="109" name="Google Shape;109;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6">
    <p:spTree>
      <p:nvGrpSpPr>
        <p:cNvPr id="1" name="Shape 110"/>
        <p:cNvGrpSpPr/>
        <p:nvPr/>
      </p:nvGrpSpPr>
      <p:grpSpPr>
        <a:xfrm>
          <a:off x="0" y="0"/>
          <a:ext cx="0" cy="0"/>
          <a:chOff x="0" y="0"/>
          <a:chExt cx="0" cy="0"/>
        </a:xfrm>
      </p:grpSpPr>
      <p:sp>
        <p:nvSpPr>
          <p:cNvPr id="111" name="Google Shape;111;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2" name="Google Shape;112;p31"/>
          <p:cNvSpPr/>
          <p:nvPr/>
        </p:nvSpPr>
        <p:spPr>
          <a:xfrm>
            <a:off x="3200525" y="0"/>
            <a:ext cx="59436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1 1 1 1 1">
  <p:cSld name="CUSTOM_2_1_1_1">
    <p:spTree>
      <p:nvGrpSpPr>
        <p:cNvPr id="1" name="Shape 115"/>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_HEADER_1_1">
  <p:cSld name="SECTION_HEADER_1_1">
    <p:spTree>
      <p:nvGrpSpPr>
        <p:cNvPr id="1" name="Shape 116"/>
        <p:cNvGrpSpPr/>
        <p:nvPr/>
      </p:nvGrpSpPr>
      <p:grpSpPr>
        <a:xfrm>
          <a:off x="0" y="0"/>
          <a:ext cx="0" cy="0"/>
          <a:chOff x="0" y="0"/>
          <a:chExt cx="0" cy="0"/>
        </a:xfrm>
      </p:grpSpPr>
      <p:sp>
        <p:nvSpPr>
          <p:cNvPr id="117" name="Google Shape;117;p3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8" name="Google Shape;118;p34"/>
          <p:cNvSpPr txBox="1">
            <a:spLocks noGrp="1"/>
          </p:cNvSpPr>
          <p:nvPr>
            <p:ph type="sldNum" idx="12"/>
          </p:nvPr>
        </p:nvSpPr>
        <p:spPr>
          <a:xfrm>
            <a:off x="8472458" y="4663217"/>
            <a:ext cx="548700" cy="123000"/>
          </a:xfrm>
          <a:prstGeom prst="rect">
            <a:avLst/>
          </a:prstGeom>
        </p:spPr>
        <p:txBody>
          <a:bodyPr spcFirstLastPara="1" wrap="square" lIns="91425" tIns="91425" rIns="91425" bIns="91425" anchor="ctr" anchorCtr="0">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RCLAYS–LIGHT 1 1">
  <p:cSld name="TITLE_ONLY_1_1_2">
    <p:bg>
      <p:bgPr>
        <a:solidFill>
          <a:srgbClr val="00AEEF"/>
        </a:solidFill>
        <a:effectLst/>
      </p:bgPr>
    </p:bg>
    <p:spTree>
      <p:nvGrpSpPr>
        <p:cNvPr id="1" name="Shape 119"/>
        <p:cNvGrpSpPr/>
        <p:nvPr/>
      </p:nvGrpSpPr>
      <p:grpSpPr>
        <a:xfrm>
          <a:off x="0" y="0"/>
          <a:ext cx="0" cy="0"/>
          <a:chOff x="0" y="0"/>
          <a:chExt cx="0" cy="0"/>
        </a:xfrm>
      </p:grpSpPr>
      <p:sp>
        <p:nvSpPr>
          <p:cNvPr id="120" name="Google Shape;120;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620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73175" y="11322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70" r:id="rId11"/>
    <p:sldLayoutId id="2147483671" r:id="rId12"/>
    <p:sldLayoutId id="2147483673" r:id="rId13"/>
    <p:sldLayoutId id="2147483681" r:id="rId14"/>
    <p:sldLayoutId id="2147483674" r:id="rId15"/>
    <p:sldLayoutId id="2147483675" r:id="rId16"/>
    <p:sldLayoutId id="2147483676" r:id="rId17"/>
    <p:sldLayoutId id="2147483678" r:id="rId18"/>
    <p:sldLayoutId id="2147483679" r:id="rId19"/>
    <p:sldLayoutId id="2147483680"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3.xml"/><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4.xml"/><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5.xml"/><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6.xml"/><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7.xml"/><Relationship Id="rId3" Type="http://schemas.openxmlformats.org/officeDocument/2006/relationships/image" Target="../media/image2.png"/><Relationship Id="rId4" Type="http://schemas.openxmlformats.org/officeDocument/2006/relationships/chart" Target="../charts/chart8.xml"/><Relationship Id="rId5"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9.xml"/><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0.xml"/><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1.xml"/><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1C27"/>
        </a:solidFill>
        <a:effectLst/>
      </p:bgPr>
    </p:bg>
    <p:spTree>
      <p:nvGrpSpPr>
        <p:cNvPr id="1" name="Shape 156"/>
        <p:cNvGrpSpPr/>
        <p:nvPr/>
      </p:nvGrpSpPr>
      <p:grpSpPr>
        <a:xfrm>
          <a:off x="0" y="0"/>
          <a:ext cx="0" cy="0"/>
          <a:chOff x="0" y="0"/>
          <a:chExt cx="0" cy="0"/>
        </a:xfrm>
      </p:grpSpPr>
      <p:sp>
        <p:nvSpPr>
          <p:cNvPr id="157" name="Google Shape;157;p37"/>
          <p:cNvSpPr txBox="1"/>
          <p:nvPr/>
        </p:nvSpPr>
        <p:spPr>
          <a:xfrm>
            <a:off x="3712464" y="4084778"/>
            <a:ext cx="1716900" cy="365700"/>
          </a:xfrm>
          <a:prstGeom prst="rect">
            <a:avLst/>
          </a:prstGeom>
          <a:noFill/>
          <a:ln>
            <a:noFill/>
          </a:ln>
        </p:spPr>
        <p:txBody>
          <a:bodyPr spcFirstLastPara="1" wrap="square" lIns="0" tIns="0" rIns="0" bIns="0" anchor="t" anchorCtr="0">
            <a:noAutofit/>
          </a:bodyPr>
          <a:lstStyle/>
          <a:p>
            <a:pPr marL="0" lvl="0" indent="0" algn="ctr" rtl="0">
              <a:lnSpc>
                <a:spcPct val="70000"/>
              </a:lnSpc>
              <a:spcBef>
                <a:spcPts val="0"/>
              </a:spcBef>
              <a:spcAft>
                <a:spcPts val="0"/>
              </a:spcAft>
              <a:buClr>
                <a:schemeClr val="dk1"/>
              </a:buClr>
              <a:buSzPts val="1100"/>
              <a:buFont typeface="Arial"/>
              <a:buNone/>
            </a:pPr>
            <a:r>
              <a:rPr lang="en" sz="1063" b="1" dirty="0">
                <a:solidFill>
                  <a:schemeClr val="lt1"/>
                </a:solidFill>
                <a:latin typeface="Ember Modern Display Standard" panose="020B0503020204020204" pitchFamily="34" charset="0"/>
                <a:ea typeface="Special Gothic"/>
                <a:cs typeface="Special Gothic"/>
                <a:sym typeface="Special Gothic"/>
              </a:rPr>
              <a:t>AARUSH BAKSHI</a:t>
            </a:r>
            <a:endParaRPr sz="1063" b="1" dirty="0">
              <a:solidFill>
                <a:schemeClr val="lt1"/>
              </a:solidFill>
              <a:latin typeface="Ember Modern Display Standard" panose="020B0503020204020204" pitchFamily="34" charset="0"/>
              <a:ea typeface="Special Gothic"/>
              <a:cs typeface="Special Gothic"/>
              <a:sym typeface="Special Gothic"/>
            </a:endParaRPr>
          </a:p>
          <a:p>
            <a:pPr marL="0" lvl="0" indent="0" algn="ctr" rtl="0">
              <a:spcBef>
                <a:spcPts val="0"/>
              </a:spcBef>
              <a:spcAft>
                <a:spcPts val="0"/>
              </a:spcAft>
              <a:buClr>
                <a:schemeClr val="dk1"/>
              </a:buClr>
              <a:buSzPts val="1100"/>
              <a:buFont typeface="Arial"/>
              <a:buNone/>
            </a:pPr>
            <a:endParaRPr sz="1063" b="1" dirty="0">
              <a:solidFill>
                <a:srgbClr val="FFFFFF"/>
              </a:solidFill>
              <a:latin typeface="Ember Modern Display Standard" panose="020B0503020204020204" pitchFamily="34" charset="0"/>
              <a:ea typeface="Special Gothic"/>
              <a:cs typeface="Special Gothic"/>
              <a:sym typeface="Special Gothic"/>
            </a:endParaRPr>
          </a:p>
        </p:txBody>
      </p:sp>
      <p:sp>
        <p:nvSpPr>
          <p:cNvPr id="158" name="Google Shape;158;p37"/>
          <p:cNvSpPr txBox="1"/>
          <p:nvPr/>
        </p:nvSpPr>
        <p:spPr>
          <a:xfrm>
            <a:off x="1664208" y="4084837"/>
            <a:ext cx="1716900" cy="365700"/>
          </a:xfrm>
          <a:prstGeom prst="rect">
            <a:avLst/>
          </a:prstGeom>
          <a:noFill/>
          <a:ln>
            <a:noFill/>
          </a:ln>
        </p:spPr>
        <p:txBody>
          <a:bodyPr spcFirstLastPara="1" wrap="square" lIns="0" tIns="0" rIns="0" bIns="0" anchor="t" anchorCtr="0">
            <a:noAutofit/>
          </a:bodyPr>
          <a:lstStyle/>
          <a:p>
            <a:pPr marL="0" lvl="0" indent="0" algn="ctr" rtl="0">
              <a:lnSpc>
                <a:spcPct val="70000"/>
              </a:lnSpc>
              <a:spcBef>
                <a:spcPts val="0"/>
              </a:spcBef>
              <a:spcAft>
                <a:spcPts val="0"/>
              </a:spcAft>
              <a:buNone/>
            </a:pPr>
            <a:r>
              <a:rPr lang="en" sz="1063" b="1" dirty="0">
                <a:solidFill>
                  <a:srgbClr val="FFFFFF"/>
                </a:solidFill>
                <a:latin typeface="Ember Modern Display Standard" panose="020B0503020204020204" pitchFamily="34" charset="0"/>
                <a:ea typeface="Special Gothic"/>
                <a:cs typeface="Special Gothic"/>
                <a:sym typeface="Special Gothic"/>
              </a:rPr>
              <a:t>AMEYA BORKAR</a:t>
            </a:r>
            <a:endParaRPr sz="1063" b="1" dirty="0">
              <a:solidFill>
                <a:srgbClr val="FFFFFF"/>
              </a:solidFill>
              <a:latin typeface="Ember Modern Display Standard" panose="020B0503020204020204" pitchFamily="34" charset="0"/>
              <a:ea typeface="Special Gothic"/>
              <a:cs typeface="Special Gothic"/>
              <a:sym typeface="Special Gothic"/>
            </a:endParaRPr>
          </a:p>
          <a:p>
            <a:pPr marL="0" lvl="0" indent="0" algn="ctr" rtl="0">
              <a:spcBef>
                <a:spcPts val="0"/>
              </a:spcBef>
              <a:spcAft>
                <a:spcPts val="0"/>
              </a:spcAft>
              <a:buNone/>
            </a:pPr>
            <a:endParaRPr sz="1299" b="1" dirty="0">
              <a:solidFill>
                <a:srgbClr val="FFFFFF"/>
              </a:solidFill>
              <a:latin typeface="Ember Modern Display Standard" panose="020B0503020204020204" pitchFamily="34" charset="0"/>
              <a:ea typeface="Special Gothic"/>
              <a:cs typeface="Special Gothic"/>
              <a:sym typeface="Special Gothic"/>
            </a:endParaRPr>
          </a:p>
        </p:txBody>
      </p:sp>
      <p:sp>
        <p:nvSpPr>
          <p:cNvPr id="159" name="Google Shape;159;p37"/>
          <p:cNvSpPr txBox="1"/>
          <p:nvPr/>
        </p:nvSpPr>
        <p:spPr>
          <a:xfrm>
            <a:off x="779287" y="663396"/>
            <a:ext cx="7585425" cy="861900"/>
          </a:xfrm>
          <a:prstGeom prst="rect">
            <a:avLst/>
          </a:prstGeom>
          <a:noFill/>
          <a:ln>
            <a:noFill/>
          </a:ln>
        </p:spPr>
        <p:txBody>
          <a:bodyPr spcFirstLastPara="1" wrap="square" lIns="91425" tIns="91425" rIns="91425" bIns="91425" anchor="t" anchorCtr="0">
            <a:spAutoFit/>
          </a:bodyPr>
          <a:lstStyle/>
          <a:p>
            <a:pPr marL="0" lvl="0" indent="0" algn="ctr" rtl="0">
              <a:lnSpc>
                <a:spcPct val="80000"/>
              </a:lnSpc>
              <a:spcBef>
                <a:spcPts val="0"/>
              </a:spcBef>
              <a:spcAft>
                <a:spcPts val="0"/>
              </a:spcAft>
              <a:buNone/>
            </a:pPr>
            <a:r>
              <a:rPr lang="en" sz="5500" b="1" dirty="0">
                <a:solidFill>
                  <a:schemeClr val="lt2"/>
                </a:solidFill>
                <a:latin typeface="Ember Modern Display Standard" panose="020B0503020204020204" pitchFamily="34" charset="0"/>
                <a:ea typeface="Special Gothic"/>
                <a:cs typeface="Special Gothic"/>
                <a:sym typeface="Special Gothic"/>
              </a:rPr>
              <a:t>Team </a:t>
            </a:r>
            <a:r>
              <a:rPr lang="en" sz="5500" b="1" dirty="0">
                <a:solidFill>
                  <a:srgbClr val="FF6101"/>
                </a:solidFill>
                <a:latin typeface="Ember Modern Display Standard" panose="020B0503020204020204" pitchFamily="34" charset="0"/>
                <a:ea typeface="Special Gothic"/>
                <a:cs typeface="Special Gothic"/>
                <a:sym typeface="Special Gothic"/>
              </a:rPr>
              <a:t>Grenuke</a:t>
            </a:r>
            <a:endParaRPr sz="2000" b="1" dirty="0">
              <a:solidFill>
                <a:schemeClr val="lt1"/>
              </a:solidFill>
              <a:latin typeface="Ember Modern Display Standard" panose="020B0503020204020204" pitchFamily="34" charset="0"/>
              <a:ea typeface="Special Gothic"/>
              <a:cs typeface="Special Gothic"/>
              <a:sym typeface="Special Gothic"/>
            </a:endParaRPr>
          </a:p>
        </p:txBody>
      </p:sp>
      <p:sp>
        <p:nvSpPr>
          <p:cNvPr id="161" name="Google Shape;161;p37"/>
          <p:cNvSpPr txBox="1"/>
          <p:nvPr/>
        </p:nvSpPr>
        <p:spPr>
          <a:xfrm>
            <a:off x="5760720" y="4084808"/>
            <a:ext cx="1716900" cy="365700"/>
          </a:xfrm>
          <a:prstGeom prst="rect">
            <a:avLst/>
          </a:prstGeom>
          <a:noFill/>
          <a:ln>
            <a:noFill/>
          </a:ln>
        </p:spPr>
        <p:txBody>
          <a:bodyPr spcFirstLastPara="1" wrap="square" lIns="0" tIns="0" rIns="0" bIns="0" anchor="t" anchorCtr="0">
            <a:noAutofit/>
          </a:bodyPr>
          <a:lstStyle/>
          <a:p>
            <a:pPr marL="0" lvl="0" indent="0" algn="ctr" rtl="0">
              <a:lnSpc>
                <a:spcPct val="70000"/>
              </a:lnSpc>
              <a:spcBef>
                <a:spcPts val="0"/>
              </a:spcBef>
              <a:spcAft>
                <a:spcPts val="0"/>
              </a:spcAft>
              <a:buClr>
                <a:schemeClr val="dk1"/>
              </a:buClr>
              <a:buSzPts val="1100"/>
              <a:buFont typeface="Arial"/>
              <a:buNone/>
            </a:pPr>
            <a:r>
              <a:rPr lang="en" sz="1063" b="1" dirty="0">
                <a:solidFill>
                  <a:schemeClr val="lt1"/>
                </a:solidFill>
                <a:latin typeface="Ember Modern Display Standard" panose="020B0503020204020204" pitchFamily="34" charset="0"/>
                <a:ea typeface="Special Gothic"/>
                <a:cs typeface="Special Gothic"/>
                <a:sym typeface="Special Gothic"/>
              </a:rPr>
              <a:t>SACHI DHOKA</a:t>
            </a:r>
            <a:endParaRPr sz="1063" b="1" dirty="0">
              <a:solidFill>
                <a:schemeClr val="lt1"/>
              </a:solidFill>
              <a:latin typeface="Ember Modern Display Standard" panose="020B0503020204020204" pitchFamily="34" charset="0"/>
              <a:ea typeface="Special Gothic"/>
              <a:cs typeface="Special Gothic"/>
              <a:sym typeface="Special Gothic"/>
            </a:endParaRPr>
          </a:p>
          <a:p>
            <a:pPr marL="0" lvl="0" indent="0" algn="ctr" rtl="0">
              <a:spcBef>
                <a:spcPts val="0"/>
              </a:spcBef>
              <a:spcAft>
                <a:spcPts val="0"/>
              </a:spcAft>
              <a:buClr>
                <a:schemeClr val="dk1"/>
              </a:buClr>
              <a:buSzPts val="1100"/>
              <a:buFont typeface="Arial"/>
              <a:buNone/>
            </a:pPr>
            <a:endParaRPr sz="1063" b="1" dirty="0">
              <a:solidFill>
                <a:srgbClr val="FFFFFF"/>
              </a:solidFill>
              <a:latin typeface="Ember Modern Display Standard" panose="020B0503020204020204" pitchFamily="34" charset="0"/>
              <a:ea typeface="Special Gothic"/>
              <a:cs typeface="Special Gothic"/>
              <a:sym typeface="Special Gothic"/>
            </a:endParaRPr>
          </a:p>
        </p:txBody>
      </p:sp>
      <p:pic>
        <p:nvPicPr>
          <p:cNvPr id="13" name="Picture 12" descr="A logo of a company&#10;&#10;AI-generated content may be incorrect.">
            <a:extLst>
              <a:ext uri="{FF2B5EF4-FFF2-40B4-BE49-F238E27FC236}">
                <a16:creationId xmlns:a16="http://schemas.microsoft.com/office/drawing/2014/main" id="{54E96A6D-C6EA-9D61-ED22-340732ADB5AA}"/>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4294907" y="4731974"/>
            <a:ext cx="554186" cy="185801"/>
          </a:xfrm>
          <a:prstGeom prst="rect">
            <a:avLst/>
          </a:prstGeom>
        </p:spPr>
      </p:pic>
      <p:sp>
        <p:nvSpPr>
          <p:cNvPr id="18" name="Picture Placeholder 17">
            <a:extLst>
              <a:ext uri="{FF2B5EF4-FFF2-40B4-BE49-F238E27FC236}">
                <a16:creationId xmlns:a16="http://schemas.microsoft.com/office/drawing/2014/main" id="{B6EBC231-E852-2F1A-C156-0432CEF758F5}"/>
              </a:ext>
            </a:extLst>
          </p:cNvPr>
          <p:cNvSpPr>
            <a:spLocks noGrp="1"/>
          </p:cNvSpPr>
          <p:nvPr>
            <p:ph type="pic" sz="quarter" idx="13"/>
          </p:nvPr>
        </p:nvSpPr>
        <p:spPr>
          <a:xfrm>
            <a:off x="1636776" y="1865376"/>
            <a:ext cx="1773936" cy="2020824"/>
          </a:xfrm>
        </p:spPr>
        <p:txBody>
          <a:bodyPr/>
          <a:lstStyle/>
          <a:p>
            <a:endParaRPr lang="en-US"/>
          </a:p>
        </p:txBody>
      </p:sp>
      <p:sp>
        <p:nvSpPr>
          <p:cNvPr id="19" name="Picture Placeholder 18">
            <a:extLst>
              <a:ext uri="{FF2B5EF4-FFF2-40B4-BE49-F238E27FC236}">
                <a16:creationId xmlns:a16="http://schemas.microsoft.com/office/drawing/2014/main" id="{3AB9B1BB-405A-843D-39F8-98C2FD91D459}"/>
              </a:ext>
            </a:extLst>
          </p:cNvPr>
          <p:cNvSpPr>
            <a:spLocks noGrp="1"/>
          </p:cNvSpPr>
          <p:nvPr>
            <p:ph type="pic" sz="quarter" idx="14"/>
          </p:nvPr>
        </p:nvSpPr>
        <p:spPr>
          <a:xfrm>
            <a:off x="3685032" y="1865376"/>
            <a:ext cx="1773936" cy="2020824"/>
          </a:xfrm>
        </p:spPr>
        <p:txBody>
          <a:bodyPr/>
          <a:lstStyle/>
          <a:p>
            <a:endParaRPr lang="en-US"/>
          </a:p>
        </p:txBody>
      </p:sp>
      <p:sp>
        <p:nvSpPr>
          <p:cNvPr id="20" name="Picture Placeholder 19">
            <a:extLst>
              <a:ext uri="{FF2B5EF4-FFF2-40B4-BE49-F238E27FC236}">
                <a16:creationId xmlns:a16="http://schemas.microsoft.com/office/drawing/2014/main" id="{AB42942B-65ED-01F3-97B1-DDAE12BA2B07}"/>
              </a:ext>
            </a:extLst>
          </p:cNvPr>
          <p:cNvSpPr>
            <a:spLocks noGrp="1"/>
          </p:cNvSpPr>
          <p:nvPr>
            <p:ph type="pic" sz="quarter" idx="15"/>
          </p:nvPr>
        </p:nvSpPr>
        <p:spPr>
          <a:xfrm>
            <a:off x="5733288" y="1865376"/>
            <a:ext cx="1773936" cy="2020824"/>
          </a:xfrm>
        </p:spPr>
        <p:txBody>
          <a:bodyPr/>
          <a:lstStyle/>
          <a:p>
            <a:endParaRPr lang="en-US"/>
          </a:p>
        </p:txBody>
      </p:sp>
      <p:sp>
        <p:nvSpPr>
          <p:cNvPr id="162" name="TextBox 161"/>
          <p:cNvSpPr txBox="1"/>
          <p:nvPr/>
        </p:nvSpPr>
        <p:spPr>
          <a:xfrm>
            <a:off x="777240" y="1481328"/>
            <a:ext cx="7589520" cy="274320"/>
          </a:xfrm>
          <a:prstGeom prst="rect">
            <a:avLst/>
          </a:prstGeom>
          <a:noFill/>
        </p:spPr>
        <p:txBody>
          <a:bodyPr wrap="square" lIns="0" rIns="0" tIns="0" bIns="0" anchor="t">
            <a:spAutoFit/>
          </a:bodyPr>
          <a:lstStyle/>
          <a:p>
            <a:pPr algn="ctr"/>
            <a:r>
              <a:rPr sz="1300" b="0">
                <a:solidFill>
                  <a:srgbClr val="D6DCE7"/>
                </a:solidFill>
                <a:latin typeface="Ember Modern Display Standard"/>
              </a:rPr>
              <a:t>Business Entity Resolution   ·   Amazon ML Challenge 2026 Grand Finale</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The Data at a</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Glance</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24.2 million records, three sources, and one country we had never seen.</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1">
                <a:solidFill>
                  <a:srgbClr val="FF6200"/>
                </a:solidFill>
                <a:latin typeface="Ember Modern Display Standard"/>
              </a:rPr>
              <a:t>01 Understanding</a:t>
            </a:r>
            <a:r>
              <a:rPr sz="850" b="0">
                <a:solidFill>
                  <a:srgbClr val="161D26"/>
                </a:solidFill>
                <a:latin typeface="Ember Modern Display Standard"/>
              </a:rPr>
              <a:t>    </a:t>
            </a:r>
            <a:r>
              <a:rPr sz="850" b="0">
                <a:solidFill>
                  <a:srgbClr val="B8C0CC"/>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Dive Deep</a:t>
            </a:r>
          </a:p>
        </p:txBody>
      </p:sp>
      <p:graphicFrame>
        <p:nvGraphicFramePr>
          <p:cNvPr id="269" name="Chart 268"/>
          <p:cNvGraphicFramePr>
            <a:graphicFrameLocks noGrp="1"/>
          </p:cNvGraphicFramePr>
          <p:nvPr/>
        </p:nvGraphicFramePr>
        <p:xfrm>
          <a:off x="411480" y="1280160"/>
          <a:ext cx="5303520" cy="3108960"/>
        </p:xfrm>
        <a:graphic>
          <a:graphicData uri="http://schemas.openxmlformats.org/drawingml/2006/chart">
            <c:chart xmlns:c="http://schemas.openxmlformats.org/drawingml/2006/chart" r:id="rId4"/>
          </a:graphicData>
        </a:graphic>
      </p:graphicFrame>
      <p:sp>
        <p:nvSpPr>
          <p:cNvPr id="270" name="TextBox 269"/>
          <p:cNvSpPr txBox="1"/>
          <p:nvPr/>
        </p:nvSpPr>
        <p:spPr>
          <a:xfrm>
            <a:off x="502920" y="4315968"/>
            <a:ext cx="5120640" cy="228600"/>
          </a:xfrm>
          <a:prstGeom prst="rect">
            <a:avLst/>
          </a:prstGeom>
          <a:noFill/>
        </p:spPr>
        <p:txBody>
          <a:bodyPr wrap="square" lIns="0" rIns="0" tIns="0" bIns="0" anchor="t">
            <a:spAutoFit/>
          </a:bodyPr>
          <a:lstStyle/>
          <a:p>
            <a:pPr algn="l"/>
            <a:r>
              <a:rPr sz="1050" b="0">
                <a:solidFill>
                  <a:srgbClr val="6B7280"/>
                </a:solidFill>
                <a:latin typeface="Ember Modern Display Standard"/>
              </a:rPr>
              <a:t>entities (Source 1) by country</a:t>
            </a:r>
          </a:p>
        </p:txBody>
      </p:sp>
      <p:sp>
        <p:nvSpPr>
          <p:cNvPr id="271" name="TextBox 270"/>
          <p:cNvSpPr txBox="1"/>
          <p:nvPr/>
        </p:nvSpPr>
        <p:spPr>
          <a:xfrm>
            <a:off x="5989320" y="1371600"/>
            <a:ext cx="2651760" cy="274320"/>
          </a:xfrm>
          <a:prstGeom prst="rect">
            <a:avLst/>
          </a:prstGeom>
          <a:noFill/>
        </p:spPr>
        <p:txBody>
          <a:bodyPr wrap="square" lIns="0" rIns="0" tIns="0" bIns="0" anchor="t">
            <a:spAutoFit/>
          </a:bodyPr>
          <a:lstStyle/>
          <a:p>
            <a:pPr algn="l"/>
            <a:r>
              <a:rPr sz="1000" b="1">
                <a:solidFill>
                  <a:srgbClr val="FF6200"/>
                </a:solidFill>
                <a:latin typeface="Ember Modern Display Standard"/>
              </a:rPr>
              <a:t>WHAT IT TELLS US</a:t>
            </a:r>
          </a:p>
        </p:txBody>
      </p:sp>
      <p:sp>
        <p:nvSpPr>
          <p:cNvPr id="272" name="Oval 271"/>
          <p:cNvSpPr/>
          <p:nvPr/>
        </p:nvSpPr>
        <p:spPr>
          <a:xfrm>
            <a:off x="5989320" y="1783080"/>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1</a:t>
            </a:r>
          </a:p>
        </p:txBody>
      </p:sp>
      <p:sp>
        <p:nvSpPr>
          <p:cNvPr id="273" name="TextBox 272"/>
          <p:cNvSpPr txBox="1"/>
          <p:nvPr/>
        </p:nvSpPr>
        <p:spPr>
          <a:xfrm>
            <a:off x="6446520" y="1764792"/>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Training has only the US and India</a:t>
            </a:r>
          </a:p>
        </p:txBody>
      </p:sp>
      <p:sp>
        <p:nvSpPr>
          <p:cNvPr id="274" name="Oval 273"/>
          <p:cNvSpPr/>
          <p:nvPr/>
        </p:nvSpPr>
        <p:spPr>
          <a:xfrm>
            <a:off x="5989320" y="2715768"/>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2</a:t>
            </a:r>
          </a:p>
        </p:txBody>
      </p:sp>
      <p:sp>
        <p:nvSpPr>
          <p:cNvPr id="275" name="TextBox 274"/>
          <p:cNvSpPr txBox="1"/>
          <p:nvPr/>
        </p:nvSpPr>
        <p:spPr>
          <a:xfrm>
            <a:off x="6446520" y="2697479"/>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The test adds France: 15%, with no labels</a:t>
            </a:r>
          </a:p>
        </p:txBody>
      </p:sp>
      <p:sp>
        <p:nvSpPr>
          <p:cNvPr id="276" name="Oval 275"/>
          <p:cNvSpPr/>
          <p:nvPr/>
        </p:nvSpPr>
        <p:spPr>
          <a:xfrm>
            <a:off x="5989320" y="3648456"/>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3</a:t>
            </a:r>
          </a:p>
        </p:txBody>
      </p:sp>
      <p:sp>
        <p:nvSpPr>
          <p:cNvPr id="277" name="TextBox 276"/>
          <p:cNvSpPr txBox="1"/>
          <p:nvPr/>
        </p:nvSpPr>
        <p:spPr>
          <a:xfrm>
            <a:off x="6446520" y="3630168"/>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The US half of the test is half the size, so counts shift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fade">
                                      <p:cBhvr>
                                        <p:cTn id="6" dur="45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childTnLst>
                          </p:cTn>
                        </p:par>
                        <p:par>
                          <p:cTn id="14"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271"/>
                                        </p:tgtEl>
                                        <p:attrNameLst>
                                          <p:attrName>style.visibility</p:attrName>
                                        </p:attrNameLst>
                                      </p:cBhvr>
                                      <p:to>
                                        <p:strVal val="visible"/>
                                      </p:to>
                                    </p:set>
                                    <p:animEffect transition="in" filter="fade">
                                      <p:cBhvr>
                                        <p:cTn id="13" dur="450"/>
                                        <p:tgtEl>
                                          <p:spTgt spid="271"/>
                                        </p:tgtEl>
                                      </p:cBhvr>
                                    </p:animEffect>
                                  </p:childTnLst>
                                </p:cTn>
                              </p:par>
                            </p:childTnLst>
                          </p:cTn>
                        </p:par>
                        <p:par>
                          <p:cTn id="21"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272"/>
                                        </p:tgtEl>
                                        <p:attrNameLst>
                                          <p:attrName>style.visibility</p:attrName>
                                        </p:attrNameLst>
                                      </p:cBhvr>
                                      <p:to>
                                        <p:strVal val="visible"/>
                                      </p:to>
                                    </p:set>
                                    <p:animEffect transition="in" filter="fade">
                                      <p:cBhvr>
                                        <p:cTn id="17" dur="450"/>
                                        <p:tgtEl>
                                          <p:spTgt spid="27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3"/>
                                        </p:tgtEl>
                                        <p:attrNameLst>
                                          <p:attrName>style.visibility</p:attrName>
                                        </p:attrNameLst>
                                      </p:cBhvr>
                                      <p:to>
                                        <p:strVal val="visible"/>
                                      </p:to>
                                    </p:set>
                                    <p:animEffect transition="in" filter="fade">
                                      <p:cBhvr>
                                        <p:cTn id="20" dur="450"/>
                                        <p:tgtEl>
                                          <p:spTgt spid="273"/>
                                        </p:tgtEl>
                                      </p:cBhvr>
                                    </p:animEffect>
                                  </p:childTnLst>
                                </p:cTn>
                              </p:par>
                            </p:childTnLst>
                          </p:cTn>
                        </p:par>
                        <p:par>
                          <p:cTn id="28" fill="hold">
                            <p:stCondLst>
                              <p:cond delay="1350"/>
                            </p:stCondLst>
                            <p:childTnLst>
                              <p:par>
                                <p:cTn id="22" presetID="10" presetClass="entr" presetSubtype="0" fill="hold" grpId="0" nodeType="afterEffect">
                                  <p:stCondLst>
                                    <p:cond delay="0"/>
                                  </p:stCondLst>
                                  <p:childTnLst>
                                    <p:set>
                                      <p:cBhvr>
                                        <p:cTn id="23" dur="1" fill="hold">
                                          <p:stCondLst>
                                            <p:cond delay="0"/>
                                          </p:stCondLst>
                                        </p:cTn>
                                        <p:tgtEl>
                                          <p:spTgt spid="274"/>
                                        </p:tgtEl>
                                        <p:attrNameLst>
                                          <p:attrName>style.visibility</p:attrName>
                                        </p:attrNameLst>
                                      </p:cBhvr>
                                      <p:to>
                                        <p:strVal val="visible"/>
                                      </p:to>
                                    </p:set>
                                    <p:animEffect transition="in" filter="fade">
                                      <p:cBhvr>
                                        <p:cTn id="24" dur="450"/>
                                        <p:tgtEl>
                                          <p:spTgt spid="27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5"/>
                                        </p:tgtEl>
                                        <p:attrNameLst>
                                          <p:attrName>style.visibility</p:attrName>
                                        </p:attrNameLst>
                                      </p:cBhvr>
                                      <p:to>
                                        <p:strVal val="visible"/>
                                      </p:to>
                                    </p:set>
                                    <p:animEffect transition="in" filter="fade">
                                      <p:cBhvr>
                                        <p:cTn id="27" dur="450"/>
                                        <p:tgtEl>
                                          <p:spTgt spid="275"/>
                                        </p:tgtEl>
                                      </p:cBhvr>
                                    </p:animEffect>
                                  </p:childTnLst>
                                </p:cTn>
                              </p:par>
                            </p:childTnLst>
                          </p:cTn>
                        </p:par>
                        <p:par>
                          <p:cTn id="35"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276"/>
                                        </p:tgtEl>
                                        <p:attrNameLst>
                                          <p:attrName>style.visibility</p:attrName>
                                        </p:attrNameLst>
                                      </p:cBhvr>
                                      <p:to>
                                        <p:strVal val="visible"/>
                                      </p:to>
                                    </p:set>
                                    <p:animEffect transition="in" filter="fade">
                                      <p:cBhvr>
                                        <p:cTn id="31" dur="450"/>
                                        <p:tgtEl>
                                          <p:spTgt spid="27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7"/>
                                        </p:tgtEl>
                                        <p:attrNameLst>
                                          <p:attrName>style.visibility</p:attrName>
                                        </p:attrNameLst>
                                      </p:cBhvr>
                                      <p:to>
                                        <p:strVal val="visible"/>
                                      </p:to>
                                    </p:set>
                                    <p:animEffect transition="in" filter="fade">
                                      <p:cBhvr>
                                        <p:cTn id="34" dur="450"/>
                                        <p:tgtEl>
                                          <p:spTgt spid="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69" grpId="0">
        <p:bldAsOne/>
      </p:bldGraphic>
      <p:bldP spid="270" grpId="0" animBg="1"/>
      <p:bldP spid="271" grpId="0" animBg="1"/>
      <p:bldP spid="272" grpId="0" animBg="1"/>
      <p:bldP spid="273" grpId="0" animBg="1"/>
      <p:bldP spid="274" grpId="0" animBg="1"/>
      <p:bldP spid="275" grpId="0" animBg="1"/>
      <p:bldP spid="276" grpId="0" animBg="1"/>
      <p:bldP spid="27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What a Match</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Looks Like</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Most entities have two to five copies, and some have none.</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1">
                <a:solidFill>
                  <a:srgbClr val="FF6200"/>
                </a:solidFill>
                <a:latin typeface="Ember Modern Display Standard"/>
              </a:rPr>
              <a:t>01 Understanding</a:t>
            </a:r>
            <a:r>
              <a:rPr sz="850" b="0">
                <a:solidFill>
                  <a:srgbClr val="161D26"/>
                </a:solidFill>
                <a:latin typeface="Ember Modern Display Standard"/>
              </a:rPr>
              <a:t>    </a:t>
            </a:r>
            <a:r>
              <a:rPr sz="850" b="0">
                <a:solidFill>
                  <a:srgbClr val="B8C0CC"/>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Learn and Be Curious</a:t>
            </a:r>
          </a:p>
        </p:txBody>
      </p:sp>
      <p:graphicFrame>
        <p:nvGraphicFramePr>
          <p:cNvPr id="269" name="Chart 268"/>
          <p:cNvGraphicFramePr>
            <a:graphicFrameLocks noGrp="1"/>
          </p:cNvGraphicFramePr>
          <p:nvPr/>
        </p:nvGraphicFramePr>
        <p:xfrm>
          <a:off x="411480" y="1280160"/>
          <a:ext cx="5303520" cy="2971800"/>
        </p:xfrm>
        <a:graphic>
          <a:graphicData uri="http://schemas.openxmlformats.org/drawingml/2006/chart">
            <c:chart xmlns:c="http://schemas.openxmlformats.org/drawingml/2006/chart" r:id="rId2"/>
          </a:graphicData>
        </a:graphic>
      </p:graphicFrame>
      <p:sp>
        <p:nvSpPr>
          <p:cNvPr id="270" name="TextBox 269"/>
          <p:cNvSpPr txBox="1"/>
          <p:nvPr/>
        </p:nvSpPr>
        <p:spPr>
          <a:xfrm>
            <a:off x="502920" y="4270248"/>
            <a:ext cx="5120640" cy="274320"/>
          </a:xfrm>
          <a:prstGeom prst="rect">
            <a:avLst/>
          </a:prstGeom>
          <a:noFill/>
        </p:spPr>
        <p:txBody>
          <a:bodyPr wrap="square" lIns="0" rIns="0" tIns="0" bIns="0" anchor="t">
            <a:spAutoFit/>
          </a:bodyPr>
          <a:lstStyle/>
          <a:p>
            <a:pPr algn="l"/>
            <a:r>
              <a:rPr sz="1050" b="0">
                <a:solidFill>
                  <a:srgbClr val="6B7280"/>
                </a:solidFill>
                <a:latin typeface="Ember Modern Display Standard"/>
              </a:rPr>
              <a:t>copies per entity, share of entities (training)</a:t>
            </a:r>
          </a:p>
        </p:txBody>
      </p:sp>
      <p:sp>
        <p:nvSpPr>
          <p:cNvPr id="271" name="TextBox 270"/>
          <p:cNvSpPr txBox="1"/>
          <p:nvPr/>
        </p:nvSpPr>
        <p:spPr>
          <a:xfrm>
            <a:off x="5989320" y="1371600"/>
            <a:ext cx="2651760" cy="274320"/>
          </a:xfrm>
          <a:prstGeom prst="rect">
            <a:avLst/>
          </a:prstGeom>
          <a:noFill/>
        </p:spPr>
        <p:txBody>
          <a:bodyPr wrap="square" lIns="0" rIns="0" tIns="0" bIns="0" anchor="t">
            <a:spAutoFit/>
          </a:bodyPr>
          <a:lstStyle/>
          <a:p>
            <a:pPr algn="l"/>
            <a:r>
              <a:rPr sz="1000" b="1">
                <a:solidFill>
                  <a:srgbClr val="FF6200"/>
                </a:solidFill>
                <a:latin typeface="Ember Modern Display Standard"/>
              </a:rPr>
              <a:t>WHAT IT TELLS US</a:t>
            </a:r>
          </a:p>
        </p:txBody>
      </p:sp>
      <p:sp>
        <p:nvSpPr>
          <p:cNvPr id="272" name="Oval 271"/>
          <p:cNvSpPr/>
          <p:nvPr/>
        </p:nvSpPr>
        <p:spPr>
          <a:xfrm>
            <a:off x="5989320" y="1783080"/>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1</a:t>
            </a:r>
          </a:p>
        </p:txBody>
      </p:sp>
      <p:sp>
        <p:nvSpPr>
          <p:cNvPr id="273" name="TextBox 272"/>
          <p:cNvSpPr txBox="1"/>
          <p:nvPr/>
        </p:nvSpPr>
        <p:spPr>
          <a:xfrm>
            <a:off x="6446520" y="1764792"/>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Average 3.46 copies, at most 11</a:t>
            </a:r>
          </a:p>
        </p:txBody>
      </p:sp>
      <p:sp>
        <p:nvSpPr>
          <p:cNvPr id="274" name="Oval 273"/>
          <p:cNvSpPr/>
          <p:nvPr/>
        </p:nvSpPr>
        <p:spPr>
          <a:xfrm>
            <a:off x="5989320" y="2715768"/>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2</a:t>
            </a:r>
          </a:p>
        </p:txBody>
      </p:sp>
      <p:sp>
        <p:nvSpPr>
          <p:cNvPr id="275" name="TextBox 274"/>
          <p:cNvSpPr txBox="1"/>
          <p:nvPr/>
        </p:nvSpPr>
        <p:spPr>
          <a:xfrm>
            <a:off x="6446520" y="2697479"/>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5.6% have none: an empty answer is right</a:t>
            </a:r>
          </a:p>
        </p:txBody>
      </p:sp>
      <p:sp>
        <p:nvSpPr>
          <p:cNvPr id="276" name="Oval 275"/>
          <p:cNvSpPr/>
          <p:nvPr/>
        </p:nvSpPr>
        <p:spPr>
          <a:xfrm>
            <a:off x="5989320" y="3648456"/>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3</a:t>
            </a:r>
          </a:p>
        </p:txBody>
      </p:sp>
      <p:sp>
        <p:nvSpPr>
          <p:cNvPr id="277" name="TextBox 276"/>
          <p:cNvSpPr txBox="1"/>
          <p:nvPr/>
        </p:nvSpPr>
        <p:spPr>
          <a:xfrm>
            <a:off x="6446520" y="3630168"/>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No record ever has two owners (0 in 7.6M)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22" presetClass="entr" presetSubtype="8"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wipe(left)">
                                      <p:cBhvr>
                                        <p:cTn id="6" dur="50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271"/>
                                        </p:tgtEl>
                                        <p:attrNameLst>
                                          <p:attrName>style.visibility</p:attrName>
                                        </p:attrNameLst>
                                      </p:cBhvr>
                                      <p:to>
                                        <p:strVal val="visible"/>
                                      </p:to>
                                    </p:set>
                                    <p:animEffect transition="in" filter="fade">
                                      <p:cBhvr>
                                        <p:cTn id="13" dur="450"/>
                                        <p:tgtEl>
                                          <p:spTgt spid="271"/>
                                        </p:tgtEl>
                                      </p:cBhvr>
                                    </p:animEffect>
                                  </p:childTnLst>
                                </p:cTn>
                              </p:par>
                            </p:childTnLst>
                          </p:cTn>
                        </p:par>
                        <p:par>
                          <p:cTn id="21" fill="hold">
                            <p:stCondLst>
                              <p:cond delay="950"/>
                            </p:stCondLst>
                            <p:childTnLst>
                              <p:par>
                                <p:cTn id="15" presetID="10" presetClass="entr" presetSubtype="0" fill="hold" grpId="0" nodeType="afterEffect">
                                  <p:stCondLst>
                                    <p:cond delay="0"/>
                                  </p:stCondLst>
                                  <p:childTnLst>
                                    <p:set>
                                      <p:cBhvr>
                                        <p:cTn id="16" dur="1" fill="hold">
                                          <p:stCondLst>
                                            <p:cond delay="0"/>
                                          </p:stCondLst>
                                        </p:cTn>
                                        <p:tgtEl>
                                          <p:spTgt spid="272"/>
                                        </p:tgtEl>
                                        <p:attrNameLst>
                                          <p:attrName>style.visibility</p:attrName>
                                        </p:attrNameLst>
                                      </p:cBhvr>
                                      <p:to>
                                        <p:strVal val="visible"/>
                                      </p:to>
                                    </p:set>
                                    <p:animEffect transition="in" filter="fade">
                                      <p:cBhvr>
                                        <p:cTn id="17" dur="450"/>
                                        <p:tgtEl>
                                          <p:spTgt spid="27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3"/>
                                        </p:tgtEl>
                                        <p:attrNameLst>
                                          <p:attrName>style.visibility</p:attrName>
                                        </p:attrNameLst>
                                      </p:cBhvr>
                                      <p:to>
                                        <p:strVal val="visible"/>
                                      </p:to>
                                    </p:set>
                                    <p:animEffect transition="in" filter="fade">
                                      <p:cBhvr>
                                        <p:cTn id="20" dur="450"/>
                                        <p:tgtEl>
                                          <p:spTgt spid="273"/>
                                        </p:tgtEl>
                                      </p:cBhvr>
                                    </p:animEffect>
                                  </p:childTnLst>
                                </p:cTn>
                              </p:par>
                            </p:childTnLst>
                          </p:cTn>
                        </p:par>
                        <p:par>
                          <p:cTn id="28" fill="hold">
                            <p:stCondLst>
                              <p:cond delay="1400"/>
                            </p:stCondLst>
                            <p:childTnLst>
                              <p:par>
                                <p:cTn id="22" presetID="10" presetClass="entr" presetSubtype="0" fill="hold" grpId="0" nodeType="afterEffect">
                                  <p:stCondLst>
                                    <p:cond delay="0"/>
                                  </p:stCondLst>
                                  <p:childTnLst>
                                    <p:set>
                                      <p:cBhvr>
                                        <p:cTn id="23" dur="1" fill="hold">
                                          <p:stCondLst>
                                            <p:cond delay="0"/>
                                          </p:stCondLst>
                                        </p:cTn>
                                        <p:tgtEl>
                                          <p:spTgt spid="274"/>
                                        </p:tgtEl>
                                        <p:attrNameLst>
                                          <p:attrName>style.visibility</p:attrName>
                                        </p:attrNameLst>
                                      </p:cBhvr>
                                      <p:to>
                                        <p:strVal val="visible"/>
                                      </p:to>
                                    </p:set>
                                    <p:animEffect transition="in" filter="fade">
                                      <p:cBhvr>
                                        <p:cTn id="24" dur="450"/>
                                        <p:tgtEl>
                                          <p:spTgt spid="27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5"/>
                                        </p:tgtEl>
                                        <p:attrNameLst>
                                          <p:attrName>style.visibility</p:attrName>
                                        </p:attrNameLst>
                                      </p:cBhvr>
                                      <p:to>
                                        <p:strVal val="visible"/>
                                      </p:to>
                                    </p:set>
                                    <p:animEffect transition="in" filter="fade">
                                      <p:cBhvr>
                                        <p:cTn id="27" dur="450"/>
                                        <p:tgtEl>
                                          <p:spTgt spid="275"/>
                                        </p:tgtEl>
                                      </p:cBhvr>
                                    </p:animEffect>
                                  </p:childTnLst>
                                </p:cTn>
                              </p:par>
                            </p:childTnLst>
                          </p:cTn>
                        </p:par>
                        <p:par>
                          <p:cTn id="35" fill="hold">
                            <p:stCondLst>
                              <p:cond delay="1850"/>
                            </p:stCondLst>
                            <p:childTnLst>
                              <p:par>
                                <p:cTn id="29" presetID="10" presetClass="entr" presetSubtype="0" fill="hold" grpId="0" nodeType="afterEffect">
                                  <p:stCondLst>
                                    <p:cond delay="0"/>
                                  </p:stCondLst>
                                  <p:childTnLst>
                                    <p:set>
                                      <p:cBhvr>
                                        <p:cTn id="30" dur="1" fill="hold">
                                          <p:stCondLst>
                                            <p:cond delay="0"/>
                                          </p:stCondLst>
                                        </p:cTn>
                                        <p:tgtEl>
                                          <p:spTgt spid="276"/>
                                        </p:tgtEl>
                                        <p:attrNameLst>
                                          <p:attrName>style.visibility</p:attrName>
                                        </p:attrNameLst>
                                      </p:cBhvr>
                                      <p:to>
                                        <p:strVal val="visible"/>
                                      </p:to>
                                    </p:set>
                                    <p:animEffect transition="in" filter="fade">
                                      <p:cBhvr>
                                        <p:cTn id="31" dur="450"/>
                                        <p:tgtEl>
                                          <p:spTgt spid="27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7"/>
                                        </p:tgtEl>
                                        <p:attrNameLst>
                                          <p:attrName>style.visibility</p:attrName>
                                        </p:attrNameLst>
                                      </p:cBhvr>
                                      <p:to>
                                        <p:strVal val="visible"/>
                                      </p:to>
                                    </p:set>
                                    <p:animEffect transition="in" filter="fade">
                                      <p:cBhvr>
                                        <p:cTn id="34" dur="450"/>
                                        <p:tgtEl>
                                          <p:spTgt spid="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69" grpId="0">
        <p:bldAsOne/>
      </p:bldGraphic>
      <p:bldP spid="270" grpId="0" animBg="1"/>
      <p:bldP spid="271" grpId="0" animBg="1"/>
      <p:bldP spid="272" grpId="0" animBg="1"/>
      <p:bldP spid="273" grpId="0" animBg="1"/>
      <p:bldP spid="274" grpId="0" animBg="1"/>
      <p:bldP spid="275" grpId="0" animBg="1"/>
      <p:bldP spid="276" grpId="0" animBg="1"/>
      <p:bldP spid="27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How True Copies</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Differ</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Copies are noisy, but almost never in both the name and the address.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1">
                <a:solidFill>
                  <a:srgbClr val="FF6200"/>
                </a:solidFill>
                <a:latin typeface="Ember Modern Display Standard"/>
              </a:rPr>
              <a:t>01 Understanding</a:t>
            </a:r>
            <a:r>
              <a:rPr sz="850" b="0">
                <a:solidFill>
                  <a:srgbClr val="161D26"/>
                </a:solidFill>
                <a:latin typeface="Ember Modern Display Standard"/>
              </a:rPr>
              <a:t>    </a:t>
            </a:r>
            <a:r>
              <a:rPr sz="850" b="0">
                <a:solidFill>
                  <a:srgbClr val="B8C0CC"/>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Dive Deep</a:t>
            </a:r>
          </a:p>
        </p:txBody>
      </p:sp>
      <p:graphicFrame>
        <p:nvGraphicFramePr>
          <p:cNvPr id="269" name="Chart 268"/>
          <p:cNvGraphicFramePr>
            <a:graphicFrameLocks noGrp="1"/>
          </p:cNvGraphicFramePr>
          <p:nvPr/>
        </p:nvGraphicFramePr>
        <p:xfrm>
          <a:off x="411480" y="1280160"/>
          <a:ext cx="5303520" cy="2514600"/>
        </p:xfrm>
        <a:graphic>
          <a:graphicData uri="http://schemas.openxmlformats.org/drawingml/2006/chart">
            <c:chart xmlns:c="http://schemas.openxmlformats.org/drawingml/2006/chart" r:id="rId2"/>
          </a:graphicData>
        </a:graphic>
      </p:graphicFrame>
      <p:sp>
        <p:nvSpPr>
          <p:cNvPr id="270" name="TextBox 269"/>
          <p:cNvSpPr txBox="1"/>
          <p:nvPr/>
        </p:nvSpPr>
        <p:spPr>
          <a:xfrm>
            <a:off x="502920" y="3840480"/>
            <a:ext cx="5120640" cy="228600"/>
          </a:xfrm>
          <a:prstGeom prst="rect">
            <a:avLst/>
          </a:prstGeom>
          <a:noFill/>
        </p:spPr>
        <p:txBody>
          <a:bodyPr wrap="square" lIns="0" rIns="0" tIns="0" bIns="0" anchor="t">
            <a:spAutoFit/>
          </a:bodyPr>
          <a:lstStyle/>
          <a:p>
            <a:pPr algn="l"/>
            <a:r>
              <a:rPr sz="1050" b="0">
                <a:solidFill>
                  <a:srgbClr val="6B7280"/>
                </a:solidFill>
                <a:latin typeface="Ember Modern Display Standard"/>
              </a:rPr>
              <a:t>share of true copies (training)</a:t>
            </a:r>
          </a:p>
        </p:txBody>
      </p:sp>
      <p:sp>
        <p:nvSpPr>
          <p:cNvPr id="271" name="TextBox 270"/>
          <p:cNvSpPr txBox="1"/>
          <p:nvPr/>
        </p:nvSpPr>
        <p:spPr>
          <a:xfrm>
            <a:off x="502920" y="4096512"/>
            <a:ext cx="5212080" cy="320040"/>
          </a:xfrm>
          <a:prstGeom prst="rect">
            <a:avLst/>
          </a:prstGeom>
          <a:noFill/>
        </p:spPr>
        <p:txBody>
          <a:bodyPr wrap="square" lIns="0" rIns="0" tIns="0" bIns="0" anchor="t">
            <a:spAutoFit/>
          </a:bodyPr>
          <a:lstStyle/>
          <a:p>
            <a:pPr algn="l"/>
            <a:r>
              <a:rPr sz="1250" b="1">
                <a:solidFill>
                  <a:srgbClr val="FF6200"/>
                </a:solidFill>
                <a:latin typeface="Ember Modern Display Standard"/>
              </a:rPr>
              <a:t>83%</a:t>
            </a:r>
            <a:r>
              <a:rPr sz="1250" b="0">
                <a:solidFill>
                  <a:srgbClr val="161D26"/>
                </a:solidFill>
                <a:latin typeface="Ember Modern Display Standard"/>
              </a:rPr>
              <a:t> keep the same house number   ·   </a:t>
            </a:r>
            <a:r>
              <a:rPr sz="1250" b="1">
                <a:solidFill>
                  <a:srgbClr val="FF6200"/>
                </a:solidFill>
                <a:latin typeface="Ember Modern Display Standard"/>
              </a:rPr>
              <a:t>≤0.5%</a:t>
            </a:r>
            <a:r>
              <a:rPr sz="1250" b="0">
                <a:solidFill>
                  <a:srgbClr val="161D26"/>
                </a:solidFill>
                <a:latin typeface="Ember Modern Display Standard"/>
              </a:rPr>
              <a:t> of addresses have a postcode</a:t>
            </a:r>
          </a:p>
        </p:txBody>
      </p:sp>
      <p:sp>
        <p:nvSpPr>
          <p:cNvPr id="272" name="TextBox 271"/>
          <p:cNvSpPr txBox="1"/>
          <p:nvPr/>
        </p:nvSpPr>
        <p:spPr>
          <a:xfrm>
            <a:off x="5989320" y="1371600"/>
            <a:ext cx="2651760" cy="274320"/>
          </a:xfrm>
          <a:prstGeom prst="rect">
            <a:avLst/>
          </a:prstGeom>
          <a:noFill/>
        </p:spPr>
        <p:txBody>
          <a:bodyPr wrap="square" lIns="0" rIns="0" tIns="0" bIns="0" anchor="t">
            <a:spAutoFit/>
          </a:bodyPr>
          <a:lstStyle/>
          <a:p>
            <a:pPr algn="l"/>
            <a:r>
              <a:rPr sz="1000" b="1">
                <a:solidFill>
                  <a:srgbClr val="FF6200"/>
                </a:solidFill>
                <a:latin typeface="Ember Modern Display Standard"/>
              </a:rPr>
              <a:t>WHAT IT TELLS US</a:t>
            </a:r>
          </a:p>
        </p:txBody>
      </p:sp>
      <p:sp>
        <p:nvSpPr>
          <p:cNvPr id="273" name="Oval 272"/>
          <p:cNvSpPr/>
          <p:nvPr/>
        </p:nvSpPr>
        <p:spPr>
          <a:xfrm>
            <a:off x="5989320" y="1783080"/>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1</a:t>
            </a:r>
          </a:p>
        </p:txBody>
      </p:sp>
      <p:sp>
        <p:nvSpPr>
          <p:cNvPr id="274" name="TextBox 273"/>
          <p:cNvSpPr txBox="1"/>
          <p:nvPr/>
        </p:nvSpPr>
        <p:spPr>
          <a:xfrm>
            <a:off x="6446520" y="1764792"/>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Name and address rescue each other</a:t>
            </a:r>
          </a:p>
        </p:txBody>
      </p:sp>
      <p:sp>
        <p:nvSpPr>
          <p:cNvPr id="275" name="Oval 274"/>
          <p:cNvSpPr/>
          <p:nvPr/>
        </p:nvSpPr>
        <p:spPr>
          <a:xfrm>
            <a:off x="5989320" y="2715768"/>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2</a:t>
            </a:r>
          </a:p>
        </p:txBody>
      </p:sp>
      <p:sp>
        <p:nvSpPr>
          <p:cNvPr id="276" name="TextBox 275"/>
          <p:cNvSpPr txBox="1"/>
          <p:nvPr/>
        </p:nvSpPr>
        <p:spPr>
          <a:xfrm>
            <a:off x="6446520" y="2697479"/>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House numbers are strong evidence</a:t>
            </a:r>
          </a:p>
        </p:txBody>
      </p:sp>
      <p:sp>
        <p:nvSpPr>
          <p:cNvPr id="277" name="Oval 276"/>
          <p:cNvSpPr/>
          <p:nvPr/>
        </p:nvSpPr>
        <p:spPr>
          <a:xfrm>
            <a:off x="5989320" y="3648456"/>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3</a:t>
            </a:r>
          </a:p>
        </p:txBody>
      </p:sp>
      <p:sp>
        <p:nvSpPr>
          <p:cNvPr id="278" name="TextBox 277"/>
          <p:cNvSpPr txBox="1"/>
          <p:nvPr/>
        </p:nvSpPr>
        <p:spPr>
          <a:xfrm>
            <a:off x="6446520" y="3630168"/>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There is no postcode to lean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fade">
                                      <p:cBhvr>
                                        <p:cTn id="6" dur="45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childTnLst>
                          </p:cTn>
                        </p:par>
                        <p:par>
                          <p:cTn id="14"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271"/>
                                        </p:tgtEl>
                                        <p:attrNameLst>
                                          <p:attrName>style.visibility</p:attrName>
                                        </p:attrNameLst>
                                      </p:cBhvr>
                                      <p:to>
                                        <p:strVal val="visible"/>
                                      </p:to>
                                    </p:set>
                                    <p:animEffect transition="in" filter="fade">
                                      <p:cBhvr>
                                        <p:cTn id="13" dur="450"/>
                                        <p:tgtEl>
                                          <p:spTgt spid="271"/>
                                        </p:tgtEl>
                                      </p:cBhvr>
                                    </p:animEffect>
                                  </p:childTnLst>
                                </p:cTn>
                              </p:par>
                            </p:childTnLst>
                          </p:cTn>
                        </p:par>
                        <p:par>
                          <p:cTn id="18"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272"/>
                                        </p:tgtEl>
                                        <p:attrNameLst>
                                          <p:attrName>style.visibility</p:attrName>
                                        </p:attrNameLst>
                                      </p:cBhvr>
                                      <p:to>
                                        <p:strVal val="visible"/>
                                      </p:to>
                                    </p:set>
                                    <p:animEffect transition="in" filter="fade">
                                      <p:cBhvr>
                                        <p:cTn id="17" dur="450"/>
                                        <p:tgtEl>
                                          <p:spTgt spid="272"/>
                                        </p:tgtEl>
                                      </p:cBhvr>
                                    </p:animEffect>
                                  </p:childTnLst>
                                </p:cTn>
                              </p:par>
                            </p:childTnLst>
                          </p:cTn>
                        </p:par>
                        <p:par>
                          <p:cTn id="25" fill="hold">
                            <p:stCondLst>
                              <p:cond delay="1350"/>
                            </p:stCondLst>
                            <p:childTnLst>
                              <p:par>
                                <p:cTn id="19" presetID="10" presetClass="entr" presetSubtype="0" fill="hold" grpId="0" nodeType="afterEffect">
                                  <p:stCondLst>
                                    <p:cond delay="0"/>
                                  </p:stCondLst>
                                  <p:childTnLst>
                                    <p:set>
                                      <p:cBhvr>
                                        <p:cTn id="20" dur="1" fill="hold">
                                          <p:stCondLst>
                                            <p:cond delay="0"/>
                                          </p:stCondLst>
                                        </p:cTn>
                                        <p:tgtEl>
                                          <p:spTgt spid="273"/>
                                        </p:tgtEl>
                                        <p:attrNameLst>
                                          <p:attrName>style.visibility</p:attrName>
                                        </p:attrNameLst>
                                      </p:cBhvr>
                                      <p:to>
                                        <p:strVal val="visible"/>
                                      </p:to>
                                    </p:set>
                                    <p:animEffect transition="in" filter="fade">
                                      <p:cBhvr>
                                        <p:cTn id="21" dur="450"/>
                                        <p:tgtEl>
                                          <p:spTgt spid="27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4"/>
                                        </p:tgtEl>
                                        <p:attrNameLst>
                                          <p:attrName>style.visibility</p:attrName>
                                        </p:attrNameLst>
                                      </p:cBhvr>
                                      <p:to>
                                        <p:strVal val="visible"/>
                                      </p:to>
                                    </p:set>
                                    <p:animEffect transition="in" filter="fade">
                                      <p:cBhvr>
                                        <p:cTn id="24" dur="450"/>
                                        <p:tgtEl>
                                          <p:spTgt spid="274"/>
                                        </p:tgtEl>
                                      </p:cBhvr>
                                    </p:animEffect>
                                  </p:childTnLst>
                                </p:cTn>
                              </p:par>
                            </p:childTnLst>
                          </p:cTn>
                        </p:par>
                        <p:par>
                          <p:cTn id="32" fill="hold">
                            <p:stCondLst>
                              <p:cond delay="1800"/>
                            </p:stCondLst>
                            <p:childTnLst>
                              <p:par>
                                <p:cTn id="26" presetID="10" presetClass="entr" presetSubtype="0" fill="hold" grpId="0" nodeType="afterEffect">
                                  <p:stCondLst>
                                    <p:cond delay="0"/>
                                  </p:stCondLst>
                                  <p:childTnLst>
                                    <p:set>
                                      <p:cBhvr>
                                        <p:cTn id="27" dur="1" fill="hold">
                                          <p:stCondLst>
                                            <p:cond delay="0"/>
                                          </p:stCondLst>
                                        </p:cTn>
                                        <p:tgtEl>
                                          <p:spTgt spid="275"/>
                                        </p:tgtEl>
                                        <p:attrNameLst>
                                          <p:attrName>style.visibility</p:attrName>
                                        </p:attrNameLst>
                                      </p:cBhvr>
                                      <p:to>
                                        <p:strVal val="visible"/>
                                      </p:to>
                                    </p:set>
                                    <p:animEffect transition="in" filter="fade">
                                      <p:cBhvr>
                                        <p:cTn id="28" dur="450"/>
                                        <p:tgtEl>
                                          <p:spTgt spid="27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6"/>
                                        </p:tgtEl>
                                        <p:attrNameLst>
                                          <p:attrName>style.visibility</p:attrName>
                                        </p:attrNameLst>
                                      </p:cBhvr>
                                      <p:to>
                                        <p:strVal val="visible"/>
                                      </p:to>
                                    </p:set>
                                    <p:animEffect transition="in" filter="fade">
                                      <p:cBhvr>
                                        <p:cTn id="31" dur="450"/>
                                        <p:tgtEl>
                                          <p:spTgt spid="276"/>
                                        </p:tgtEl>
                                      </p:cBhvr>
                                    </p:animEffect>
                                  </p:childTnLst>
                                </p:cTn>
                              </p:par>
                            </p:childTnLst>
                          </p:cTn>
                        </p:par>
                        <p:par>
                          <p:cTn id="39" fill="hold">
                            <p:stCondLst>
                              <p:cond delay="2250"/>
                            </p:stCondLst>
                            <p:childTnLst>
                              <p:par>
                                <p:cTn id="33" presetID="10" presetClass="entr" presetSubtype="0" fill="hold" grpId="0" nodeType="afterEffect">
                                  <p:stCondLst>
                                    <p:cond delay="0"/>
                                  </p:stCondLst>
                                  <p:childTnLst>
                                    <p:set>
                                      <p:cBhvr>
                                        <p:cTn id="34" dur="1" fill="hold">
                                          <p:stCondLst>
                                            <p:cond delay="0"/>
                                          </p:stCondLst>
                                        </p:cTn>
                                        <p:tgtEl>
                                          <p:spTgt spid="277"/>
                                        </p:tgtEl>
                                        <p:attrNameLst>
                                          <p:attrName>style.visibility</p:attrName>
                                        </p:attrNameLst>
                                      </p:cBhvr>
                                      <p:to>
                                        <p:strVal val="visible"/>
                                      </p:to>
                                    </p:set>
                                    <p:animEffect transition="in" filter="fade">
                                      <p:cBhvr>
                                        <p:cTn id="35" dur="450"/>
                                        <p:tgtEl>
                                          <p:spTgt spid="27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78"/>
                                        </p:tgtEl>
                                        <p:attrNameLst>
                                          <p:attrName>style.visibility</p:attrName>
                                        </p:attrNameLst>
                                      </p:cBhvr>
                                      <p:to>
                                        <p:strVal val="visible"/>
                                      </p:to>
                                    </p:set>
                                    <p:animEffect transition="in" filter="fade">
                                      <p:cBhvr>
                                        <p:cTn id="38" dur="45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69" grpId="0">
        <p:bldAsOne/>
      </p:bldGraphic>
      <p:bldP spid="270" grpId="0" animBg="1"/>
      <p:bldP spid="271" grpId="0" animBg="1"/>
      <p:bldP spid="272" grpId="0" animBg="1"/>
      <p:bldP spid="273" grpId="0" animBg="1"/>
      <p:bldP spid="274" grpId="0" animBg="1"/>
      <p:bldP spid="275" grpId="0" animBg="1"/>
      <p:bldP spid="276" grpId="0" animBg="1"/>
      <p:bldP spid="277" grpId="0" animBg="1"/>
      <p:bldP spid="27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The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Decoys</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The extra test records were look-alikes, and they left fingerprints.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1">
                <a:solidFill>
                  <a:srgbClr val="FF6200"/>
                </a:solidFill>
                <a:latin typeface="Ember Modern Display Standard"/>
              </a:rPr>
              <a:t>01 Understanding</a:t>
            </a:r>
            <a:r>
              <a:rPr sz="850" b="0">
                <a:solidFill>
                  <a:srgbClr val="161D26"/>
                </a:solidFill>
                <a:latin typeface="Ember Modern Display Standard"/>
              </a:rPr>
              <a:t>    </a:t>
            </a:r>
            <a:r>
              <a:rPr sz="850" b="0">
                <a:solidFill>
                  <a:srgbClr val="B8C0CC"/>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Are Right, A Lot</a:t>
            </a:r>
          </a:p>
        </p:txBody>
      </p:sp>
      <p:graphicFrame>
        <p:nvGraphicFramePr>
          <p:cNvPr id="269" name="Chart 268"/>
          <p:cNvGraphicFramePr>
            <a:graphicFrameLocks noGrp="1"/>
          </p:cNvGraphicFramePr>
          <p:nvPr/>
        </p:nvGraphicFramePr>
        <p:xfrm>
          <a:off x="411480" y="1280160"/>
          <a:ext cx="5303520" cy="3108960"/>
        </p:xfrm>
        <a:graphic>
          <a:graphicData uri="http://schemas.openxmlformats.org/drawingml/2006/chart">
            <c:chart xmlns:c="http://schemas.openxmlformats.org/drawingml/2006/chart" r:id="rId2"/>
          </a:graphicData>
        </a:graphic>
      </p:graphicFrame>
      <p:sp>
        <p:nvSpPr>
          <p:cNvPr id="270" name="TextBox 269"/>
          <p:cNvSpPr txBox="1"/>
          <p:nvPr/>
        </p:nvSpPr>
        <p:spPr>
          <a:xfrm>
            <a:off x="5989320" y="1371600"/>
            <a:ext cx="2651760" cy="274320"/>
          </a:xfrm>
          <a:prstGeom prst="rect">
            <a:avLst/>
          </a:prstGeom>
          <a:noFill/>
        </p:spPr>
        <p:txBody>
          <a:bodyPr wrap="square" lIns="0" rIns="0" tIns="0" bIns="0" anchor="t">
            <a:spAutoFit/>
          </a:bodyPr>
          <a:lstStyle/>
          <a:p>
            <a:pPr algn="l"/>
            <a:r>
              <a:rPr sz="1000" b="1">
                <a:solidFill>
                  <a:srgbClr val="FF6200"/>
                </a:solidFill>
                <a:latin typeface="Ember Modern Display Standard"/>
              </a:rPr>
              <a:t>WHAT IT TELLS US</a:t>
            </a:r>
          </a:p>
        </p:txBody>
      </p:sp>
      <p:sp>
        <p:nvSpPr>
          <p:cNvPr id="271" name="Oval 270"/>
          <p:cNvSpPr/>
          <p:nvPr/>
        </p:nvSpPr>
        <p:spPr>
          <a:xfrm>
            <a:off x="5989320" y="1783080"/>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1</a:t>
            </a:r>
          </a:p>
        </p:txBody>
      </p:sp>
      <p:sp>
        <p:nvSpPr>
          <p:cNvPr id="272" name="TextBox 271"/>
          <p:cNvSpPr txBox="1"/>
          <p:nvPr/>
        </p:nvSpPr>
        <p:spPr>
          <a:xfrm>
            <a:off x="6446520" y="1764792"/>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The test has 23% more records, but the same matches</a:t>
            </a:r>
          </a:p>
        </p:txBody>
      </p:sp>
      <p:sp>
        <p:nvSpPr>
          <p:cNvPr id="273" name="Oval 272"/>
          <p:cNvSpPr/>
          <p:nvPr/>
        </p:nvSpPr>
        <p:spPr>
          <a:xfrm>
            <a:off x="5989320" y="2715768"/>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2</a:t>
            </a:r>
          </a:p>
        </p:txBody>
      </p:sp>
      <p:sp>
        <p:nvSpPr>
          <p:cNvPr id="274" name="TextBox 273"/>
          <p:cNvSpPr txBox="1"/>
          <p:nvPr/>
        </p:nvSpPr>
        <p:spPr>
          <a:xfrm>
            <a:off x="6446520" y="2697479"/>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Decoys move the number and add a word</a:t>
            </a:r>
          </a:p>
        </p:txBody>
      </p:sp>
      <p:sp>
        <p:nvSpPr>
          <p:cNvPr id="275" name="Oval 274"/>
          <p:cNvSpPr/>
          <p:nvPr/>
        </p:nvSpPr>
        <p:spPr>
          <a:xfrm>
            <a:off x="5989320" y="3648456"/>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3</a:t>
            </a:r>
          </a:p>
        </p:txBody>
      </p:sp>
      <p:sp>
        <p:nvSpPr>
          <p:cNvPr id="276" name="TextBox 275"/>
          <p:cNvSpPr txBox="1"/>
          <p:nvPr/>
        </p:nvSpPr>
        <p:spPr>
          <a:xfrm>
            <a:off x="6446520" y="3630168"/>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One word swapped, same address: 0.6% real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fade">
                                      <p:cBhvr>
                                        <p:cTn id="6" dur="450"/>
                                        <p:tgtEl>
                                          <p:spTgt spid="269"/>
                                        </p:tgtEl>
                                      </p:cBhvr>
                                    </p:animEffect>
                                  </p:childTnLst>
                                </p:cTn>
                              </p:par>
                            </p:childTnLst>
                          </p:cTn>
                        </p:par>
                        <p:par>
                          <p:cTn id="11" fill="hold">
                            <p:stCondLst>
                              <p:cond delay="450"/>
                            </p:stCondLst>
                            <p:childTnLst>
                              <p:par>
                                <p:cTn id="8" presetID="10" presetClass="entr" presetSubtype="0" fill="hold" grpId="0" nodeType="afterEffect">
                                  <p:stCondLst>
                                    <p:cond delay="0"/>
                                  </p:stCondLst>
                                  <p:childTnLst>
                                    <p:set>
                                      <p:cBhvr>
                                        <p:cTn id="9" dur="1" fill="hold">
                                          <p:stCondLst>
                                            <p:cond delay="0"/>
                                          </p:stCondLst>
                                        </p:cTn>
                                        <p:tgtEl>
                                          <p:spTgt spid="270"/>
                                        </p:tgtEl>
                                        <p:attrNameLst>
                                          <p:attrName>style.visibility</p:attrName>
                                        </p:attrNameLst>
                                      </p:cBhvr>
                                      <p:to>
                                        <p:strVal val="visible"/>
                                      </p:to>
                                    </p:set>
                                    <p:animEffect transition="in" filter="fade">
                                      <p:cBhvr>
                                        <p:cTn id="10" dur="450"/>
                                        <p:tgtEl>
                                          <p:spTgt spid="270"/>
                                        </p:tgtEl>
                                      </p:cBhvr>
                                    </p:animEffect>
                                  </p:childTnLst>
                                </p:cTn>
                              </p:par>
                            </p:childTnLst>
                          </p:cTn>
                        </p:par>
                        <p:par>
                          <p:cTn id="18" fill="hold">
                            <p:stCondLst>
                              <p:cond delay="900"/>
                            </p:stCondLst>
                            <p:childTnLst>
                              <p:par>
                                <p:cTn id="12" presetID="10" presetClass="entr" presetSubtype="0" fill="hold" grpId="0" nodeType="afterEffect">
                                  <p:stCondLst>
                                    <p:cond delay="0"/>
                                  </p:stCondLst>
                                  <p:childTnLst>
                                    <p:set>
                                      <p:cBhvr>
                                        <p:cTn id="13" dur="1" fill="hold">
                                          <p:stCondLst>
                                            <p:cond delay="0"/>
                                          </p:stCondLst>
                                        </p:cTn>
                                        <p:tgtEl>
                                          <p:spTgt spid="271"/>
                                        </p:tgtEl>
                                        <p:attrNameLst>
                                          <p:attrName>style.visibility</p:attrName>
                                        </p:attrNameLst>
                                      </p:cBhvr>
                                      <p:to>
                                        <p:strVal val="visible"/>
                                      </p:to>
                                    </p:set>
                                    <p:animEffect transition="in" filter="fade">
                                      <p:cBhvr>
                                        <p:cTn id="14" dur="450"/>
                                        <p:tgtEl>
                                          <p:spTgt spid="27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2"/>
                                        </p:tgtEl>
                                        <p:attrNameLst>
                                          <p:attrName>style.visibility</p:attrName>
                                        </p:attrNameLst>
                                      </p:cBhvr>
                                      <p:to>
                                        <p:strVal val="visible"/>
                                      </p:to>
                                    </p:set>
                                    <p:animEffect transition="in" filter="fade">
                                      <p:cBhvr>
                                        <p:cTn id="17" dur="450"/>
                                        <p:tgtEl>
                                          <p:spTgt spid="272"/>
                                        </p:tgtEl>
                                      </p:cBhvr>
                                    </p:animEffect>
                                  </p:childTnLst>
                                </p:cTn>
                              </p:par>
                            </p:childTnLst>
                          </p:cTn>
                        </p:par>
                        <p:par>
                          <p:cTn id="25" fill="hold">
                            <p:stCondLst>
                              <p:cond delay="1350"/>
                            </p:stCondLst>
                            <p:childTnLst>
                              <p:par>
                                <p:cTn id="19" presetID="10" presetClass="entr" presetSubtype="0" fill="hold" grpId="0" nodeType="afterEffect">
                                  <p:stCondLst>
                                    <p:cond delay="0"/>
                                  </p:stCondLst>
                                  <p:childTnLst>
                                    <p:set>
                                      <p:cBhvr>
                                        <p:cTn id="20" dur="1" fill="hold">
                                          <p:stCondLst>
                                            <p:cond delay="0"/>
                                          </p:stCondLst>
                                        </p:cTn>
                                        <p:tgtEl>
                                          <p:spTgt spid="273"/>
                                        </p:tgtEl>
                                        <p:attrNameLst>
                                          <p:attrName>style.visibility</p:attrName>
                                        </p:attrNameLst>
                                      </p:cBhvr>
                                      <p:to>
                                        <p:strVal val="visible"/>
                                      </p:to>
                                    </p:set>
                                    <p:animEffect transition="in" filter="fade">
                                      <p:cBhvr>
                                        <p:cTn id="21" dur="450"/>
                                        <p:tgtEl>
                                          <p:spTgt spid="27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4"/>
                                        </p:tgtEl>
                                        <p:attrNameLst>
                                          <p:attrName>style.visibility</p:attrName>
                                        </p:attrNameLst>
                                      </p:cBhvr>
                                      <p:to>
                                        <p:strVal val="visible"/>
                                      </p:to>
                                    </p:set>
                                    <p:animEffect transition="in" filter="fade">
                                      <p:cBhvr>
                                        <p:cTn id="24" dur="450"/>
                                        <p:tgtEl>
                                          <p:spTgt spid="274"/>
                                        </p:tgtEl>
                                      </p:cBhvr>
                                    </p:animEffect>
                                  </p:childTnLst>
                                </p:cTn>
                              </p:par>
                            </p:childTnLst>
                          </p:cTn>
                        </p:par>
                        <p:par>
                          <p:cTn id="32" fill="hold">
                            <p:stCondLst>
                              <p:cond delay="1800"/>
                            </p:stCondLst>
                            <p:childTnLst>
                              <p:par>
                                <p:cTn id="26" presetID="10" presetClass="entr" presetSubtype="0" fill="hold" grpId="0" nodeType="afterEffect">
                                  <p:stCondLst>
                                    <p:cond delay="0"/>
                                  </p:stCondLst>
                                  <p:childTnLst>
                                    <p:set>
                                      <p:cBhvr>
                                        <p:cTn id="27" dur="1" fill="hold">
                                          <p:stCondLst>
                                            <p:cond delay="0"/>
                                          </p:stCondLst>
                                        </p:cTn>
                                        <p:tgtEl>
                                          <p:spTgt spid="275"/>
                                        </p:tgtEl>
                                        <p:attrNameLst>
                                          <p:attrName>style.visibility</p:attrName>
                                        </p:attrNameLst>
                                      </p:cBhvr>
                                      <p:to>
                                        <p:strVal val="visible"/>
                                      </p:to>
                                    </p:set>
                                    <p:animEffect transition="in" filter="fade">
                                      <p:cBhvr>
                                        <p:cTn id="28" dur="450"/>
                                        <p:tgtEl>
                                          <p:spTgt spid="27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6"/>
                                        </p:tgtEl>
                                        <p:attrNameLst>
                                          <p:attrName>style.visibility</p:attrName>
                                        </p:attrNameLst>
                                      </p:cBhvr>
                                      <p:to>
                                        <p:strVal val="visible"/>
                                      </p:to>
                                    </p:set>
                                    <p:animEffect transition="in" filter="fade">
                                      <p:cBhvr>
                                        <p:cTn id="31" dur="450"/>
                                        <p:tgtEl>
                                          <p:spTgt spid="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69" grpId="0">
        <p:bldAsOne/>
      </p:bldGraphic>
      <p:bldP spid="270" grpId="0" animBg="1"/>
      <p:bldP spid="271" grpId="0" animBg="1"/>
      <p:bldP spid="272" grpId="0" animBg="1"/>
      <p:bldP spid="273" grpId="0" animBg="1"/>
      <p:bldP spid="274" grpId="0" animBg="1"/>
      <p:bldP spid="275" grpId="0" animBg="1"/>
      <p:bldP spid="27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Two</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Principles</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Two rules we set before building anything.</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1">
                <a:solidFill>
                  <a:srgbClr val="FF6200"/>
                </a:solidFill>
                <a:latin typeface="Ember Modern Display Standard"/>
              </a:rPr>
              <a:t>01 Understanding</a:t>
            </a:r>
            <a:r>
              <a:rPr sz="850" b="0">
                <a:solidFill>
                  <a:srgbClr val="161D26"/>
                </a:solidFill>
                <a:latin typeface="Ember Modern Display Standard"/>
              </a:rPr>
              <a:t>    </a:t>
            </a:r>
            <a:r>
              <a:rPr sz="850" b="0">
                <a:solidFill>
                  <a:srgbClr val="B8C0CC"/>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Customer Obsession  ·  Frugality</a:t>
            </a:r>
          </a:p>
        </p:txBody>
      </p:sp>
      <p:sp>
        <p:nvSpPr>
          <p:cNvPr id="269" name="Rounded Rectangle 268"/>
          <p:cNvSpPr/>
          <p:nvPr/>
        </p:nvSpPr>
        <p:spPr>
          <a:xfrm>
            <a:off x="502920" y="1371600"/>
            <a:ext cx="3931920" cy="3008376"/>
          </a:xfrm>
          <a:prstGeom prst="roundRect">
            <a:avLst>
              <a:gd name="adj" fmla="val 1823"/>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731520" y="1554480"/>
            <a:ext cx="3566160" cy="365760"/>
          </a:xfrm>
          <a:prstGeom prst="rect">
            <a:avLst/>
          </a:prstGeom>
          <a:noFill/>
        </p:spPr>
        <p:txBody>
          <a:bodyPr wrap="square" lIns="0" rIns="0" tIns="0" bIns="0" anchor="t">
            <a:spAutoFit/>
          </a:bodyPr>
          <a:lstStyle/>
          <a:p>
            <a:pPr algn="l"/>
            <a:r>
              <a:rPr sz="1800" b="1">
                <a:solidFill>
                  <a:srgbClr val="FF6200"/>
                </a:solidFill>
                <a:latin typeface="Ember Modern Display Standard"/>
              </a:rPr>
              <a:t>1  </a:t>
            </a:r>
            <a:r>
              <a:rPr sz="1800" b="1">
                <a:solidFill>
                  <a:srgbClr val="161D26"/>
                </a:solidFill>
                <a:latin typeface="Ember Modern Display Standard"/>
              </a:rPr>
              <a:t>Decide like the metric</a:t>
            </a:r>
          </a:p>
        </p:txBody>
      </p:sp>
      <p:sp>
        <p:nvSpPr>
          <p:cNvPr id="271" name="Rounded Rectangle 270"/>
          <p:cNvSpPr/>
          <p:nvPr/>
        </p:nvSpPr>
        <p:spPr>
          <a:xfrm>
            <a:off x="914400" y="2286000"/>
            <a:ext cx="566928" cy="566928"/>
          </a:xfrm>
          <a:prstGeom prst="roundRect">
            <a:avLst>
              <a:gd name="adj" fmla="val 12903"/>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1572768" y="2304288"/>
            <a:ext cx="365760" cy="502920"/>
          </a:xfrm>
          <a:prstGeom prst="rect">
            <a:avLst/>
          </a:prstGeom>
          <a:noFill/>
        </p:spPr>
        <p:txBody>
          <a:bodyPr wrap="square" lIns="0" rIns="0" tIns="0" bIns="0" anchor="t">
            <a:spAutoFit/>
          </a:bodyPr>
          <a:lstStyle/>
          <a:p>
            <a:pPr algn="ctr"/>
            <a:r>
              <a:rPr sz="2600" b="1">
                <a:solidFill>
                  <a:srgbClr val="161D26"/>
                </a:solidFill>
                <a:latin typeface="Ember Modern Display Standard"/>
              </a:rPr>
              <a:t>=</a:t>
            </a:r>
          </a:p>
        </p:txBody>
      </p:sp>
      <p:sp>
        <p:nvSpPr>
          <p:cNvPr id="273" name="Rounded Rectangle 272"/>
          <p:cNvSpPr/>
          <p:nvPr/>
        </p:nvSpPr>
        <p:spPr>
          <a:xfrm>
            <a:off x="2029968" y="2395728"/>
            <a:ext cx="457200" cy="457200"/>
          </a:xfrm>
          <a:prstGeom prst="roundRect">
            <a:avLst>
              <a:gd name="adj" fmla="val 12000"/>
            </a:avLst>
          </a:prstGeom>
          <a:solidFill>
            <a:srgbClr val="D6D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ounded Rectangle 273"/>
          <p:cNvSpPr/>
          <p:nvPr/>
        </p:nvSpPr>
        <p:spPr>
          <a:xfrm>
            <a:off x="2596896" y="2395728"/>
            <a:ext cx="457200" cy="457200"/>
          </a:xfrm>
          <a:prstGeom prst="roundRect">
            <a:avLst>
              <a:gd name="adj" fmla="val 12000"/>
            </a:avLst>
          </a:prstGeom>
          <a:solidFill>
            <a:srgbClr val="D6D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ounded Rectangle 274"/>
          <p:cNvSpPr/>
          <p:nvPr/>
        </p:nvSpPr>
        <p:spPr>
          <a:xfrm>
            <a:off x="3163824" y="2395728"/>
            <a:ext cx="457200" cy="457200"/>
          </a:xfrm>
          <a:prstGeom prst="roundRect">
            <a:avLst>
              <a:gd name="adj" fmla="val 12000"/>
            </a:avLst>
          </a:prstGeom>
          <a:solidFill>
            <a:srgbClr val="D6D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ounded Rectangle 275"/>
          <p:cNvSpPr/>
          <p:nvPr/>
        </p:nvSpPr>
        <p:spPr>
          <a:xfrm>
            <a:off x="3730752" y="2395728"/>
            <a:ext cx="457200" cy="457200"/>
          </a:xfrm>
          <a:prstGeom prst="roundRect">
            <a:avLst>
              <a:gd name="adj" fmla="val 12000"/>
            </a:avLst>
          </a:prstGeom>
          <a:solidFill>
            <a:srgbClr val="D6D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731520" y="3108960"/>
            <a:ext cx="3566160" cy="822960"/>
          </a:xfrm>
          <a:prstGeom prst="rect">
            <a:avLst/>
          </a:prstGeom>
          <a:noFill/>
        </p:spPr>
        <p:txBody>
          <a:bodyPr wrap="square" lIns="0" rIns="0" tIns="0" bIns="0" anchor="t">
            <a:spAutoFit/>
          </a:bodyPr>
          <a:lstStyle/>
          <a:p>
            <a:pPr algn="l"/>
            <a:r>
              <a:rPr sz="1300" b="0">
                <a:solidFill>
                  <a:srgbClr val="161D26"/>
                </a:solidFill>
                <a:latin typeface="Ember Modern Display Standard"/>
              </a:rPr>
              <a:t>1 wrong merge costs as much as 4 missed copies.</a:t>
            </a:r>
          </a:p>
          <a:p>
            <a:pPr algn="l">
              <a:spcBef>
                <a:spcPts val="600"/>
              </a:spcBef>
            </a:pPr>
            <a:r>
              <a:rPr sz="1300" b="0">
                <a:solidFill>
                  <a:srgbClr val="6B7280"/>
                </a:solidFill>
                <a:latin typeface="Ember Modern Display Standard"/>
              </a:rPr>
              <a:t>So: precision first.</a:t>
            </a:r>
          </a:p>
        </p:txBody>
      </p:sp>
      <p:sp>
        <p:nvSpPr>
          <p:cNvPr id="278" name="Rounded Rectangle 277"/>
          <p:cNvSpPr/>
          <p:nvPr/>
        </p:nvSpPr>
        <p:spPr>
          <a:xfrm>
            <a:off x="4709160" y="1371600"/>
            <a:ext cx="3931920" cy="3008376"/>
          </a:xfrm>
          <a:prstGeom prst="roundRect">
            <a:avLst>
              <a:gd name="adj" fmla="val 1823"/>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4937760" y="1554480"/>
            <a:ext cx="3566160" cy="365760"/>
          </a:xfrm>
          <a:prstGeom prst="rect">
            <a:avLst/>
          </a:prstGeom>
          <a:noFill/>
        </p:spPr>
        <p:txBody>
          <a:bodyPr wrap="square" lIns="0" rIns="0" tIns="0" bIns="0" anchor="t">
            <a:spAutoFit/>
          </a:bodyPr>
          <a:lstStyle/>
          <a:p>
            <a:pPr algn="l"/>
            <a:r>
              <a:rPr sz="1800" b="1">
                <a:solidFill>
                  <a:srgbClr val="FF6200"/>
                </a:solidFill>
                <a:latin typeface="Ember Modern Display Standard"/>
              </a:rPr>
              <a:t>2  </a:t>
            </a:r>
            <a:r>
              <a:rPr sz="1800" b="1">
                <a:solidFill>
                  <a:srgbClr val="FFFFFF"/>
                </a:solidFill>
                <a:latin typeface="Ember Modern Display Standard"/>
              </a:rPr>
              <a:t>Compute where it's unsure</a:t>
            </a:r>
          </a:p>
        </p:txBody>
      </p:sp>
      <p:graphicFrame>
        <p:nvGraphicFramePr>
          <p:cNvPr id="280" name="Chart 279"/>
          <p:cNvGraphicFramePr>
            <a:graphicFrameLocks noGrp="1"/>
          </p:cNvGraphicFramePr>
          <p:nvPr/>
        </p:nvGraphicFramePr>
        <p:xfrm>
          <a:off x="4892040" y="2011680"/>
          <a:ext cx="1691640" cy="1691640"/>
        </p:xfrm>
        <a:graphic>
          <a:graphicData uri="http://schemas.openxmlformats.org/drawingml/2006/chart">
            <c:chart xmlns:c="http://schemas.openxmlformats.org/drawingml/2006/chart" r:id="rId2"/>
          </a:graphicData>
        </a:graphic>
      </p:graphicFrame>
      <p:sp>
        <p:nvSpPr>
          <p:cNvPr id="281" name="TextBox 280"/>
          <p:cNvSpPr txBox="1"/>
          <p:nvPr/>
        </p:nvSpPr>
        <p:spPr>
          <a:xfrm>
            <a:off x="4892040" y="2633472"/>
            <a:ext cx="1691640" cy="457200"/>
          </a:xfrm>
          <a:prstGeom prst="rect">
            <a:avLst/>
          </a:prstGeom>
          <a:noFill/>
        </p:spPr>
        <p:txBody>
          <a:bodyPr wrap="square" lIns="0" rIns="0" tIns="0" bIns="0" anchor="t">
            <a:spAutoFit/>
          </a:bodyPr>
          <a:lstStyle/>
          <a:p>
            <a:pPr algn="ctr"/>
            <a:r>
              <a:rPr sz="2000" b="1">
                <a:solidFill>
                  <a:srgbClr val="FF6200"/>
                </a:solidFill>
                <a:latin typeface="Ember Modern Display Standard"/>
              </a:rPr>
              <a:t>2.6%</a:t>
            </a:r>
          </a:p>
        </p:txBody>
      </p:sp>
      <p:sp>
        <p:nvSpPr>
          <p:cNvPr id="282" name="TextBox 281"/>
          <p:cNvSpPr txBox="1"/>
          <p:nvPr/>
        </p:nvSpPr>
        <p:spPr>
          <a:xfrm>
            <a:off x="6720840" y="2377440"/>
            <a:ext cx="1783080" cy="1280160"/>
          </a:xfrm>
          <a:prstGeom prst="rect">
            <a:avLst/>
          </a:prstGeom>
          <a:noFill/>
        </p:spPr>
        <p:txBody>
          <a:bodyPr wrap="square" lIns="0" rIns="0" tIns="0" bIns="0" anchor="t">
            <a:spAutoFit/>
          </a:bodyPr>
          <a:lstStyle/>
          <a:p>
            <a:pPr algn="l"/>
            <a:r>
              <a:rPr sz="1300" b="0">
                <a:solidFill>
                  <a:srgbClr val="FFFFFF"/>
                </a:solidFill>
                <a:latin typeface="Ember Modern Display Standard"/>
              </a:rPr>
              <a:t>of pairs reach our expensive models.</a:t>
            </a:r>
          </a:p>
          <a:p>
            <a:pPr algn="l">
              <a:spcBef>
                <a:spcPts val="600"/>
              </a:spcBef>
            </a:pPr>
            <a:r>
              <a:rPr sz="1300" b="0">
                <a:solidFill>
                  <a:srgbClr val="B8C0CC"/>
                </a:solidFill>
                <a:latin typeface="Ember Modern Display Standard"/>
              </a:rPr>
              <a:t>A cheap model reads every pair first.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fade">
                                      <p:cBhvr>
                                        <p:cTn id="6" dur="45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childTnLst>
                          </p:cTn>
                        </p:par>
                        <p:par>
                          <p:cTn id="29"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271"/>
                                        </p:tgtEl>
                                        <p:attrNameLst>
                                          <p:attrName>style.visibility</p:attrName>
                                        </p:attrNameLst>
                                      </p:cBhvr>
                                      <p:to>
                                        <p:strVal val="visible"/>
                                      </p:to>
                                    </p:set>
                                    <p:animEffect transition="in" filter="fade">
                                      <p:cBhvr>
                                        <p:cTn id="13" dur="450"/>
                                        <p:tgtEl>
                                          <p:spTgt spid="27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3"/>
                                        </p:tgtEl>
                                        <p:attrNameLst>
                                          <p:attrName>style.visibility</p:attrName>
                                        </p:attrNameLst>
                                      </p:cBhvr>
                                      <p:to>
                                        <p:strVal val="visible"/>
                                      </p:to>
                                    </p:set>
                                    <p:animEffect transition="in" filter="fade">
                                      <p:cBhvr>
                                        <p:cTn id="16" dur="450"/>
                                        <p:tgtEl>
                                          <p:spTgt spid="27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4"/>
                                        </p:tgtEl>
                                        <p:attrNameLst>
                                          <p:attrName>style.visibility</p:attrName>
                                        </p:attrNameLst>
                                      </p:cBhvr>
                                      <p:to>
                                        <p:strVal val="visible"/>
                                      </p:to>
                                    </p:set>
                                    <p:animEffect transition="in" filter="fade">
                                      <p:cBhvr>
                                        <p:cTn id="19" dur="450"/>
                                        <p:tgtEl>
                                          <p:spTgt spid="27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5"/>
                                        </p:tgtEl>
                                        <p:attrNameLst>
                                          <p:attrName>style.visibility</p:attrName>
                                        </p:attrNameLst>
                                      </p:cBhvr>
                                      <p:to>
                                        <p:strVal val="visible"/>
                                      </p:to>
                                    </p:set>
                                    <p:animEffect transition="in" filter="fade">
                                      <p:cBhvr>
                                        <p:cTn id="22" dur="450"/>
                                        <p:tgtEl>
                                          <p:spTgt spid="27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6"/>
                                        </p:tgtEl>
                                        <p:attrNameLst>
                                          <p:attrName>style.visibility</p:attrName>
                                        </p:attrNameLst>
                                      </p:cBhvr>
                                      <p:to>
                                        <p:strVal val="visible"/>
                                      </p:to>
                                    </p:set>
                                    <p:animEffect transition="in" filter="fade">
                                      <p:cBhvr>
                                        <p:cTn id="25" dur="450"/>
                                        <p:tgtEl>
                                          <p:spTgt spid="27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72"/>
                                        </p:tgtEl>
                                        <p:attrNameLst>
                                          <p:attrName>style.visibility</p:attrName>
                                        </p:attrNameLst>
                                      </p:cBhvr>
                                      <p:to>
                                        <p:strVal val="visible"/>
                                      </p:to>
                                    </p:set>
                                    <p:animEffect transition="in" filter="fade">
                                      <p:cBhvr>
                                        <p:cTn id="28" dur="450"/>
                                        <p:tgtEl>
                                          <p:spTgt spid="272"/>
                                        </p:tgtEl>
                                      </p:cBhvr>
                                    </p:animEffect>
                                  </p:childTnLst>
                                </p:cTn>
                              </p:par>
                            </p:childTnLst>
                          </p:cTn>
                        </p:par>
                        <p:par>
                          <p:cTn id="33" fill="hold">
                            <p:stCondLst>
                              <p:cond delay="900"/>
                            </p:stCondLst>
                            <p:childTnLst>
                              <p:par>
                                <p:cTn id="30" presetID="10" presetClass="entr" presetSubtype="0" fill="hold" grpId="0" nodeType="afterEffect">
                                  <p:stCondLst>
                                    <p:cond delay="0"/>
                                  </p:stCondLst>
                                  <p:childTnLst>
                                    <p:set>
                                      <p:cBhvr>
                                        <p:cTn id="31" dur="1" fill="hold">
                                          <p:stCondLst>
                                            <p:cond delay="0"/>
                                          </p:stCondLst>
                                        </p:cTn>
                                        <p:tgtEl>
                                          <p:spTgt spid="277"/>
                                        </p:tgtEl>
                                        <p:attrNameLst>
                                          <p:attrName>style.visibility</p:attrName>
                                        </p:attrNameLst>
                                      </p:cBhvr>
                                      <p:to>
                                        <p:strVal val="visible"/>
                                      </p:to>
                                    </p:set>
                                    <p:animEffect transition="in" filter="fade">
                                      <p:cBhvr>
                                        <p:cTn id="32" dur="450"/>
                                        <p:tgtEl>
                                          <p:spTgt spid="277"/>
                                        </p:tgtEl>
                                      </p:cBhvr>
                                    </p:animEffect>
                                  </p:childTnLst>
                                </p:cTn>
                              </p:par>
                            </p:childTnLst>
                          </p:cTn>
                        </p:par>
                        <p:par>
                          <p:cTn id="40" fill="hold">
                            <p:stCondLst>
                              <p:cond delay="1350"/>
                            </p:stCondLst>
                            <p:childTnLst>
                              <p:par>
                                <p:cTn id="34" presetID="10" presetClass="entr" presetSubtype="0" fill="hold" grpId="0" nodeType="afterEffect">
                                  <p:stCondLst>
                                    <p:cond delay="0"/>
                                  </p:stCondLst>
                                  <p:childTnLst>
                                    <p:set>
                                      <p:cBhvr>
                                        <p:cTn id="35" dur="1" fill="hold">
                                          <p:stCondLst>
                                            <p:cond delay="0"/>
                                          </p:stCondLst>
                                        </p:cTn>
                                        <p:tgtEl>
                                          <p:spTgt spid="278"/>
                                        </p:tgtEl>
                                        <p:attrNameLst>
                                          <p:attrName>style.visibility</p:attrName>
                                        </p:attrNameLst>
                                      </p:cBhvr>
                                      <p:to>
                                        <p:strVal val="visible"/>
                                      </p:to>
                                    </p:set>
                                    <p:animEffect transition="in" filter="fade">
                                      <p:cBhvr>
                                        <p:cTn id="36" dur="450"/>
                                        <p:tgtEl>
                                          <p:spTgt spid="27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79"/>
                                        </p:tgtEl>
                                        <p:attrNameLst>
                                          <p:attrName>style.visibility</p:attrName>
                                        </p:attrNameLst>
                                      </p:cBhvr>
                                      <p:to>
                                        <p:strVal val="visible"/>
                                      </p:to>
                                    </p:set>
                                    <p:animEffect transition="in" filter="fade">
                                      <p:cBhvr>
                                        <p:cTn id="39" dur="450"/>
                                        <p:tgtEl>
                                          <p:spTgt spid="279"/>
                                        </p:tgtEl>
                                      </p:cBhvr>
                                    </p:animEffect>
                                  </p:childTnLst>
                                </p:cTn>
                              </p:par>
                            </p:childTnLst>
                          </p:cTn>
                        </p:par>
                        <p:par>
                          <p:cTn id="47" fill="hold">
                            <p:stCondLst>
                              <p:cond delay="1800"/>
                            </p:stCondLst>
                            <p:childTnLst>
                              <p:par>
                                <p:cTn id="41" presetID="10" presetClass="entr" presetSubtype="0" fill="hold" grpId="0" nodeType="afterEffect">
                                  <p:stCondLst>
                                    <p:cond delay="0"/>
                                  </p:stCondLst>
                                  <p:childTnLst>
                                    <p:set>
                                      <p:cBhvr>
                                        <p:cTn id="42" dur="1" fill="hold">
                                          <p:stCondLst>
                                            <p:cond delay="0"/>
                                          </p:stCondLst>
                                        </p:cTn>
                                        <p:tgtEl>
                                          <p:spTgt spid="280"/>
                                        </p:tgtEl>
                                        <p:attrNameLst>
                                          <p:attrName>style.visibility</p:attrName>
                                        </p:attrNameLst>
                                      </p:cBhvr>
                                      <p:to>
                                        <p:strVal val="visible"/>
                                      </p:to>
                                    </p:set>
                                    <p:animEffect transition="in" filter="fade">
                                      <p:cBhvr>
                                        <p:cTn id="43" dur="450"/>
                                        <p:tgtEl>
                                          <p:spTgt spid="28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1"/>
                                        </p:tgtEl>
                                        <p:attrNameLst>
                                          <p:attrName>style.visibility</p:attrName>
                                        </p:attrNameLst>
                                      </p:cBhvr>
                                      <p:to>
                                        <p:strVal val="visible"/>
                                      </p:to>
                                    </p:set>
                                    <p:animEffect transition="in" filter="fade">
                                      <p:cBhvr>
                                        <p:cTn id="46" dur="450"/>
                                        <p:tgtEl>
                                          <p:spTgt spid="281"/>
                                        </p:tgtEl>
                                      </p:cBhvr>
                                    </p:animEffect>
                                  </p:childTnLst>
                                </p:cTn>
                              </p:par>
                            </p:childTnLst>
                          </p:cTn>
                        </p:par>
                        <p:par>
                          <p:cTn id="51" fill="hold">
                            <p:stCondLst>
                              <p:cond delay="2250"/>
                            </p:stCondLst>
                            <p:childTnLst>
                              <p:par>
                                <p:cTn id="48" presetID="10" presetClass="entr" presetSubtype="0" fill="hold" grpId="0" nodeType="afterEffect">
                                  <p:stCondLst>
                                    <p:cond delay="0"/>
                                  </p:stCondLst>
                                  <p:childTnLst>
                                    <p:set>
                                      <p:cBhvr>
                                        <p:cTn id="49" dur="1" fill="hold">
                                          <p:stCondLst>
                                            <p:cond delay="0"/>
                                          </p:stCondLst>
                                        </p:cTn>
                                        <p:tgtEl>
                                          <p:spTgt spid="282"/>
                                        </p:tgtEl>
                                        <p:attrNameLst>
                                          <p:attrName>style.visibility</p:attrName>
                                        </p:attrNameLst>
                                      </p:cBhvr>
                                      <p:to>
                                        <p:strVal val="visible"/>
                                      </p:to>
                                    </p:set>
                                    <p:animEffect transition="in" filter="fade">
                                      <p:cBhvr>
                                        <p:cTn id="50" dur="450"/>
                                        <p:tgtEl>
                                          <p:spTgt spid="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0" animBg="1"/>
      <p:bldP spid="270" grpId="0" animBg="1"/>
      <p:bldP spid="271" grpId="0" animBg="1"/>
      <p:bldP spid="273" grpId="0" animBg="1"/>
      <p:bldP spid="274" grpId="0" animBg="1"/>
      <p:bldP spid="275" grpId="0" animBg="1"/>
      <p:bldP spid="276" grpId="0" animBg="1"/>
      <p:bldP spid="272" grpId="0" animBg="1"/>
      <p:bldP spid="277" grpId="0" animBg="1"/>
      <p:bldP spid="278" grpId="0" animBg="1"/>
      <p:bldP spid="279" grpId="0" animBg="1"/>
      <p:bldGraphic spid="280" grpId="0">
        <p:bldAsOne/>
      </p:bldGraphic>
      <p:bldP spid="281" grpId="0" animBg="1"/>
      <p:bldP spid="28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Smart</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Blocking</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From 17 trillion possible pairs to 3.7 candidates per entity.</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0">
                <a:solidFill>
                  <a:srgbClr val="B8C0CC"/>
                </a:solidFill>
                <a:latin typeface="Ember Modern Display Standard"/>
              </a:rPr>
              <a:t>01 Understanding</a:t>
            </a:r>
            <a:r>
              <a:rPr sz="850" b="0">
                <a:solidFill>
                  <a:srgbClr val="161D26"/>
                </a:solidFill>
                <a:latin typeface="Ember Modern Display Standard"/>
              </a:rPr>
              <a:t>    </a:t>
            </a:r>
            <a:r>
              <a:rPr sz="850" b="1">
                <a:solidFill>
                  <a:srgbClr val="FF6200"/>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Invent and Simplify</a:t>
            </a:r>
          </a:p>
        </p:txBody>
      </p:sp>
      <p:sp>
        <p:nvSpPr>
          <p:cNvPr id="269" name="Rounded Rectangle 268"/>
          <p:cNvSpPr/>
          <p:nvPr/>
        </p:nvSpPr>
        <p:spPr>
          <a:xfrm>
            <a:off x="640080" y="1371600"/>
            <a:ext cx="7863840" cy="585216"/>
          </a:xfrm>
          <a:prstGeom prst="roundRect">
            <a:avLst>
              <a:gd name="adj" fmla="val 15625"/>
            </a:avLst>
          </a:prstGeom>
          <a:solidFill>
            <a:srgbClr val="D6D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640080" y="1371600"/>
            <a:ext cx="7863840" cy="585216"/>
          </a:xfrm>
          <a:prstGeom prst="rect">
            <a:avLst/>
          </a:prstGeom>
          <a:noFill/>
        </p:spPr>
        <p:txBody>
          <a:bodyPr wrap="square" lIns="0" rIns="0" tIns="0" bIns="0" anchor="ctr">
            <a:spAutoFit/>
          </a:bodyPr>
          <a:lstStyle/>
          <a:p>
            <a:pPr algn="ctr"/>
            <a:r>
              <a:rPr sz="1400" b="0">
                <a:solidFill>
                  <a:srgbClr val="161D26"/>
                </a:solidFill>
                <a:latin typeface="Ember Modern Display Standard"/>
              </a:rPr>
              <a:t>Every possible pair  ·  </a:t>
            </a:r>
            <a:r>
              <a:rPr sz="1400" b="1">
                <a:solidFill>
                  <a:srgbClr val="161D26"/>
                </a:solidFill>
                <a:latin typeface="Ember Modern Display Standard"/>
              </a:rPr>
              <a:t>17 trillion</a:t>
            </a:r>
          </a:p>
        </p:txBody>
      </p:sp>
      <p:sp>
        <p:nvSpPr>
          <p:cNvPr id="271" name="Rounded Rectangle 270"/>
          <p:cNvSpPr/>
          <p:nvPr/>
        </p:nvSpPr>
        <p:spPr>
          <a:xfrm>
            <a:off x="2011680" y="2103120"/>
            <a:ext cx="5120640" cy="585216"/>
          </a:xfrm>
          <a:prstGeom prst="roundRect">
            <a:avLst>
              <a:gd name="adj" fmla="val 15625"/>
            </a:avLst>
          </a:prstGeom>
          <a:solidFill>
            <a:srgbClr val="C2C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2011680" y="2103120"/>
            <a:ext cx="5120640" cy="585216"/>
          </a:xfrm>
          <a:prstGeom prst="rect">
            <a:avLst/>
          </a:prstGeom>
          <a:noFill/>
        </p:spPr>
        <p:txBody>
          <a:bodyPr wrap="square" lIns="0" rIns="0" tIns="0" bIns="0" anchor="ctr">
            <a:spAutoFit/>
          </a:bodyPr>
          <a:lstStyle/>
          <a:p>
            <a:pPr algn="ctr"/>
            <a:r>
              <a:rPr sz="1400" b="0">
                <a:solidFill>
                  <a:srgbClr val="161D26"/>
                </a:solidFill>
                <a:latin typeface="Ember Modern Display Standard"/>
              </a:rPr>
              <a:t>Retrieval  ·  </a:t>
            </a:r>
            <a:r>
              <a:rPr sz="1400" b="1">
                <a:solidFill>
                  <a:srgbClr val="161D26"/>
                </a:solidFill>
                <a:latin typeface="Ember Modern Display Standard"/>
              </a:rPr>
              <a:t>58.4M pairs</a:t>
            </a:r>
            <a:r>
              <a:rPr sz="1400" b="0">
                <a:solidFill>
                  <a:srgbClr val="161D26"/>
                </a:solidFill>
                <a:latin typeface="Ember Modern Display Standard"/>
              </a:rPr>
              <a:t>  ·  99.1% of matches kept</a:t>
            </a:r>
          </a:p>
        </p:txBody>
      </p:sp>
      <p:sp>
        <p:nvSpPr>
          <p:cNvPr id="273" name="Rounded Rectangle 272"/>
          <p:cNvSpPr/>
          <p:nvPr/>
        </p:nvSpPr>
        <p:spPr>
          <a:xfrm>
            <a:off x="3337560" y="2834640"/>
            <a:ext cx="2468880" cy="585216"/>
          </a:xfrm>
          <a:prstGeom prst="roundRect">
            <a:avLst>
              <a:gd name="adj" fmla="val 15625"/>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3337560" y="2834640"/>
            <a:ext cx="2468880" cy="585216"/>
          </a:xfrm>
          <a:prstGeom prst="rect">
            <a:avLst/>
          </a:prstGeom>
          <a:noFill/>
        </p:spPr>
        <p:txBody>
          <a:bodyPr wrap="square" lIns="0" rIns="0" tIns="0" bIns="0" anchor="ctr">
            <a:spAutoFit/>
          </a:bodyPr>
          <a:lstStyle/>
          <a:p>
            <a:pPr algn="ctr"/>
            <a:r>
              <a:rPr sz="2000" b="1">
                <a:solidFill>
                  <a:srgbClr val="FF6200"/>
                </a:solidFill>
                <a:latin typeface="Ember Modern Display Standard"/>
              </a:rPr>
              <a:t>3.7</a:t>
            </a:r>
            <a:r>
              <a:rPr sz="1400" b="1">
                <a:solidFill>
                  <a:srgbClr val="FFFFFF"/>
                </a:solidFill>
                <a:latin typeface="Ember Modern Display Standard"/>
              </a:rPr>
              <a:t>  per entity</a:t>
            </a:r>
          </a:p>
        </p:txBody>
      </p:sp>
      <p:sp>
        <p:nvSpPr>
          <p:cNvPr id="275" name="TextBox 274"/>
          <p:cNvSpPr txBox="1"/>
          <p:nvPr/>
        </p:nvSpPr>
        <p:spPr>
          <a:xfrm>
            <a:off x="5943600" y="2926080"/>
            <a:ext cx="2743200" cy="457200"/>
          </a:xfrm>
          <a:prstGeom prst="rect">
            <a:avLst/>
          </a:prstGeom>
          <a:noFill/>
        </p:spPr>
        <p:txBody>
          <a:bodyPr wrap="square" lIns="0" rIns="0" tIns="0" bIns="0" anchor="t">
            <a:spAutoFit/>
          </a:bodyPr>
          <a:lstStyle/>
          <a:p>
            <a:pPr algn="l"/>
            <a:r>
              <a:rPr sz="1300" b="0">
                <a:solidFill>
                  <a:srgbClr val="161D26"/>
                </a:solidFill>
                <a:latin typeface="Ember Modern Display Standard"/>
              </a:rPr>
              <a:t>6.4M pairs  ·  </a:t>
            </a:r>
            <a:r>
              <a:rPr sz="1300" b="1">
                <a:solidFill>
                  <a:srgbClr val="161D26"/>
                </a:solidFill>
                <a:latin typeface="Ember Modern Display Standard"/>
              </a:rPr>
              <a:t>98.4% kept</a:t>
            </a:r>
          </a:p>
        </p:txBody>
      </p:sp>
      <p:sp>
        <p:nvSpPr>
          <p:cNvPr id="276" name="TextBox 275"/>
          <p:cNvSpPr txBox="1"/>
          <p:nvPr/>
        </p:nvSpPr>
        <p:spPr>
          <a:xfrm>
            <a:off x="502920" y="3639312"/>
            <a:ext cx="2743200" cy="274320"/>
          </a:xfrm>
          <a:prstGeom prst="rect">
            <a:avLst/>
          </a:prstGeom>
          <a:noFill/>
        </p:spPr>
        <p:txBody>
          <a:bodyPr wrap="square" lIns="0" rIns="0" tIns="0" bIns="0" anchor="t">
            <a:spAutoFit/>
          </a:bodyPr>
          <a:lstStyle/>
          <a:p>
            <a:pPr algn="l"/>
            <a:r>
              <a:rPr sz="1000" b="1">
                <a:solidFill>
                  <a:srgbClr val="FF6200"/>
                </a:solidFill>
                <a:latin typeface="Ember Modern Display Standard"/>
              </a:rPr>
              <a:t>HOW WE SEARCH</a:t>
            </a:r>
          </a:p>
        </p:txBody>
      </p:sp>
      <p:sp>
        <p:nvSpPr>
          <p:cNvPr id="277" name="Rounded Rectangle 276"/>
          <p:cNvSpPr/>
          <p:nvPr/>
        </p:nvSpPr>
        <p:spPr>
          <a:xfrm>
            <a:off x="502920" y="3913632"/>
            <a:ext cx="1965960" cy="402336"/>
          </a:xfrm>
          <a:prstGeom prst="roundRect">
            <a:avLst>
              <a:gd name="adj" fmla="val 50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0">
                <a:solidFill>
                  <a:srgbClr val="161D26"/>
                </a:solidFill>
                <a:latin typeface="Ember Modern Display Standard"/>
              </a:rPr>
              <a:t>Each country separately</a:t>
            </a:r>
          </a:p>
        </p:txBody>
      </p:sp>
      <p:sp>
        <p:nvSpPr>
          <p:cNvPr id="278" name="Rounded Rectangle 277"/>
          <p:cNvSpPr/>
          <p:nvPr/>
        </p:nvSpPr>
        <p:spPr>
          <a:xfrm>
            <a:off x="2560320" y="3913632"/>
            <a:ext cx="1965960" cy="402336"/>
          </a:xfrm>
          <a:prstGeom prst="roundRect">
            <a:avLst>
              <a:gd name="adj" fmla="val 50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0">
                <a:solidFill>
                  <a:srgbClr val="161D26"/>
                </a:solidFill>
                <a:latin typeface="Ember Modern Display Standard"/>
              </a:rPr>
              <a:t>Name + address words</a:t>
            </a:r>
          </a:p>
        </p:txBody>
      </p:sp>
      <p:sp>
        <p:nvSpPr>
          <p:cNvPr id="279" name="Rounded Rectangle 278"/>
          <p:cNvSpPr/>
          <p:nvPr/>
        </p:nvSpPr>
        <p:spPr>
          <a:xfrm>
            <a:off x="4617720" y="3913632"/>
            <a:ext cx="1965960" cy="402336"/>
          </a:xfrm>
          <a:prstGeom prst="roundRect">
            <a:avLst>
              <a:gd name="adj" fmla="val 50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0">
                <a:solidFill>
                  <a:srgbClr val="161D26"/>
                </a:solidFill>
                <a:latin typeface="Ember Modern Display Standard"/>
              </a:rPr>
              <a:t>Name only, if no address</a:t>
            </a:r>
          </a:p>
        </p:txBody>
      </p:sp>
      <p:sp>
        <p:nvSpPr>
          <p:cNvPr id="280" name="Rounded Rectangle 279"/>
          <p:cNvSpPr/>
          <p:nvPr/>
        </p:nvSpPr>
        <p:spPr>
          <a:xfrm>
            <a:off x="6675120" y="3913632"/>
            <a:ext cx="1965960" cy="402336"/>
          </a:xfrm>
          <a:prstGeom prst="roundRect">
            <a:avLst>
              <a:gd name="adj" fmla="val 50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0">
                <a:solidFill>
                  <a:srgbClr val="161D26"/>
                </a:solidFill>
                <a:latin typeface="Ember Modern Display Standard"/>
              </a:rPr>
              <a:t>Repair spellings first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fade">
                                      <p:cBhvr>
                                        <p:cTn id="6" dur="45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childTnLst>
                          </p:cTn>
                        </p:par>
                        <p:par>
                          <p:cTn id="17"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271"/>
                                        </p:tgtEl>
                                        <p:attrNameLst>
                                          <p:attrName>style.visibility</p:attrName>
                                        </p:attrNameLst>
                                      </p:cBhvr>
                                      <p:to>
                                        <p:strVal val="visible"/>
                                      </p:to>
                                    </p:set>
                                    <p:animEffect transition="in" filter="fade">
                                      <p:cBhvr>
                                        <p:cTn id="13" dur="450"/>
                                        <p:tgtEl>
                                          <p:spTgt spid="27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2"/>
                                        </p:tgtEl>
                                        <p:attrNameLst>
                                          <p:attrName>style.visibility</p:attrName>
                                        </p:attrNameLst>
                                      </p:cBhvr>
                                      <p:to>
                                        <p:strVal val="visible"/>
                                      </p:to>
                                    </p:set>
                                    <p:animEffect transition="in" filter="fade">
                                      <p:cBhvr>
                                        <p:cTn id="16" dur="450"/>
                                        <p:tgtEl>
                                          <p:spTgt spid="272"/>
                                        </p:tgtEl>
                                      </p:cBhvr>
                                    </p:animEffect>
                                  </p:childTnLst>
                                </p:cTn>
                              </p:par>
                            </p:childTnLst>
                          </p:cTn>
                        </p:par>
                        <p:par>
                          <p:cTn id="27" fill="hold">
                            <p:stCondLst>
                              <p:cond delay="900"/>
                            </p:stCondLst>
                            <p:childTnLst>
                              <p:par>
                                <p:cTn id="18" presetID="10" presetClass="entr" presetSubtype="0" fill="hold" grpId="0" nodeType="afterEffect">
                                  <p:stCondLst>
                                    <p:cond delay="0"/>
                                  </p:stCondLst>
                                  <p:childTnLst>
                                    <p:set>
                                      <p:cBhvr>
                                        <p:cTn id="19" dur="1" fill="hold">
                                          <p:stCondLst>
                                            <p:cond delay="0"/>
                                          </p:stCondLst>
                                        </p:cTn>
                                        <p:tgtEl>
                                          <p:spTgt spid="273"/>
                                        </p:tgtEl>
                                        <p:attrNameLst>
                                          <p:attrName>style.visibility</p:attrName>
                                        </p:attrNameLst>
                                      </p:cBhvr>
                                      <p:to>
                                        <p:strVal val="visible"/>
                                      </p:to>
                                    </p:set>
                                    <p:animEffect transition="in" filter="fade">
                                      <p:cBhvr>
                                        <p:cTn id="20" dur="450"/>
                                        <p:tgtEl>
                                          <p:spTgt spid="27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4"/>
                                        </p:tgtEl>
                                        <p:attrNameLst>
                                          <p:attrName>style.visibility</p:attrName>
                                        </p:attrNameLst>
                                      </p:cBhvr>
                                      <p:to>
                                        <p:strVal val="visible"/>
                                      </p:to>
                                    </p:set>
                                    <p:animEffect transition="in" filter="fade">
                                      <p:cBhvr>
                                        <p:cTn id="23" dur="450"/>
                                        <p:tgtEl>
                                          <p:spTgt spid="27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5"/>
                                        </p:tgtEl>
                                        <p:attrNameLst>
                                          <p:attrName>style.visibility</p:attrName>
                                        </p:attrNameLst>
                                      </p:cBhvr>
                                      <p:to>
                                        <p:strVal val="visible"/>
                                      </p:to>
                                    </p:set>
                                    <p:animEffect transition="in" filter="fade">
                                      <p:cBhvr>
                                        <p:cTn id="26" dur="450"/>
                                        <p:tgtEl>
                                          <p:spTgt spid="275"/>
                                        </p:tgtEl>
                                      </p:cBhvr>
                                    </p:animEffect>
                                  </p:childTnLst>
                                </p:cTn>
                              </p:par>
                            </p:childTnLst>
                          </p:cTn>
                        </p:par>
                        <p:par>
                          <p:cTn id="43" fill="hold">
                            <p:stCondLst>
                              <p:cond delay="1350"/>
                            </p:stCondLst>
                            <p:childTnLst>
                              <p:par>
                                <p:cTn id="28" presetID="10" presetClass="entr" presetSubtype="0" fill="hold" grpId="0" nodeType="afterEffect">
                                  <p:stCondLst>
                                    <p:cond delay="0"/>
                                  </p:stCondLst>
                                  <p:childTnLst>
                                    <p:set>
                                      <p:cBhvr>
                                        <p:cTn id="29" dur="1" fill="hold">
                                          <p:stCondLst>
                                            <p:cond delay="0"/>
                                          </p:stCondLst>
                                        </p:cTn>
                                        <p:tgtEl>
                                          <p:spTgt spid="276"/>
                                        </p:tgtEl>
                                        <p:attrNameLst>
                                          <p:attrName>style.visibility</p:attrName>
                                        </p:attrNameLst>
                                      </p:cBhvr>
                                      <p:to>
                                        <p:strVal val="visible"/>
                                      </p:to>
                                    </p:set>
                                    <p:animEffect transition="in" filter="fade">
                                      <p:cBhvr>
                                        <p:cTn id="30" dur="450"/>
                                        <p:tgtEl>
                                          <p:spTgt spid="27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77"/>
                                        </p:tgtEl>
                                        <p:attrNameLst>
                                          <p:attrName>style.visibility</p:attrName>
                                        </p:attrNameLst>
                                      </p:cBhvr>
                                      <p:to>
                                        <p:strVal val="visible"/>
                                      </p:to>
                                    </p:set>
                                    <p:animEffect transition="in" filter="fade">
                                      <p:cBhvr>
                                        <p:cTn id="33" dur="450"/>
                                        <p:tgtEl>
                                          <p:spTgt spid="27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78"/>
                                        </p:tgtEl>
                                        <p:attrNameLst>
                                          <p:attrName>style.visibility</p:attrName>
                                        </p:attrNameLst>
                                      </p:cBhvr>
                                      <p:to>
                                        <p:strVal val="visible"/>
                                      </p:to>
                                    </p:set>
                                    <p:animEffect transition="in" filter="fade">
                                      <p:cBhvr>
                                        <p:cTn id="36" dur="450"/>
                                        <p:tgtEl>
                                          <p:spTgt spid="27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79"/>
                                        </p:tgtEl>
                                        <p:attrNameLst>
                                          <p:attrName>style.visibility</p:attrName>
                                        </p:attrNameLst>
                                      </p:cBhvr>
                                      <p:to>
                                        <p:strVal val="visible"/>
                                      </p:to>
                                    </p:set>
                                    <p:animEffect transition="in" filter="fade">
                                      <p:cBhvr>
                                        <p:cTn id="39" dur="450"/>
                                        <p:tgtEl>
                                          <p:spTgt spid="27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0"/>
                                        </p:tgtEl>
                                        <p:attrNameLst>
                                          <p:attrName>style.visibility</p:attrName>
                                        </p:attrNameLst>
                                      </p:cBhvr>
                                      <p:to>
                                        <p:strVal val="visible"/>
                                      </p:to>
                                    </p:set>
                                    <p:animEffect transition="in" filter="fade">
                                      <p:cBhvr>
                                        <p:cTn id="42" dur="450"/>
                                        <p:tgtEl>
                                          <p:spTgt spid="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0" animBg="1"/>
      <p:bldP spid="270" grpId="0" animBg="1"/>
      <p:bldP spid="271" grpId="0" animBg="1"/>
      <p:bldP spid="272" grpId="0" animBg="1"/>
      <p:bldP spid="273" grpId="0" animBg="1"/>
      <p:bldP spid="274" grpId="0" animBg="1"/>
      <p:bldP spid="275" grpId="0" animBg="1"/>
      <p:bldP spid="276" grpId="0" animBg="1"/>
      <p:bldP spid="277" grpId="0" animBg="1"/>
      <p:bldP spid="278" grpId="0" animBg="1"/>
      <p:bldP spid="279" grpId="0" animBg="1"/>
      <p:bldP spid="28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Our</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Architecture</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Seven steps, from raw records to final matches.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0">
                <a:solidFill>
                  <a:srgbClr val="B8C0CC"/>
                </a:solidFill>
                <a:latin typeface="Ember Modern Display Standard"/>
              </a:rPr>
              <a:t>01 Understanding</a:t>
            </a:r>
            <a:r>
              <a:rPr sz="850" b="0">
                <a:solidFill>
                  <a:srgbClr val="161D26"/>
                </a:solidFill>
                <a:latin typeface="Ember Modern Display Standard"/>
              </a:rPr>
              <a:t>    </a:t>
            </a:r>
            <a:r>
              <a:rPr sz="850" b="1">
                <a:solidFill>
                  <a:srgbClr val="FF6200"/>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Think Big</a:t>
            </a:r>
          </a:p>
        </p:txBody>
      </p:sp>
      <p:sp>
        <p:nvSpPr>
          <p:cNvPr id="269" name="Rounded Rectangle 268"/>
          <p:cNvSpPr/>
          <p:nvPr/>
        </p:nvSpPr>
        <p:spPr>
          <a:xfrm>
            <a:off x="502920" y="1508760"/>
            <a:ext cx="1024128" cy="822960"/>
          </a:xfrm>
          <a:prstGeom prst="roundRect">
            <a:avLst>
              <a:gd name="adj" fmla="val 8888"/>
            </a:avLst>
          </a:prstGeom>
          <a:solidFill>
            <a:srgbClr val="D6D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61D26"/>
                </a:solidFill>
                <a:latin typeface="Ember Modern Display Standard"/>
              </a:rPr>
              <a:t>Clean</a:t>
            </a:r>
          </a:p>
        </p:txBody>
      </p:sp>
      <p:sp>
        <p:nvSpPr>
          <p:cNvPr id="270" name="TextBox 269"/>
          <p:cNvSpPr txBox="1"/>
          <p:nvPr/>
        </p:nvSpPr>
        <p:spPr>
          <a:xfrm>
            <a:off x="466344" y="2487168"/>
            <a:ext cx="1097280" cy="1188720"/>
          </a:xfrm>
          <a:prstGeom prst="rect">
            <a:avLst/>
          </a:prstGeom>
          <a:noFill/>
        </p:spPr>
        <p:txBody>
          <a:bodyPr wrap="square" lIns="0" rIns="0" tIns="0" bIns="0" anchor="t">
            <a:spAutoFit/>
          </a:bodyPr>
          <a:lstStyle/>
          <a:p>
            <a:pPr algn="ctr"/>
            <a:r>
              <a:rPr sz="1200" b="0">
                <a:solidFill>
                  <a:srgbClr val="161D26"/>
                </a:solidFill>
                <a:latin typeface="Ember Modern Display Standard"/>
              </a:rPr>
              <a:t>fix spellings, OCR digits and web names</a:t>
            </a:r>
          </a:p>
        </p:txBody>
      </p:sp>
      <p:sp>
        <p:nvSpPr>
          <p:cNvPr id="271" name="Chevron 270"/>
          <p:cNvSpPr/>
          <p:nvPr/>
        </p:nvSpPr>
        <p:spPr>
          <a:xfrm>
            <a:off x="1540764" y="1856231"/>
            <a:ext cx="128016" cy="128016"/>
          </a:xfrm>
          <a:prstGeom prst="chevron">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ounded Rectangle 271"/>
          <p:cNvSpPr/>
          <p:nvPr/>
        </p:nvSpPr>
        <p:spPr>
          <a:xfrm>
            <a:off x="1682496" y="1508760"/>
            <a:ext cx="1024128" cy="822960"/>
          </a:xfrm>
          <a:prstGeom prst="roundRect">
            <a:avLst>
              <a:gd name="adj" fmla="val 8888"/>
            </a:avLst>
          </a:prstGeom>
          <a:solidFill>
            <a:srgbClr val="D6D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161D26"/>
                </a:solidFill>
                <a:latin typeface="Ember Modern Display Standard"/>
              </a:rPr>
              <a:t>Retrieve</a:t>
            </a:r>
          </a:p>
        </p:txBody>
      </p:sp>
      <p:sp>
        <p:nvSpPr>
          <p:cNvPr id="273" name="TextBox 272"/>
          <p:cNvSpPr txBox="1"/>
          <p:nvPr/>
        </p:nvSpPr>
        <p:spPr>
          <a:xfrm>
            <a:off x="1645920" y="2487168"/>
            <a:ext cx="1097280" cy="1188720"/>
          </a:xfrm>
          <a:prstGeom prst="rect">
            <a:avLst/>
          </a:prstGeom>
          <a:noFill/>
        </p:spPr>
        <p:txBody>
          <a:bodyPr wrap="square" lIns="0" rIns="0" tIns="0" bIns="0" anchor="t">
            <a:spAutoFit/>
          </a:bodyPr>
          <a:lstStyle/>
          <a:p>
            <a:pPr algn="ctr"/>
            <a:r>
              <a:rPr sz="1200" b="0">
                <a:solidFill>
                  <a:srgbClr val="161D26"/>
                </a:solidFill>
                <a:latin typeface="Ember Modern Display Standard"/>
              </a:rPr>
              <a:t>search name and address words, per country</a:t>
            </a:r>
          </a:p>
        </p:txBody>
      </p:sp>
      <p:sp>
        <p:nvSpPr>
          <p:cNvPr id="274" name="Chevron 273"/>
          <p:cNvSpPr/>
          <p:nvPr/>
        </p:nvSpPr>
        <p:spPr>
          <a:xfrm>
            <a:off x="2720340" y="1856231"/>
            <a:ext cx="128016" cy="128016"/>
          </a:xfrm>
          <a:prstGeom prst="chevron">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ounded Rectangle 274"/>
          <p:cNvSpPr/>
          <p:nvPr/>
        </p:nvSpPr>
        <p:spPr>
          <a:xfrm>
            <a:off x="2862072" y="1508760"/>
            <a:ext cx="1024128" cy="822960"/>
          </a:xfrm>
          <a:prstGeom prst="roundRect">
            <a:avLst>
              <a:gd name="adj" fmla="val 8888"/>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FFFFFF"/>
                </a:solidFill>
                <a:latin typeface="Ember Modern Display Standard"/>
              </a:rPr>
              <a:t>Score</a:t>
            </a:r>
          </a:p>
        </p:txBody>
      </p:sp>
      <p:sp>
        <p:nvSpPr>
          <p:cNvPr id="276" name="TextBox 275"/>
          <p:cNvSpPr txBox="1"/>
          <p:nvPr/>
        </p:nvSpPr>
        <p:spPr>
          <a:xfrm>
            <a:off x="2825496" y="2487168"/>
            <a:ext cx="1097280" cy="1188720"/>
          </a:xfrm>
          <a:prstGeom prst="rect">
            <a:avLst/>
          </a:prstGeom>
          <a:noFill/>
        </p:spPr>
        <p:txBody>
          <a:bodyPr wrap="square" lIns="0" rIns="0" tIns="0" bIns="0" anchor="t">
            <a:spAutoFit/>
          </a:bodyPr>
          <a:lstStyle/>
          <a:p>
            <a:pPr algn="ctr"/>
            <a:r>
              <a:rPr sz="1200" b="0">
                <a:solidFill>
                  <a:srgbClr val="161D26"/>
                </a:solidFill>
                <a:latin typeface="Ember Modern Display Standard"/>
              </a:rPr>
              <a:t>XGBoost on name, address, number and rival features</a:t>
            </a:r>
          </a:p>
        </p:txBody>
      </p:sp>
      <p:sp>
        <p:nvSpPr>
          <p:cNvPr id="277" name="Chevron 276"/>
          <p:cNvSpPr/>
          <p:nvPr/>
        </p:nvSpPr>
        <p:spPr>
          <a:xfrm>
            <a:off x="3899915" y="1856231"/>
            <a:ext cx="128016" cy="128016"/>
          </a:xfrm>
          <a:prstGeom prst="chevron">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ounded Rectangle 277"/>
          <p:cNvSpPr/>
          <p:nvPr/>
        </p:nvSpPr>
        <p:spPr>
          <a:xfrm>
            <a:off x="4041648" y="1508760"/>
            <a:ext cx="1024128" cy="822960"/>
          </a:xfrm>
          <a:prstGeom prst="roundRect">
            <a:avLst>
              <a:gd name="adj" fmla="val 8888"/>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FFFFFF"/>
                </a:solidFill>
                <a:latin typeface="Ember Modern Display Standard"/>
              </a:rPr>
              <a:t>Re-read</a:t>
            </a:r>
          </a:p>
        </p:txBody>
      </p:sp>
      <p:sp>
        <p:nvSpPr>
          <p:cNvPr id="279" name="TextBox 278"/>
          <p:cNvSpPr txBox="1"/>
          <p:nvPr/>
        </p:nvSpPr>
        <p:spPr>
          <a:xfrm>
            <a:off x="4005072" y="2487168"/>
            <a:ext cx="1097280" cy="1188720"/>
          </a:xfrm>
          <a:prstGeom prst="rect">
            <a:avLst/>
          </a:prstGeom>
          <a:noFill/>
        </p:spPr>
        <p:txBody>
          <a:bodyPr wrap="square" lIns="0" rIns="0" tIns="0" bIns="0" anchor="t">
            <a:spAutoFit/>
          </a:bodyPr>
          <a:lstStyle/>
          <a:p>
            <a:pPr algn="ctr"/>
            <a:r>
              <a:rPr sz="1200" b="0">
                <a:solidFill>
                  <a:srgbClr val="161D26"/>
                </a:solidFill>
                <a:latin typeface="Ember Modern Display Standard"/>
              </a:rPr>
              <a:t>transformers read the unsure 2.6%</a:t>
            </a:r>
          </a:p>
        </p:txBody>
      </p:sp>
      <p:sp>
        <p:nvSpPr>
          <p:cNvPr id="280" name="Chevron 279"/>
          <p:cNvSpPr/>
          <p:nvPr/>
        </p:nvSpPr>
        <p:spPr>
          <a:xfrm>
            <a:off x="5079492" y="1856231"/>
            <a:ext cx="128016" cy="128016"/>
          </a:xfrm>
          <a:prstGeom prst="chevron">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ounded Rectangle 280"/>
          <p:cNvSpPr/>
          <p:nvPr/>
        </p:nvSpPr>
        <p:spPr>
          <a:xfrm>
            <a:off x="5221224" y="1508760"/>
            <a:ext cx="1024128" cy="822960"/>
          </a:xfrm>
          <a:prstGeom prst="roundRect">
            <a:avLst>
              <a:gd name="adj" fmla="val 8888"/>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FFFFFF"/>
                </a:solidFill>
                <a:latin typeface="Ember Modern Display Standard"/>
              </a:rPr>
              <a:t>Rescore</a:t>
            </a:r>
          </a:p>
        </p:txBody>
      </p:sp>
      <p:sp>
        <p:nvSpPr>
          <p:cNvPr id="282" name="TextBox 281"/>
          <p:cNvSpPr txBox="1"/>
          <p:nvPr/>
        </p:nvSpPr>
        <p:spPr>
          <a:xfrm>
            <a:off x="5184648" y="2487168"/>
            <a:ext cx="1097280" cy="1188720"/>
          </a:xfrm>
          <a:prstGeom prst="rect">
            <a:avLst/>
          </a:prstGeom>
          <a:noFill/>
        </p:spPr>
        <p:txBody>
          <a:bodyPr wrap="square" lIns="0" rIns="0" tIns="0" bIns="0" anchor="t">
            <a:spAutoFit/>
          </a:bodyPr>
          <a:lstStyle/>
          <a:p>
            <a:pPr algn="ctr"/>
            <a:r>
              <a:rPr sz="1200" b="0">
                <a:solidFill>
                  <a:srgbClr val="161D26"/>
                </a:solidFill>
                <a:latin typeface="Ember Modern Display Standard"/>
              </a:rPr>
              <a:t>XGBoost adds their votes; calibrated</a:t>
            </a:r>
          </a:p>
        </p:txBody>
      </p:sp>
      <p:sp>
        <p:nvSpPr>
          <p:cNvPr id="283" name="Chevron 282"/>
          <p:cNvSpPr/>
          <p:nvPr/>
        </p:nvSpPr>
        <p:spPr>
          <a:xfrm>
            <a:off x="6259068" y="1856231"/>
            <a:ext cx="128016" cy="128016"/>
          </a:xfrm>
          <a:prstGeom prst="chevron">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ounded Rectangle 283"/>
          <p:cNvSpPr/>
          <p:nvPr/>
        </p:nvSpPr>
        <p:spPr>
          <a:xfrm>
            <a:off x="6400800" y="1508760"/>
            <a:ext cx="1024128" cy="822960"/>
          </a:xfrm>
          <a:prstGeom prst="roundRect">
            <a:avLst>
              <a:gd name="adj" fmla="val 8888"/>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FFFFFF"/>
                </a:solidFill>
                <a:latin typeface="Ember Modern Display Standard"/>
              </a:rPr>
              <a:t>Decide</a:t>
            </a:r>
          </a:p>
        </p:txBody>
      </p:sp>
      <p:sp>
        <p:nvSpPr>
          <p:cNvPr id="285" name="TextBox 284"/>
          <p:cNvSpPr txBox="1"/>
          <p:nvPr/>
        </p:nvSpPr>
        <p:spPr>
          <a:xfrm>
            <a:off x="6364224" y="2487168"/>
            <a:ext cx="1097280" cy="1188720"/>
          </a:xfrm>
          <a:prstGeom prst="rect">
            <a:avLst/>
          </a:prstGeom>
          <a:noFill/>
        </p:spPr>
        <p:txBody>
          <a:bodyPr wrap="square" lIns="0" rIns="0" tIns="0" bIns="0" anchor="t">
            <a:spAutoFit/>
          </a:bodyPr>
          <a:lstStyle/>
          <a:p>
            <a:pPr algn="ctr"/>
            <a:r>
              <a:rPr sz="1200" b="0">
                <a:solidFill>
                  <a:srgbClr val="161D26"/>
                </a:solidFill>
                <a:latin typeface="Ember Modern Display Standard"/>
              </a:rPr>
              <a:t>best set per entity; one owner per record</a:t>
            </a:r>
          </a:p>
        </p:txBody>
      </p:sp>
      <p:sp>
        <p:nvSpPr>
          <p:cNvPr id="286" name="Chevron 285"/>
          <p:cNvSpPr/>
          <p:nvPr/>
        </p:nvSpPr>
        <p:spPr>
          <a:xfrm>
            <a:off x="7438644" y="1856231"/>
            <a:ext cx="128016" cy="128016"/>
          </a:xfrm>
          <a:prstGeom prst="chevron">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ounded Rectangle 286"/>
          <p:cNvSpPr/>
          <p:nvPr/>
        </p:nvSpPr>
        <p:spPr>
          <a:xfrm>
            <a:off x="7580376" y="1508760"/>
            <a:ext cx="1024128" cy="822960"/>
          </a:xfrm>
          <a:prstGeom prst="roundRect">
            <a:avLst>
              <a:gd name="adj" fmla="val 8888"/>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FFFFFF"/>
                </a:solidFill>
                <a:latin typeface="Ember Modern Display Standard"/>
              </a:rPr>
              <a:t>Check</a:t>
            </a:r>
          </a:p>
        </p:txBody>
      </p:sp>
      <p:sp>
        <p:nvSpPr>
          <p:cNvPr id="288" name="TextBox 287"/>
          <p:cNvSpPr txBox="1"/>
          <p:nvPr/>
        </p:nvSpPr>
        <p:spPr>
          <a:xfrm>
            <a:off x="7543800" y="2487168"/>
            <a:ext cx="1097280" cy="1188720"/>
          </a:xfrm>
          <a:prstGeom prst="rect">
            <a:avLst/>
          </a:prstGeom>
          <a:noFill/>
        </p:spPr>
        <p:txBody>
          <a:bodyPr wrap="square" lIns="0" rIns="0" tIns="0" bIns="0" anchor="t">
            <a:spAutoFit/>
          </a:bodyPr>
          <a:lstStyle/>
          <a:p>
            <a:pPr algn="ctr"/>
            <a:r>
              <a:rPr sz="1200" b="0">
                <a:solidFill>
                  <a:srgbClr val="161D26"/>
                </a:solidFill>
                <a:latin typeface="Ember Modern Display Standard"/>
              </a:rPr>
              <a:t>rules for known decoys; a 7B model re-checks</a:t>
            </a:r>
          </a:p>
        </p:txBody>
      </p:sp>
      <p:sp>
        <p:nvSpPr>
          <p:cNvPr id="289" name="Rounded Rectangle 288"/>
          <p:cNvSpPr/>
          <p:nvPr/>
        </p:nvSpPr>
        <p:spPr>
          <a:xfrm>
            <a:off x="502920" y="4005072"/>
            <a:ext cx="201168" cy="201168"/>
          </a:xfrm>
          <a:prstGeom prst="roundRect">
            <a:avLst>
              <a:gd name="adj" fmla="val 18181"/>
            </a:avLst>
          </a:prstGeom>
          <a:solidFill>
            <a:srgbClr val="D6D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795528" y="3968496"/>
            <a:ext cx="1005840" cy="274320"/>
          </a:xfrm>
          <a:prstGeom prst="rect">
            <a:avLst/>
          </a:prstGeom>
          <a:noFill/>
        </p:spPr>
        <p:txBody>
          <a:bodyPr wrap="square" lIns="0" rIns="0" tIns="0" bIns="0" anchor="t">
            <a:spAutoFit/>
          </a:bodyPr>
          <a:lstStyle/>
          <a:p>
            <a:pPr algn="l"/>
            <a:r>
              <a:rPr sz="1200" b="0">
                <a:solidFill>
                  <a:srgbClr val="6B7280"/>
                </a:solidFill>
                <a:latin typeface="Ember Modern Display Standard"/>
              </a:rPr>
              <a:t>data</a:t>
            </a:r>
          </a:p>
        </p:txBody>
      </p:sp>
      <p:sp>
        <p:nvSpPr>
          <p:cNvPr id="291" name="Rounded Rectangle 290"/>
          <p:cNvSpPr/>
          <p:nvPr/>
        </p:nvSpPr>
        <p:spPr>
          <a:xfrm>
            <a:off x="1874519" y="4005072"/>
            <a:ext cx="201168" cy="201168"/>
          </a:xfrm>
          <a:prstGeom prst="roundRect">
            <a:avLst>
              <a:gd name="adj" fmla="val 18181"/>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2167127" y="3968496"/>
            <a:ext cx="1005840" cy="274320"/>
          </a:xfrm>
          <a:prstGeom prst="rect">
            <a:avLst/>
          </a:prstGeom>
          <a:noFill/>
        </p:spPr>
        <p:txBody>
          <a:bodyPr wrap="square" lIns="0" rIns="0" tIns="0" bIns="0" anchor="t">
            <a:spAutoFit/>
          </a:bodyPr>
          <a:lstStyle/>
          <a:p>
            <a:pPr algn="l"/>
            <a:r>
              <a:rPr sz="1200" b="0">
                <a:solidFill>
                  <a:srgbClr val="6B7280"/>
                </a:solidFill>
                <a:latin typeface="Ember Modern Display Standard"/>
              </a:rPr>
              <a:t>models</a:t>
            </a:r>
          </a:p>
        </p:txBody>
      </p:sp>
      <p:sp>
        <p:nvSpPr>
          <p:cNvPr id="293" name="Rounded Rectangle 292"/>
          <p:cNvSpPr/>
          <p:nvPr/>
        </p:nvSpPr>
        <p:spPr>
          <a:xfrm>
            <a:off x="3246120" y="4005072"/>
            <a:ext cx="201168" cy="201168"/>
          </a:xfrm>
          <a:prstGeom prst="roundRect">
            <a:avLst>
              <a:gd name="adj" fmla="val 18181"/>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3538727" y="3968496"/>
            <a:ext cx="1005840" cy="274320"/>
          </a:xfrm>
          <a:prstGeom prst="rect">
            <a:avLst/>
          </a:prstGeom>
          <a:noFill/>
        </p:spPr>
        <p:txBody>
          <a:bodyPr wrap="square" lIns="0" rIns="0" tIns="0" bIns="0" anchor="t">
            <a:spAutoFit/>
          </a:bodyPr>
          <a:lstStyle/>
          <a:p>
            <a:pPr algn="l"/>
            <a:r>
              <a:rPr sz="1200" b="0">
                <a:solidFill>
                  <a:srgbClr val="6B7280"/>
                </a:solidFill>
                <a:latin typeface="Ember Modern Display Standard"/>
              </a:rPr>
              <a:t>decisions</a:t>
            </a:r>
          </a:p>
        </p:txBody>
      </p:sp>
      <p:sp>
        <p:nvSpPr>
          <p:cNvPr id="295" name="TextBox 294"/>
          <p:cNvSpPr txBox="1"/>
          <p:nvPr/>
        </p:nvSpPr>
        <p:spPr>
          <a:xfrm>
            <a:off x="4572000" y="3931920"/>
            <a:ext cx="4069080" cy="365760"/>
          </a:xfrm>
          <a:prstGeom prst="rect">
            <a:avLst/>
          </a:prstGeom>
          <a:noFill/>
        </p:spPr>
        <p:txBody>
          <a:bodyPr wrap="square" lIns="0" rIns="0" tIns="0" bIns="0" anchor="t">
            <a:spAutoFit/>
          </a:bodyPr>
          <a:lstStyle/>
          <a:p>
            <a:pPr algn="r"/>
            <a:r>
              <a:rPr sz="1200" b="0">
                <a:solidFill>
                  <a:srgbClr val="161D26"/>
                </a:solidFill>
                <a:latin typeface="Ember Modern Display Standard"/>
              </a:rPr>
              <a:t>Cheap steps read everything; </a:t>
            </a:r>
            <a:r>
              <a:rPr sz="1200" b="1">
                <a:solidFill>
                  <a:srgbClr val="161D26"/>
                </a:solidFill>
                <a:latin typeface="Ember Modern Display Standard"/>
              </a:rPr>
              <a:t>expensive ones only what they must.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22" presetClass="entr" presetSubtype="8"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wipe(left)">
                                      <p:cBhvr>
                                        <p:cTn id="6" dur="50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271"/>
                                        </p:tgtEl>
                                        <p:attrNameLst>
                                          <p:attrName>style.visibility</p:attrName>
                                        </p:attrNameLst>
                                      </p:cBhvr>
                                      <p:to>
                                        <p:strVal val="visible"/>
                                      </p:to>
                                    </p:set>
                                    <p:animEffect transition="in" filter="fade">
                                      <p:cBhvr>
                                        <p:cTn id="12" dur="450"/>
                                        <p:tgtEl>
                                          <p:spTgt spid="271"/>
                                        </p:tgtEl>
                                      </p:cBhvr>
                                    </p:animEffect>
                                  </p:childTnLst>
                                </p:cTn>
                              </p:par>
                            </p:childTnLst>
                          </p:cTn>
                        </p:par>
                        <p:par>
                          <p:cTn id="2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72"/>
                                        </p:tgtEl>
                                        <p:attrNameLst>
                                          <p:attrName>style.visibility</p:attrName>
                                        </p:attrNameLst>
                                      </p:cBhvr>
                                      <p:to>
                                        <p:strVal val="visible"/>
                                      </p:to>
                                    </p:set>
                                    <p:animEffect transition="in" filter="wipe(left)">
                                      <p:cBhvr>
                                        <p:cTn id="16" dur="500"/>
                                        <p:tgtEl>
                                          <p:spTgt spid="27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3"/>
                                        </p:tgtEl>
                                        <p:attrNameLst>
                                          <p:attrName>style.visibility</p:attrName>
                                        </p:attrNameLst>
                                      </p:cBhvr>
                                      <p:to>
                                        <p:strVal val="visible"/>
                                      </p:to>
                                    </p:set>
                                    <p:animEffect transition="in" filter="fade">
                                      <p:cBhvr>
                                        <p:cTn id="19" dur="450"/>
                                        <p:tgtEl>
                                          <p:spTgt spid="27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4"/>
                                        </p:tgtEl>
                                        <p:attrNameLst>
                                          <p:attrName>style.visibility</p:attrName>
                                        </p:attrNameLst>
                                      </p:cBhvr>
                                      <p:to>
                                        <p:strVal val="visible"/>
                                      </p:to>
                                    </p:set>
                                    <p:animEffect transition="in" filter="fade">
                                      <p:cBhvr>
                                        <p:cTn id="22" dur="450"/>
                                        <p:tgtEl>
                                          <p:spTgt spid="274"/>
                                        </p:tgtEl>
                                      </p:cBhvr>
                                    </p:animEffect>
                                  </p:childTnLst>
                                </p:cTn>
                              </p:par>
                            </p:childTnLst>
                          </p:cTn>
                        </p:par>
                        <p:par>
                          <p:cTn id="3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275"/>
                                        </p:tgtEl>
                                        <p:attrNameLst>
                                          <p:attrName>style.visibility</p:attrName>
                                        </p:attrNameLst>
                                      </p:cBhvr>
                                      <p:to>
                                        <p:strVal val="visible"/>
                                      </p:to>
                                    </p:set>
                                    <p:animEffect transition="in" filter="wipe(left)">
                                      <p:cBhvr>
                                        <p:cTn id="26" dur="500"/>
                                        <p:tgtEl>
                                          <p:spTgt spid="27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6"/>
                                        </p:tgtEl>
                                        <p:attrNameLst>
                                          <p:attrName>style.visibility</p:attrName>
                                        </p:attrNameLst>
                                      </p:cBhvr>
                                      <p:to>
                                        <p:strVal val="visible"/>
                                      </p:to>
                                    </p:set>
                                    <p:animEffect transition="in" filter="fade">
                                      <p:cBhvr>
                                        <p:cTn id="29" dur="450"/>
                                        <p:tgtEl>
                                          <p:spTgt spid="27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7"/>
                                        </p:tgtEl>
                                        <p:attrNameLst>
                                          <p:attrName>style.visibility</p:attrName>
                                        </p:attrNameLst>
                                      </p:cBhvr>
                                      <p:to>
                                        <p:strVal val="visible"/>
                                      </p:to>
                                    </p:set>
                                    <p:animEffect transition="in" filter="fade">
                                      <p:cBhvr>
                                        <p:cTn id="32" dur="450"/>
                                        <p:tgtEl>
                                          <p:spTgt spid="277"/>
                                        </p:tgtEl>
                                      </p:cBhvr>
                                    </p:animEffect>
                                  </p:childTnLst>
                                </p:cTn>
                              </p:par>
                            </p:childTnLst>
                          </p:cTn>
                        </p:par>
                        <p:par>
                          <p:cTn id="4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278"/>
                                        </p:tgtEl>
                                        <p:attrNameLst>
                                          <p:attrName>style.visibility</p:attrName>
                                        </p:attrNameLst>
                                      </p:cBhvr>
                                      <p:to>
                                        <p:strVal val="visible"/>
                                      </p:to>
                                    </p:set>
                                    <p:animEffect transition="in" filter="wipe(left)">
                                      <p:cBhvr>
                                        <p:cTn id="36" dur="500"/>
                                        <p:tgtEl>
                                          <p:spTgt spid="27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79"/>
                                        </p:tgtEl>
                                        <p:attrNameLst>
                                          <p:attrName>style.visibility</p:attrName>
                                        </p:attrNameLst>
                                      </p:cBhvr>
                                      <p:to>
                                        <p:strVal val="visible"/>
                                      </p:to>
                                    </p:set>
                                    <p:animEffect transition="in" filter="fade">
                                      <p:cBhvr>
                                        <p:cTn id="39" dur="450"/>
                                        <p:tgtEl>
                                          <p:spTgt spid="27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0"/>
                                        </p:tgtEl>
                                        <p:attrNameLst>
                                          <p:attrName>style.visibility</p:attrName>
                                        </p:attrNameLst>
                                      </p:cBhvr>
                                      <p:to>
                                        <p:strVal val="visible"/>
                                      </p:to>
                                    </p:set>
                                    <p:animEffect transition="in" filter="fade">
                                      <p:cBhvr>
                                        <p:cTn id="42" dur="450"/>
                                        <p:tgtEl>
                                          <p:spTgt spid="280"/>
                                        </p:tgtEl>
                                      </p:cBhvr>
                                    </p:animEffect>
                                  </p:childTnLst>
                                </p:cTn>
                              </p:par>
                            </p:childTnLst>
                          </p:cTn>
                        </p:par>
                        <p:par>
                          <p:cTn id="53" fill="hold">
                            <p:stCondLst>
                              <p:cond delay="2000"/>
                            </p:stCondLst>
                            <p:childTnLst>
                              <p:par>
                                <p:cTn id="44" presetID="22" presetClass="entr" presetSubtype="8" fill="hold" grpId="0" nodeType="afterEffect">
                                  <p:stCondLst>
                                    <p:cond delay="0"/>
                                  </p:stCondLst>
                                  <p:childTnLst>
                                    <p:set>
                                      <p:cBhvr>
                                        <p:cTn id="45" dur="1" fill="hold">
                                          <p:stCondLst>
                                            <p:cond delay="0"/>
                                          </p:stCondLst>
                                        </p:cTn>
                                        <p:tgtEl>
                                          <p:spTgt spid="281"/>
                                        </p:tgtEl>
                                        <p:attrNameLst>
                                          <p:attrName>style.visibility</p:attrName>
                                        </p:attrNameLst>
                                      </p:cBhvr>
                                      <p:to>
                                        <p:strVal val="visible"/>
                                      </p:to>
                                    </p:set>
                                    <p:animEffect transition="in" filter="wipe(left)">
                                      <p:cBhvr>
                                        <p:cTn id="46" dur="500"/>
                                        <p:tgtEl>
                                          <p:spTgt spid="28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82"/>
                                        </p:tgtEl>
                                        <p:attrNameLst>
                                          <p:attrName>style.visibility</p:attrName>
                                        </p:attrNameLst>
                                      </p:cBhvr>
                                      <p:to>
                                        <p:strVal val="visible"/>
                                      </p:to>
                                    </p:set>
                                    <p:animEffect transition="in" filter="fade">
                                      <p:cBhvr>
                                        <p:cTn id="49" dur="450"/>
                                        <p:tgtEl>
                                          <p:spTgt spid="28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83"/>
                                        </p:tgtEl>
                                        <p:attrNameLst>
                                          <p:attrName>style.visibility</p:attrName>
                                        </p:attrNameLst>
                                      </p:cBhvr>
                                      <p:to>
                                        <p:strVal val="visible"/>
                                      </p:to>
                                    </p:set>
                                    <p:animEffect transition="in" filter="fade">
                                      <p:cBhvr>
                                        <p:cTn id="52" dur="450"/>
                                        <p:tgtEl>
                                          <p:spTgt spid="283"/>
                                        </p:tgtEl>
                                      </p:cBhvr>
                                    </p:animEffect>
                                  </p:childTnLst>
                                </p:cTn>
                              </p:par>
                            </p:childTnLst>
                          </p:cTn>
                        </p:par>
                        <p:par>
                          <p:cTn id="63" fill="hold">
                            <p:stCondLst>
                              <p:cond delay="2500"/>
                            </p:stCondLst>
                            <p:childTnLst>
                              <p:par>
                                <p:cTn id="54" presetID="22" presetClass="entr" presetSubtype="8" fill="hold" grpId="0" nodeType="afterEffect">
                                  <p:stCondLst>
                                    <p:cond delay="0"/>
                                  </p:stCondLst>
                                  <p:childTnLst>
                                    <p:set>
                                      <p:cBhvr>
                                        <p:cTn id="55" dur="1" fill="hold">
                                          <p:stCondLst>
                                            <p:cond delay="0"/>
                                          </p:stCondLst>
                                        </p:cTn>
                                        <p:tgtEl>
                                          <p:spTgt spid="284"/>
                                        </p:tgtEl>
                                        <p:attrNameLst>
                                          <p:attrName>style.visibility</p:attrName>
                                        </p:attrNameLst>
                                      </p:cBhvr>
                                      <p:to>
                                        <p:strVal val="visible"/>
                                      </p:to>
                                    </p:set>
                                    <p:animEffect transition="in" filter="wipe(left)">
                                      <p:cBhvr>
                                        <p:cTn id="56" dur="500"/>
                                        <p:tgtEl>
                                          <p:spTgt spid="28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85"/>
                                        </p:tgtEl>
                                        <p:attrNameLst>
                                          <p:attrName>style.visibility</p:attrName>
                                        </p:attrNameLst>
                                      </p:cBhvr>
                                      <p:to>
                                        <p:strVal val="visible"/>
                                      </p:to>
                                    </p:set>
                                    <p:animEffect transition="in" filter="fade">
                                      <p:cBhvr>
                                        <p:cTn id="59" dur="450"/>
                                        <p:tgtEl>
                                          <p:spTgt spid="28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6"/>
                                        </p:tgtEl>
                                        <p:attrNameLst>
                                          <p:attrName>style.visibility</p:attrName>
                                        </p:attrNameLst>
                                      </p:cBhvr>
                                      <p:to>
                                        <p:strVal val="visible"/>
                                      </p:to>
                                    </p:set>
                                    <p:animEffect transition="in" filter="fade">
                                      <p:cBhvr>
                                        <p:cTn id="62" dur="450"/>
                                        <p:tgtEl>
                                          <p:spTgt spid="286"/>
                                        </p:tgtEl>
                                      </p:cBhvr>
                                    </p:animEffect>
                                  </p:childTnLst>
                                </p:cTn>
                              </p:par>
                            </p:childTnLst>
                          </p:cTn>
                        </p:par>
                        <p:par>
                          <p:cTn id="70" fill="hold">
                            <p:stCondLst>
                              <p:cond delay="3000"/>
                            </p:stCondLst>
                            <p:childTnLst>
                              <p:par>
                                <p:cTn id="64" presetID="22" presetClass="entr" presetSubtype="8" fill="hold" grpId="0" nodeType="afterEffect">
                                  <p:stCondLst>
                                    <p:cond delay="0"/>
                                  </p:stCondLst>
                                  <p:childTnLst>
                                    <p:set>
                                      <p:cBhvr>
                                        <p:cTn id="65" dur="1" fill="hold">
                                          <p:stCondLst>
                                            <p:cond delay="0"/>
                                          </p:stCondLst>
                                        </p:cTn>
                                        <p:tgtEl>
                                          <p:spTgt spid="287"/>
                                        </p:tgtEl>
                                        <p:attrNameLst>
                                          <p:attrName>style.visibility</p:attrName>
                                        </p:attrNameLst>
                                      </p:cBhvr>
                                      <p:to>
                                        <p:strVal val="visible"/>
                                      </p:to>
                                    </p:set>
                                    <p:animEffect transition="in" filter="wipe(left)">
                                      <p:cBhvr>
                                        <p:cTn id="66" dur="500"/>
                                        <p:tgtEl>
                                          <p:spTgt spid="28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88"/>
                                        </p:tgtEl>
                                        <p:attrNameLst>
                                          <p:attrName>style.visibility</p:attrName>
                                        </p:attrNameLst>
                                      </p:cBhvr>
                                      <p:to>
                                        <p:strVal val="visible"/>
                                      </p:to>
                                    </p:set>
                                    <p:animEffect transition="in" filter="fade">
                                      <p:cBhvr>
                                        <p:cTn id="69" dur="450"/>
                                        <p:tgtEl>
                                          <p:spTgt spid="288"/>
                                        </p:tgtEl>
                                      </p:cBhvr>
                                    </p:animEffect>
                                  </p:childTnLst>
                                </p:cTn>
                              </p:par>
                            </p:childTnLst>
                          </p:cTn>
                        </p:par>
                        <p:par>
                          <p:cTn id="92" fill="hold">
                            <p:stCondLst>
                              <p:cond delay="3500"/>
                            </p:stCondLst>
                            <p:childTnLst>
                              <p:par>
                                <p:cTn id="71" presetID="10" presetClass="entr" presetSubtype="0" fill="hold" grpId="0" nodeType="afterEffect">
                                  <p:stCondLst>
                                    <p:cond delay="0"/>
                                  </p:stCondLst>
                                  <p:childTnLst>
                                    <p:set>
                                      <p:cBhvr>
                                        <p:cTn id="72" dur="1" fill="hold">
                                          <p:stCondLst>
                                            <p:cond delay="0"/>
                                          </p:stCondLst>
                                        </p:cTn>
                                        <p:tgtEl>
                                          <p:spTgt spid="289"/>
                                        </p:tgtEl>
                                        <p:attrNameLst>
                                          <p:attrName>style.visibility</p:attrName>
                                        </p:attrNameLst>
                                      </p:cBhvr>
                                      <p:to>
                                        <p:strVal val="visible"/>
                                      </p:to>
                                    </p:set>
                                    <p:animEffect transition="in" filter="fade">
                                      <p:cBhvr>
                                        <p:cTn id="73" dur="450"/>
                                        <p:tgtEl>
                                          <p:spTgt spid="28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0"/>
                                        </p:tgtEl>
                                        <p:attrNameLst>
                                          <p:attrName>style.visibility</p:attrName>
                                        </p:attrNameLst>
                                      </p:cBhvr>
                                      <p:to>
                                        <p:strVal val="visible"/>
                                      </p:to>
                                    </p:set>
                                    <p:animEffect transition="in" filter="fade">
                                      <p:cBhvr>
                                        <p:cTn id="76" dur="450"/>
                                        <p:tgtEl>
                                          <p:spTgt spid="29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1"/>
                                        </p:tgtEl>
                                        <p:attrNameLst>
                                          <p:attrName>style.visibility</p:attrName>
                                        </p:attrNameLst>
                                      </p:cBhvr>
                                      <p:to>
                                        <p:strVal val="visible"/>
                                      </p:to>
                                    </p:set>
                                    <p:animEffect transition="in" filter="fade">
                                      <p:cBhvr>
                                        <p:cTn id="79" dur="450"/>
                                        <p:tgtEl>
                                          <p:spTgt spid="29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2"/>
                                        </p:tgtEl>
                                        <p:attrNameLst>
                                          <p:attrName>style.visibility</p:attrName>
                                        </p:attrNameLst>
                                      </p:cBhvr>
                                      <p:to>
                                        <p:strVal val="visible"/>
                                      </p:to>
                                    </p:set>
                                    <p:animEffect transition="in" filter="fade">
                                      <p:cBhvr>
                                        <p:cTn id="82" dur="450"/>
                                        <p:tgtEl>
                                          <p:spTgt spid="29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93"/>
                                        </p:tgtEl>
                                        <p:attrNameLst>
                                          <p:attrName>style.visibility</p:attrName>
                                        </p:attrNameLst>
                                      </p:cBhvr>
                                      <p:to>
                                        <p:strVal val="visible"/>
                                      </p:to>
                                    </p:set>
                                    <p:animEffect transition="in" filter="fade">
                                      <p:cBhvr>
                                        <p:cTn id="85" dur="450"/>
                                        <p:tgtEl>
                                          <p:spTgt spid="29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94"/>
                                        </p:tgtEl>
                                        <p:attrNameLst>
                                          <p:attrName>style.visibility</p:attrName>
                                        </p:attrNameLst>
                                      </p:cBhvr>
                                      <p:to>
                                        <p:strVal val="visible"/>
                                      </p:to>
                                    </p:set>
                                    <p:animEffect transition="in" filter="fade">
                                      <p:cBhvr>
                                        <p:cTn id="88" dur="450"/>
                                        <p:tgtEl>
                                          <p:spTgt spid="29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5"/>
                                        </p:tgtEl>
                                        <p:attrNameLst>
                                          <p:attrName>style.visibility</p:attrName>
                                        </p:attrNameLst>
                                      </p:cBhvr>
                                      <p:to>
                                        <p:strVal val="visible"/>
                                      </p:to>
                                    </p:set>
                                    <p:animEffect transition="in" filter="fade">
                                      <p:cBhvr>
                                        <p:cTn id="91" dur="450"/>
                                        <p:tgtEl>
                                          <p:spTgt spid="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0" animBg="1"/>
      <p:bldP spid="270" grpId="0" animBg="1"/>
      <p:bldP spid="271" grpId="0" animBg="1"/>
      <p:bldP spid="272" grpId="0" animBg="1"/>
      <p:bldP spid="273" grpId="0" animBg="1"/>
      <p:bldP spid="274" grpId="0" animBg="1"/>
      <p:bldP spid="275" grpId="0" animBg="1"/>
      <p:bldP spid="276" grpId="0" animBg="1"/>
      <p:bldP spid="277" grpId="0" animBg="1"/>
      <p:bldP spid="278" grpId="0" animBg="1"/>
      <p:bldP spid="279" grpId="0" animBg="1"/>
      <p:bldP spid="280" grpId="0" animBg="1"/>
      <p:bldP spid="281" grpId="0" animBg="1"/>
      <p:bldP spid="282" grpId="0" animBg="1"/>
      <p:bldP spid="283" grpId="0" animBg="1"/>
      <p:bldP spid="284" grpId="0" animBg="1"/>
      <p:bldP spid="285" grpId="0" animBg="1"/>
      <p:bldP spid="286" grpId="0" animBg="1"/>
      <p:bldP spid="287" grpId="0" animBg="1"/>
      <p:bldP spid="288" grpId="0" animBg="1"/>
      <p:bldP spid="289" grpId="0" animBg="1"/>
      <p:bldP spid="290" grpId="0" animBg="1"/>
      <p:bldP spid="291" grpId="0" animBg="1"/>
      <p:bldP spid="292" grpId="0" animBg="1"/>
      <p:bldP spid="293" grpId="0" animBg="1"/>
      <p:bldP spid="294" grpId="0" animBg="1"/>
      <p:bldP spid="29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How a Match Is</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Decided</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One entity, four candidates: a simple example.</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0">
                <a:solidFill>
                  <a:srgbClr val="B8C0CC"/>
                </a:solidFill>
                <a:latin typeface="Ember Modern Display Standard"/>
              </a:rPr>
              <a:t>01 Understanding</a:t>
            </a:r>
            <a:r>
              <a:rPr sz="850" b="0">
                <a:solidFill>
                  <a:srgbClr val="161D26"/>
                </a:solidFill>
                <a:latin typeface="Ember Modern Display Standard"/>
              </a:rPr>
              <a:t>    </a:t>
            </a:r>
            <a:r>
              <a:rPr sz="850" b="1">
                <a:solidFill>
                  <a:srgbClr val="FF6200"/>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Customer Obsession</a:t>
            </a:r>
          </a:p>
        </p:txBody>
      </p:sp>
      <p:sp>
        <p:nvSpPr>
          <p:cNvPr id="269" name="Rounded Rectangle 268"/>
          <p:cNvSpPr/>
          <p:nvPr/>
        </p:nvSpPr>
        <p:spPr>
          <a:xfrm>
            <a:off x="502920" y="1325880"/>
            <a:ext cx="5577840" cy="566928"/>
          </a:xfrm>
          <a:prstGeom prst="roundRect">
            <a:avLst>
              <a:gd name="adj" fmla="val 12903"/>
            </a:avLst>
          </a:prstGeom>
          <a:solidFill>
            <a:srgbClr val="D6D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685800" y="1325880"/>
            <a:ext cx="5303520" cy="566928"/>
          </a:xfrm>
          <a:prstGeom prst="rect">
            <a:avLst/>
          </a:prstGeom>
          <a:noFill/>
        </p:spPr>
        <p:txBody>
          <a:bodyPr wrap="square" lIns="0" rIns="0" tIns="0" bIns="0" anchor="ctr">
            <a:spAutoFit/>
          </a:bodyPr>
          <a:lstStyle/>
          <a:p>
            <a:pPr algn="l"/>
            <a:r>
              <a:rPr sz="1000" b="0">
                <a:solidFill>
                  <a:srgbClr val="6B7280"/>
                </a:solidFill>
                <a:latin typeface="Ember Modern Display Standard"/>
              </a:rPr>
              <a:t>ENTITY   </a:t>
            </a:r>
            <a:r>
              <a:rPr sz="1350" b="1">
                <a:solidFill>
                  <a:srgbClr val="161D26"/>
                </a:solidFill>
                <a:latin typeface="Ember Modern Display Standard"/>
              </a:rPr>
              <a:t>Acme Robotics Inc  ·  500 Market St, San Jose</a:t>
            </a:r>
          </a:p>
        </p:txBody>
      </p:sp>
      <p:sp>
        <p:nvSpPr>
          <p:cNvPr id="271" name="TextBox 270"/>
          <p:cNvSpPr txBox="1"/>
          <p:nvPr/>
        </p:nvSpPr>
        <p:spPr>
          <a:xfrm>
            <a:off x="502920" y="2103120"/>
            <a:ext cx="2880360" cy="411480"/>
          </a:xfrm>
          <a:prstGeom prst="rect">
            <a:avLst/>
          </a:prstGeom>
          <a:noFill/>
        </p:spPr>
        <p:txBody>
          <a:bodyPr wrap="square" lIns="0" rIns="0" tIns="0" bIns="0" anchor="ctr">
            <a:spAutoFit/>
          </a:bodyPr>
          <a:lstStyle/>
          <a:p>
            <a:pPr algn="l"/>
            <a:r>
              <a:rPr sz="1200" b="0">
                <a:solidFill>
                  <a:srgbClr val="161D26"/>
                </a:solidFill>
                <a:latin typeface="Ember Modern Display Standard"/>
              </a:rPr>
              <a:t>Acme Robotics Incorporated · 500 Market Street</a:t>
            </a:r>
          </a:p>
        </p:txBody>
      </p:sp>
      <p:sp>
        <p:nvSpPr>
          <p:cNvPr id="272" name="Rounded Rectangle 271"/>
          <p:cNvSpPr/>
          <p:nvPr/>
        </p:nvSpPr>
        <p:spPr>
          <a:xfrm>
            <a:off x="3474720" y="2212848"/>
            <a:ext cx="1920240" cy="201168"/>
          </a:xfrm>
          <a:prstGeom prst="roundRect">
            <a:avLst>
              <a:gd name="adj" fmla="val 50000"/>
            </a:avLst>
          </a:prstGeom>
          <a:solidFill>
            <a:srgbClr val="E3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ounded Rectangle 272"/>
          <p:cNvSpPr/>
          <p:nvPr/>
        </p:nvSpPr>
        <p:spPr>
          <a:xfrm>
            <a:off x="3474720" y="2212848"/>
            <a:ext cx="1881835" cy="201168"/>
          </a:xfrm>
          <a:prstGeom prst="roundRect">
            <a:avLst>
              <a:gd name="adj" fmla="val 50000"/>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5468112" y="2103120"/>
            <a:ext cx="411480" cy="411480"/>
          </a:xfrm>
          <a:prstGeom prst="rect">
            <a:avLst/>
          </a:prstGeom>
          <a:noFill/>
        </p:spPr>
        <p:txBody>
          <a:bodyPr wrap="square" lIns="0" rIns="0" tIns="0" bIns="0" anchor="ctr">
            <a:spAutoFit/>
          </a:bodyPr>
          <a:lstStyle/>
          <a:p>
            <a:pPr algn="l"/>
            <a:r>
              <a:rPr sz="1200" b="1">
                <a:solidFill>
                  <a:srgbClr val="161D26"/>
                </a:solidFill>
                <a:latin typeface="Ember Modern Display Standard"/>
              </a:rPr>
              <a:t>0.98</a:t>
            </a:r>
          </a:p>
        </p:txBody>
      </p:sp>
      <p:sp>
        <p:nvSpPr>
          <p:cNvPr id="275" name="TextBox 274"/>
          <p:cNvSpPr txBox="1"/>
          <p:nvPr/>
        </p:nvSpPr>
        <p:spPr>
          <a:xfrm>
            <a:off x="5870448" y="2103120"/>
            <a:ext cx="274320" cy="411480"/>
          </a:xfrm>
          <a:prstGeom prst="rect">
            <a:avLst/>
          </a:prstGeom>
          <a:noFill/>
        </p:spPr>
        <p:txBody>
          <a:bodyPr wrap="square" lIns="0" rIns="0" tIns="0" bIns="0" anchor="ctr">
            <a:spAutoFit/>
          </a:bodyPr>
          <a:lstStyle/>
          <a:p>
            <a:pPr algn="l"/>
            <a:r>
              <a:rPr sz="1600" b="1">
                <a:solidFill>
                  <a:srgbClr val="FF6200"/>
                </a:solidFill>
                <a:latin typeface="Ember Modern Display Standard"/>
              </a:rPr>
              <a:t>✓</a:t>
            </a:r>
          </a:p>
        </p:txBody>
      </p:sp>
      <p:sp>
        <p:nvSpPr>
          <p:cNvPr id="276" name="TextBox 275"/>
          <p:cNvSpPr txBox="1"/>
          <p:nvPr/>
        </p:nvSpPr>
        <p:spPr>
          <a:xfrm>
            <a:off x="502920" y="2651760"/>
            <a:ext cx="2880360" cy="411480"/>
          </a:xfrm>
          <a:prstGeom prst="rect">
            <a:avLst/>
          </a:prstGeom>
          <a:noFill/>
        </p:spPr>
        <p:txBody>
          <a:bodyPr wrap="square" lIns="0" rIns="0" tIns="0" bIns="0" anchor="ctr">
            <a:spAutoFit/>
          </a:bodyPr>
          <a:lstStyle/>
          <a:p>
            <a:pPr algn="l"/>
            <a:r>
              <a:rPr sz="1200" b="0">
                <a:solidFill>
                  <a:srgbClr val="161D26"/>
                </a:solidFill>
                <a:latin typeface="Ember Modern Display Standard"/>
              </a:rPr>
              <a:t>Acme Robotics · Nr. City Hall, San Jose</a:t>
            </a:r>
          </a:p>
        </p:txBody>
      </p:sp>
      <p:sp>
        <p:nvSpPr>
          <p:cNvPr id="277" name="Rounded Rectangle 276"/>
          <p:cNvSpPr/>
          <p:nvPr/>
        </p:nvSpPr>
        <p:spPr>
          <a:xfrm>
            <a:off x="3474720" y="2761488"/>
            <a:ext cx="1920240" cy="201168"/>
          </a:xfrm>
          <a:prstGeom prst="roundRect">
            <a:avLst>
              <a:gd name="adj" fmla="val 50000"/>
            </a:avLst>
          </a:prstGeom>
          <a:solidFill>
            <a:srgbClr val="E3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ounded Rectangle 277"/>
          <p:cNvSpPr/>
          <p:nvPr/>
        </p:nvSpPr>
        <p:spPr>
          <a:xfrm>
            <a:off x="3474720" y="2761488"/>
            <a:ext cx="1555394" cy="201168"/>
          </a:xfrm>
          <a:prstGeom prst="roundRect">
            <a:avLst>
              <a:gd name="adj" fmla="val 50000"/>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5468112" y="2651760"/>
            <a:ext cx="411480" cy="411480"/>
          </a:xfrm>
          <a:prstGeom prst="rect">
            <a:avLst/>
          </a:prstGeom>
          <a:noFill/>
        </p:spPr>
        <p:txBody>
          <a:bodyPr wrap="square" lIns="0" rIns="0" tIns="0" bIns="0" anchor="ctr">
            <a:spAutoFit/>
          </a:bodyPr>
          <a:lstStyle/>
          <a:p>
            <a:pPr algn="l"/>
            <a:r>
              <a:rPr sz="1200" b="1">
                <a:solidFill>
                  <a:srgbClr val="161D26"/>
                </a:solidFill>
                <a:latin typeface="Ember Modern Display Standard"/>
              </a:rPr>
              <a:t>0.81</a:t>
            </a:r>
          </a:p>
        </p:txBody>
      </p:sp>
      <p:sp>
        <p:nvSpPr>
          <p:cNvPr id="280" name="TextBox 279"/>
          <p:cNvSpPr txBox="1"/>
          <p:nvPr/>
        </p:nvSpPr>
        <p:spPr>
          <a:xfrm>
            <a:off x="5870448" y="2651760"/>
            <a:ext cx="274320" cy="411480"/>
          </a:xfrm>
          <a:prstGeom prst="rect">
            <a:avLst/>
          </a:prstGeom>
          <a:noFill/>
        </p:spPr>
        <p:txBody>
          <a:bodyPr wrap="square" lIns="0" rIns="0" tIns="0" bIns="0" anchor="ctr">
            <a:spAutoFit/>
          </a:bodyPr>
          <a:lstStyle/>
          <a:p>
            <a:pPr algn="l"/>
            <a:r>
              <a:rPr sz="1600" b="1">
                <a:solidFill>
                  <a:srgbClr val="FF6200"/>
                </a:solidFill>
                <a:latin typeface="Ember Modern Display Standard"/>
              </a:rPr>
              <a:t>✓</a:t>
            </a:r>
          </a:p>
        </p:txBody>
      </p:sp>
      <p:sp>
        <p:nvSpPr>
          <p:cNvPr id="281" name="TextBox 280"/>
          <p:cNvSpPr txBox="1"/>
          <p:nvPr/>
        </p:nvSpPr>
        <p:spPr>
          <a:xfrm>
            <a:off x="502920" y="3200400"/>
            <a:ext cx="2880360" cy="411480"/>
          </a:xfrm>
          <a:prstGeom prst="rect">
            <a:avLst/>
          </a:prstGeom>
          <a:noFill/>
        </p:spPr>
        <p:txBody>
          <a:bodyPr wrap="square" lIns="0" rIns="0" tIns="0" bIns="0" anchor="ctr">
            <a:spAutoFit/>
          </a:bodyPr>
          <a:lstStyle/>
          <a:p>
            <a:pPr algn="l"/>
            <a:r>
              <a:rPr sz="1200" b="0">
                <a:solidFill>
                  <a:srgbClr val="161D26"/>
                </a:solidFill>
                <a:latin typeface="Ember Modern Display Standard"/>
              </a:rPr>
              <a:t>Acme Robotix · 12 Elm Rd</a:t>
            </a:r>
          </a:p>
        </p:txBody>
      </p:sp>
      <p:sp>
        <p:nvSpPr>
          <p:cNvPr id="282" name="Rounded Rectangle 281"/>
          <p:cNvSpPr/>
          <p:nvPr/>
        </p:nvSpPr>
        <p:spPr>
          <a:xfrm>
            <a:off x="3474720" y="3310128"/>
            <a:ext cx="1920240" cy="201168"/>
          </a:xfrm>
          <a:prstGeom prst="roundRect">
            <a:avLst>
              <a:gd name="adj" fmla="val 50000"/>
            </a:avLst>
          </a:prstGeom>
          <a:solidFill>
            <a:srgbClr val="E3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ounded Rectangle 282"/>
          <p:cNvSpPr/>
          <p:nvPr/>
        </p:nvSpPr>
        <p:spPr>
          <a:xfrm>
            <a:off x="3474720" y="3310128"/>
            <a:ext cx="230428" cy="201168"/>
          </a:xfrm>
          <a:prstGeom prst="roundRect">
            <a:avLst>
              <a:gd name="adj" fmla="val 50000"/>
            </a:avLst>
          </a:prstGeom>
          <a:solidFill>
            <a:srgbClr val="B8C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5468112" y="3200400"/>
            <a:ext cx="411480" cy="411480"/>
          </a:xfrm>
          <a:prstGeom prst="rect">
            <a:avLst/>
          </a:prstGeom>
          <a:noFill/>
        </p:spPr>
        <p:txBody>
          <a:bodyPr wrap="square" lIns="0" rIns="0" tIns="0" bIns="0" anchor="ctr">
            <a:spAutoFit/>
          </a:bodyPr>
          <a:lstStyle/>
          <a:p>
            <a:pPr algn="l"/>
            <a:r>
              <a:rPr sz="1200" b="1">
                <a:solidFill>
                  <a:srgbClr val="161D26"/>
                </a:solidFill>
                <a:latin typeface="Ember Modern Display Standard"/>
              </a:rPr>
              <a:t>0.12</a:t>
            </a:r>
          </a:p>
        </p:txBody>
      </p:sp>
      <p:sp>
        <p:nvSpPr>
          <p:cNvPr id="285" name="TextBox 284"/>
          <p:cNvSpPr txBox="1"/>
          <p:nvPr/>
        </p:nvSpPr>
        <p:spPr>
          <a:xfrm>
            <a:off x="5870448" y="3200400"/>
            <a:ext cx="274320" cy="411480"/>
          </a:xfrm>
          <a:prstGeom prst="rect">
            <a:avLst/>
          </a:prstGeom>
          <a:noFill/>
        </p:spPr>
        <p:txBody>
          <a:bodyPr wrap="square" lIns="0" rIns="0" tIns="0" bIns="0" anchor="ctr">
            <a:spAutoFit/>
          </a:bodyPr>
          <a:lstStyle/>
          <a:p>
            <a:pPr algn="l"/>
            <a:r>
              <a:rPr sz="1600" b="1">
                <a:solidFill>
                  <a:srgbClr val="6B7280"/>
                </a:solidFill>
                <a:latin typeface="Ember Modern Display Standard"/>
              </a:rPr>
              <a:t>✗</a:t>
            </a:r>
          </a:p>
        </p:txBody>
      </p:sp>
      <p:sp>
        <p:nvSpPr>
          <p:cNvPr id="286" name="TextBox 285"/>
          <p:cNvSpPr txBox="1"/>
          <p:nvPr/>
        </p:nvSpPr>
        <p:spPr>
          <a:xfrm>
            <a:off x="502920" y="3749039"/>
            <a:ext cx="2880360" cy="411480"/>
          </a:xfrm>
          <a:prstGeom prst="rect">
            <a:avLst/>
          </a:prstGeom>
          <a:noFill/>
        </p:spPr>
        <p:txBody>
          <a:bodyPr wrap="square" lIns="0" rIns="0" tIns="0" bIns="0" anchor="ctr">
            <a:spAutoFit/>
          </a:bodyPr>
          <a:lstStyle/>
          <a:p>
            <a:pPr algn="l"/>
            <a:r>
              <a:rPr sz="1200" b="0">
                <a:solidFill>
                  <a:srgbClr val="161D26"/>
                </a:solidFill>
                <a:latin typeface="Ember Modern Display Standard"/>
              </a:rPr>
              <a:t>Acme Bakery · 500 Market St</a:t>
            </a:r>
          </a:p>
        </p:txBody>
      </p:sp>
      <p:sp>
        <p:nvSpPr>
          <p:cNvPr id="287" name="Rounded Rectangle 286"/>
          <p:cNvSpPr/>
          <p:nvPr/>
        </p:nvSpPr>
        <p:spPr>
          <a:xfrm>
            <a:off x="3474720" y="3858768"/>
            <a:ext cx="1920240" cy="201168"/>
          </a:xfrm>
          <a:prstGeom prst="roundRect">
            <a:avLst>
              <a:gd name="adj" fmla="val 50000"/>
            </a:avLst>
          </a:prstGeom>
          <a:solidFill>
            <a:srgbClr val="E3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ounded Rectangle 287"/>
          <p:cNvSpPr/>
          <p:nvPr/>
        </p:nvSpPr>
        <p:spPr>
          <a:xfrm>
            <a:off x="3474720" y="3858768"/>
            <a:ext cx="109728" cy="201168"/>
          </a:xfrm>
          <a:prstGeom prst="roundRect">
            <a:avLst>
              <a:gd name="adj" fmla="val 50000"/>
            </a:avLst>
          </a:prstGeom>
          <a:solidFill>
            <a:srgbClr val="B8C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5468112" y="3749039"/>
            <a:ext cx="411480" cy="411480"/>
          </a:xfrm>
          <a:prstGeom prst="rect">
            <a:avLst/>
          </a:prstGeom>
          <a:noFill/>
        </p:spPr>
        <p:txBody>
          <a:bodyPr wrap="square" lIns="0" rIns="0" tIns="0" bIns="0" anchor="ctr">
            <a:spAutoFit/>
          </a:bodyPr>
          <a:lstStyle/>
          <a:p>
            <a:pPr algn="l"/>
            <a:r>
              <a:rPr sz="1200" b="1">
                <a:solidFill>
                  <a:srgbClr val="161D26"/>
                </a:solidFill>
                <a:latin typeface="Ember Modern Display Standard"/>
              </a:rPr>
              <a:t>0.03</a:t>
            </a:r>
          </a:p>
        </p:txBody>
      </p:sp>
      <p:sp>
        <p:nvSpPr>
          <p:cNvPr id="290" name="TextBox 289"/>
          <p:cNvSpPr txBox="1"/>
          <p:nvPr/>
        </p:nvSpPr>
        <p:spPr>
          <a:xfrm>
            <a:off x="5870448" y="3749039"/>
            <a:ext cx="274320" cy="411480"/>
          </a:xfrm>
          <a:prstGeom prst="rect">
            <a:avLst/>
          </a:prstGeom>
          <a:noFill/>
        </p:spPr>
        <p:txBody>
          <a:bodyPr wrap="square" lIns="0" rIns="0" tIns="0" bIns="0" anchor="ctr">
            <a:spAutoFit/>
          </a:bodyPr>
          <a:lstStyle/>
          <a:p>
            <a:pPr algn="l"/>
            <a:r>
              <a:rPr sz="1600" b="1">
                <a:solidFill>
                  <a:srgbClr val="6B7280"/>
                </a:solidFill>
                <a:latin typeface="Ember Modern Display Standard"/>
              </a:rPr>
              <a:t>✗</a:t>
            </a:r>
          </a:p>
        </p:txBody>
      </p:sp>
      <p:sp>
        <p:nvSpPr>
          <p:cNvPr id="291" name="TextBox 290"/>
          <p:cNvSpPr txBox="1"/>
          <p:nvPr/>
        </p:nvSpPr>
        <p:spPr>
          <a:xfrm>
            <a:off x="502920" y="4315968"/>
            <a:ext cx="5577840" cy="228600"/>
          </a:xfrm>
          <a:prstGeom prst="rect">
            <a:avLst/>
          </a:prstGeom>
          <a:noFill/>
        </p:spPr>
        <p:txBody>
          <a:bodyPr wrap="square" lIns="0" rIns="0" tIns="0" bIns="0" anchor="t">
            <a:spAutoFit/>
          </a:bodyPr>
          <a:lstStyle/>
          <a:p>
            <a:pPr algn="l"/>
            <a:r>
              <a:rPr sz="1000" b="0">
                <a:solidFill>
                  <a:srgbClr val="6B7280"/>
                </a:solidFill>
                <a:latin typeface="Ember Modern Display Standard"/>
              </a:rPr>
              <a:t>Illustrative probabilities</a:t>
            </a:r>
          </a:p>
        </p:txBody>
      </p:sp>
      <p:sp>
        <p:nvSpPr>
          <p:cNvPr id="292" name="Rounded Rectangle 291"/>
          <p:cNvSpPr/>
          <p:nvPr/>
        </p:nvSpPr>
        <p:spPr>
          <a:xfrm>
            <a:off x="6400800" y="1325880"/>
            <a:ext cx="2240280" cy="3054096"/>
          </a:xfrm>
          <a:prstGeom prst="roundRect">
            <a:avLst>
              <a:gd name="adj" fmla="val 2448"/>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6583680" y="1554480"/>
            <a:ext cx="329184" cy="329184"/>
          </a:xfrm>
          <a:prstGeom prst="ellipse">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1</a:t>
            </a:r>
          </a:p>
        </p:txBody>
      </p:sp>
      <p:sp>
        <p:nvSpPr>
          <p:cNvPr id="294" name="TextBox 293"/>
          <p:cNvSpPr txBox="1"/>
          <p:nvPr/>
        </p:nvSpPr>
        <p:spPr>
          <a:xfrm>
            <a:off x="7040880" y="1536192"/>
            <a:ext cx="1463040" cy="822960"/>
          </a:xfrm>
          <a:prstGeom prst="rect">
            <a:avLst/>
          </a:prstGeom>
          <a:noFill/>
        </p:spPr>
        <p:txBody>
          <a:bodyPr wrap="square" lIns="0" rIns="0" tIns="0" bIns="0" anchor="t">
            <a:spAutoFit/>
          </a:bodyPr>
          <a:lstStyle/>
          <a:p>
            <a:pPr algn="l"/>
            <a:r>
              <a:rPr sz="1200" b="0">
                <a:solidFill>
                  <a:srgbClr val="FFFFFF"/>
                </a:solidFill>
                <a:latin typeface="Ember Modern Display Standard"/>
              </a:rPr>
              <a:t>Score each pair: a calibrated probability</a:t>
            </a:r>
          </a:p>
        </p:txBody>
      </p:sp>
      <p:sp>
        <p:nvSpPr>
          <p:cNvPr id="295" name="Oval 294"/>
          <p:cNvSpPr/>
          <p:nvPr/>
        </p:nvSpPr>
        <p:spPr>
          <a:xfrm>
            <a:off x="6583680" y="2468880"/>
            <a:ext cx="329184" cy="329184"/>
          </a:xfrm>
          <a:prstGeom prst="ellipse">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2</a:t>
            </a:r>
          </a:p>
        </p:txBody>
      </p:sp>
      <p:sp>
        <p:nvSpPr>
          <p:cNvPr id="296" name="TextBox 295"/>
          <p:cNvSpPr txBox="1"/>
          <p:nvPr/>
        </p:nvSpPr>
        <p:spPr>
          <a:xfrm>
            <a:off x="7040880" y="2450592"/>
            <a:ext cx="1463040" cy="822960"/>
          </a:xfrm>
          <a:prstGeom prst="rect">
            <a:avLst/>
          </a:prstGeom>
          <a:noFill/>
        </p:spPr>
        <p:txBody>
          <a:bodyPr wrap="square" lIns="0" rIns="0" tIns="0" bIns="0" anchor="t">
            <a:spAutoFit/>
          </a:bodyPr>
          <a:lstStyle/>
          <a:p>
            <a:pPr algn="l"/>
            <a:r>
              <a:rPr sz="1200" b="0">
                <a:solidFill>
                  <a:srgbClr val="FFFFFF"/>
                </a:solidFill>
                <a:latin typeface="Ember Modern Display Standard"/>
              </a:rPr>
              <a:t>Add matches while the expected F0.5 rises</a:t>
            </a:r>
          </a:p>
        </p:txBody>
      </p:sp>
      <p:sp>
        <p:nvSpPr>
          <p:cNvPr id="297" name="Oval 296"/>
          <p:cNvSpPr/>
          <p:nvPr/>
        </p:nvSpPr>
        <p:spPr>
          <a:xfrm>
            <a:off x="6583680" y="3383280"/>
            <a:ext cx="329184" cy="329184"/>
          </a:xfrm>
          <a:prstGeom prst="ellipse">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3</a:t>
            </a:r>
          </a:p>
        </p:txBody>
      </p:sp>
      <p:sp>
        <p:nvSpPr>
          <p:cNvPr id="298" name="TextBox 297"/>
          <p:cNvSpPr txBox="1"/>
          <p:nvPr/>
        </p:nvSpPr>
        <p:spPr>
          <a:xfrm>
            <a:off x="7040880" y="3364992"/>
            <a:ext cx="1463040" cy="822960"/>
          </a:xfrm>
          <a:prstGeom prst="rect">
            <a:avLst/>
          </a:prstGeom>
          <a:noFill/>
        </p:spPr>
        <p:txBody>
          <a:bodyPr wrap="square" lIns="0" rIns="0" tIns="0" bIns="0" anchor="t">
            <a:spAutoFit/>
          </a:bodyPr>
          <a:lstStyle/>
          <a:p>
            <a:pPr algn="l"/>
            <a:r>
              <a:rPr sz="1200" b="0">
                <a:solidFill>
                  <a:srgbClr val="FFFFFF"/>
                </a:solidFill>
                <a:latin typeface="Ember Modern Display Standard"/>
              </a:rPr>
              <a:t>Each record goes to one entity only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fade">
                                      <p:cBhvr>
                                        <p:cTn id="6" dur="45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childTnLst>
                          </p:cTn>
                        </p:par>
                        <p:par>
                          <p:cTn id="26"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271"/>
                                        </p:tgtEl>
                                        <p:attrNameLst>
                                          <p:attrName>style.visibility</p:attrName>
                                        </p:attrNameLst>
                                      </p:cBhvr>
                                      <p:to>
                                        <p:strVal val="visible"/>
                                      </p:to>
                                    </p:set>
                                    <p:animEffect transition="in" filter="fade">
                                      <p:cBhvr>
                                        <p:cTn id="13" dur="450"/>
                                        <p:tgtEl>
                                          <p:spTgt spid="27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2"/>
                                        </p:tgtEl>
                                        <p:attrNameLst>
                                          <p:attrName>style.visibility</p:attrName>
                                        </p:attrNameLst>
                                      </p:cBhvr>
                                      <p:to>
                                        <p:strVal val="visible"/>
                                      </p:to>
                                    </p:set>
                                    <p:animEffect transition="in" filter="fade">
                                      <p:cBhvr>
                                        <p:cTn id="16" dur="450"/>
                                        <p:tgtEl>
                                          <p:spTgt spid="27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73"/>
                                        </p:tgtEl>
                                        <p:attrNameLst>
                                          <p:attrName>style.visibility</p:attrName>
                                        </p:attrNameLst>
                                      </p:cBhvr>
                                      <p:to>
                                        <p:strVal val="visible"/>
                                      </p:to>
                                    </p:set>
                                    <p:animEffect transition="in" filter="wipe(left)">
                                      <p:cBhvr>
                                        <p:cTn id="19" dur="500"/>
                                        <p:tgtEl>
                                          <p:spTgt spid="27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4"/>
                                        </p:tgtEl>
                                        <p:attrNameLst>
                                          <p:attrName>style.visibility</p:attrName>
                                        </p:attrNameLst>
                                      </p:cBhvr>
                                      <p:to>
                                        <p:strVal val="visible"/>
                                      </p:to>
                                    </p:set>
                                    <p:animEffect transition="in" filter="fade">
                                      <p:cBhvr>
                                        <p:cTn id="22" dur="450"/>
                                        <p:tgtEl>
                                          <p:spTgt spid="27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5"/>
                                        </p:tgtEl>
                                        <p:attrNameLst>
                                          <p:attrName>style.visibility</p:attrName>
                                        </p:attrNameLst>
                                      </p:cBhvr>
                                      <p:to>
                                        <p:strVal val="visible"/>
                                      </p:to>
                                    </p:set>
                                    <p:animEffect transition="in" filter="fade">
                                      <p:cBhvr>
                                        <p:cTn id="25" dur="450"/>
                                        <p:tgtEl>
                                          <p:spTgt spid="275"/>
                                        </p:tgtEl>
                                      </p:cBhvr>
                                    </p:animEffect>
                                  </p:childTnLst>
                                </p:cTn>
                              </p:par>
                            </p:childTnLst>
                          </p:cTn>
                        </p:par>
                        <p:par>
                          <p:cTn id="42" fill="hold">
                            <p:stCondLst>
                              <p:cond delay="950"/>
                            </p:stCondLst>
                            <p:childTnLst>
                              <p:par>
                                <p:cTn id="27" presetID="10" presetClass="entr" presetSubtype="0" fill="hold" grpId="0" nodeType="afterEffect">
                                  <p:stCondLst>
                                    <p:cond delay="0"/>
                                  </p:stCondLst>
                                  <p:childTnLst>
                                    <p:set>
                                      <p:cBhvr>
                                        <p:cTn id="28" dur="1" fill="hold">
                                          <p:stCondLst>
                                            <p:cond delay="0"/>
                                          </p:stCondLst>
                                        </p:cTn>
                                        <p:tgtEl>
                                          <p:spTgt spid="276"/>
                                        </p:tgtEl>
                                        <p:attrNameLst>
                                          <p:attrName>style.visibility</p:attrName>
                                        </p:attrNameLst>
                                      </p:cBhvr>
                                      <p:to>
                                        <p:strVal val="visible"/>
                                      </p:to>
                                    </p:set>
                                    <p:animEffect transition="in" filter="fade">
                                      <p:cBhvr>
                                        <p:cTn id="29" dur="450"/>
                                        <p:tgtEl>
                                          <p:spTgt spid="27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7"/>
                                        </p:tgtEl>
                                        <p:attrNameLst>
                                          <p:attrName>style.visibility</p:attrName>
                                        </p:attrNameLst>
                                      </p:cBhvr>
                                      <p:to>
                                        <p:strVal val="visible"/>
                                      </p:to>
                                    </p:set>
                                    <p:animEffect transition="in" filter="fade">
                                      <p:cBhvr>
                                        <p:cTn id="32" dur="450"/>
                                        <p:tgtEl>
                                          <p:spTgt spid="277"/>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78"/>
                                        </p:tgtEl>
                                        <p:attrNameLst>
                                          <p:attrName>style.visibility</p:attrName>
                                        </p:attrNameLst>
                                      </p:cBhvr>
                                      <p:to>
                                        <p:strVal val="visible"/>
                                      </p:to>
                                    </p:set>
                                    <p:animEffect transition="in" filter="wipe(left)">
                                      <p:cBhvr>
                                        <p:cTn id="35" dur="500"/>
                                        <p:tgtEl>
                                          <p:spTgt spid="27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79"/>
                                        </p:tgtEl>
                                        <p:attrNameLst>
                                          <p:attrName>style.visibility</p:attrName>
                                        </p:attrNameLst>
                                      </p:cBhvr>
                                      <p:to>
                                        <p:strVal val="visible"/>
                                      </p:to>
                                    </p:set>
                                    <p:animEffect transition="in" filter="fade">
                                      <p:cBhvr>
                                        <p:cTn id="38" dur="450"/>
                                        <p:tgtEl>
                                          <p:spTgt spid="27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80"/>
                                        </p:tgtEl>
                                        <p:attrNameLst>
                                          <p:attrName>style.visibility</p:attrName>
                                        </p:attrNameLst>
                                      </p:cBhvr>
                                      <p:to>
                                        <p:strVal val="visible"/>
                                      </p:to>
                                    </p:set>
                                    <p:animEffect transition="in" filter="fade">
                                      <p:cBhvr>
                                        <p:cTn id="41" dur="450"/>
                                        <p:tgtEl>
                                          <p:spTgt spid="280"/>
                                        </p:tgtEl>
                                      </p:cBhvr>
                                    </p:animEffect>
                                  </p:childTnLst>
                                </p:cTn>
                              </p:par>
                            </p:childTnLst>
                          </p:cTn>
                        </p:par>
                        <p:par>
                          <p:cTn id="58" fill="hold">
                            <p:stCondLst>
                              <p:cond delay="1450"/>
                            </p:stCondLst>
                            <p:childTnLst>
                              <p:par>
                                <p:cTn id="43" presetID="10" presetClass="entr" presetSubtype="0" fill="hold" grpId="0" nodeType="afterEffect">
                                  <p:stCondLst>
                                    <p:cond delay="0"/>
                                  </p:stCondLst>
                                  <p:childTnLst>
                                    <p:set>
                                      <p:cBhvr>
                                        <p:cTn id="44" dur="1" fill="hold">
                                          <p:stCondLst>
                                            <p:cond delay="0"/>
                                          </p:stCondLst>
                                        </p:cTn>
                                        <p:tgtEl>
                                          <p:spTgt spid="281"/>
                                        </p:tgtEl>
                                        <p:attrNameLst>
                                          <p:attrName>style.visibility</p:attrName>
                                        </p:attrNameLst>
                                      </p:cBhvr>
                                      <p:to>
                                        <p:strVal val="visible"/>
                                      </p:to>
                                    </p:set>
                                    <p:animEffect transition="in" filter="fade">
                                      <p:cBhvr>
                                        <p:cTn id="45" dur="450"/>
                                        <p:tgtEl>
                                          <p:spTgt spid="28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2"/>
                                        </p:tgtEl>
                                        <p:attrNameLst>
                                          <p:attrName>style.visibility</p:attrName>
                                        </p:attrNameLst>
                                      </p:cBhvr>
                                      <p:to>
                                        <p:strVal val="visible"/>
                                      </p:to>
                                    </p:set>
                                    <p:animEffect transition="in" filter="fade">
                                      <p:cBhvr>
                                        <p:cTn id="48" dur="450"/>
                                        <p:tgtEl>
                                          <p:spTgt spid="282"/>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283"/>
                                        </p:tgtEl>
                                        <p:attrNameLst>
                                          <p:attrName>style.visibility</p:attrName>
                                        </p:attrNameLst>
                                      </p:cBhvr>
                                      <p:to>
                                        <p:strVal val="visible"/>
                                      </p:to>
                                    </p:set>
                                    <p:animEffect transition="in" filter="wipe(left)">
                                      <p:cBhvr>
                                        <p:cTn id="51" dur="500"/>
                                        <p:tgtEl>
                                          <p:spTgt spid="28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4"/>
                                        </p:tgtEl>
                                        <p:attrNameLst>
                                          <p:attrName>style.visibility</p:attrName>
                                        </p:attrNameLst>
                                      </p:cBhvr>
                                      <p:to>
                                        <p:strVal val="visible"/>
                                      </p:to>
                                    </p:set>
                                    <p:animEffect transition="in" filter="fade">
                                      <p:cBhvr>
                                        <p:cTn id="54" dur="450"/>
                                        <p:tgtEl>
                                          <p:spTgt spid="28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5"/>
                                        </p:tgtEl>
                                        <p:attrNameLst>
                                          <p:attrName>style.visibility</p:attrName>
                                        </p:attrNameLst>
                                      </p:cBhvr>
                                      <p:to>
                                        <p:strVal val="visible"/>
                                      </p:to>
                                    </p:set>
                                    <p:animEffect transition="in" filter="fade">
                                      <p:cBhvr>
                                        <p:cTn id="57" dur="450"/>
                                        <p:tgtEl>
                                          <p:spTgt spid="285"/>
                                        </p:tgtEl>
                                      </p:cBhvr>
                                    </p:animEffect>
                                  </p:childTnLst>
                                </p:cTn>
                              </p:par>
                            </p:childTnLst>
                          </p:cTn>
                        </p:par>
                        <p:par>
                          <p:cTn id="74" fill="hold">
                            <p:stCondLst>
                              <p:cond delay="1950"/>
                            </p:stCondLst>
                            <p:childTnLst>
                              <p:par>
                                <p:cTn id="59" presetID="10" presetClass="entr" presetSubtype="0" fill="hold" grpId="0" nodeType="afterEffect">
                                  <p:stCondLst>
                                    <p:cond delay="0"/>
                                  </p:stCondLst>
                                  <p:childTnLst>
                                    <p:set>
                                      <p:cBhvr>
                                        <p:cTn id="60" dur="1" fill="hold">
                                          <p:stCondLst>
                                            <p:cond delay="0"/>
                                          </p:stCondLst>
                                        </p:cTn>
                                        <p:tgtEl>
                                          <p:spTgt spid="286"/>
                                        </p:tgtEl>
                                        <p:attrNameLst>
                                          <p:attrName>style.visibility</p:attrName>
                                        </p:attrNameLst>
                                      </p:cBhvr>
                                      <p:to>
                                        <p:strVal val="visible"/>
                                      </p:to>
                                    </p:set>
                                    <p:animEffect transition="in" filter="fade">
                                      <p:cBhvr>
                                        <p:cTn id="61" dur="450"/>
                                        <p:tgtEl>
                                          <p:spTgt spid="28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7"/>
                                        </p:tgtEl>
                                        <p:attrNameLst>
                                          <p:attrName>style.visibility</p:attrName>
                                        </p:attrNameLst>
                                      </p:cBhvr>
                                      <p:to>
                                        <p:strVal val="visible"/>
                                      </p:to>
                                    </p:set>
                                    <p:animEffect transition="in" filter="fade">
                                      <p:cBhvr>
                                        <p:cTn id="64" dur="450"/>
                                        <p:tgtEl>
                                          <p:spTgt spid="287"/>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88"/>
                                        </p:tgtEl>
                                        <p:attrNameLst>
                                          <p:attrName>style.visibility</p:attrName>
                                        </p:attrNameLst>
                                      </p:cBhvr>
                                      <p:to>
                                        <p:strVal val="visible"/>
                                      </p:to>
                                    </p:set>
                                    <p:animEffect transition="in" filter="wipe(left)">
                                      <p:cBhvr>
                                        <p:cTn id="67" dur="500"/>
                                        <p:tgtEl>
                                          <p:spTgt spid="28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89"/>
                                        </p:tgtEl>
                                        <p:attrNameLst>
                                          <p:attrName>style.visibility</p:attrName>
                                        </p:attrNameLst>
                                      </p:cBhvr>
                                      <p:to>
                                        <p:strVal val="visible"/>
                                      </p:to>
                                    </p:set>
                                    <p:animEffect transition="in" filter="fade">
                                      <p:cBhvr>
                                        <p:cTn id="70" dur="450"/>
                                        <p:tgtEl>
                                          <p:spTgt spid="28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90"/>
                                        </p:tgtEl>
                                        <p:attrNameLst>
                                          <p:attrName>style.visibility</p:attrName>
                                        </p:attrNameLst>
                                      </p:cBhvr>
                                      <p:to>
                                        <p:strVal val="visible"/>
                                      </p:to>
                                    </p:set>
                                    <p:animEffect transition="in" filter="fade">
                                      <p:cBhvr>
                                        <p:cTn id="73" dur="450"/>
                                        <p:tgtEl>
                                          <p:spTgt spid="290"/>
                                        </p:tgtEl>
                                      </p:cBhvr>
                                    </p:animEffect>
                                  </p:childTnLst>
                                </p:cTn>
                              </p:par>
                            </p:childTnLst>
                          </p:cTn>
                        </p:par>
                        <p:par>
                          <p:cTn id="78" fill="hold">
                            <p:stCondLst>
                              <p:cond delay="2450"/>
                            </p:stCondLst>
                            <p:childTnLst>
                              <p:par>
                                <p:cTn id="75" presetID="10" presetClass="entr" presetSubtype="0" fill="hold" grpId="0" nodeType="afterEffect">
                                  <p:stCondLst>
                                    <p:cond delay="0"/>
                                  </p:stCondLst>
                                  <p:childTnLst>
                                    <p:set>
                                      <p:cBhvr>
                                        <p:cTn id="76" dur="1" fill="hold">
                                          <p:stCondLst>
                                            <p:cond delay="0"/>
                                          </p:stCondLst>
                                        </p:cTn>
                                        <p:tgtEl>
                                          <p:spTgt spid="291"/>
                                        </p:tgtEl>
                                        <p:attrNameLst>
                                          <p:attrName>style.visibility</p:attrName>
                                        </p:attrNameLst>
                                      </p:cBhvr>
                                      <p:to>
                                        <p:strVal val="visible"/>
                                      </p:to>
                                    </p:set>
                                    <p:animEffect transition="in" filter="fade">
                                      <p:cBhvr>
                                        <p:cTn id="77" dur="450"/>
                                        <p:tgtEl>
                                          <p:spTgt spid="291"/>
                                        </p:tgtEl>
                                      </p:cBhvr>
                                    </p:animEffect>
                                  </p:childTnLst>
                                </p:cTn>
                              </p:par>
                            </p:childTnLst>
                          </p:cTn>
                        </p:par>
                        <p:par>
                          <p:cTn id="100" fill="hold">
                            <p:stCondLst>
                              <p:cond delay="2900"/>
                            </p:stCondLst>
                            <p:childTnLst>
                              <p:par>
                                <p:cTn id="79" presetID="10" presetClass="entr" presetSubtype="0" fill="hold" grpId="0" nodeType="afterEffect">
                                  <p:stCondLst>
                                    <p:cond delay="0"/>
                                  </p:stCondLst>
                                  <p:childTnLst>
                                    <p:set>
                                      <p:cBhvr>
                                        <p:cTn id="80" dur="1" fill="hold">
                                          <p:stCondLst>
                                            <p:cond delay="0"/>
                                          </p:stCondLst>
                                        </p:cTn>
                                        <p:tgtEl>
                                          <p:spTgt spid="292"/>
                                        </p:tgtEl>
                                        <p:attrNameLst>
                                          <p:attrName>style.visibility</p:attrName>
                                        </p:attrNameLst>
                                      </p:cBhvr>
                                      <p:to>
                                        <p:strVal val="visible"/>
                                      </p:to>
                                    </p:set>
                                    <p:animEffect transition="in" filter="fade">
                                      <p:cBhvr>
                                        <p:cTn id="81" dur="450"/>
                                        <p:tgtEl>
                                          <p:spTgt spid="29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3"/>
                                        </p:tgtEl>
                                        <p:attrNameLst>
                                          <p:attrName>style.visibility</p:attrName>
                                        </p:attrNameLst>
                                      </p:cBhvr>
                                      <p:to>
                                        <p:strVal val="visible"/>
                                      </p:to>
                                    </p:set>
                                    <p:animEffect transition="in" filter="fade">
                                      <p:cBhvr>
                                        <p:cTn id="84" dur="450"/>
                                        <p:tgtEl>
                                          <p:spTgt spid="29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4"/>
                                        </p:tgtEl>
                                        <p:attrNameLst>
                                          <p:attrName>style.visibility</p:attrName>
                                        </p:attrNameLst>
                                      </p:cBhvr>
                                      <p:to>
                                        <p:strVal val="visible"/>
                                      </p:to>
                                    </p:set>
                                    <p:animEffect transition="in" filter="fade">
                                      <p:cBhvr>
                                        <p:cTn id="87" dur="450"/>
                                        <p:tgtEl>
                                          <p:spTgt spid="29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95"/>
                                        </p:tgtEl>
                                        <p:attrNameLst>
                                          <p:attrName>style.visibility</p:attrName>
                                        </p:attrNameLst>
                                      </p:cBhvr>
                                      <p:to>
                                        <p:strVal val="visible"/>
                                      </p:to>
                                    </p:set>
                                    <p:animEffect transition="in" filter="fade">
                                      <p:cBhvr>
                                        <p:cTn id="90" dur="450"/>
                                        <p:tgtEl>
                                          <p:spTgt spid="29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96"/>
                                        </p:tgtEl>
                                        <p:attrNameLst>
                                          <p:attrName>style.visibility</p:attrName>
                                        </p:attrNameLst>
                                      </p:cBhvr>
                                      <p:to>
                                        <p:strVal val="visible"/>
                                      </p:to>
                                    </p:set>
                                    <p:animEffect transition="in" filter="fade">
                                      <p:cBhvr>
                                        <p:cTn id="93" dur="450"/>
                                        <p:tgtEl>
                                          <p:spTgt spid="29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97"/>
                                        </p:tgtEl>
                                        <p:attrNameLst>
                                          <p:attrName>style.visibility</p:attrName>
                                        </p:attrNameLst>
                                      </p:cBhvr>
                                      <p:to>
                                        <p:strVal val="visible"/>
                                      </p:to>
                                    </p:set>
                                    <p:animEffect transition="in" filter="fade">
                                      <p:cBhvr>
                                        <p:cTn id="96" dur="450"/>
                                        <p:tgtEl>
                                          <p:spTgt spid="297"/>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98"/>
                                        </p:tgtEl>
                                        <p:attrNameLst>
                                          <p:attrName>style.visibility</p:attrName>
                                        </p:attrNameLst>
                                      </p:cBhvr>
                                      <p:to>
                                        <p:strVal val="visible"/>
                                      </p:to>
                                    </p:set>
                                    <p:animEffect transition="in" filter="fade">
                                      <p:cBhvr>
                                        <p:cTn id="99" dur="450"/>
                                        <p:tgtEl>
                                          <p:spTgt spid="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0" animBg="1"/>
      <p:bldP spid="270" grpId="0" animBg="1"/>
      <p:bldP spid="271" grpId="0" animBg="1"/>
      <p:bldP spid="272" grpId="0" animBg="1"/>
      <p:bldP spid="273" grpId="0" animBg="1"/>
      <p:bldP spid="274" grpId="0" animBg="1"/>
      <p:bldP spid="275" grpId="0" animBg="1"/>
      <p:bldP spid="276" grpId="0" animBg="1"/>
      <p:bldP spid="277" grpId="0" animBg="1"/>
      <p:bldP spid="278" grpId="0" animBg="1"/>
      <p:bldP spid="279" grpId="0" animBg="1"/>
      <p:bldP spid="280" grpId="0" animBg="1"/>
      <p:bldP spid="281" grpId="0" animBg="1"/>
      <p:bldP spid="282" grpId="0" animBg="1"/>
      <p:bldP spid="283" grpId="0" animBg="1"/>
      <p:bldP spid="284" grpId="0" animBg="1"/>
      <p:bldP spid="285" grpId="0" animBg="1"/>
      <p:bldP spid="286" grpId="0" animBg="1"/>
      <p:bldP spid="287" grpId="0" animBg="1"/>
      <p:bldP spid="288" grpId="0" animBg="1"/>
      <p:bldP spid="289" grpId="0" animBg="1"/>
      <p:bldP spid="290" grpId="0" animBg="1"/>
      <p:bldP spid="291" grpId="0" animBg="1"/>
      <p:bldP spid="292" grpId="0" animBg="1"/>
      <p:bldP spid="293" grpId="0" animBg="1"/>
      <p:bldP spid="294" grpId="0" animBg="1"/>
      <p:bldP spid="295" grpId="0" animBg="1"/>
      <p:bldP spid="296" grpId="0" animBg="1"/>
      <p:bldP spid="297" grpId="0" animBg="1"/>
      <p:bldP spid="29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Built for</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Performance</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Every step only touches what it must, on laptop-sized hardware.</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0">
                <a:solidFill>
                  <a:srgbClr val="B8C0CC"/>
                </a:solidFill>
                <a:latin typeface="Ember Modern Display Standard"/>
              </a:rPr>
              <a:t>01 Understanding</a:t>
            </a:r>
            <a:r>
              <a:rPr sz="850" b="0">
                <a:solidFill>
                  <a:srgbClr val="161D26"/>
                </a:solidFill>
                <a:latin typeface="Ember Modern Display Standard"/>
              </a:rPr>
              <a:t>    </a:t>
            </a:r>
            <a:r>
              <a:rPr sz="850" b="1">
                <a:solidFill>
                  <a:srgbClr val="FF6200"/>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Frugality</a:t>
            </a:r>
          </a:p>
        </p:txBody>
      </p:sp>
      <p:graphicFrame>
        <p:nvGraphicFramePr>
          <p:cNvPr id="269" name="Chart 268"/>
          <p:cNvGraphicFramePr>
            <a:graphicFrameLocks noGrp="1"/>
          </p:cNvGraphicFramePr>
          <p:nvPr/>
        </p:nvGraphicFramePr>
        <p:xfrm>
          <a:off x="411480" y="1280160"/>
          <a:ext cx="5303520" cy="2834640"/>
        </p:xfrm>
        <a:graphic>
          <a:graphicData uri="http://schemas.openxmlformats.org/drawingml/2006/chart">
            <c:chart xmlns:c="http://schemas.openxmlformats.org/drawingml/2006/chart" r:id="rId2"/>
          </a:graphicData>
        </a:graphic>
      </p:graphicFrame>
      <p:sp>
        <p:nvSpPr>
          <p:cNvPr id="270" name="TextBox 269"/>
          <p:cNvSpPr txBox="1"/>
          <p:nvPr/>
        </p:nvSpPr>
        <p:spPr>
          <a:xfrm>
            <a:off x="502920" y="4160520"/>
            <a:ext cx="5120640" cy="274320"/>
          </a:xfrm>
          <a:prstGeom prst="rect">
            <a:avLst/>
          </a:prstGeom>
          <a:noFill/>
        </p:spPr>
        <p:txBody>
          <a:bodyPr wrap="square" lIns="0" rIns="0" tIns="0" bIns="0" anchor="t">
            <a:spAutoFit/>
          </a:bodyPr>
          <a:lstStyle/>
          <a:p>
            <a:pPr algn="l"/>
            <a:r>
              <a:rPr sz="1050" b="0">
                <a:solidFill>
                  <a:srgbClr val="6B7280"/>
                </a:solidFill>
                <a:latin typeface="Ember Modern Display Standard"/>
              </a:rPr>
              <a:t>pairs per entity at each stage (test)</a:t>
            </a:r>
          </a:p>
        </p:txBody>
      </p:sp>
      <p:sp>
        <p:nvSpPr>
          <p:cNvPr id="271" name="TextBox 270"/>
          <p:cNvSpPr txBox="1"/>
          <p:nvPr/>
        </p:nvSpPr>
        <p:spPr>
          <a:xfrm>
            <a:off x="5989320" y="1371600"/>
            <a:ext cx="2651760" cy="274320"/>
          </a:xfrm>
          <a:prstGeom prst="rect">
            <a:avLst/>
          </a:prstGeom>
          <a:noFill/>
        </p:spPr>
        <p:txBody>
          <a:bodyPr wrap="square" lIns="0" rIns="0" tIns="0" bIns="0" anchor="t">
            <a:spAutoFit/>
          </a:bodyPr>
          <a:lstStyle/>
          <a:p>
            <a:pPr algn="l"/>
            <a:r>
              <a:rPr sz="1000" b="1">
                <a:solidFill>
                  <a:srgbClr val="FF6200"/>
                </a:solidFill>
                <a:latin typeface="Ember Modern Display Standard"/>
              </a:rPr>
              <a:t>WHAT IT TELLS US</a:t>
            </a:r>
          </a:p>
        </p:txBody>
      </p:sp>
      <p:sp>
        <p:nvSpPr>
          <p:cNvPr id="272" name="Oval 271"/>
          <p:cNvSpPr/>
          <p:nvPr/>
        </p:nvSpPr>
        <p:spPr>
          <a:xfrm>
            <a:off x="5989320" y="1783080"/>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1</a:t>
            </a:r>
          </a:p>
        </p:txBody>
      </p:sp>
      <p:sp>
        <p:nvSpPr>
          <p:cNvPr id="273" name="TextBox 272"/>
          <p:cNvSpPr txBox="1"/>
          <p:nvPr/>
        </p:nvSpPr>
        <p:spPr>
          <a:xfrm>
            <a:off x="6446520" y="1764792"/>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Core pipeline on one 12 GB GPU and 31 GB RAM</a:t>
            </a:r>
          </a:p>
        </p:txBody>
      </p:sp>
      <p:sp>
        <p:nvSpPr>
          <p:cNvPr id="274" name="Oval 273"/>
          <p:cNvSpPr/>
          <p:nvPr/>
        </p:nvSpPr>
        <p:spPr>
          <a:xfrm>
            <a:off x="5989320" y="2715768"/>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2</a:t>
            </a:r>
          </a:p>
        </p:txBody>
      </p:sp>
      <p:sp>
        <p:nvSpPr>
          <p:cNvPr id="275" name="TextBox 274"/>
          <p:cNvSpPr txBox="1"/>
          <p:nvPr/>
        </p:nvSpPr>
        <p:spPr>
          <a:xfrm>
            <a:off x="6446520" y="2697479"/>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Blocking about 13 min; memory peaks at 19 GB</a:t>
            </a:r>
          </a:p>
        </p:txBody>
      </p:sp>
      <p:sp>
        <p:nvSpPr>
          <p:cNvPr id="276" name="Oval 275"/>
          <p:cNvSpPr/>
          <p:nvPr/>
        </p:nvSpPr>
        <p:spPr>
          <a:xfrm>
            <a:off x="5989320" y="3648456"/>
            <a:ext cx="329184" cy="329184"/>
          </a:xfrm>
          <a:prstGeom prst="ellipse">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latin typeface="Ember Modern Display Standard"/>
              </a:rPr>
              <a:t>3</a:t>
            </a:r>
          </a:p>
        </p:txBody>
      </p:sp>
      <p:sp>
        <p:nvSpPr>
          <p:cNvPr id="277" name="TextBox 276"/>
          <p:cNvSpPr txBox="1"/>
          <p:nvPr/>
        </p:nvSpPr>
        <p:spPr>
          <a:xfrm>
            <a:off x="6446520" y="3630168"/>
            <a:ext cx="2194560" cy="841248"/>
          </a:xfrm>
          <a:prstGeom prst="rect">
            <a:avLst/>
          </a:prstGeom>
          <a:noFill/>
        </p:spPr>
        <p:txBody>
          <a:bodyPr wrap="square" lIns="0" rIns="0" tIns="0" bIns="0" anchor="t">
            <a:spAutoFit/>
          </a:bodyPr>
          <a:lstStyle/>
          <a:p>
            <a:pPr algn="l"/>
            <a:r>
              <a:rPr sz="1300" b="0">
                <a:solidFill>
                  <a:srgbClr val="161D26"/>
                </a:solidFill>
                <a:latin typeface="Ember Modern Display Standard"/>
              </a:rPr>
              <a:t>Heavy models read under 3% of pairs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22" presetClass="entr" presetSubtype="8"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wipe(left)">
                                      <p:cBhvr>
                                        <p:cTn id="6" dur="50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271"/>
                                        </p:tgtEl>
                                        <p:attrNameLst>
                                          <p:attrName>style.visibility</p:attrName>
                                        </p:attrNameLst>
                                      </p:cBhvr>
                                      <p:to>
                                        <p:strVal val="visible"/>
                                      </p:to>
                                    </p:set>
                                    <p:animEffect transition="in" filter="fade">
                                      <p:cBhvr>
                                        <p:cTn id="13" dur="450"/>
                                        <p:tgtEl>
                                          <p:spTgt spid="271"/>
                                        </p:tgtEl>
                                      </p:cBhvr>
                                    </p:animEffect>
                                  </p:childTnLst>
                                </p:cTn>
                              </p:par>
                            </p:childTnLst>
                          </p:cTn>
                        </p:par>
                        <p:par>
                          <p:cTn id="21" fill="hold">
                            <p:stCondLst>
                              <p:cond delay="950"/>
                            </p:stCondLst>
                            <p:childTnLst>
                              <p:par>
                                <p:cTn id="15" presetID="10" presetClass="entr" presetSubtype="0" fill="hold" grpId="0" nodeType="afterEffect">
                                  <p:stCondLst>
                                    <p:cond delay="0"/>
                                  </p:stCondLst>
                                  <p:childTnLst>
                                    <p:set>
                                      <p:cBhvr>
                                        <p:cTn id="16" dur="1" fill="hold">
                                          <p:stCondLst>
                                            <p:cond delay="0"/>
                                          </p:stCondLst>
                                        </p:cTn>
                                        <p:tgtEl>
                                          <p:spTgt spid="272"/>
                                        </p:tgtEl>
                                        <p:attrNameLst>
                                          <p:attrName>style.visibility</p:attrName>
                                        </p:attrNameLst>
                                      </p:cBhvr>
                                      <p:to>
                                        <p:strVal val="visible"/>
                                      </p:to>
                                    </p:set>
                                    <p:animEffect transition="in" filter="fade">
                                      <p:cBhvr>
                                        <p:cTn id="17" dur="450"/>
                                        <p:tgtEl>
                                          <p:spTgt spid="27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3"/>
                                        </p:tgtEl>
                                        <p:attrNameLst>
                                          <p:attrName>style.visibility</p:attrName>
                                        </p:attrNameLst>
                                      </p:cBhvr>
                                      <p:to>
                                        <p:strVal val="visible"/>
                                      </p:to>
                                    </p:set>
                                    <p:animEffect transition="in" filter="fade">
                                      <p:cBhvr>
                                        <p:cTn id="20" dur="450"/>
                                        <p:tgtEl>
                                          <p:spTgt spid="273"/>
                                        </p:tgtEl>
                                      </p:cBhvr>
                                    </p:animEffect>
                                  </p:childTnLst>
                                </p:cTn>
                              </p:par>
                            </p:childTnLst>
                          </p:cTn>
                        </p:par>
                        <p:par>
                          <p:cTn id="28" fill="hold">
                            <p:stCondLst>
                              <p:cond delay="1400"/>
                            </p:stCondLst>
                            <p:childTnLst>
                              <p:par>
                                <p:cTn id="22" presetID="10" presetClass="entr" presetSubtype="0" fill="hold" grpId="0" nodeType="afterEffect">
                                  <p:stCondLst>
                                    <p:cond delay="0"/>
                                  </p:stCondLst>
                                  <p:childTnLst>
                                    <p:set>
                                      <p:cBhvr>
                                        <p:cTn id="23" dur="1" fill="hold">
                                          <p:stCondLst>
                                            <p:cond delay="0"/>
                                          </p:stCondLst>
                                        </p:cTn>
                                        <p:tgtEl>
                                          <p:spTgt spid="274"/>
                                        </p:tgtEl>
                                        <p:attrNameLst>
                                          <p:attrName>style.visibility</p:attrName>
                                        </p:attrNameLst>
                                      </p:cBhvr>
                                      <p:to>
                                        <p:strVal val="visible"/>
                                      </p:to>
                                    </p:set>
                                    <p:animEffect transition="in" filter="fade">
                                      <p:cBhvr>
                                        <p:cTn id="24" dur="450"/>
                                        <p:tgtEl>
                                          <p:spTgt spid="27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5"/>
                                        </p:tgtEl>
                                        <p:attrNameLst>
                                          <p:attrName>style.visibility</p:attrName>
                                        </p:attrNameLst>
                                      </p:cBhvr>
                                      <p:to>
                                        <p:strVal val="visible"/>
                                      </p:to>
                                    </p:set>
                                    <p:animEffect transition="in" filter="fade">
                                      <p:cBhvr>
                                        <p:cTn id="27" dur="450"/>
                                        <p:tgtEl>
                                          <p:spTgt spid="275"/>
                                        </p:tgtEl>
                                      </p:cBhvr>
                                    </p:animEffect>
                                  </p:childTnLst>
                                </p:cTn>
                              </p:par>
                            </p:childTnLst>
                          </p:cTn>
                        </p:par>
                        <p:par>
                          <p:cTn id="35" fill="hold">
                            <p:stCondLst>
                              <p:cond delay="1850"/>
                            </p:stCondLst>
                            <p:childTnLst>
                              <p:par>
                                <p:cTn id="29" presetID="10" presetClass="entr" presetSubtype="0" fill="hold" grpId="0" nodeType="afterEffect">
                                  <p:stCondLst>
                                    <p:cond delay="0"/>
                                  </p:stCondLst>
                                  <p:childTnLst>
                                    <p:set>
                                      <p:cBhvr>
                                        <p:cTn id="30" dur="1" fill="hold">
                                          <p:stCondLst>
                                            <p:cond delay="0"/>
                                          </p:stCondLst>
                                        </p:cTn>
                                        <p:tgtEl>
                                          <p:spTgt spid="276"/>
                                        </p:tgtEl>
                                        <p:attrNameLst>
                                          <p:attrName>style.visibility</p:attrName>
                                        </p:attrNameLst>
                                      </p:cBhvr>
                                      <p:to>
                                        <p:strVal val="visible"/>
                                      </p:to>
                                    </p:set>
                                    <p:animEffect transition="in" filter="fade">
                                      <p:cBhvr>
                                        <p:cTn id="31" dur="450"/>
                                        <p:tgtEl>
                                          <p:spTgt spid="27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7"/>
                                        </p:tgtEl>
                                        <p:attrNameLst>
                                          <p:attrName>style.visibility</p:attrName>
                                        </p:attrNameLst>
                                      </p:cBhvr>
                                      <p:to>
                                        <p:strVal val="visible"/>
                                      </p:to>
                                    </p:set>
                                    <p:animEffect transition="in" filter="fade">
                                      <p:cBhvr>
                                        <p:cTn id="34" dur="450"/>
                                        <p:tgtEl>
                                          <p:spTgt spid="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69" grpId="0">
        <p:bldAsOne/>
      </p:bldGraphic>
      <p:bldP spid="270" grpId="0" animBg="1"/>
      <p:bldP spid="271" grpId="0" animBg="1"/>
      <p:bldP spid="272" grpId="0" animBg="1"/>
      <p:bldP spid="273" grpId="0" animBg="1"/>
      <p:bldP spid="274" grpId="0" animBg="1"/>
      <p:bldP spid="275" grpId="0" animBg="1"/>
      <p:bldP spid="276" grpId="0" animBg="1"/>
      <p:bldP spid="27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The Leaderboard</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Talked Back</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Our first scores showed a gap our validation could not see.</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0">
                <a:solidFill>
                  <a:srgbClr val="B8C0CC"/>
                </a:solidFill>
                <a:latin typeface="Ember Modern Display Standard"/>
              </a:rPr>
              <a:t>01 Understanding</a:t>
            </a:r>
            <a:r>
              <a:rPr sz="850" b="0">
                <a:solidFill>
                  <a:srgbClr val="161D26"/>
                </a:solidFill>
                <a:latin typeface="Ember Modern Display Standard"/>
              </a:rPr>
              <a:t>    </a:t>
            </a:r>
            <a:r>
              <a:rPr sz="850" b="0">
                <a:solidFill>
                  <a:srgbClr val="B8C0CC"/>
                </a:solidFill>
                <a:latin typeface="Ember Modern Display Standard"/>
              </a:rPr>
              <a:t>02 Building</a:t>
            </a:r>
            <a:r>
              <a:rPr sz="850" b="0">
                <a:solidFill>
                  <a:srgbClr val="161D26"/>
                </a:solidFill>
                <a:latin typeface="Ember Modern Display Standard"/>
              </a:rPr>
              <a:t>    </a:t>
            </a:r>
            <a:r>
              <a:rPr sz="850" b="1">
                <a:solidFill>
                  <a:srgbClr val="FF6200"/>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Insist on the Highest Standards</a:t>
            </a:r>
          </a:p>
        </p:txBody>
      </p:sp>
      <p:sp>
        <p:nvSpPr>
          <p:cNvPr id="269" name="TextBox 268"/>
          <p:cNvSpPr txBox="1"/>
          <p:nvPr/>
        </p:nvSpPr>
        <p:spPr>
          <a:xfrm>
            <a:off x="502920" y="1325880"/>
            <a:ext cx="3840480" cy="274320"/>
          </a:xfrm>
          <a:prstGeom prst="rect">
            <a:avLst/>
          </a:prstGeom>
          <a:noFill/>
        </p:spPr>
        <p:txBody>
          <a:bodyPr wrap="square" lIns="0" rIns="0" tIns="0" bIns="0" anchor="t">
            <a:spAutoFit/>
          </a:bodyPr>
          <a:lstStyle/>
          <a:p>
            <a:pPr algn="l"/>
            <a:r>
              <a:rPr sz="1250" b="1">
                <a:solidFill>
                  <a:srgbClr val="6B7280"/>
                </a:solidFill>
                <a:latin typeface="Ember Modern Display Standard"/>
              </a:rPr>
              <a:t>Our first scores</a:t>
            </a:r>
          </a:p>
        </p:txBody>
      </p:sp>
      <p:graphicFrame>
        <p:nvGraphicFramePr>
          <p:cNvPr id="270" name="Chart 269"/>
          <p:cNvGraphicFramePr>
            <a:graphicFrameLocks noGrp="1"/>
          </p:cNvGraphicFramePr>
          <p:nvPr/>
        </p:nvGraphicFramePr>
        <p:xfrm>
          <a:off x="411480" y="1554480"/>
          <a:ext cx="3931920" cy="2331720"/>
        </p:xfrm>
        <a:graphic>
          <a:graphicData uri="http://schemas.openxmlformats.org/drawingml/2006/chart">
            <c:chart xmlns:c="http://schemas.openxmlformats.org/drawingml/2006/chart" r:id="rId2"/>
          </a:graphicData>
        </a:graphic>
      </p:graphicFrame>
      <p:sp>
        <p:nvSpPr>
          <p:cNvPr id="271" name="TextBox 270"/>
          <p:cNvSpPr txBox="1"/>
          <p:nvPr/>
        </p:nvSpPr>
        <p:spPr>
          <a:xfrm>
            <a:off x="4709160" y="1325880"/>
            <a:ext cx="3931920" cy="274320"/>
          </a:xfrm>
          <a:prstGeom prst="rect">
            <a:avLst/>
          </a:prstGeom>
          <a:noFill/>
        </p:spPr>
        <p:txBody>
          <a:bodyPr wrap="square" lIns="0" rIns="0" tIns="0" bIns="0" anchor="t">
            <a:spAutoFit/>
          </a:bodyPr>
          <a:lstStyle/>
          <a:p>
            <a:pPr algn="l"/>
            <a:r>
              <a:rPr sz="1250" b="1">
                <a:solidFill>
                  <a:srgbClr val="6B7280"/>
                </a:solidFill>
                <a:latin typeface="Ember Modern Display Standard"/>
              </a:rPr>
              <a:t>By country (estimated)</a:t>
            </a:r>
          </a:p>
        </p:txBody>
      </p:sp>
      <p:graphicFrame>
        <p:nvGraphicFramePr>
          <p:cNvPr id="272" name="Chart 271"/>
          <p:cNvGraphicFramePr>
            <a:graphicFrameLocks noGrp="1"/>
          </p:cNvGraphicFramePr>
          <p:nvPr/>
        </p:nvGraphicFramePr>
        <p:xfrm>
          <a:off x="4617720" y="1554480"/>
          <a:ext cx="4023360" cy="2331720"/>
        </p:xfrm>
        <a:graphic>
          <a:graphicData uri="http://schemas.openxmlformats.org/drawingml/2006/chart">
            <c:chart xmlns:c="http://schemas.openxmlformats.org/drawingml/2006/chart" r:id="rId4"/>
          </a:graphicData>
        </a:graphic>
      </p:graphicFrame>
      <p:sp>
        <p:nvSpPr>
          <p:cNvPr id="273" name="TextBox 272"/>
          <p:cNvSpPr txBox="1"/>
          <p:nvPr/>
        </p:nvSpPr>
        <p:spPr>
          <a:xfrm>
            <a:off x="502920" y="4041648"/>
            <a:ext cx="8138160" cy="320040"/>
          </a:xfrm>
          <a:prstGeom prst="rect">
            <a:avLst/>
          </a:prstGeom>
          <a:noFill/>
        </p:spPr>
        <p:txBody>
          <a:bodyPr wrap="square" lIns="0" rIns="0" tIns="0" bIns="0" anchor="t">
            <a:spAutoFit/>
          </a:bodyPr>
          <a:lstStyle/>
          <a:p>
            <a:pPr algn="l"/>
            <a:r>
              <a:rPr sz="1300" b="0">
                <a:solidFill>
                  <a:srgbClr val="161D26"/>
                </a:solidFill>
                <a:latin typeface="Ember Modern Display Standard"/>
              </a:rPr>
              <a:t>We ruled out bugs, split the gap by country, then </a:t>
            </a:r>
            <a:r>
              <a:rPr sz="1300" b="1">
                <a:solidFill>
                  <a:srgbClr val="161D26"/>
                </a:solidFill>
                <a:latin typeface="Ember Modern Display Standard"/>
              </a:rPr>
              <a:t>read the French errors by hand.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fade">
                                      <p:cBhvr>
                                        <p:cTn id="6" dur="45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childTnLst>
                          </p:cTn>
                        </p:par>
                        <p:par>
                          <p:cTn id="17"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271"/>
                                        </p:tgtEl>
                                        <p:attrNameLst>
                                          <p:attrName>style.visibility</p:attrName>
                                        </p:attrNameLst>
                                      </p:cBhvr>
                                      <p:to>
                                        <p:strVal val="visible"/>
                                      </p:to>
                                    </p:set>
                                    <p:animEffect transition="in" filter="fade">
                                      <p:cBhvr>
                                        <p:cTn id="13" dur="450"/>
                                        <p:tgtEl>
                                          <p:spTgt spid="27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2"/>
                                        </p:tgtEl>
                                        <p:attrNameLst>
                                          <p:attrName>style.visibility</p:attrName>
                                        </p:attrNameLst>
                                      </p:cBhvr>
                                      <p:to>
                                        <p:strVal val="visible"/>
                                      </p:to>
                                    </p:set>
                                    <p:animEffect transition="in" filter="fade">
                                      <p:cBhvr>
                                        <p:cTn id="16" dur="450"/>
                                        <p:tgtEl>
                                          <p:spTgt spid="272"/>
                                        </p:tgtEl>
                                      </p:cBhvr>
                                    </p:animEffect>
                                  </p:childTnLst>
                                </p:cTn>
                              </p:par>
                            </p:childTnLst>
                          </p:cTn>
                        </p:par>
                        <p:par>
                          <p:cTn id="21" fill="hold">
                            <p:stCondLst>
                              <p:cond delay="900"/>
                            </p:stCondLst>
                            <p:childTnLst>
                              <p:par>
                                <p:cTn id="18" presetID="10" presetClass="entr" presetSubtype="0" fill="hold" grpId="0" nodeType="afterEffect">
                                  <p:stCondLst>
                                    <p:cond delay="0"/>
                                  </p:stCondLst>
                                  <p:childTnLst>
                                    <p:set>
                                      <p:cBhvr>
                                        <p:cTn id="19" dur="1" fill="hold">
                                          <p:stCondLst>
                                            <p:cond delay="0"/>
                                          </p:stCondLst>
                                        </p:cTn>
                                        <p:tgtEl>
                                          <p:spTgt spid="273"/>
                                        </p:tgtEl>
                                        <p:attrNameLst>
                                          <p:attrName>style.visibility</p:attrName>
                                        </p:attrNameLst>
                                      </p:cBhvr>
                                      <p:to>
                                        <p:strVal val="visible"/>
                                      </p:to>
                                    </p:set>
                                    <p:animEffect transition="in" filter="fade">
                                      <p:cBhvr>
                                        <p:cTn id="20" dur="450"/>
                                        <p:tgtEl>
                                          <p:spTgt spid="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0" animBg="1"/>
      <p:bldGraphic spid="270" grpId="0">
        <p:bldAsOne/>
      </p:bldGraphic>
      <p:bldP spid="271" grpId="0" animBg="1"/>
      <p:bldGraphic spid="272" grpId="0">
        <p:bldAsOne/>
      </p:bldGraphic>
      <p:bldP spid="27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A Country We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Never Saw</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France had no labels, so we let the data teach us, with guards.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0">
                <a:solidFill>
                  <a:srgbClr val="B8C0CC"/>
                </a:solidFill>
                <a:latin typeface="Ember Modern Display Standard"/>
              </a:rPr>
              <a:t>01 Understanding</a:t>
            </a:r>
            <a:r>
              <a:rPr sz="850" b="0">
                <a:solidFill>
                  <a:srgbClr val="161D26"/>
                </a:solidFill>
                <a:latin typeface="Ember Modern Display Standard"/>
              </a:rPr>
              <a:t>    </a:t>
            </a:r>
            <a:r>
              <a:rPr sz="850" b="0">
                <a:solidFill>
                  <a:srgbClr val="B8C0CC"/>
                </a:solidFill>
                <a:latin typeface="Ember Modern Display Standard"/>
              </a:rPr>
              <a:t>02 Building</a:t>
            </a:r>
            <a:r>
              <a:rPr sz="850" b="0">
                <a:solidFill>
                  <a:srgbClr val="161D26"/>
                </a:solidFill>
                <a:latin typeface="Ember Modern Display Standard"/>
              </a:rPr>
              <a:t>    </a:t>
            </a:r>
            <a:r>
              <a:rPr sz="850" b="1">
                <a:solidFill>
                  <a:srgbClr val="FF6200"/>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Learn and Be Curious</a:t>
            </a:r>
          </a:p>
        </p:txBody>
      </p:sp>
      <p:sp>
        <p:nvSpPr>
          <p:cNvPr id="269" name="Oval 268"/>
          <p:cNvSpPr/>
          <p:nvPr/>
        </p:nvSpPr>
        <p:spPr>
          <a:xfrm>
            <a:off x="502920" y="1417320"/>
            <a:ext cx="420624" cy="420624"/>
          </a:xfrm>
          <a:prstGeom prst="ellipse">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FFFFFF"/>
                </a:solidFill>
                <a:latin typeface="Ember Modern Display Standard"/>
              </a:rPr>
              <a:t>1</a:t>
            </a:r>
          </a:p>
        </p:txBody>
      </p:sp>
      <p:sp>
        <p:nvSpPr>
          <p:cNvPr id="270" name="TextBox 269"/>
          <p:cNvSpPr txBox="1"/>
          <p:nvPr/>
        </p:nvSpPr>
        <p:spPr>
          <a:xfrm>
            <a:off x="1097280" y="1399032"/>
            <a:ext cx="4023360" cy="777240"/>
          </a:xfrm>
          <a:prstGeom prst="rect">
            <a:avLst/>
          </a:prstGeom>
          <a:noFill/>
        </p:spPr>
        <p:txBody>
          <a:bodyPr wrap="square" lIns="0" rIns="0" tIns="0" bIns="0" anchor="t">
            <a:spAutoFit/>
          </a:bodyPr>
          <a:lstStyle/>
          <a:p>
            <a:pPr algn="l"/>
            <a:r>
              <a:rPr sz="1600" b="1">
                <a:solidFill>
                  <a:srgbClr val="161D26"/>
                </a:solidFill>
                <a:latin typeface="Ember Modern Display Standard"/>
              </a:rPr>
              <a:t>Learn its words</a:t>
            </a:r>
          </a:p>
          <a:p>
            <a:pPr algn="l"/>
            <a:r>
              <a:rPr sz="1300" b="0">
                <a:solidFill>
                  <a:srgbClr val="161D26"/>
                </a:solidFill>
                <a:latin typeface="Ember Modern Display Standard"/>
              </a:rPr>
              <a:t>word statistics, without labels</a:t>
            </a:r>
          </a:p>
        </p:txBody>
      </p:sp>
      <p:sp>
        <p:nvSpPr>
          <p:cNvPr id="271" name="Oval 270"/>
          <p:cNvSpPr/>
          <p:nvPr/>
        </p:nvSpPr>
        <p:spPr>
          <a:xfrm>
            <a:off x="502920" y="2286000"/>
            <a:ext cx="420624" cy="420624"/>
          </a:xfrm>
          <a:prstGeom prst="ellipse">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FFFFFF"/>
                </a:solidFill>
                <a:latin typeface="Ember Modern Display Standard"/>
              </a:rPr>
              <a:t>2</a:t>
            </a:r>
          </a:p>
        </p:txBody>
      </p:sp>
      <p:sp>
        <p:nvSpPr>
          <p:cNvPr id="272" name="TextBox 271"/>
          <p:cNvSpPr txBox="1"/>
          <p:nvPr/>
        </p:nvSpPr>
        <p:spPr>
          <a:xfrm>
            <a:off x="1097280" y="2267712"/>
            <a:ext cx="4023360" cy="777240"/>
          </a:xfrm>
          <a:prstGeom prst="rect">
            <a:avLst/>
          </a:prstGeom>
          <a:noFill/>
        </p:spPr>
        <p:txBody>
          <a:bodyPr wrap="square" lIns="0" rIns="0" tIns="0" bIns="0" anchor="t">
            <a:spAutoFit/>
          </a:bodyPr>
          <a:lstStyle/>
          <a:p>
            <a:pPr algn="l"/>
            <a:r>
              <a:rPr sz="1600" b="1">
                <a:solidFill>
                  <a:srgbClr val="161D26"/>
                </a:solidFill>
                <a:latin typeface="Ember Modern Display Standard"/>
              </a:rPr>
              <a:t>Teach itself</a:t>
            </a:r>
          </a:p>
          <a:p>
            <a:pPr algn="l"/>
            <a:r>
              <a:rPr sz="1300" b="0">
                <a:solidFill>
                  <a:srgbClr val="161D26"/>
                </a:solidFill>
                <a:latin typeface="Ember Modern Display Standard"/>
              </a:rPr>
              <a:t>learn from its own confident answers, cross-checked</a:t>
            </a:r>
          </a:p>
        </p:txBody>
      </p:sp>
      <p:sp>
        <p:nvSpPr>
          <p:cNvPr id="273" name="Oval 272"/>
          <p:cNvSpPr/>
          <p:nvPr/>
        </p:nvSpPr>
        <p:spPr>
          <a:xfrm>
            <a:off x="502920" y="3154680"/>
            <a:ext cx="420624" cy="420624"/>
          </a:xfrm>
          <a:prstGeom prst="ellipse">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400" b="1">
                <a:solidFill>
                  <a:srgbClr val="FFFFFF"/>
                </a:solidFill>
                <a:latin typeface="Ember Modern Display Standard"/>
              </a:rPr>
              <a:t>3</a:t>
            </a:r>
          </a:p>
        </p:txBody>
      </p:sp>
      <p:sp>
        <p:nvSpPr>
          <p:cNvPr id="274" name="TextBox 273"/>
          <p:cNvSpPr txBox="1"/>
          <p:nvPr/>
        </p:nvSpPr>
        <p:spPr>
          <a:xfrm>
            <a:off x="1097280" y="3136392"/>
            <a:ext cx="4023360" cy="777240"/>
          </a:xfrm>
          <a:prstGeom prst="rect">
            <a:avLst/>
          </a:prstGeom>
          <a:noFill/>
        </p:spPr>
        <p:txBody>
          <a:bodyPr wrap="square" lIns="0" rIns="0" tIns="0" bIns="0" anchor="t">
            <a:spAutoFit/>
          </a:bodyPr>
          <a:lstStyle/>
          <a:p>
            <a:pPr algn="l"/>
            <a:r>
              <a:rPr sz="1600" b="1">
                <a:solidFill>
                  <a:srgbClr val="161D26"/>
                </a:solidFill>
                <a:latin typeface="Ember Modern Display Standard"/>
              </a:rPr>
              <a:t>Second opinion</a:t>
            </a:r>
          </a:p>
          <a:p>
            <a:pPr algn="l"/>
            <a:r>
              <a:rPr sz="1300" b="0">
                <a:solidFill>
                  <a:srgbClr val="161D26"/>
                </a:solidFill>
                <a:latin typeface="Ember Modern Display Standard"/>
              </a:rPr>
              <a:t>different models vote; a 7B re-checks</a:t>
            </a:r>
          </a:p>
        </p:txBody>
      </p:sp>
      <p:sp>
        <p:nvSpPr>
          <p:cNvPr id="275" name="TextBox 274"/>
          <p:cNvSpPr txBox="1"/>
          <p:nvPr/>
        </p:nvSpPr>
        <p:spPr>
          <a:xfrm>
            <a:off x="502920" y="4069080"/>
            <a:ext cx="4846320" cy="274320"/>
          </a:xfrm>
          <a:prstGeom prst="rect">
            <a:avLst/>
          </a:prstGeom>
          <a:noFill/>
        </p:spPr>
        <p:txBody>
          <a:bodyPr wrap="square" lIns="0" rIns="0" tIns="0" bIns="0" anchor="t">
            <a:spAutoFit/>
          </a:bodyPr>
          <a:lstStyle/>
          <a:p>
            <a:pPr algn="l"/>
            <a:r>
              <a:rPr sz="1250" b="1">
                <a:solidFill>
                  <a:srgbClr val="6B7280"/>
                </a:solidFill>
                <a:latin typeface="Ember Modern Display Standard"/>
              </a:rPr>
              <a:t>Honestly: </a:t>
            </a:r>
            <a:r>
              <a:rPr sz="1250" b="0">
                <a:solidFill>
                  <a:srgbClr val="6B7280"/>
                </a:solidFill>
                <a:latin typeface="Ember Modern Display Standard"/>
              </a:rPr>
              <a:t>self-training failed twice before it worked.</a:t>
            </a:r>
          </a:p>
        </p:txBody>
      </p:sp>
      <p:sp>
        <p:nvSpPr>
          <p:cNvPr id="276" name="TextBox 275"/>
          <p:cNvSpPr txBox="1"/>
          <p:nvPr/>
        </p:nvSpPr>
        <p:spPr>
          <a:xfrm>
            <a:off x="5623560" y="1325880"/>
            <a:ext cx="3017520" cy="274320"/>
          </a:xfrm>
          <a:prstGeom prst="rect">
            <a:avLst/>
          </a:prstGeom>
          <a:noFill/>
        </p:spPr>
        <p:txBody>
          <a:bodyPr wrap="square" lIns="0" rIns="0" tIns="0" bIns="0" anchor="t">
            <a:spAutoFit/>
          </a:bodyPr>
          <a:lstStyle/>
          <a:p>
            <a:pPr algn="l"/>
            <a:r>
              <a:rPr sz="1250" b="1">
                <a:solidFill>
                  <a:srgbClr val="6B7280"/>
                </a:solidFill>
                <a:latin typeface="Ember Modern Display Standard"/>
              </a:rPr>
              <a:t>France (estimated)</a:t>
            </a:r>
          </a:p>
        </p:txBody>
      </p:sp>
      <p:graphicFrame>
        <p:nvGraphicFramePr>
          <p:cNvPr id="277" name="Chart 276"/>
          <p:cNvGraphicFramePr>
            <a:graphicFrameLocks noGrp="1"/>
          </p:cNvGraphicFramePr>
          <p:nvPr/>
        </p:nvGraphicFramePr>
        <p:xfrm>
          <a:off x="5532120" y="1554480"/>
          <a:ext cx="3108960" cy="2423160"/>
        </p:xfrm>
        <a:graphic>
          <a:graphicData uri="http://schemas.openxmlformats.org/drawingml/2006/chart">
            <c:chart xmlns:c="http://schemas.openxmlformats.org/drawingml/2006/chart" r:id="rId2"/>
          </a:graphicData>
        </a:graphic>
      </p:graphicFrame>
      <p:sp>
        <p:nvSpPr>
          <p:cNvPr id="278" name="TextBox 277"/>
          <p:cNvSpPr txBox="1"/>
          <p:nvPr/>
        </p:nvSpPr>
        <p:spPr>
          <a:xfrm>
            <a:off x="5623560" y="4041648"/>
            <a:ext cx="3017520" cy="320040"/>
          </a:xfrm>
          <a:prstGeom prst="rect">
            <a:avLst/>
          </a:prstGeom>
          <a:noFill/>
        </p:spPr>
        <p:txBody>
          <a:bodyPr wrap="square" lIns="0" rIns="0" tIns="0" bIns="0" anchor="t">
            <a:spAutoFit/>
          </a:bodyPr>
          <a:lstStyle/>
          <a:p>
            <a:pPr algn="ctr"/>
            <a:r>
              <a:rPr sz="1050" b="0">
                <a:solidFill>
                  <a:srgbClr val="6B7280"/>
                </a:solidFill>
                <a:latin typeface="Ember Modern Display Standard"/>
              </a:rPr>
              <a:t>never measured directly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fade">
                                      <p:cBhvr>
                                        <p:cTn id="6" dur="45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childTnLst>
                          </p:cTn>
                        </p:par>
                        <p:par>
                          <p:cTn id="17"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271"/>
                                        </p:tgtEl>
                                        <p:attrNameLst>
                                          <p:attrName>style.visibility</p:attrName>
                                        </p:attrNameLst>
                                      </p:cBhvr>
                                      <p:to>
                                        <p:strVal val="visible"/>
                                      </p:to>
                                    </p:set>
                                    <p:animEffect transition="in" filter="fade">
                                      <p:cBhvr>
                                        <p:cTn id="13" dur="450"/>
                                        <p:tgtEl>
                                          <p:spTgt spid="27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2"/>
                                        </p:tgtEl>
                                        <p:attrNameLst>
                                          <p:attrName>style.visibility</p:attrName>
                                        </p:attrNameLst>
                                      </p:cBhvr>
                                      <p:to>
                                        <p:strVal val="visible"/>
                                      </p:to>
                                    </p:set>
                                    <p:animEffect transition="in" filter="fade">
                                      <p:cBhvr>
                                        <p:cTn id="16" dur="450"/>
                                        <p:tgtEl>
                                          <p:spTgt spid="272"/>
                                        </p:tgtEl>
                                      </p:cBhvr>
                                    </p:animEffect>
                                  </p:childTnLst>
                                </p:cTn>
                              </p:par>
                            </p:childTnLst>
                          </p:cTn>
                        </p:par>
                        <p:par>
                          <p:cTn id="24" fill="hold">
                            <p:stCondLst>
                              <p:cond delay="900"/>
                            </p:stCondLst>
                            <p:childTnLst>
                              <p:par>
                                <p:cTn id="18" presetID="10" presetClass="entr" presetSubtype="0" fill="hold" grpId="0" nodeType="afterEffect">
                                  <p:stCondLst>
                                    <p:cond delay="0"/>
                                  </p:stCondLst>
                                  <p:childTnLst>
                                    <p:set>
                                      <p:cBhvr>
                                        <p:cTn id="19" dur="1" fill="hold">
                                          <p:stCondLst>
                                            <p:cond delay="0"/>
                                          </p:stCondLst>
                                        </p:cTn>
                                        <p:tgtEl>
                                          <p:spTgt spid="273"/>
                                        </p:tgtEl>
                                        <p:attrNameLst>
                                          <p:attrName>style.visibility</p:attrName>
                                        </p:attrNameLst>
                                      </p:cBhvr>
                                      <p:to>
                                        <p:strVal val="visible"/>
                                      </p:to>
                                    </p:set>
                                    <p:animEffect transition="in" filter="fade">
                                      <p:cBhvr>
                                        <p:cTn id="20" dur="450"/>
                                        <p:tgtEl>
                                          <p:spTgt spid="27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4"/>
                                        </p:tgtEl>
                                        <p:attrNameLst>
                                          <p:attrName>style.visibility</p:attrName>
                                        </p:attrNameLst>
                                      </p:cBhvr>
                                      <p:to>
                                        <p:strVal val="visible"/>
                                      </p:to>
                                    </p:set>
                                    <p:animEffect transition="in" filter="fade">
                                      <p:cBhvr>
                                        <p:cTn id="23" dur="450"/>
                                        <p:tgtEl>
                                          <p:spTgt spid="274"/>
                                        </p:tgtEl>
                                      </p:cBhvr>
                                    </p:animEffect>
                                  </p:childTnLst>
                                </p:cTn>
                              </p:par>
                            </p:childTnLst>
                          </p:cTn>
                        </p:par>
                        <p:par>
                          <p:cTn id="28" fill="hold">
                            <p:stCondLst>
                              <p:cond delay="1350"/>
                            </p:stCondLst>
                            <p:childTnLst>
                              <p:par>
                                <p:cTn id="25" presetID="10" presetClass="entr" presetSubtype="0" fill="hold" grpId="0" nodeType="afterEffect">
                                  <p:stCondLst>
                                    <p:cond delay="0"/>
                                  </p:stCondLst>
                                  <p:childTnLst>
                                    <p:set>
                                      <p:cBhvr>
                                        <p:cTn id="26" dur="1" fill="hold">
                                          <p:stCondLst>
                                            <p:cond delay="0"/>
                                          </p:stCondLst>
                                        </p:cTn>
                                        <p:tgtEl>
                                          <p:spTgt spid="275"/>
                                        </p:tgtEl>
                                        <p:attrNameLst>
                                          <p:attrName>style.visibility</p:attrName>
                                        </p:attrNameLst>
                                      </p:cBhvr>
                                      <p:to>
                                        <p:strVal val="visible"/>
                                      </p:to>
                                    </p:set>
                                    <p:animEffect transition="in" filter="fade">
                                      <p:cBhvr>
                                        <p:cTn id="27" dur="450"/>
                                        <p:tgtEl>
                                          <p:spTgt spid="275"/>
                                        </p:tgtEl>
                                      </p:cBhvr>
                                    </p:animEffect>
                                  </p:childTnLst>
                                </p:cTn>
                              </p:par>
                            </p:childTnLst>
                          </p:cTn>
                        </p:par>
                        <p:par>
                          <p:cTn id="3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276"/>
                                        </p:tgtEl>
                                        <p:attrNameLst>
                                          <p:attrName>style.visibility</p:attrName>
                                        </p:attrNameLst>
                                      </p:cBhvr>
                                      <p:to>
                                        <p:strVal val="visible"/>
                                      </p:to>
                                    </p:set>
                                    <p:animEffect transition="in" filter="fade">
                                      <p:cBhvr>
                                        <p:cTn id="31" dur="450"/>
                                        <p:tgtEl>
                                          <p:spTgt spid="27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7"/>
                                        </p:tgtEl>
                                        <p:attrNameLst>
                                          <p:attrName>style.visibility</p:attrName>
                                        </p:attrNameLst>
                                      </p:cBhvr>
                                      <p:to>
                                        <p:strVal val="visible"/>
                                      </p:to>
                                    </p:set>
                                    <p:animEffect transition="in" filter="fade">
                                      <p:cBhvr>
                                        <p:cTn id="34" dur="450"/>
                                        <p:tgtEl>
                                          <p:spTgt spid="27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8"/>
                                        </p:tgtEl>
                                        <p:attrNameLst>
                                          <p:attrName>style.visibility</p:attrName>
                                        </p:attrNameLst>
                                      </p:cBhvr>
                                      <p:to>
                                        <p:strVal val="visible"/>
                                      </p:to>
                                    </p:set>
                                    <p:animEffect transition="in" filter="fade">
                                      <p:cBhvr>
                                        <p:cTn id="37" dur="45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0" animBg="1"/>
      <p:bldP spid="270" grpId="0" animBg="1"/>
      <p:bldP spid="271" grpId="0" animBg="1"/>
      <p:bldP spid="272" grpId="0" animBg="1"/>
      <p:bldP spid="273" grpId="0" animBg="1"/>
      <p:bldP spid="274" grpId="0" animBg="1"/>
      <p:bldP spid="275" grpId="0" animBg="1"/>
      <p:bldP spid="276" grpId="0" animBg="1"/>
      <p:bldGraphic spid="277" grpId="0">
        <p:bldAsOne/>
      </p:bldGraphic>
      <p:bldP spid="27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Every Idea</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Tested</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Three people, 329 experiments, and only evidence decided.</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0">
                <a:solidFill>
                  <a:srgbClr val="B8C0CC"/>
                </a:solidFill>
                <a:latin typeface="Ember Modern Display Standard"/>
              </a:rPr>
              <a:t>01 Understanding</a:t>
            </a:r>
            <a:r>
              <a:rPr sz="850" b="0">
                <a:solidFill>
                  <a:srgbClr val="161D26"/>
                </a:solidFill>
                <a:latin typeface="Ember Modern Display Standard"/>
              </a:rPr>
              <a:t>    </a:t>
            </a:r>
            <a:r>
              <a:rPr sz="850" b="0">
                <a:solidFill>
                  <a:srgbClr val="B8C0CC"/>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1">
                <a:solidFill>
                  <a:srgbClr val="FF6200"/>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Bias for Action  ·  Ownership  ·  Earn Trust</a:t>
            </a:r>
          </a:p>
        </p:txBody>
      </p:sp>
      <p:graphicFrame>
        <p:nvGraphicFramePr>
          <p:cNvPr id="269" name="Chart 268"/>
          <p:cNvGraphicFramePr>
            <a:graphicFrameLocks noGrp="1"/>
          </p:cNvGraphicFramePr>
          <p:nvPr/>
        </p:nvGraphicFramePr>
        <p:xfrm>
          <a:off x="502920" y="1325880"/>
          <a:ext cx="2514600" cy="2514600"/>
        </p:xfrm>
        <a:graphic>
          <a:graphicData uri="http://schemas.openxmlformats.org/drawingml/2006/chart">
            <c:chart xmlns:c="http://schemas.openxmlformats.org/drawingml/2006/chart" r:id="rId2"/>
          </a:graphicData>
        </a:graphic>
      </p:graphicFrame>
      <p:sp>
        <p:nvSpPr>
          <p:cNvPr id="270" name="TextBox 269"/>
          <p:cNvSpPr txBox="1"/>
          <p:nvPr/>
        </p:nvSpPr>
        <p:spPr>
          <a:xfrm>
            <a:off x="502920" y="2212848"/>
            <a:ext cx="2514600" cy="731520"/>
          </a:xfrm>
          <a:prstGeom prst="rect">
            <a:avLst/>
          </a:prstGeom>
          <a:noFill/>
        </p:spPr>
        <p:txBody>
          <a:bodyPr wrap="square" lIns="0" rIns="0" tIns="0" bIns="0" anchor="t">
            <a:spAutoFit/>
          </a:bodyPr>
          <a:lstStyle/>
          <a:p>
            <a:pPr algn="ctr"/>
            <a:r>
              <a:rPr sz="2600" b="1">
                <a:solidFill>
                  <a:srgbClr val="161D26"/>
                </a:solidFill>
                <a:latin typeface="Ember Modern Display Standard"/>
              </a:rPr>
              <a:t>329</a:t>
            </a:r>
          </a:p>
          <a:p>
            <a:pPr algn="ctr"/>
            <a:r>
              <a:rPr sz="1200" b="0">
                <a:solidFill>
                  <a:srgbClr val="6B7280"/>
                </a:solidFill>
                <a:latin typeface="Ember Modern Display Standard"/>
              </a:rPr>
              <a:t>experiments</a:t>
            </a:r>
          </a:p>
        </p:txBody>
      </p:sp>
      <p:sp>
        <p:nvSpPr>
          <p:cNvPr id="271" name="TextBox 270"/>
          <p:cNvSpPr txBox="1"/>
          <p:nvPr/>
        </p:nvSpPr>
        <p:spPr>
          <a:xfrm>
            <a:off x="502920" y="3977639"/>
            <a:ext cx="3017520" cy="274320"/>
          </a:xfrm>
          <a:prstGeom prst="rect">
            <a:avLst/>
          </a:prstGeom>
          <a:noFill/>
        </p:spPr>
        <p:txBody>
          <a:bodyPr wrap="square" lIns="0" rIns="0" tIns="0" bIns="0" anchor="t">
            <a:spAutoFit/>
          </a:bodyPr>
          <a:lstStyle/>
          <a:p>
            <a:pPr algn="l"/>
            <a:r>
              <a:rPr sz="1100" b="0">
                <a:solidFill>
                  <a:srgbClr val="FF6200"/>
                </a:solidFill>
                <a:latin typeface="Ember Modern Display Standard"/>
              </a:rPr>
              <a:t>■ </a:t>
            </a:r>
            <a:r>
              <a:rPr sz="1100" b="0">
                <a:solidFill>
                  <a:srgbClr val="161D26"/>
                </a:solidFill>
                <a:latin typeface="Ember Modern Display Standard"/>
              </a:rPr>
              <a:t>177 kept   </a:t>
            </a:r>
            <a:r>
              <a:rPr sz="1100" b="0">
                <a:solidFill>
                  <a:srgbClr val="161D26"/>
                </a:solidFill>
                <a:latin typeface="Ember Modern Display Standard"/>
              </a:rPr>
              <a:t>■ </a:t>
            </a:r>
            <a:r>
              <a:rPr sz="1100" b="0">
                <a:solidFill>
                  <a:srgbClr val="161D26"/>
                </a:solidFill>
                <a:latin typeface="Ember Modern Display Standard"/>
              </a:rPr>
              <a:t>126 dropped   </a:t>
            </a:r>
            <a:r>
              <a:rPr sz="1100" b="0">
                <a:solidFill>
                  <a:srgbClr val="D6DCE7"/>
                </a:solidFill>
                <a:latin typeface="Ember Modern Display Standard"/>
              </a:rPr>
              <a:t>■ </a:t>
            </a:r>
            <a:r>
              <a:rPr sz="1100" b="0">
                <a:solidFill>
                  <a:srgbClr val="161D26"/>
                </a:solidFill>
                <a:latin typeface="Ember Modern Display Standard"/>
              </a:rPr>
              <a:t>26 other</a:t>
            </a:r>
          </a:p>
        </p:txBody>
      </p:sp>
      <p:sp>
        <p:nvSpPr>
          <p:cNvPr id="272" name="TextBox 271"/>
          <p:cNvSpPr txBox="1"/>
          <p:nvPr/>
        </p:nvSpPr>
        <p:spPr>
          <a:xfrm>
            <a:off x="3657600" y="1417320"/>
            <a:ext cx="4937760" cy="640080"/>
          </a:xfrm>
          <a:prstGeom prst="rect">
            <a:avLst/>
          </a:prstGeom>
          <a:noFill/>
        </p:spPr>
        <p:txBody>
          <a:bodyPr wrap="square" lIns="0" rIns="0" tIns="0" bIns="0" anchor="t">
            <a:spAutoFit/>
          </a:bodyPr>
          <a:lstStyle/>
          <a:p>
            <a:pPr algn="l"/>
            <a:r>
              <a:rPr sz="1600" b="1">
                <a:solidFill>
                  <a:srgbClr val="FF6200"/>
                </a:solidFill>
                <a:latin typeface="Ember Modern Display Standard"/>
              </a:rPr>
              <a:t>Ameya</a:t>
            </a:r>
          </a:p>
          <a:p>
            <a:pPr algn="l"/>
            <a:r>
              <a:rPr sz="1300" b="0">
                <a:solidFill>
                  <a:srgbClr val="161D26"/>
                </a:solidFill>
                <a:latin typeface="Ember Modern Display Standard"/>
              </a:rPr>
              <a:t>data, blocking, the pipeline, France</a:t>
            </a:r>
          </a:p>
        </p:txBody>
      </p:sp>
      <p:sp>
        <p:nvSpPr>
          <p:cNvPr id="273" name="TextBox 272"/>
          <p:cNvSpPr txBox="1"/>
          <p:nvPr/>
        </p:nvSpPr>
        <p:spPr>
          <a:xfrm>
            <a:off x="3657600" y="2130552"/>
            <a:ext cx="4937760" cy="640080"/>
          </a:xfrm>
          <a:prstGeom prst="rect">
            <a:avLst/>
          </a:prstGeom>
          <a:noFill/>
        </p:spPr>
        <p:txBody>
          <a:bodyPr wrap="square" lIns="0" rIns="0" tIns="0" bIns="0" anchor="t">
            <a:spAutoFit/>
          </a:bodyPr>
          <a:lstStyle/>
          <a:p>
            <a:pPr algn="l"/>
            <a:r>
              <a:rPr sz="1600" b="1">
                <a:solidFill>
                  <a:srgbClr val="FF6200"/>
                </a:solidFill>
                <a:latin typeface="Ember Modern Display Standard"/>
              </a:rPr>
              <a:t>Aarush</a:t>
            </a:r>
          </a:p>
          <a:p>
            <a:pPr algn="l"/>
            <a:r>
              <a:rPr sz="1300" b="0">
                <a:solidFill>
                  <a:srgbClr val="161D26"/>
                </a:solidFill>
                <a:latin typeface="Ember Modern Display Standard"/>
              </a:rPr>
              <a:t>the 7B model, the re-check, the final submission</a:t>
            </a:r>
          </a:p>
        </p:txBody>
      </p:sp>
      <p:sp>
        <p:nvSpPr>
          <p:cNvPr id="274" name="TextBox 273"/>
          <p:cNvSpPr txBox="1"/>
          <p:nvPr/>
        </p:nvSpPr>
        <p:spPr>
          <a:xfrm>
            <a:off x="3657600" y="2843784"/>
            <a:ext cx="4937760" cy="640080"/>
          </a:xfrm>
          <a:prstGeom prst="rect">
            <a:avLst/>
          </a:prstGeom>
          <a:noFill/>
        </p:spPr>
        <p:txBody>
          <a:bodyPr wrap="square" lIns="0" rIns="0" tIns="0" bIns="0" anchor="t">
            <a:spAutoFit/>
          </a:bodyPr>
          <a:lstStyle/>
          <a:p>
            <a:pPr algn="l"/>
            <a:r>
              <a:rPr sz="1600" b="1">
                <a:solidFill>
                  <a:srgbClr val="FF6200"/>
                </a:solidFill>
                <a:latin typeface="Ember Modern Display Standard"/>
              </a:rPr>
              <a:t>Sachi</a:t>
            </a:r>
          </a:p>
          <a:p>
            <a:pPr algn="l"/>
            <a:r>
              <a:rPr sz="1300" b="0">
                <a:solidFill>
                  <a:srgbClr val="161D26"/>
                </a:solidFill>
                <a:latin typeface="Ember Modern Display Standard"/>
              </a:rPr>
              <a:t>testing gates, a Qwen model, synthetic French</a:t>
            </a:r>
          </a:p>
        </p:txBody>
      </p:sp>
      <p:sp>
        <p:nvSpPr>
          <p:cNvPr id="275" name="Rounded Rectangle 274"/>
          <p:cNvSpPr/>
          <p:nvPr/>
        </p:nvSpPr>
        <p:spPr>
          <a:xfrm>
            <a:off x="3657600" y="3611880"/>
            <a:ext cx="4983480" cy="502920"/>
          </a:xfrm>
          <a:prstGeom prst="roundRect">
            <a:avLst>
              <a:gd name="adj" fmla="val 4909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50" b="0">
                <a:solidFill>
                  <a:srgbClr val="161D26"/>
                </a:solidFill>
                <a:latin typeface="Ember Modern Display Standard"/>
              </a:rPr>
              <a:t>Our rule: when two ideas tie, keep the simpler 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fade">
                                      <p:cBhvr>
                                        <p:cTn id="6" dur="45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childTnLst>
                          </p:cTn>
                        </p:par>
                        <p:par>
                          <p:cTn id="14"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271"/>
                                        </p:tgtEl>
                                        <p:attrNameLst>
                                          <p:attrName>style.visibility</p:attrName>
                                        </p:attrNameLst>
                                      </p:cBhvr>
                                      <p:to>
                                        <p:strVal val="visible"/>
                                      </p:to>
                                    </p:set>
                                    <p:animEffect transition="in" filter="fade">
                                      <p:cBhvr>
                                        <p:cTn id="13" dur="450"/>
                                        <p:tgtEl>
                                          <p:spTgt spid="271"/>
                                        </p:tgtEl>
                                      </p:cBhvr>
                                    </p:animEffect>
                                  </p:childTnLst>
                                </p:cTn>
                              </p:par>
                            </p:childTnLst>
                          </p:cTn>
                        </p:par>
                        <p:par>
                          <p:cTn id="18"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272"/>
                                        </p:tgtEl>
                                        <p:attrNameLst>
                                          <p:attrName>style.visibility</p:attrName>
                                        </p:attrNameLst>
                                      </p:cBhvr>
                                      <p:to>
                                        <p:strVal val="visible"/>
                                      </p:to>
                                    </p:set>
                                    <p:animEffect transition="in" filter="fade">
                                      <p:cBhvr>
                                        <p:cTn id="17" dur="450"/>
                                        <p:tgtEl>
                                          <p:spTgt spid="272"/>
                                        </p:tgtEl>
                                      </p:cBhvr>
                                    </p:animEffect>
                                  </p:childTnLst>
                                </p:cTn>
                              </p:par>
                            </p:childTnLst>
                          </p:cTn>
                        </p:par>
                        <p:par>
                          <p:cTn id="22" fill="hold">
                            <p:stCondLst>
                              <p:cond delay="1350"/>
                            </p:stCondLst>
                            <p:childTnLst>
                              <p:par>
                                <p:cTn id="19" presetID="10" presetClass="entr" presetSubtype="0" fill="hold" grpId="0" nodeType="afterEffect">
                                  <p:stCondLst>
                                    <p:cond delay="0"/>
                                  </p:stCondLst>
                                  <p:childTnLst>
                                    <p:set>
                                      <p:cBhvr>
                                        <p:cTn id="20" dur="1" fill="hold">
                                          <p:stCondLst>
                                            <p:cond delay="0"/>
                                          </p:stCondLst>
                                        </p:cTn>
                                        <p:tgtEl>
                                          <p:spTgt spid="273"/>
                                        </p:tgtEl>
                                        <p:attrNameLst>
                                          <p:attrName>style.visibility</p:attrName>
                                        </p:attrNameLst>
                                      </p:cBhvr>
                                      <p:to>
                                        <p:strVal val="visible"/>
                                      </p:to>
                                    </p:set>
                                    <p:animEffect transition="in" filter="fade">
                                      <p:cBhvr>
                                        <p:cTn id="21" dur="450"/>
                                        <p:tgtEl>
                                          <p:spTgt spid="273"/>
                                        </p:tgtEl>
                                      </p:cBhvr>
                                    </p:animEffect>
                                  </p:childTnLst>
                                </p:cTn>
                              </p:par>
                            </p:childTnLst>
                          </p:cTn>
                        </p:par>
                        <p:par>
                          <p:cTn id="26"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274"/>
                                        </p:tgtEl>
                                        <p:attrNameLst>
                                          <p:attrName>style.visibility</p:attrName>
                                        </p:attrNameLst>
                                      </p:cBhvr>
                                      <p:to>
                                        <p:strVal val="visible"/>
                                      </p:to>
                                    </p:set>
                                    <p:animEffect transition="in" filter="fade">
                                      <p:cBhvr>
                                        <p:cTn id="25" dur="450"/>
                                        <p:tgtEl>
                                          <p:spTgt spid="274"/>
                                        </p:tgtEl>
                                      </p:cBhvr>
                                    </p:animEffect>
                                  </p:childTnLst>
                                </p:cTn>
                              </p:par>
                            </p:childTnLst>
                          </p:cTn>
                        </p:par>
                        <p:par>
                          <p:cTn id="30" fill="hold">
                            <p:stCondLst>
                              <p:cond delay="2250"/>
                            </p:stCondLst>
                            <p:childTnLst>
                              <p:par>
                                <p:cTn id="27" presetID="10" presetClass="entr" presetSubtype="0" fill="hold" grpId="0" nodeType="afterEffect">
                                  <p:stCondLst>
                                    <p:cond delay="0"/>
                                  </p:stCondLst>
                                  <p:childTnLst>
                                    <p:set>
                                      <p:cBhvr>
                                        <p:cTn id="28" dur="1" fill="hold">
                                          <p:stCondLst>
                                            <p:cond delay="0"/>
                                          </p:stCondLst>
                                        </p:cTn>
                                        <p:tgtEl>
                                          <p:spTgt spid="275"/>
                                        </p:tgtEl>
                                        <p:attrNameLst>
                                          <p:attrName>style.visibility</p:attrName>
                                        </p:attrNameLst>
                                      </p:cBhvr>
                                      <p:to>
                                        <p:strVal val="visible"/>
                                      </p:to>
                                    </p:set>
                                    <p:animEffect transition="in" filter="fade">
                                      <p:cBhvr>
                                        <p:cTn id="29" dur="45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69" grpId="0">
        <p:bldAsOne/>
      </p:bldGraphic>
      <p:bldP spid="270" grpId="0" animBg="1"/>
      <p:bldP spid="271" grpId="0" animBg="1"/>
      <p:bldP spid="272" grpId="0" animBg="1"/>
      <p:bldP spid="273" grpId="0" animBg="1"/>
      <p:bldP spid="274" grpId="0" animBg="1"/>
      <p:bldP spid="27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The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Climb</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Each upload changed one thing, and we learned from each.</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0">
                <a:solidFill>
                  <a:srgbClr val="B8C0CC"/>
                </a:solidFill>
                <a:latin typeface="Ember Modern Display Standard"/>
              </a:rPr>
              <a:t>01 Understanding</a:t>
            </a:r>
            <a:r>
              <a:rPr sz="850" b="0">
                <a:solidFill>
                  <a:srgbClr val="161D26"/>
                </a:solidFill>
                <a:latin typeface="Ember Modern Display Standard"/>
              </a:rPr>
              <a:t>    </a:t>
            </a:r>
            <a:r>
              <a:rPr sz="850" b="0">
                <a:solidFill>
                  <a:srgbClr val="B8C0CC"/>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1">
                <a:solidFill>
                  <a:srgbClr val="FF6200"/>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Deliver Results</a:t>
            </a:r>
          </a:p>
        </p:txBody>
      </p:sp>
      <p:graphicFrame>
        <p:nvGraphicFramePr>
          <p:cNvPr id="269" name="Chart 268"/>
          <p:cNvGraphicFramePr>
            <a:graphicFrameLocks noGrp="1"/>
          </p:cNvGraphicFramePr>
          <p:nvPr/>
        </p:nvGraphicFramePr>
        <p:xfrm>
          <a:off x="411480" y="1280160"/>
          <a:ext cx="5806440" cy="2880360"/>
        </p:xfrm>
        <a:graphic>
          <a:graphicData uri="http://schemas.openxmlformats.org/drawingml/2006/chart">
            <c:chart xmlns:c="http://schemas.openxmlformats.org/drawingml/2006/chart" r:id="rId2"/>
          </a:graphicData>
        </a:graphic>
      </p:graphicFrame>
      <p:sp>
        <p:nvSpPr>
          <p:cNvPr id="270" name="TextBox 269"/>
          <p:cNvSpPr txBox="1"/>
          <p:nvPr/>
        </p:nvSpPr>
        <p:spPr>
          <a:xfrm>
            <a:off x="502920" y="4187952"/>
            <a:ext cx="5760720" cy="274320"/>
          </a:xfrm>
          <a:prstGeom prst="rect">
            <a:avLst/>
          </a:prstGeom>
          <a:noFill/>
        </p:spPr>
        <p:txBody>
          <a:bodyPr wrap="square" lIns="0" rIns="0" tIns="0" bIns="0" anchor="t">
            <a:spAutoFit/>
          </a:bodyPr>
          <a:lstStyle/>
          <a:p>
            <a:pPr algn="l"/>
            <a:r>
              <a:rPr sz="1100" b="0">
                <a:solidFill>
                  <a:srgbClr val="6B7280"/>
                </a:solidFill>
                <a:latin typeface="Ember Modern Display Standard"/>
              </a:rPr>
              <a:t>Behind this line: long nights, a laptop that froze at 3:35 am, a GPU lost mid-run.</a:t>
            </a:r>
          </a:p>
        </p:txBody>
      </p:sp>
      <p:sp>
        <p:nvSpPr>
          <p:cNvPr id="271" name="Rounded Rectangle 270"/>
          <p:cNvSpPr/>
          <p:nvPr/>
        </p:nvSpPr>
        <p:spPr>
          <a:xfrm>
            <a:off x="6400800" y="1371600"/>
            <a:ext cx="2240280" cy="3008376"/>
          </a:xfrm>
          <a:prstGeom prst="roundRect">
            <a:avLst>
              <a:gd name="adj" fmla="val 2448"/>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6601968" y="1600200"/>
            <a:ext cx="1920240" cy="228600"/>
          </a:xfrm>
          <a:prstGeom prst="rect">
            <a:avLst/>
          </a:prstGeom>
          <a:noFill/>
        </p:spPr>
        <p:txBody>
          <a:bodyPr wrap="square" lIns="0" rIns="0" tIns="0" bIns="0" anchor="t">
            <a:spAutoFit/>
          </a:bodyPr>
          <a:lstStyle/>
          <a:p>
            <a:pPr algn="l"/>
            <a:r>
              <a:rPr sz="1000" b="1">
                <a:solidFill>
                  <a:srgbClr val="FFB28B"/>
                </a:solidFill>
                <a:latin typeface="Ember Modern Display Standard"/>
              </a:rPr>
              <a:t>FINAL SCORE</a:t>
            </a:r>
          </a:p>
        </p:txBody>
      </p:sp>
      <p:sp>
        <p:nvSpPr>
          <p:cNvPr id="273" name="TextBox 272"/>
          <p:cNvSpPr txBox="1"/>
          <p:nvPr/>
        </p:nvSpPr>
        <p:spPr>
          <a:xfrm>
            <a:off x="6601968" y="1828800"/>
            <a:ext cx="1920240" cy="502920"/>
          </a:xfrm>
          <a:prstGeom prst="rect">
            <a:avLst/>
          </a:prstGeom>
          <a:noFill/>
        </p:spPr>
        <p:txBody>
          <a:bodyPr wrap="square" lIns="0" rIns="0" tIns="0" bIns="0" anchor="t">
            <a:spAutoFit/>
          </a:bodyPr>
          <a:lstStyle/>
          <a:p>
            <a:pPr algn="l"/>
            <a:r>
              <a:rPr sz="2500" b="1">
                <a:solidFill>
                  <a:srgbClr val="FF6200"/>
                </a:solidFill>
                <a:latin typeface="Ember Modern Display Standard"/>
              </a:rPr>
              <a:t>0.990879</a:t>
            </a:r>
          </a:p>
        </p:txBody>
      </p:sp>
      <p:sp>
        <p:nvSpPr>
          <p:cNvPr id="274" name="TextBox 273"/>
          <p:cNvSpPr txBox="1"/>
          <p:nvPr/>
        </p:nvSpPr>
        <p:spPr>
          <a:xfrm>
            <a:off x="6601968" y="2304288"/>
            <a:ext cx="1920240" cy="274320"/>
          </a:xfrm>
          <a:prstGeom prst="rect">
            <a:avLst/>
          </a:prstGeom>
          <a:noFill/>
        </p:spPr>
        <p:txBody>
          <a:bodyPr wrap="square" lIns="0" rIns="0" tIns="0" bIns="0" anchor="t">
            <a:spAutoFit/>
          </a:bodyPr>
          <a:lstStyle/>
          <a:p>
            <a:pPr algn="l"/>
            <a:r>
              <a:rPr sz="1200" b="0">
                <a:solidFill>
                  <a:srgbClr val="B8C0CC"/>
                </a:solidFill>
                <a:latin typeface="Ember Modern Display Standard"/>
              </a:rPr>
              <a:t>public leaderboard</a:t>
            </a:r>
          </a:p>
        </p:txBody>
      </p:sp>
      <p:sp>
        <p:nvSpPr>
          <p:cNvPr id="275" name="TextBox 274"/>
          <p:cNvSpPr txBox="1"/>
          <p:nvPr/>
        </p:nvSpPr>
        <p:spPr>
          <a:xfrm>
            <a:off x="6601968" y="2926080"/>
            <a:ext cx="1920240" cy="640080"/>
          </a:xfrm>
          <a:prstGeom prst="rect">
            <a:avLst/>
          </a:prstGeom>
          <a:noFill/>
        </p:spPr>
        <p:txBody>
          <a:bodyPr wrap="square" lIns="0" rIns="0" tIns="0" bIns="0" anchor="t">
            <a:spAutoFit/>
          </a:bodyPr>
          <a:lstStyle/>
          <a:p>
            <a:pPr algn="l"/>
            <a:r>
              <a:rPr sz="3400" b="1">
                <a:solidFill>
                  <a:srgbClr val="FFFFFF"/>
                </a:solidFill>
                <a:latin typeface="Ember Modern Display Standard"/>
              </a:rPr>
              <a:t>2nd</a:t>
            </a:r>
            <a:r>
              <a:rPr sz="1300" b="0">
                <a:solidFill>
                  <a:srgbClr val="FFFFFF"/>
                </a:solidFill>
                <a:latin typeface="Ember Modern Display Standard"/>
              </a:rPr>
              <a:t>  of the Top 10</a:t>
            </a:r>
          </a:p>
        </p:txBody>
      </p:sp>
      <p:sp>
        <p:nvSpPr>
          <p:cNvPr id="276" name="TextBox 275"/>
          <p:cNvSpPr txBox="1"/>
          <p:nvPr/>
        </p:nvSpPr>
        <p:spPr>
          <a:xfrm>
            <a:off x="6601968" y="3611880"/>
            <a:ext cx="1920240" cy="274320"/>
          </a:xfrm>
          <a:prstGeom prst="rect">
            <a:avLst/>
          </a:prstGeom>
          <a:noFill/>
        </p:spPr>
        <p:txBody>
          <a:bodyPr wrap="square" lIns="0" rIns="0" tIns="0" bIns="0" anchor="t">
            <a:spAutoFit/>
          </a:bodyPr>
          <a:lstStyle/>
          <a:p>
            <a:pPr algn="l"/>
            <a:r>
              <a:rPr sz="1200" b="0">
                <a:solidFill>
                  <a:srgbClr val="FFB28B"/>
                </a:solidFill>
                <a:latin typeface="Ember Modern Display Standard"/>
              </a:rPr>
              <a:t>among 32,000+ teams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22" presetClass="entr" presetSubtype="8"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wipe(left)">
                                      <p:cBhvr>
                                        <p:cTn id="6" dur="500"/>
                                        <p:tgtEl>
                                          <p:spTgt spid="269"/>
                                        </p:tgtEl>
                                      </p:cBhvr>
                                    </p:animEffect>
                                  </p:childTnLst>
                                </p:cTn>
                              </p:par>
                            </p:childTnLst>
                          </p:cTn>
                        </p:par>
                        <p:par>
                          <p:cTn id="11" fill="hold">
                            <p:stCondLst>
                              <p:cond delay="500"/>
                            </p:stCondLst>
                            <p:childTnLst>
                              <p:par>
                                <p:cTn id="8" presetID="10" presetClass="entr" presetSubtype="0" fill="hold" grpId="0" nodeType="afterEffect">
                                  <p:stCondLst>
                                    <p:cond delay="0"/>
                                  </p:stCondLst>
                                  <p:childTnLst>
                                    <p:set>
                                      <p:cBhvr>
                                        <p:cTn id="9" dur="1" fill="hold">
                                          <p:stCondLst>
                                            <p:cond delay="0"/>
                                          </p:stCondLst>
                                        </p:cTn>
                                        <p:tgtEl>
                                          <p:spTgt spid="270"/>
                                        </p:tgtEl>
                                        <p:attrNameLst>
                                          <p:attrName>style.visibility</p:attrName>
                                        </p:attrNameLst>
                                      </p:cBhvr>
                                      <p:to>
                                        <p:strVal val="visible"/>
                                      </p:to>
                                    </p:set>
                                    <p:animEffect transition="in" filter="fade">
                                      <p:cBhvr>
                                        <p:cTn id="10" dur="450"/>
                                        <p:tgtEl>
                                          <p:spTgt spid="270"/>
                                        </p:tgtEl>
                                      </p:cBhvr>
                                    </p:animEffect>
                                  </p:childTnLst>
                                </p:cTn>
                              </p:par>
                            </p:childTnLst>
                          </p:cTn>
                        </p:par>
                        <p:par>
                          <p:cTn id="24" fill="hold">
                            <p:stCondLst>
                              <p:cond delay="950"/>
                            </p:stCondLst>
                            <p:childTnLst>
                              <p:par>
                                <p:cTn id="12" presetID="10" presetClass="entr" presetSubtype="0" fill="hold" grpId="0" nodeType="afterEffect">
                                  <p:stCondLst>
                                    <p:cond delay="0"/>
                                  </p:stCondLst>
                                  <p:childTnLst>
                                    <p:set>
                                      <p:cBhvr>
                                        <p:cTn id="13" dur="1" fill="hold">
                                          <p:stCondLst>
                                            <p:cond delay="0"/>
                                          </p:stCondLst>
                                        </p:cTn>
                                        <p:tgtEl>
                                          <p:spTgt spid="271"/>
                                        </p:tgtEl>
                                        <p:attrNameLst>
                                          <p:attrName>style.visibility</p:attrName>
                                        </p:attrNameLst>
                                      </p:cBhvr>
                                      <p:to>
                                        <p:strVal val="visible"/>
                                      </p:to>
                                    </p:set>
                                    <p:animEffect transition="in" filter="fade">
                                      <p:cBhvr>
                                        <p:cTn id="14" dur="450"/>
                                        <p:tgtEl>
                                          <p:spTgt spid="27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2"/>
                                        </p:tgtEl>
                                        <p:attrNameLst>
                                          <p:attrName>style.visibility</p:attrName>
                                        </p:attrNameLst>
                                      </p:cBhvr>
                                      <p:to>
                                        <p:strVal val="visible"/>
                                      </p:to>
                                    </p:set>
                                    <p:animEffect transition="in" filter="fade">
                                      <p:cBhvr>
                                        <p:cTn id="17" dur="450"/>
                                        <p:tgtEl>
                                          <p:spTgt spid="27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3"/>
                                        </p:tgtEl>
                                        <p:attrNameLst>
                                          <p:attrName>style.visibility</p:attrName>
                                        </p:attrNameLst>
                                      </p:cBhvr>
                                      <p:to>
                                        <p:strVal val="visible"/>
                                      </p:to>
                                    </p:set>
                                    <p:animEffect transition="in" filter="fade">
                                      <p:cBhvr>
                                        <p:cTn id="20" dur="450"/>
                                        <p:tgtEl>
                                          <p:spTgt spid="27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4"/>
                                        </p:tgtEl>
                                        <p:attrNameLst>
                                          <p:attrName>style.visibility</p:attrName>
                                        </p:attrNameLst>
                                      </p:cBhvr>
                                      <p:to>
                                        <p:strVal val="visible"/>
                                      </p:to>
                                    </p:set>
                                    <p:animEffect transition="in" filter="fade">
                                      <p:cBhvr>
                                        <p:cTn id="23" dur="450"/>
                                        <p:tgtEl>
                                          <p:spTgt spid="274"/>
                                        </p:tgtEl>
                                      </p:cBhvr>
                                    </p:animEffect>
                                  </p:childTnLst>
                                </p:cTn>
                              </p:par>
                            </p:childTnLst>
                          </p:cTn>
                        </p:par>
                        <p:par>
                          <p:cTn id="31" fill="hold">
                            <p:stCondLst>
                              <p:cond delay="1400"/>
                            </p:stCondLst>
                            <p:childTnLst>
                              <p:par>
                                <p:cTn id="25" presetID="10" presetClass="entr" presetSubtype="0" fill="hold" grpId="0" nodeType="afterEffect">
                                  <p:stCondLst>
                                    <p:cond delay="0"/>
                                  </p:stCondLst>
                                  <p:childTnLst>
                                    <p:set>
                                      <p:cBhvr>
                                        <p:cTn id="26" dur="1" fill="hold">
                                          <p:stCondLst>
                                            <p:cond delay="0"/>
                                          </p:stCondLst>
                                        </p:cTn>
                                        <p:tgtEl>
                                          <p:spTgt spid="275"/>
                                        </p:tgtEl>
                                        <p:attrNameLst>
                                          <p:attrName>style.visibility</p:attrName>
                                        </p:attrNameLst>
                                      </p:cBhvr>
                                      <p:to>
                                        <p:strVal val="visible"/>
                                      </p:to>
                                    </p:set>
                                    <p:animEffect transition="in" filter="fade">
                                      <p:cBhvr>
                                        <p:cTn id="27" dur="450"/>
                                        <p:tgtEl>
                                          <p:spTgt spid="27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76"/>
                                        </p:tgtEl>
                                        <p:attrNameLst>
                                          <p:attrName>style.visibility</p:attrName>
                                        </p:attrNameLst>
                                      </p:cBhvr>
                                      <p:to>
                                        <p:strVal val="visible"/>
                                      </p:to>
                                    </p:set>
                                    <p:animEffect transition="in" filter="fade">
                                      <p:cBhvr>
                                        <p:cTn id="30" dur="450"/>
                                        <p:tgtEl>
                                          <p:spTgt spid="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69" grpId="0">
        <p:bldAsOne/>
      </p:bldGraphic>
      <p:bldP spid="270" grpId="0" animBg="1"/>
      <p:bldP spid="271" grpId="0" animBg="1"/>
      <p:bldP spid="272" grpId="0" animBg="1"/>
      <p:bldP spid="273" grpId="0" animBg="1"/>
      <p:bldP spid="274" grpId="0" animBg="1"/>
      <p:bldP spid="275" grpId="0" animBg="1"/>
      <p:bldP spid="27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What We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Learned</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Three lessons we will carry forward.</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0">
                <a:solidFill>
                  <a:srgbClr val="B8C0CC"/>
                </a:solidFill>
                <a:latin typeface="Ember Modern Display Standard"/>
              </a:rPr>
              <a:t>01 Understanding</a:t>
            </a:r>
            <a:r>
              <a:rPr sz="850" b="0">
                <a:solidFill>
                  <a:srgbClr val="161D26"/>
                </a:solidFill>
                <a:latin typeface="Ember Modern Display Standard"/>
              </a:rPr>
              <a:t>    </a:t>
            </a:r>
            <a:r>
              <a:rPr sz="850" b="0">
                <a:solidFill>
                  <a:srgbClr val="B8C0CC"/>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1">
                <a:solidFill>
                  <a:srgbClr val="FF6200"/>
                </a:solidFill>
                <a:latin typeface="Ember Modern Display Standard"/>
              </a:rPr>
              <a:t>04 Results</a:t>
            </a:r>
            <a:r>
              <a:rPr sz="850" b="0">
                <a:solidFill>
                  <a:srgbClr val="161D26"/>
                </a:solidFill>
                <a:latin typeface="Ember Modern Display Standard"/>
              </a:rPr>
              <a:t>    </a:t>
            </a:r>
            <a:r>
              <a:rPr sz="850" b="0">
                <a:solidFill>
                  <a:srgbClr val="B8C0CC"/>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Are Right, A Lot</a:t>
            </a:r>
          </a:p>
        </p:txBody>
      </p:sp>
      <p:sp>
        <p:nvSpPr>
          <p:cNvPr id="269" name="Rounded Rectangle 268"/>
          <p:cNvSpPr/>
          <p:nvPr/>
        </p:nvSpPr>
        <p:spPr>
          <a:xfrm>
            <a:off x="502920" y="1417320"/>
            <a:ext cx="2606040" cy="2880360"/>
          </a:xfrm>
          <a:prstGeom prst="roundRect">
            <a:avLst>
              <a:gd name="adj" fmla="val 2105"/>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731520" y="1600200"/>
            <a:ext cx="2194560" cy="548640"/>
          </a:xfrm>
          <a:prstGeom prst="rect">
            <a:avLst/>
          </a:prstGeom>
          <a:noFill/>
        </p:spPr>
        <p:txBody>
          <a:bodyPr wrap="square" lIns="0" rIns="0" tIns="0" bIns="0" anchor="t">
            <a:spAutoFit/>
          </a:bodyPr>
          <a:lstStyle/>
          <a:p>
            <a:pPr algn="l"/>
            <a:r>
              <a:rPr sz="2600" b="1">
                <a:solidFill>
                  <a:srgbClr val="FF6200"/>
                </a:solidFill>
                <a:latin typeface="Ember Modern Display Standard"/>
              </a:rPr>
              <a:t>01</a:t>
            </a:r>
          </a:p>
        </p:txBody>
      </p:sp>
      <p:sp>
        <p:nvSpPr>
          <p:cNvPr id="271" name="TextBox 270"/>
          <p:cNvSpPr txBox="1"/>
          <p:nvPr/>
        </p:nvSpPr>
        <p:spPr>
          <a:xfrm>
            <a:off x="731520" y="2240280"/>
            <a:ext cx="2194560" cy="457200"/>
          </a:xfrm>
          <a:prstGeom prst="rect">
            <a:avLst/>
          </a:prstGeom>
          <a:noFill/>
        </p:spPr>
        <p:txBody>
          <a:bodyPr wrap="square" lIns="0" rIns="0" tIns="0" bIns="0" anchor="t">
            <a:spAutoFit/>
          </a:bodyPr>
          <a:lstStyle/>
          <a:p>
            <a:pPr algn="l"/>
            <a:r>
              <a:rPr sz="1800" b="1">
                <a:solidFill>
                  <a:srgbClr val="FFFFFF"/>
                </a:solidFill>
                <a:latin typeface="Ember Modern Display Standard"/>
              </a:rPr>
              <a:t>Data first</a:t>
            </a:r>
          </a:p>
        </p:txBody>
      </p:sp>
      <p:sp>
        <p:nvSpPr>
          <p:cNvPr id="272" name="TextBox 271"/>
          <p:cNvSpPr txBox="1"/>
          <p:nvPr/>
        </p:nvSpPr>
        <p:spPr>
          <a:xfrm>
            <a:off x="731520" y="2743200"/>
            <a:ext cx="2194560" cy="1371600"/>
          </a:xfrm>
          <a:prstGeom prst="rect">
            <a:avLst/>
          </a:prstGeom>
          <a:noFill/>
        </p:spPr>
        <p:txBody>
          <a:bodyPr wrap="square" lIns="0" rIns="0" tIns="0" bIns="0" anchor="t">
            <a:spAutoFit/>
          </a:bodyPr>
          <a:lstStyle/>
          <a:p>
            <a:pPr algn="l"/>
            <a:r>
              <a:rPr sz="1300" b="0">
                <a:solidFill>
                  <a:srgbClr val="D6DCE7"/>
                </a:solidFill>
                <a:latin typeface="Ember Modern Display Standard"/>
              </a:rPr>
              <a:t>Every good decision traced back to reading the data.</a:t>
            </a:r>
          </a:p>
        </p:txBody>
      </p:sp>
      <p:sp>
        <p:nvSpPr>
          <p:cNvPr id="273" name="Rounded Rectangle 272"/>
          <p:cNvSpPr/>
          <p:nvPr/>
        </p:nvSpPr>
        <p:spPr>
          <a:xfrm>
            <a:off x="3268980" y="1417320"/>
            <a:ext cx="2606040" cy="2880360"/>
          </a:xfrm>
          <a:prstGeom prst="roundRect">
            <a:avLst>
              <a:gd name="adj" fmla="val 2105"/>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3497580" y="1600200"/>
            <a:ext cx="2194560" cy="548640"/>
          </a:xfrm>
          <a:prstGeom prst="rect">
            <a:avLst/>
          </a:prstGeom>
          <a:noFill/>
        </p:spPr>
        <p:txBody>
          <a:bodyPr wrap="square" lIns="0" rIns="0" tIns="0" bIns="0" anchor="t">
            <a:spAutoFit/>
          </a:bodyPr>
          <a:lstStyle/>
          <a:p>
            <a:pPr algn="l"/>
            <a:r>
              <a:rPr sz="2600" b="1">
                <a:solidFill>
                  <a:srgbClr val="FF6200"/>
                </a:solidFill>
                <a:latin typeface="Ember Modern Display Standard"/>
              </a:rPr>
              <a:t>02</a:t>
            </a:r>
          </a:p>
        </p:txBody>
      </p:sp>
      <p:sp>
        <p:nvSpPr>
          <p:cNvPr id="275" name="TextBox 274"/>
          <p:cNvSpPr txBox="1"/>
          <p:nvPr/>
        </p:nvSpPr>
        <p:spPr>
          <a:xfrm>
            <a:off x="3497580" y="2240280"/>
            <a:ext cx="2194560" cy="457200"/>
          </a:xfrm>
          <a:prstGeom prst="rect">
            <a:avLst/>
          </a:prstGeom>
          <a:noFill/>
        </p:spPr>
        <p:txBody>
          <a:bodyPr wrap="square" lIns="0" rIns="0" tIns="0" bIns="0" anchor="t">
            <a:spAutoFit/>
          </a:bodyPr>
          <a:lstStyle/>
          <a:p>
            <a:pPr algn="l"/>
            <a:r>
              <a:rPr sz="1800" b="1">
                <a:solidFill>
                  <a:srgbClr val="161D26"/>
                </a:solidFill>
                <a:latin typeface="Ember Modern Display Standard"/>
              </a:rPr>
              <a:t>Doubt estimates</a:t>
            </a:r>
          </a:p>
        </p:txBody>
      </p:sp>
      <p:sp>
        <p:nvSpPr>
          <p:cNvPr id="276" name="TextBox 275"/>
          <p:cNvSpPr txBox="1"/>
          <p:nvPr/>
        </p:nvSpPr>
        <p:spPr>
          <a:xfrm>
            <a:off x="3497580" y="2743200"/>
            <a:ext cx="2194560" cy="1371600"/>
          </a:xfrm>
          <a:prstGeom prst="rect">
            <a:avLst/>
          </a:prstGeom>
          <a:noFill/>
        </p:spPr>
        <p:txBody>
          <a:bodyPr wrap="square" lIns="0" rIns="0" tIns="0" bIns="0" anchor="t">
            <a:spAutoFit/>
          </a:bodyPr>
          <a:lstStyle/>
          <a:p>
            <a:pPr algn="l"/>
            <a:r>
              <a:rPr sz="1300" b="0">
                <a:solidFill>
                  <a:srgbClr val="161D26"/>
                </a:solidFill>
                <a:latin typeface="Ember Modern Display Standard"/>
              </a:rPr>
              <a:t>Ours shared our model's blind spots; the leaderboard corrected us.</a:t>
            </a:r>
          </a:p>
        </p:txBody>
      </p:sp>
      <p:sp>
        <p:nvSpPr>
          <p:cNvPr id="277" name="Rounded Rectangle 276"/>
          <p:cNvSpPr/>
          <p:nvPr/>
        </p:nvSpPr>
        <p:spPr>
          <a:xfrm>
            <a:off x="6035040" y="1417320"/>
            <a:ext cx="2606040" cy="2880360"/>
          </a:xfrm>
          <a:prstGeom prst="roundRect">
            <a:avLst>
              <a:gd name="adj" fmla="val 2105"/>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6263640" y="1600200"/>
            <a:ext cx="2194560" cy="548640"/>
          </a:xfrm>
          <a:prstGeom prst="rect">
            <a:avLst/>
          </a:prstGeom>
          <a:noFill/>
        </p:spPr>
        <p:txBody>
          <a:bodyPr wrap="square" lIns="0" rIns="0" tIns="0" bIns="0" anchor="t">
            <a:spAutoFit/>
          </a:bodyPr>
          <a:lstStyle/>
          <a:p>
            <a:pPr algn="l"/>
            <a:r>
              <a:rPr sz="2600" b="1">
                <a:solidFill>
                  <a:srgbClr val="FF6200"/>
                </a:solidFill>
                <a:latin typeface="Ember Modern Display Standard"/>
              </a:rPr>
              <a:t>03</a:t>
            </a:r>
          </a:p>
        </p:txBody>
      </p:sp>
      <p:sp>
        <p:nvSpPr>
          <p:cNvPr id="279" name="TextBox 278"/>
          <p:cNvSpPr txBox="1"/>
          <p:nvPr/>
        </p:nvSpPr>
        <p:spPr>
          <a:xfrm>
            <a:off x="6263640" y="2240280"/>
            <a:ext cx="2194560" cy="457200"/>
          </a:xfrm>
          <a:prstGeom prst="rect">
            <a:avLst/>
          </a:prstGeom>
          <a:noFill/>
        </p:spPr>
        <p:txBody>
          <a:bodyPr wrap="square" lIns="0" rIns="0" tIns="0" bIns="0" anchor="t">
            <a:spAutoFit/>
          </a:bodyPr>
          <a:lstStyle/>
          <a:p>
            <a:pPr algn="l"/>
            <a:r>
              <a:rPr sz="1800" b="1">
                <a:solidFill>
                  <a:srgbClr val="161D26"/>
                </a:solidFill>
                <a:latin typeface="Ember Modern Display Standard"/>
              </a:rPr>
              <a:t>Diversity wins</a:t>
            </a:r>
          </a:p>
        </p:txBody>
      </p:sp>
      <p:sp>
        <p:nvSpPr>
          <p:cNvPr id="280" name="TextBox 279"/>
          <p:cNvSpPr txBox="1"/>
          <p:nvPr/>
        </p:nvSpPr>
        <p:spPr>
          <a:xfrm>
            <a:off x="6263640" y="2743200"/>
            <a:ext cx="2194560" cy="1371600"/>
          </a:xfrm>
          <a:prstGeom prst="rect">
            <a:avLst/>
          </a:prstGeom>
          <a:noFill/>
        </p:spPr>
        <p:txBody>
          <a:bodyPr wrap="square" lIns="0" rIns="0" tIns="0" bIns="0" anchor="t">
            <a:spAutoFit/>
          </a:bodyPr>
          <a:lstStyle/>
          <a:p>
            <a:pPr algn="l"/>
            <a:r>
              <a:rPr sz="1300" b="0">
                <a:solidFill>
                  <a:srgbClr val="161D26"/>
                </a:solidFill>
                <a:latin typeface="Ember Modern Display Standard"/>
              </a:rPr>
              <a:t>Different models together beat one strong model, most of all in the unknown.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6"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fade">
                                      <p:cBhvr>
                                        <p:cTn id="6" dur="45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271"/>
                                        </p:tgtEl>
                                        <p:attrNameLst>
                                          <p:attrName>style.visibility</p:attrName>
                                        </p:attrNameLst>
                                      </p:cBhvr>
                                      <p:to>
                                        <p:strVal val="visible"/>
                                      </p:to>
                                    </p:set>
                                    <p:animEffect transition="in" filter="fade">
                                      <p:cBhvr>
                                        <p:cTn id="12" dur="450"/>
                                        <p:tgtEl>
                                          <p:spTgt spid="27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72"/>
                                        </p:tgtEl>
                                        <p:attrNameLst>
                                          <p:attrName>style.visibility</p:attrName>
                                        </p:attrNameLst>
                                      </p:cBhvr>
                                      <p:to>
                                        <p:strVal val="visible"/>
                                      </p:to>
                                    </p:set>
                                    <p:animEffect transition="in" filter="fade">
                                      <p:cBhvr>
                                        <p:cTn id="15" dur="450"/>
                                        <p:tgtEl>
                                          <p:spTgt spid="272"/>
                                        </p:tgtEl>
                                      </p:cBhvr>
                                    </p:animEffect>
                                  </p:childTnLst>
                                </p:cTn>
                              </p:par>
                            </p:childTnLst>
                          </p:cTn>
                        </p:par>
                        <p:par>
                          <p:cTn id="29" fill="hold">
                            <p:stCondLst>
                              <p:cond delay="450"/>
                            </p:stCondLst>
                            <p:childTnLst>
                              <p:par>
                                <p:cTn id="17" presetID="10" presetClass="entr" presetSubtype="0" fill="hold" grpId="0" nodeType="afterEffect">
                                  <p:stCondLst>
                                    <p:cond delay="0"/>
                                  </p:stCondLst>
                                  <p:childTnLst>
                                    <p:set>
                                      <p:cBhvr>
                                        <p:cTn id="18" dur="1" fill="hold">
                                          <p:stCondLst>
                                            <p:cond delay="0"/>
                                          </p:stCondLst>
                                        </p:cTn>
                                        <p:tgtEl>
                                          <p:spTgt spid="273"/>
                                        </p:tgtEl>
                                        <p:attrNameLst>
                                          <p:attrName>style.visibility</p:attrName>
                                        </p:attrNameLst>
                                      </p:cBhvr>
                                      <p:to>
                                        <p:strVal val="visible"/>
                                      </p:to>
                                    </p:set>
                                    <p:animEffect transition="in" filter="fade">
                                      <p:cBhvr>
                                        <p:cTn id="19" dur="450"/>
                                        <p:tgtEl>
                                          <p:spTgt spid="27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4"/>
                                        </p:tgtEl>
                                        <p:attrNameLst>
                                          <p:attrName>style.visibility</p:attrName>
                                        </p:attrNameLst>
                                      </p:cBhvr>
                                      <p:to>
                                        <p:strVal val="visible"/>
                                      </p:to>
                                    </p:set>
                                    <p:animEffect transition="in" filter="fade">
                                      <p:cBhvr>
                                        <p:cTn id="22" dur="450"/>
                                        <p:tgtEl>
                                          <p:spTgt spid="27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5"/>
                                        </p:tgtEl>
                                        <p:attrNameLst>
                                          <p:attrName>style.visibility</p:attrName>
                                        </p:attrNameLst>
                                      </p:cBhvr>
                                      <p:to>
                                        <p:strVal val="visible"/>
                                      </p:to>
                                    </p:set>
                                    <p:animEffect transition="in" filter="fade">
                                      <p:cBhvr>
                                        <p:cTn id="25" dur="450"/>
                                        <p:tgtEl>
                                          <p:spTgt spid="27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76"/>
                                        </p:tgtEl>
                                        <p:attrNameLst>
                                          <p:attrName>style.visibility</p:attrName>
                                        </p:attrNameLst>
                                      </p:cBhvr>
                                      <p:to>
                                        <p:strVal val="visible"/>
                                      </p:to>
                                    </p:set>
                                    <p:animEffect transition="in" filter="fade">
                                      <p:cBhvr>
                                        <p:cTn id="28" dur="450"/>
                                        <p:tgtEl>
                                          <p:spTgt spid="276"/>
                                        </p:tgtEl>
                                      </p:cBhvr>
                                    </p:animEffect>
                                  </p:childTnLst>
                                </p:cTn>
                              </p:par>
                            </p:childTnLst>
                          </p:cTn>
                        </p:par>
                        <p:par>
                          <p:cTn id="42" fill="hold">
                            <p:stCondLst>
                              <p:cond delay="900"/>
                            </p:stCondLst>
                            <p:childTnLst>
                              <p:par>
                                <p:cTn id="30" presetID="10" presetClass="entr" presetSubtype="0" fill="hold" grpId="0" nodeType="afterEffect">
                                  <p:stCondLst>
                                    <p:cond delay="0"/>
                                  </p:stCondLst>
                                  <p:childTnLst>
                                    <p:set>
                                      <p:cBhvr>
                                        <p:cTn id="31" dur="1" fill="hold">
                                          <p:stCondLst>
                                            <p:cond delay="0"/>
                                          </p:stCondLst>
                                        </p:cTn>
                                        <p:tgtEl>
                                          <p:spTgt spid="277"/>
                                        </p:tgtEl>
                                        <p:attrNameLst>
                                          <p:attrName>style.visibility</p:attrName>
                                        </p:attrNameLst>
                                      </p:cBhvr>
                                      <p:to>
                                        <p:strVal val="visible"/>
                                      </p:to>
                                    </p:set>
                                    <p:animEffect transition="in" filter="fade">
                                      <p:cBhvr>
                                        <p:cTn id="32" dur="450"/>
                                        <p:tgtEl>
                                          <p:spTgt spid="27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78"/>
                                        </p:tgtEl>
                                        <p:attrNameLst>
                                          <p:attrName>style.visibility</p:attrName>
                                        </p:attrNameLst>
                                      </p:cBhvr>
                                      <p:to>
                                        <p:strVal val="visible"/>
                                      </p:to>
                                    </p:set>
                                    <p:animEffect transition="in" filter="fade">
                                      <p:cBhvr>
                                        <p:cTn id="35" dur="450"/>
                                        <p:tgtEl>
                                          <p:spTgt spid="27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79"/>
                                        </p:tgtEl>
                                        <p:attrNameLst>
                                          <p:attrName>style.visibility</p:attrName>
                                        </p:attrNameLst>
                                      </p:cBhvr>
                                      <p:to>
                                        <p:strVal val="visible"/>
                                      </p:to>
                                    </p:set>
                                    <p:animEffect transition="in" filter="fade">
                                      <p:cBhvr>
                                        <p:cTn id="38" dur="450"/>
                                        <p:tgtEl>
                                          <p:spTgt spid="27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80"/>
                                        </p:tgtEl>
                                        <p:attrNameLst>
                                          <p:attrName>style.visibility</p:attrName>
                                        </p:attrNameLst>
                                      </p:cBhvr>
                                      <p:to>
                                        <p:strVal val="visible"/>
                                      </p:to>
                                    </p:set>
                                    <p:animEffect transition="in" filter="fade">
                                      <p:cBhvr>
                                        <p:cTn id="41" dur="450"/>
                                        <p:tgtEl>
                                          <p:spTgt spid="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0" animBg="1"/>
      <p:bldP spid="270" grpId="0" animBg="1"/>
      <p:bldP spid="271" grpId="0" animBg="1"/>
      <p:bldP spid="272" grpId="0" animBg="1"/>
      <p:bldP spid="273" grpId="0" animBg="1"/>
      <p:bldP spid="274" grpId="0" animBg="1"/>
      <p:bldP spid="275" grpId="0" animBg="1"/>
      <p:bldP spid="276" grpId="0" animBg="1"/>
      <p:bldP spid="277" grpId="0" animBg="1"/>
      <p:bldP spid="278" grpId="0" animBg="1"/>
      <p:bldP spid="279" grpId="0" animBg="1"/>
      <p:bldP spid="28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Scale and</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Speed</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How this would run on billions of records, and at the moment of sign-up.</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0">
                <a:solidFill>
                  <a:srgbClr val="B8C0CC"/>
                </a:solidFill>
                <a:latin typeface="Ember Modern Display Standard"/>
              </a:rPr>
              <a:t>01 Understanding</a:t>
            </a:r>
            <a:r>
              <a:rPr sz="850" b="0">
                <a:solidFill>
                  <a:srgbClr val="161D26"/>
                </a:solidFill>
                <a:latin typeface="Ember Modern Display Standard"/>
              </a:rPr>
              <a:t>    </a:t>
            </a:r>
            <a:r>
              <a:rPr sz="850" b="0">
                <a:solidFill>
                  <a:srgbClr val="B8C0CC"/>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1">
                <a:solidFill>
                  <a:srgbClr val="FF6200"/>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Think Big  ·  Frugality</a:t>
            </a:r>
          </a:p>
        </p:txBody>
      </p:sp>
      <p:sp>
        <p:nvSpPr>
          <p:cNvPr id="269" name="Rounded Rectangle 268"/>
          <p:cNvSpPr/>
          <p:nvPr/>
        </p:nvSpPr>
        <p:spPr>
          <a:xfrm>
            <a:off x="502920" y="1371600"/>
            <a:ext cx="2606040" cy="2331720"/>
          </a:xfrm>
          <a:prstGeom prst="roundRect">
            <a:avLst>
              <a:gd name="adj" fmla="val 2352"/>
            </a:avLst>
          </a:prstGeom>
          <a:solidFill>
            <a:srgbClr val="D6D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731520" y="1536192"/>
            <a:ext cx="2194560" cy="411480"/>
          </a:xfrm>
          <a:prstGeom prst="rect">
            <a:avLst/>
          </a:prstGeom>
          <a:noFill/>
        </p:spPr>
        <p:txBody>
          <a:bodyPr wrap="square" lIns="0" rIns="0" tIns="0" bIns="0" anchor="t">
            <a:spAutoFit/>
          </a:bodyPr>
          <a:lstStyle/>
          <a:p>
            <a:pPr algn="l"/>
            <a:r>
              <a:rPr sz="1800" b="1">
                <a:solidFill>
                  <a:srgbClr val="161D26"/>
                </a:solidFill>
                <a:latin typeface="Ember Modern Display Standard"/>
              </a:rPr>
              <a:t>Scale out</a:t>
            </a:r>
          </a:p>
        </p:txBody>
      </p:sp>
      <p:sp>
        <p:nvSpPr>
          <p:cNvPr id="271" name="TextBox 270"/>
          <p:cNvSpPr txBox="1"/>
          <p:nvPr/>
        </p:nvSpPr>
        <p:spPr>
          <a:xfrm>
            <a:off x="731520" y="2057400"/>
            <a:ext cx="2194560" cy="1554480"/>
          </a:xfrm>
          <a:prstGeom prst="rect">
            <a:avLst/>
          </a:prstGeom>
          <a:noFill/>
        </p:spPr>
        <p:txBody>
          <a:bodyPr wrap="square" lIns="0" rIns="0" tIns="0" bIns="0" anchor="t">
            <a:spAutoFit/>
          </a:bodyPr>
          <a:lstStyle/>
          <a:p>
            <a:pPr algn="l"/>
            <a:r>
              <a:rPr sz="1300" b="0">
                <a:solidFill>
                  <a:srgbClr val="161D26"/>
                </a:solidFill>
                <a:latin typeface="Ember Modern Display Standard"/>
              </a:rPr>
              <a:t>Shard by country and region</a:t>
            </a:r>
          </a:p>
          <a:p>
            <a:pPr algn="l">
              <a:spcBef>
                <a:spcPts val="800"/>
              </a:spcBef>
            </a:pPr>
            <a:r>
              <a:rPr sz="1300" b="0">
                <a:solidFill>
                  <a:srgbClr val="161D26"/>
                </a:solidFill>
                <a:latin typeface="Ember Modern Display Standard"/>
              </a:rPr>
              <a:t>New records search only their shard</a:t>
            </a:r>
          </a:p>
        </p:txBody>
      </p:sp>
      <p:sp>
        <p:nvSpPr>
          <p:cNvPr id="272" name="Rounded Rectangle 271"/>
          <p:cNvSpPr/>
          <p:nvPr/>
        </p:nvSpPr>
        <p:spPr>
          <a:xfrm>
            <a:off x="3268980" y="1371600"/>
            <a:ext cx="2606040" cy="2331720"/>
          </a:xfrm>
          <a:prstGeom prst="roundRect">
            <a:avLst>
              <a:gd name="adj" fmla="val 2352"/>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3497580" y="1536192"/>
            <a:ext cx="2194560" cy="411480"/>
          </a:xfrm>
          <a:prstGeom prst="rect">
            <a:avLst/>
          </a:prstGeom>
          <a:noFill/>
        </p:spPr>
        <p:txBody>
          <a:bodyPr wrap="square" lIns="0" rIns="0" tIns="0" bIns="0" anchor="t">
            <a:spAutoFit/>
          </a:bodyPr>
          <a:lstStyle/>
          <a:p>
            <a:pPr algn="l"/>
            <a:r>
              <a:rPr sz="1800" b="1">
                <a:solidFill>
                  <a:srgbClr val="FFFFFF"/>
                </a:solidFill>
                <a:latin typeface="Ember Modern Display Standard"/>
              </a:rPr>
              <a:t>Run lighter</a:t>
            </a:r>
          </a:p>
        </p:txBody>
      </p:sp>
      <p:sp>
        <p:nvSpPr>
          <p:cNvPr id="274" name="TextBox 273"/>
          <p:cNvSpPr txBox="1"/>
          <p:nvPr/>
        </p:nvSpPr>
        <p:spPr>
          <a:xfrm>
            <a:off x="3497580" y="2057400"/>
            <a:ext cx="2194560" cy="1554480"/>
          </a:xfrm>
          <a:prstGeom prst="rect">
            <a:avLst/>
          </a:prstGeom>
          <a:noFill/>
        </p:spPr>
        <p:txBody>
          <a:bodyPr wrap="square" lIns="0" rIns="0" tIns="0" bIns="0" anchor="t">
            <a:spAutoFit/>
          </a:bodyPr>
          <a:lstStyle/>
          <a:p>
            <a:pPr algn="l"/>
            <a:r>
              <a:rPr sz="1300" b="0">
                <a:solidFill>
                  <a:srgbClr val="FFFFFF"/>
                </a:solidFill>
                <a:latin typeface="Ember Modern Display Standard"/>
              </a:rPr>
              <a:t>Distil the transformers into one small model</a:t>
            </a:r>
          </a:p>
          <a:p>
            <a:pPr algn="l">
              <a:spcBef>
                <a:spcPts val="800"/>
              </a:spcBef>
            </a:pPr>
            <a:r>
              <a:rPr sz="1300" b="0">
                <a:solidFill>
                  <a:srgbClr val="FFFFFF"/>
                </a:solidFill>
                <a:latin typeface="Ember Modern Display Standard"/>
              </a:rPr>
              <a:t>Quantise it; cache scores</a:t>
            </a:r>
          </a:p>
        </p:txBody>
      </p:sp>
      <p:sp>
        <p:nvSpPr>
          <p:cNvPr id="275" name="Rounded Rectangle 274"/>
          <p:cNvSpPr/>
          <p:nvPr/>
        </p:nvSpPr>
        <p:spPr>
          <a:xfrm>
            <a:off x="6035040" y="1371600"/>
            <a:ext cx="2606040" cy="2331720"/>
          </a:xfrm>
          <a:prstGeom prst="roundRect">
            <a:avLst>
              <a:gd name="adj" fmla="val 2352"/>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6263640" y="1536192"/>
            <a:ext cx="2194560" cy="411480"/>
          </a:xfrm>
          <a:prstGeom prst="rect">
            <a:avLst/>
          </a:prstGeom>
          <a:noFill/>
        </p:spPr>
        <p:txBody>
          <a:bodyPr wrap="square" lIns="0" rIns="0" tIns="0" bIns="0" anchor="t">
            <a:spAutoFit/>
          </a:bodyPr>
          <a:lstStyle/>
          <a:p>
            <a:pPr algn="l"/>
            <a:r>
              <a:rPr sz="1800" b="1">
                <a:solidFill>
                  <a:srgbClr val="FFFFFF"/>
                </a:solidFill>
                <a:latin typeface="Ember Modern Display Standard"/>
              </a:rPr>
              <a:t>At the edge</a:t>
            </a:r>
          </a:p>
        </p:txBody>
      </p:sp>
      <p:sp>
        <p:nvSpPr>
          <p:cNvPr id="277" name="TextBox 276"/>
          <p:cNvSpPr txBox="1"/>
          <p:nvPr/>
        </p:nvSpPr>
        <p:spPr>
          <a:xfrm>
            <a:off x="6263640" y="2057400"/>
            <a:ext cx="2194560" cy="1554480"/>
          </a:xfrm>
          <a:prstGeom prst="rect">
            <a:avLst/>
          </a:prstGeom>
          <a:noFill/>
        </p:spPr>
        <p:txBody>
          <a:bodyPr wrap="square" lIns="0" rIns="0" tIns="0" bIns="0" anchor="t">
            <a:spAutoFit/>
          </a:bodyPr>
          <a:lstStyle/>
          <a:p>
            <a:pPr algn="l"/>
            <a:r>
              <a:rPr sz="1300" b="0">
                <a:solidFill>
                  <a:srgbClr val="FFFFFF"/>
                </a:solidFill>
                <a:latin typeface="Ember Modern Display Standard"/>
              </a:rPr>
              <a:t>XGBoost + a small model on a CPU, at sign-up</a:t>
            </a:r>
          </a:p>
          <a:p>
            <a:pPr algn="l">
              <a:spcBef>
                <a:spcPts val="800"/>
              </a:spcBef>
            </a:pPr>
            <a:r>
              <a:rPr sz="1300" b="0">
                <a:solidFill>
                  <a:srgbClr val="FFFFFF"/>
                </a:solidFill>
                <a:latin typeface="Ember Modern Display Standard"/>
              </a:rPr>
              <a:t>The 7B stays in the cloud, in batch</a:t>
            </a:r>
          </a:p>
        </p:txBody>
      </p:sp>
      <p:sp>
        <p:nvSpPr>
          <p:cNvPr id="278" name="Rounded Rectangle 277"/>
          <p:cNvSpPr/>
          <p:nvPr/>
        </p:nvSpPr>
        <p:spPr>
          <a:xfrm>
            <a:off x="502920" y="3886200"/>
            <a:ext cx="8138160" cy="457200"/>
          </a:xfrm>
          <a:prstGeom prst="roundRect">
            <a:avLst>
              <a:gd name="adj" fmla="val 50000"/>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502920" y="3886200"/>
            <a:ext cx="8138160" cy="457200"/>
          </a:xfrm>
          <a:prstGeom prst="rect">
            <a:avLst/>
          </a:prstGeom>
          <a:noFill/>
        </p:spPr>
        <p:txBody>
          <a:bodyPr wrap="square" lIns="0" rIns="0" tIns="0" bIns="0" anchor="ctr">
            <a:spAutoFit/>
          </a:bodyPr>
          <a:lstStyle/>
          <a:p>
            <a:pPr algn="ctr"/>
            <a:r>
              <a:rPr sz="1400" b="0">
                <a:solidFill>
                  <a:srgbClr val="161D26"/>
                </a:solidFill>
                <a:latin typeface="Ember Modern Display Standard"/>
              </a:rPr>
              <a:t>Cost  ≈  entities  ×  candidates per entity   →   </a:t>
            </a:r>
            <a:r>
              <a:rPr sz="1400" b="1">
                <a:solidFill>
                  <a:srgbClr val="FF6200"/>
                </a:solidFill>
                <a:latin typeface="Ember Modern Display Standard"/>
              </a:rPr>
              <a:t>we keep it at 3.7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22" presetClass="entr" presetSubtype="8"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wipe(left)">
                                      <p:cBhvr>
                                        <p:cTn id="6" dur="50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271"/>
                                        </p:tgtEl>
                                        <p:attrNameLst>
                                          <p:attrName>style.visibility</p:attrName>
                                        </p:attrNameLst>
                                      </p:cBhvr>
                                      <p:to>
                                        <p:strVal val="visible"/>
                                      </p:to>
                                    </p:set>
                                    <p:animEffect transition="in" filter="fade">
                                      <p:cBhvr>
                                        <p:cTn id="12" dur="450"/>
                                        <p:tgtEl>
                                          <p:spTgt spid="271"/>
                                        </p:tgtEl>
                                      </p:cBhvr>
                                    </p:animEffect>
                                  </p:childTnLst>
                                </p:cTn>
                              </p:par>
                            </p:childTnLst>
                          </p:cTn>
                        </p:par>
                        <p:par>
                          <p:cTn id="2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72"/>
                                        </p:tgtEl>
                                        <p:attrNameLst>
                                          <p:attrName>style.visibility</p:attrName>
                                        </p:attrNameLst>
                                      </p:cBhvr>
                                      <p:to>
                                        <p:strVal val="visible"/>
                                      </p:to>
                                    </p:set>
                                    <p:animEffect transition="in" filter="wipe(left)">
                                      <p:cBhvr>
                                        <p:cTn id="16" dur="500"/>
                                        <p:tgtEl>
                                          <p:spTgt spid="27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3"/>
                                        </p:tgtEl>
                                        <p:attrNameLst>
                                          <p:attrName>style.visibility</p:attrName>
                                        </p:attrNameLst>
                                      </p:cBhvr>
                                      <p:to>
                                        <p:strVal val="visible"/>
                                      </p:to>
                                    </p:set>
                                    <p:animEffect transition="in" filter="fade">
                                      <p:cBhvr>
                                        <p:cTn id="19" dur="450"/>
                                        <p:tgtEl>
                                          <p:spTgt spid="27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4"/>
                                        </p:tgtEl>
                                        <p:attrNameLst>
                                          <p:attrName>style.visibility</p:attrName>
                                        </p:attrNameLst>
                                      </p:cBhvr>
                                      <p:to>
                                        <p:strVal val="visible"/>
                                      </p:to>
                                    </p:set>
                                    <p:animEffect transition="in" filter="fade">
                                      <p:cBhvr>
                                        <p:cTn id="22" dur="450"/>
                                        <p:tgtEl>
                                          <p:spTgt spid="274"/>
                                        </p:tgtEl>
                                      </p:cBhvr>
                                    </p:animEffect>
                                  </p:childTnLst>
                                </p:cTn>
                              </p:par>
                            </p:childTnLst>
                          </p:cTn>
                        </p:par>
                        <p:par>
                          <p:cTn id="3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275"/>
                                        </p:tgtEl>
                                        <p:attrNameLst>
                                          <p:attrName>style.visibility</p:attrName>
                                        </p:attrNameLst>
                                      </p:cBhvr>
                                      <p:to>
                                        <p:strVal val="visible"/>
                                      </p:to>
                                    </p:set>
                                    <p:animEffect transition="in" filter="wipe(left)">
                                      <p:cBhvr>
                                        <p:cTn id="26" dur="500"/>
                                        <p:tgtEl>
                                          <p:spTgt spid="27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6"/>
                                        </p:tgtEl>
                                        <p:attrNameLst>
                                          <p:attrName>style.visibility</p:attrName>
                                        </p:attrNameLst>
                                      </p:cBhvr>
                                      <p:to>
                                        <p:strVal val="visible"/>
                                      </p:to>
                                    </p:set>
                                    <p:animEffect transition="in" filter="fade">
                                      <p:cBhvr>
                                        <p:cTn id="29" dur="450"/>
                                        <p:tgtEl>
                                          <p:spTgt spid="27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7"/>
                                        </p:tgtEl>
                                        <p:attrNameLst>
                                          <p:attrName>style.visibility</p:attrName>
                                        </p:attrNameLst>
                                      </p:cBhvr>
                                      <p:to>
                                        <p:strVal val="visible"/>
                                      </p:to>
                                    </p:set>
                                    <p:animEffect transition="in" filter="fade">
                                      <p:cBhvr>
                                        <p:cTn id="32" dur="450"/>
                                        <p:tgtEl>
                                          <p:spTgt spid="277"/>
                                        </p:tgtEl>
                                      </p:cBhvr>
                                    </p:animEffect>
                                  </p:childTnLst>
                                </p:cTn>
                              </p:par>
                            </p:childTnLst>
                          </p:cTn>
                        </p:par>
                        <p:par>
                          <p:cTn id="40" fill="hold">
                            <p:stCondLst>
                              <p:cond delay="1500"/>
                            </p:stCondLst>
                            <p:childTnLst>
                              <p:par>
                                <p:cTn id="34" presetID="10" presetClass="entr" presetSubtype="0" fill="hold" grpId="0" nodeType="afterEffect">
                                  <p:stCondLst>
                                    <p:cond delay="0"/>
                                  </p:stCondLst>
                                  <p:childTnLst>
                                    <p:set>
                                      <p:cBhvr>
                                        <p:cTn id="35" dur="1" fill="hold">
                                          <p:stCondLst>
                                            <p:cond delay="0"/>
                                          </p:stCondLst>
                                        </p:cTn>
                                        <p:tgtEl>
                                          <p:spTgt spid="278"/>
                                        </p:tgtEl>
                                        <p:attrNameLst>
                                          <p:attrName>style.visibility</p:attrName>
                                        </p:attrNameLst>
                                      </p:cBhvr>
                                      <p:to>
                                        <p:strVal val="visible"/>
                                      </p:to>
                                    </p:set>
                                    <p:animEffect transition="in" filter="fade">
                                      <p:cBhvr>
                                        <p:cTn id="36" dur="450"/>
                                        <p:tgtEl>
                                          <p:spTgt spid="27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79"/>
                                        </p:tgtEl>
                                        <p:attrNameLst>
                                          <p:attrName>style.visibility</p:attrName>
                                        </p:attrNameLst>
                                      </p:cBhvr>
                                      <p:to>
                                        <p:strVal val="visible"/>
                                      </p:to>
                                    </p:set>
                                    <p:animEffect transition="in" filter="fade">
                                      <p:cBhvr>
                                        <p:cTn id="39" dur="450"/>
                                        <p:tgtEl>
                                          <p:spTgt spid="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0" animBg="1"/>
      <p:bldP spid="270" grpId="0" animBg="1"/>
      <p:bldP spid="271" grpId="0" animBg="1"/>
      <p:bldP spid="272" grpId="0" animBg="1"/>
      <p:bldP spid="273" grpId="0" animBg="1"/>
      <p:bldP spid="274" grpId="0" animBg="1"/>
      <p:bldP spid="275" grpId="0" animBg="1"/>
      <p:bldP spid="276" grpId="0" animBg="1"/>
      <p:bldP spid="277" grpId="0" animBg="1"/>
      <p:bldP spid="278" grpId="0" animBg="1"/>
      <p:bldP spid="27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What Comes</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Next</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100" dirty="0">
                <a:solidFill>
                  <a:schemeClr val="accent2"/>
                </a:solidFill>
                <a:latin typeface="Ember Modern Display Standard" panose="020B0503020204020204" pitchFamily="34" charset="0"/>
              </a:rPr>
              <a:t>What we would build next, and where it matters.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extBox 266"/>
          <p:cNvSpPr txBox="1"/>
          <p:nvPr/>
        </p:nvSpPr>
        <p:spPr>
          <a:xfrm>
            <a:off x="502920" y="4608576"/>
            <a:ext cx="5029200" cy="201168"/>
          </a:xfrm>
          <a:prstGeom prst="rect">
            <a:avLst/>
          </a:prstGeom>
          <a:noFill/>
        </p:spPr>
        <p:txBody>
          <a:bodyPr wrap="square" lIns="0" rIns="0" tIns="0" bIns="0" anchor="t">
            <a:spAutoFit/>
          </a:bodyPr>
          <a:lstStyle/>
          <a:p>
            <a:pPr algn="l"/>
            <a:r>
              <a:rPr sz="850" b="0">
                <a:solidFill>
                  <a:srgbClr val="B8C0CC"/>
                </a:solidFill>
                <a:latin typeface="Ember Modern Display Standard"/>
              </a:rPr>
              <a:t>01 Understanding</a:t>
            </a:r>
            <a:r>
              <a:rPr sz="850" b="0">
                <a:solidFill>
                  <a:srgbClr val="161D26"/>
                </a:solidFill>
                <a:latin typeface="Ember Modern Display Standard"/>
              </a:rPr>
              <a:t>    </a:t>
            </a:r>
            <a:r>
              <a:rPr sz="850" b="0">
                <a:solidFill>
                  <a:srgbClr val="B8C0CC"/>
                </a:solidFill>
                <a:latin typeface="Ember Modern Display Standard"/>
              </a:rPr>
              <a:t>02 Building</a:t>
            </a:r>
            <a:r>
              <a:rPr sz="850" b="0">
                <a:solidFill>
                  <a:srgbClr val="161D26"/>
                </a:solidFill>
                <a:latin typeface="Ember Modern Display Standard"/>
              </a:rPr>
              <a:t>    </a:t>
            </a:r>
            <a:r>
              <a:rPr sz="850" b="0">
                <a:solidFill>
                  <a:srgbClr val="B8C0CC"/>
                </a:solidFill>
                <a:latin typeface="Ember Modern Display Standard"/>
              </a:rPr>
              <a:t>03 Feedback</a:t>
            </a:r>
            <a:r>
              <a:rPr sz="850" b="0">
                <a:solidFill>
                  <a:srgbClr val="161D26"/>
                </a:solidFill>
                <a:latin typeface="Ember Modern Display Standard"/>
              </a:rPr>
              <a:t>    </a:t>
            </a:r>
            <a:r>
              <a:rPr sz="850" b="0">
                <a:solidFill>
                  <a:srgbClr val="B8C0CC"/>
                </a:solidFill>
                <a:latin typeface="Ember Modern Display Standard"/>
              </a:rPr>
              <a:t>04 Results</a:t>
            </a:r>
            <a:r>
              <a:rPr sz="850" b="0">
                <a:solidFill>
                  <a:srgbClr val="161D26"/>
                </a:solidFill>
                <a:latin typeface="Ember Modern Display Standard"/>
              </a:rPr>
              <a:t>    </a:t>
            </a:r>
            <a:r>
              <a:rPr sz="850" b="1">
                <a:solidFill>
                  <a:srgbClr val="FF6200"/>
                </a:solidFill>
                <a:latin typeface="Ember Modern Display Standard"/>
              </a:rPr>
              <a:t>05 Ahead</a:t>
            </a:r>
          </a:p>
        </p:txBody>
      </p:sp>
      <p:sp>
        <p:nvSpPr>
          <p:cNvPr id="268" name="TextBox 267"/>
          <p:cNvSpPr txBox="1"/>
          <p:nvPr/>
        </p:nvSpPr>
        <p:spPr>
          <a:xfrm>
            <a:off x="5486400" y="4608576"/>
            <a:ext cx="3154680" cy="201168"/>
          </a:xfrm>
          <a:prstGeom prst="rect">
            <a:avLst/>
          </a:prstGeom>
          <a:noFill/>
        </p:spPr>
        <p:txBody>
          <a:bodyPr wrap="square" lIns="0" rIns="0" tIns="0" bIns="0" anchor="t">
            <a:spAutoFit/>
          </a:bodyPr>
          <a:lstStyle/>
          <a:p>
            <a:pPr algn="r"/>
            <a:r>
              <a:rPr sz="700" b="0">
                <a:solidFill>
                  <a:srgbClr val="FF6200"/>
                </a:solidFill>
                <a:latin typeface="Ember Modern Display Standard"/>
              </a:rPr>
              <a:t>● </a:t>
            </a:r>
            <a:r>
              <a:rPr sz="850" b="0">
                <a:solidFill>
                  <a:srgbClr val="6B7280"/>
                </a:solidFill>
                <a:latin typeface="Ember Modern Display Standard"/>
              </a:rPr>
              <a:t>Customer Obsession  ·  Success and Scale Bring Broad Responsibility</a:t>
            </a:r>
          </a:p>
        </p:txBody>
      </p:sp>
      <p:sp>
        <p:nvSpPr>
          <p:cNvPr id="269" name="Rounded Rectangle 268"/>
          <p:cNvSpPr/>
          <p:nvPr/>
        </p:nvSpPr>
        <p:spPr>
          <a:xfrm>
            <a:off x="502920" y="1371600"/>
            <a:ext cx="3931920" cy="3008376"/>
          </a:xfrm>
          <a:prstGeom prst="roundRect">
            <a:avLst>
              <a:gd name="adj" fmla="val 1823"/>
            </a:avLst>
          </a:prstGeom>
          <a:solidFill>
            <a:srgbClr val="F5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731520" y="1536192"/>
            <a:ext cx="3566160" cy="320040"/>
          </a:xfrm>
          <a:prstGeom prst="rect">
            <a:avLst/>
          </a:prstGeom>
          <a:noFill/>
        </p:spPr>
        <p:txBody>
          <a:bodyPr wrap="square" lIns="0" rIns="0" tIns="0" bIns="0" anchor="t">
            <a:spAutoFit/>
          </a:bodyPr>
          <a:lstStyle/>
          <a:p>
            <a:pPr algn="l"/>
            <a:r>
              <a:rPr sz="1700" b="1">
                <a:solidFill>
                  <a:srgbClr val="FF6200"/>
                </a:solidFill>
                <a:latin typeface="Ember Modern Display Standard"/>
              </a:rPr>
              <a:t>Improve</a:t>
            </a:r>
          </a:p>
        </p:txBody>
      </p:sp>
      <p:sp>
        <p:nvSpPr>
          <p:cNvPr id="271" name="Rounded Rectangle 270"/>
          <p:cNvSpPr/>
          <p:nvPr/>
        </p:nvSpPr>
        <p:spPr>
          <a:xfrm>
            <a:off x="4709160" y="1371600"/>
            <a:ext cx="3931920" cy="3008376"/>
          </a:xfrm>
          <a:prstGeom prst="roundRect">
            <a:avLst>
              <a:gd name="adj" fmla="val 1823"/>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4937760" y="1536192"/>
            <a:ext cx="3566160" cy="320040"/>
          </a:xfrm>
          <a:prstGeom prst="rect">
            <a:avLst/>
          </a:prstGeom>
          <a:noFill/>
        </p:spPr>
        <p:txBody>
          <a:bodyPr wrap="square" lIns="0" rIns="0" tIns="0" bIns="0" anchor="t">
            <a:spAutoFit/>
          </a:bodyPr>
          <a:lstStyle/>
          <a:p>
            <a:pPr algn="l"/>
            <a:r>
              <a:rPr sz="1700" b="1">
                <a:solidFill>
                  <a:srgbClr val="FF6200"/>
                </a:solidFill>
                <a:latin typeface="Ember Modern Display Standard"/>
              </a:rPr>
              <a:t>Apply</a:t>
            </a:r>
          </a:p>
        </p:txBody>
      </p:sp>
      <p:sp>
        <p:nvSpPr>
          <p:cNvPr id="273" name="TextBox 272"/>
          <p:cNvSpPr txBox="1"/>
          <p:nvPr/>
        </p:nvSpPr>
        <p:spPr>
          <a:xfrm>
            <a:off x="731520" y="2011680"/>
            <a:ext cx="3566160" cy="457200"/>
          </a:xfrm>
          <a:prstGeom prst="rect">
            <a:avLst/>
          </a:prstGeom>
          <a:noFill/>
        </p:spPr>
        <p:txBody>
          <a:bodyPr wrap="square" lIns="0" rIns="0" tIns="0" bIns="0" anchor="t">
            <a:spAutoFit/>
          </a:bodyPr>
          <a:lstStyle/>
          <a:p>
            <a:pPr algn="l"/>
            <a:r>
              <a:rPr sz="900" b="0">
                <a:solidFill>
                  <a:srgbClr val="FF6200"/>
                </a:solidFill>
                <a:latin typeface="Ember Modern Display Standard"/>
              </a:rPr>
              <a:t>●  </a:t>
            </a:r>
            <a:r>
              <a:rPr sz="1400" b="0">
                <a:solidFill>
                  <a:srgbClr val="161D26"/>
                </a:solidFill>
                <a:latin typeface="Ember Modern Display Standard"/>
              </a:rPr>
              <a:t>A few hundred labels per new country</a:t>
            </a:r>
          </a:p>
        </p:txBody>
      </p:sp>
      <p:sp>
        <p:nvSpPr>
          <p:cNvPr id="274" name="TextBox 273"/>
          <p:cNvSpPr txBox="1"/>
          <p:nvPr/>
        </p:nvSpPr>
        <p:spPr>
          <a:xfrm>
            <a:off x="731520" y="2560320"/>
            <a:ext cx="3566160" cy="457200"/>
          </a:xfrm>
          <a:prstGeom prst="rect">
            <a:avLst/>
          </a:prstGeom>
          <a:noFill/>
        </p:spPr>
        <p:txBody>
          <a:bodyPr wrap="square" lIns="0" rIns="0" tIns="0" bIns="0" anchor="t">
            <a:spAutoFit/>
          </a:bodyPr>
          <a:lstStyle/>
          <a:p>
            <a:pPr algn="l"/>
            <a:r>
              <a:rPr sz="900" b="0">
                <a:solidFill>
                  <a:srgbClr val="FF6200"/>
                </a:solidFill>
                <a:latin typeface="Ember Modern Display Standard"/>
              </a:rPr>
              <a:t>●  </a:t>
            </a:r>
            <a:r>
              <a:rPr sz="1400" b="0">
                <a:solidFill>
                  <a:srgbClr val="161D26"/>
                </a:solidFill>
                <a:latin typeface="Ember Modern Display Standard"/>
              </a:rPr>
              <a:t>City and state as soft keys</a:t>
            </a:r>
          </a:p>
        </p:txBody>
      </p:sp>
      <p:sp>
        <p:nvSpPr>
          <p:cNvPr id="275" name="TextBox 274"/>
          <p:cNvSpPr txBox="1"/>
          <p:nvPr/>
        </p:nvSpPr>
        <p:spPr>
          <a:xfrm>
            <a:off x="731520" y="3108960"/>
            <a:ext cx="3566160" cy="457200"/>
          </a:xfrm>
          <a:prstGeom prst="rect">
            <a:avLst/>
          </a:prstGeom>
          <a:noFill/>
        </p:spPr>
        <p:txBody>
          <a:bodyPr wrap="square" lIns="0" rIns="0" tIns="0" bIns="0" anchor="t">
            <a:spAutoFit/>
          </a:bodyPr>
          <a:lstStyle/>
          <a:p>
            <a:pPr algn="l"/>
            <a:r>
              <a:rPr sz="900" b="0">
                <a:solidFill>
                  <a:srgbClr val="FF6200"/>
                </a:solidFill>
                <a:latin typeface="Ember Modern Display Standard"/>
              </a:rPr>
              <a:t>●  </a:t>
            </a:r>
            <a:r>
              <a:rPr sz="1400" b="0">
                <a:solidFill>
                  <a:srgbClr val="161D26"/>
                </a:solidFill>
                <a:latin typeface="Ember Modern Display Standard"/>
              </a:rPr>
              <a:t>Better empty-address matching</a:t>
            </a:r>
          </a:p>
        </p:txBody>
      </p:sp>
      <p:sp>
        <p:nvSpPr>
          <p:cNvPr id="276" name="TextBox 275"/>
          <p:cNvSpPr txBox="1"/>
          <p:nvPr/>
        </p:nvSpPr>
        <p:spPr>
          <a:xfrm>
            <a:off x="731520" y="3657600"/>
            <a:ext cx="3566160" cy="457200"/>
          </a:xfrm>
          <a:prstGeom prst="rect">
            <a:avLst/>
          </a:prstGeom>
          <a:noFill/>
        </p:spPr>
        <p:txBody>
          <a:bodyPr wrap="square" lIns="0" rIns="0" tIns="0" bIns="0" anchor="t">
            <a:spAutoFit/>
          </a:bodyPr>
          <a:lstStyle/>
          <a:p>
            <a:pPr algn="l"/>
            <a:r>
              <a:rPr sz="900" b="0">
                <a:solidFill>
                  <a:srgbClr val="FF6200"/>
                </a:solidFill>
                <a:latin typeface="Ember Modern Display Standard"/>
              </a:rPr>
              <a:t>●  </a:t>
            </a:r>
            <a:r>
              <a:rPr sz="1400" b="0">
                <a:solidFill>
                  <a:srgbClr val="161D26"/>
                </a:solidFill>
                <a:latin typeface="Ember Modern Display Standard"/>
              </a:rPr>
              <a:t>Human review for unsure pairs</a:t>
            </a:r>
          </a:p>
        </p:txBody>
      </p:sp>
      <p:sp>
        <p:nvSpPr>
          <p:cNvPr id="277" name="TextBox 276"/>
          <p:cNvSpPr txBox="1"/>
          <p:nvPr/>
        </p:nvSpPr>
        <p:spPr>
          <a:xfrm>
            <a:off x="4937760" y="2011680"/>
            <a:ext cx="3566160" cy="457200"/>
          </a:xfrm>
          <a:prstGeom prst="rect">
            <a:avLst/>
          </a:prstGeom>
          <a:noFill/>
        </p:spPr>
        <p:txBody>
          <a:bodyPr wrap="square" lIns="0" rIns="0" tIns="0" bIns="0" anchor="t">
            <a:spAutoFit/>
          </a:bodyPr>
          <a:lstStyle/>
          <a:p>
            <a:pPr algn="l"/>
            <a:r>
              <a:rPr sz="900" b="0">
                <a:solidFill>
                  <a:srgbClr val="FF6200"/>
                </a:solidFill>
                <a:latin typeface="Ember Modern Display Standard"/>
              </a:rPr>
              <a:t>●  </a:t>
            </a:r>
            <a:r>
              <a:rPr sz="1400" b="0">
                <a:solidFill>
                  <a:srgbClr val="FFFFFF"/>
                </a:solidFill>
                <a:latin typeface="Ember Modern Display Standard"/>
              </a:rPr>
              <a:t>De-duplicate business sign-ups</a:t>
            </a:r>
          </a:p>
        </p:txBody>
      </p:sp>
      <p:sp>
        <p:nvSpPr>
          <p:cNvPr id="278" name="TextBox 277"/>
          <p:cNvSpPr txBox="1"/>
          <p:nvPr/>
        </p:nvSpPr>
        <p:spPr>
          <a:xfrm>
            <a:off x="4937760" y="2560320"/>
            <a:ext cx="3566160" cy="457200"/>
          </a:xfrm>
          <a:prstGeom prst="rect">
            <a:avLst/>
          </a:prstGeom>
          <a:noFill/>
        </p:spPr>
        <p:txBody>
          <a:bodyPr wrap="square" lIns="0" rIns="0" tIns="0" bIns="0" anchor="t">
            <a:spAutoFit/>
          </a:bodyPr>
          <a:lstStyle/>
          <a:p>
            <a:pPr algn="l"/>
            <a:r>
              <a:rPr sz="900" b="0">
                <a:solidFill>
                  <a:srgbClr val="FF6200"/>
                </a:solidFill>
                <a:latin typeface="Ember Modern Display Standard"/>
              </a:rPr>
              <a:t>●  </a:t>
            </a:r>
            <a:r>
              <a:rPr sz="1400" b="0">
                <a:solidFill>
                  <a:srgbClr val="FFFFFF"/>
                </a:solidFill>
                <a:latin typeface="Ember Modern Display Standard"/>
              </a:rPr>
              <a:t>Clean seller and supplier records</a:t>
            </a:r>
          </a:p>
        </p:txBody>
      </p:sp>
      <p:sp>
        <p:nvSpPr>
          <p:cNvPr id="279" name="TextBox 278"/>
          <p:cNvSpPr txBox="1"/>
          <p:nvPr/>
        </p:nvSpPr>
        <p:spPr>
          <a:xfrm>
            <a:off x="4937760" y="3108960"/>
            <a:ext cx="3566160" cy="457200"/>
          </a:xfrm>
          <a:prstGeom prst="rect">
            <a:avLst/>
          </a:prstGeom>
          <a:noFill/>
        </p:spPr>
        <p:txBody>
          <a:bodyPr wrap="square" lIns="0" rIns="0" tIns="0" bIns="0" anchor="t">
            <a:spAutoFit/>
          </a:bodyPr>
          <a:lstStyle/>
          <a:p>
            <a:pPr algn="l"/>
            <a:r>
              <a:rPr sz="900" b="0">
                <a:solidFill>
                  <a:srgbClr val="FF6200"/>
                </a:solidFill>
                <a:latin typeface="Ember Modern Display Standard"/>
              </a:rPr>
              <a:t>●  </a:t>
            </a:r>
            <a:r>
              <a:rPr sz="1400" b="0">
                <a:solidFill>
                  <a:srgbClr val="FFFFFF"/>
                </a:solidFill>
                <a:latin typeface="Ember Modern Display Standard"/>
              </a:rPr>
              <a:t>Catch duplicate or fake accounts</a:t>
            </a:r>
          </a:p>
        </p:txBody>
      </p:sp>
      <p:sp>
        <p:nvSpPr>
          <p:cNvPr id="280" name="TextBox 279"/>
          <p:cNvSpPr txBox="1"/>
          <p:nvPr/>
        </p:nvSpPr>
        <p:spPr>
          <a:xfrm>
            <a:off x="4937760" y="3657600"/>
            <a:ext cx="3566160" cy="457200"/>
          </a:xfrm>
          <a:prstGeom prst="rect">
            <a:avLst/>
          </a:prstGeom>
          <a:noFill/>
        </p:spPr>
        <p:txBody>
          <a:bodyPr wrap="square" lIns="0" rIns="0" tIns="0" bIns="0" anchor="t">
            <a:spAutoFit/>
          </a:bodyPr>
          <a:lstStyle/>
          <a:p>
            <a:pPr algn="l"/>
            <a:r>
              <a:rPr sz="900" b="0">
                <a:solidFill>
                  <a:srgbClr val="FF6200"/>
                </a:solidFill>
                <a:latin typeface="Ember Modern Display Standard"/>
              </a:rPr>
              <a:t>●  </a:t>
            </a:r>
            <a:r>
              <a:rPr sz="1400" b="0">
                <a:solidFill>
                  <a:srgbClr val="FFFFFF"/>
                </a:solidFill>
                <a:latin typeface="Ember Modern Display Standard"/>
              </a:rPr>
              <a:t>Launch new marketplaces faster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69"/>
                                        </p:tgtEl>
                                        <p:attrNameLst>
                                          <p:attrName>style.visibility</p:attrName>
                                        </p:attrNameLst>
                                      </p:cBhvr>
                                      <p:to>
                                        <p:strVal val="visible"/>
                                      </p:to>
                                    </p:set>
                                    <p:animEffect transition="in" filter="fade">
                                      <p:cBhvr>
                                        <p:cTn id="6" dur="450"/>
                                        <p:tgtEl>
                                          <p:spTgt spid="26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270"/>
                                        </p:tgtEl>
                                        <p:attrNameLst>
                                          <p:attrName>style.visibility</p:attrName>
                                        </p:attrNameLst>
                                      </p:cBhvr>
                                      <p:to>
                                        <p:strVal val="visible"/>
                                      </p:to>
                                    </p:set>
                                    <p:animEffect transition="in" filter="fade">
                                      <p:cBhvr>
                                        <p:cTn id="9" dur="450"/>
                                        <p:tgtEl>
                                          <p:spTgt spid="270"/>
                                        </p:tgtEl>
                                      </p:cBhvr>
                                    </p:animEffect>
                                  </p:childTnLst>
                                </p:cTn>
                              </p:par>
                            </p:childTnLst>
                          </p:cTn>
                        </p:par>
                        <p:par>
                          <p:cTn id="14"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273"/>
                                        </p:tgtEl>
                                        <p:attrNameLst>
                                          <p:attrName>style.visibility</p:attrName>
                                        </p:attrNameLst>
                                      </p:cBhvr>
                                      <p:to>
                                        <p:strVal val="visible"/>
                                      </p:to>
                                    </p:set>
                                    <p:animEffect transition="in" filter="fade">
                                      <p:cBhvr>
                                        <p:cTn id="13" dur="450"/>
                                        <p:tgtEl>
                                          <p:spTgt spid="273"/>
                                        </p:tgtEl>
                                      </p:cBhvr>
                                    </p:animEffect>
                                  </p:childTnLst>
                                </p:cTn>
                              </p:par>
                            </p:childTnLst>
                          </p:cTn>
                        </p:par>
                        <p:par>
                          <p:cTn id="18"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274"/>
                                        </p:tgtEl>
                                        <p:attrNameLst>
                                          <p:attrName>style.visibility</p:attrName>
                                        </p:attrNameLst>
                                      </p:cBhvr>
                                      <p:to>
                                        <p:strVal val="visible"/>
                                      </p:to>
                                    </p:set>
                                    <p:animEffect transition="in" filter="fade">
                                      <p:cBhvr>
                                        <p:cTn id="17" dur="450"/>
                                        <p:tgtEl>
                                          <p:spTgt spid="274"/>
                                        </p:tgtEl>
                                      </p:cBhvr>
                                    </p:animEffect>
                                  </p:childTnLst>
                                </p:cTn>
                              </p:par>
                            </p:childTnLst>
                          </p:cTn>
                        </p:par>
                        <p:par>
                          <p:cTn id="22" fill="hold">
                            <p:stCondLst>
                              <p:cond delay="1350"/>
                            </p:stCondLst>
                            <p:childTnLst>
                              <p:par>
                                <p:cTn id="19" presetID="10" presetClass="entr" presetSubtype="0" fill="hold" grpId="0" nodeType="afterEffect">
                                  <p:stCondLst>
                                    <p:cond delay="0"/>
                                  </p:stCondLst>
                                  <p:childTnLst>
                                    <p:set>
                                      <p:cBhvr>
                                        <p:cTn id="20" dur="1" fill="hold">
                                          <p:stCondLst>
                                            <p:cond delay="0"/>
                                          </p:stCondLst>
                                        </p:cTn>
                                        <p:tgtEl>
                                          <p:spTgt spid="275"/>
                                        </p:tgtEl>
                                        <p:attrNameLst>
                                          <p:attrName>style.visibility</p:attrName>
                                        </p:attrNameLst>
                                      </p:cBhvr>
                                      <p:to>
                                        <p:strVal val="visible"/>
                                      </p:to>
                                    </p:set>
                                    <p:animEffect transition="in" filter="fade">
                                      <p:cBhvr>
                                        <p:cTn id="21" dur="450"/>
                                        <p:tgtEl>
                                          <p:spTgt spid="275"/>
                                        </p:tgtEl>
                                      </p:cBhvr>
                                    </p:animEffect>
                                  </p:childTnLst>
                                </p:cTn>
                              </p:par>
                            </p:childTnLst>
                          </p:cTn>
                        </p:par>
                        <p:par>
                          <p:cTn id="26"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276"/>
                                        </p:tgtEl>
                                        <p:attrNameLst>
                                          <p:attrName>style.visibility</p:attrName>
                                        </p:attrNameLst>
                                      </p:cBhvr>
                                      <p:to>
                                        <p:strVal val="visible"/>
                                      </p:to>
                                    </p:set>
                                    <p:animEffect transition="in" filter="fade">
                                      <p:cBhvr>
                                        <p:cTn id="25" dur="450"/>
                                        <p:tgtEl>
                                          <p:spTgt spid="276"/>
                                        </p:tgtEl>
                                      </p:cBhvr>
                                    </p:animEffect>
                                  </p:childTnLst>
                                </p:cTn>
                              </p:par>
                            </p:childTnLst>
                          </p:cTn>
                        </p:par>
                        <p:par>
                          <p:cTn id="33" fill="hold">
                            <p:stCondLst>
                              <p:cond delay="2250"/>
                            </p:stCondLst>
                            <p:childTnLst>
                              <p:par>
                                <p:cTn id="27" presetID="10" presetClass="entr" presetSubtype="0" fill="hold" grpId="0" nodeType="afterEffect">
                                  <p:stCondLst>
                                    <p:cond delay="0"/>
                                  </p:stCondLst>
                                  <p:childTnLst>
                                    <p:set>
                                      <p:cBhvr>
                                        <p:cTn id="28" dur="1" fill="hold">
                                          <p:stCondLst>
                                            <p:cond delay="0"/>
                                          </p:stCondLst>
                                        </p:cTn>
                                        <p:tgtEl>
                                          <p:spTgt spid="271"/>
                                        </p:tgtEl>
                                        <p:attrNameLst>
                                          <p:attrName>style.visibility</p:attrName>
                                        </p:attrNameLst>
                                      </p:cBhvr>
                                      <p:to>
                                        <p:strVal val="visible"/>
                                      </p:to>
                                    </p:set>
                                    <p:animEffect transition="in" filter="fade">
                                      <p:cBhvr>
                                        <p:cTn id="29" dur="450"/>
                                        <p:tgtEl>
                                          <p:spTgt spid="27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2"/>
                                        </p:tgtEl>
                                        <p:attrNameLst>
                                          <p:attrName>style.visibility</p:attrName>
                                        </p:attrNameLst>
                                      </p:cBhvr>
                                      <p:to>
                                        <p:strVal val="visible"/>
                                      </p:to>
                                    </p:set>
                                    <p:animEffect transition="in" filter="fade">
                                      <p:cBhvr>
                                        <p:cTn id="32" dur="450"/>
                                        <p:tgtEl>
                                          <p:spTgt spid="272"/>
                                        </p:tgtEl>
                                      </p:cBhvr>
                                    </p:animEffect>
                                  </p:childTnLst>
                                </p:cTn>
                              </p:par>
                            </p:childTnLst>
                          </p:cTn>
                        </p:par>
                        <p:par>
                          <p:cTn id="37" fill="hold">
                            <p:stCondLst>
                              <p:cond delay="2700"/>
                            </p:stCondLst>
                            <p:childTnLst>
                              <p:par>
                                <p:cTn id="34" presetID="10" presetClass="entr" presetSubtype="0" fill="hold" grpId="0" nodeType="afterEffect">
                                  <p:stCondLst>
                                    <p:cond delay="0"/>
                                  </p:stCondLst>
                                  <p:childTnLst>
                                    <p:set>
                                      <p:cBhvr>
                                        <p:cTn id="35" dur="1" fill="hold">
                                          <p:stCondLst>
                                            <p:cond delay="0"/>
                                          </p:stCondLst>
                                        </p:cTn>
                                        <p:tgtEl>
                                          <p:spTgt spid="277"/>
                                        </p:tgtEl>
                                        <p:attrNameLst>
                                          <p:attrName>style.visibility</p:attrName>
                                        </p:attrNameLst>
                                      </p:cBhvr>
                                      <p:to>
                                        <p:strVal val="visible"/>
                                      </p:to>
                                    </p:set>
                                    <p:animEffect transition="in" filter="fade">
                                      <p:cBhvr>
                                        <p:cTn id="36" dur="450"/>
                                        <p:tgtEl>
                                          <p:spTgt spid="277"/>
                                        </p:tgtEl>
                                      </p:cBhvr>
                                    </p:animEffect>
                                  </p:childTnLst>
                                </p:cTn>
                              </p:par>
                            </p:childTnLst>
                          </p:cTn>
                        </p:par>
                        <p:par>
                          <p:cTn id="41" fill="hold">
                            <p:stCondLst>
                              <p:cond delay="3150"/>
                            </p:stCondLst>
                            <p:childTnLst>
                              <p:par>
                                <p:cTn id="38" presetID="10" presetClass="entr" presetSubtype="0" fill="hold" grpId="0" nodeType="afterEffect">
                                  <p:stCondLst>
                                    <p:cond delay="0"/>
                                  </p:stCondLst>
                                  <p:childTnLst>
                                    <p:set>
                                      <p:cBhvr>
                                        <p:cTn id="39" dur="1" fill="hold">
                                          <p:stCondLst>
                                            <p:cond delay="0"/>
                                          </p:stCondLst>
                                        </p:cTn>
                                        <p:tgtEl>
                                          <p:spTgt spid="278"/>
                                        </p:tgtEl>
                                        <p:attrNameLst>
                                          <p:attrName>style.visibility</p:attrName>
                                        </p:attrNameLst>
                                      </p:cBhvr>
                                      <p:to>
                                        <p:strVal val="visible"/>
                                      </p:to>
                                    </p:set>
                                    <p:animEffect transition="in" filter="fade">
                                      <p:cBhvr>
                                        <p:cTn id="40" dur="450"/>
                                        <p:tgtEl>
                                          <p:spTgt spid="278"/>
                                        </p:tgtEl>
                                      </p:cBhvr>
                                    </p:animEffect>
                                  </p:childTnLst>
                                </p:cTn>
                              </p:par>
                            </p:childTnLst>
                          </p:cTn>
                        </p:par>
                        <p:par>
                          <p:cTn id="45" fill="hold">
                            <p:stCondLst>
                              <p:cond delay="3600"/>
                            </p:stCondLst>
                            <p:childTnLst>
                              <p:par>
                                <p:cTn id="42" presetID="10" presetClass="entr" presetSubtype="0" fill="hold" grpId="0" nodeType="afterEffect">
                                  <p:stCondLst>
                                    <p:cond delay="0"/>
                                  </p:stCondLst>
                                  <p:childTnLst>
                                    <p:set>
                                      <p:cBhvr>
                                        <p:cTn id="43" dur="1" fill="hold">
                                          <p:stCondLst>
                                            <p:cond delay="0"/>
                                          </p:stCondLst>
                                        </p:cTn>
                                        <p:tgtEl>
                                          <p:spTgt spid="279"/>
                                        </p:tgtEl>
                                        <p:attrNameLst>
                                          <p:attrName>style.visibility</p:attrName>
                                        </p:attrNameLst>
                                      </p:cBhvr>
                                      <p:to>
                                        <p:strVal val="visible"/>
                                      </p:to>
                                    </p:set>
                                    <p:animEffect transition="in" filter="fade">
                                      <p:cBhvr>
                                        <p:cTn id="44" dur="450"/>
                                        <p:tgtEl>
                                          <p:spTgt spid="279"/>
                                        </p:tgtEl>
                                      </p:cBhvr>
                                    </p:animEffect>
                                  </p:childTnLst>
                                </p:cTn>
                              </p:par>
                            </p:childTnLst>
                          </p:cTn>
                        </p:par>
                        <p:par>
                          <p:cTn id="49" fill="hold">
                            <p:stCondLst>
                              <p:cond delay="4050"/>
                            </p:stCondLst>
                            <p:childTnLst>
                              <p:par>
                                <p:cTn id="46" presetID="10" presetClass="entr" presetSubtype="0" fill="hold" grpId="0" nodeType="afterEffect">
                                  <p:stCondLst>
                                    <p:cond delay="0"/>
                                  </p:stCondLst>
                                  <p:childTnLst>
                                    <p:set>
                                      <p:cBhvr>
                                        <p:cTn id="47" dur="1" fill="hold">
                                          <p:stCondLst>
                                            <p:cond delay="0"/>
                                          </p:stCondLst>
                                        </p:cTn>
                                        <p:tgtEl>
                                          <p:spTgt spid="280"/>
                                        </p:tgtEl>
                                        <p:attrNameLst>
                                          <p:attrName>style.visibility</p:attrName>
                                        </p:attrNameLst>
                                      </p:cBhvr>
                                      <p:to>
                                        <p:strVal val="visible"/>
                                      </p:to>
                                    </p:set>
                                    <p:animEffect transition="in" filter="fade">
                                      <p:cBhvr>
                                        <p:cTn id="48" dur="450"/>
                                        <p:tgtEl>
                                          <p:spTgt spid="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0" animBg="1"/>
      <p:bldP spid="270" grpId="0" animBg="1"/>
      <p:bldP spid="273" grpId="0" animBg="1"/>
      <p:bldP spid="274" grpId="0" animBg="1"/>
      <p:bldP spid="275" grpId="0" animBg="1"/>
      <p:bldP spid="276" grpId="0" animBg="1"/>
      <p:bldP spid="271" grpId="0" animBg="1"/>
      <p:bldP spid="272" grpId="0" animBg="1"/>
      <p:bldP spid="277" grpId="0" animBg="1"/>
      <p:bldP spid="278" grpId="0" animBg="1"/>
      <p:bldP spid="279" grpId="0" animBg="1"/>
      <p:bldP spid="28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Shape 124">
          <a:extLst>
            <a:ext uri="{FF2B5EF4-FFF2-40B4-BE49-F238E27FC236}">
              <a16:creationId xmlns:a16="http://schemas.microsoft.com/office/drawing/2014/main" id="{73DD50EC-CAFF-8F02-F010-6694E0B1FB8B}"/>
            </a:ext>
          </a:extLst>
        </p:cNvPr>
        <p:cNvGrpSpPr/>
        <p:nvPr/>
      </p:nvGrpSpPr>
      <p:grpSpPr>
        <a:xfrm>
          <a:off x="0" y="0"/>
          <a:ext cx="0" cy="0"/>
          <a:chOff x="0" y="0"/>
          <a:chExt cx="0" cy="0"/>
        </a:xfrm>
      </p:grpSpPr>
      <p:sp>
        <p:nvSpPr>
          <p:cNvPr id="125" name="Google Shape;125;p36">
            <a:extLst>
              <a:ext uri="{FF2B5EF4-FFF2-40B4-BE49-F238E27FC236}">
                <a16:creationId xmlns:a16="http://schemas.microsoft.com/office/drawing/2014/main" id="{FB03AD22-4ED4-FE94-6FE7-8417ED8F816B}"/>
              </a:ext>
            </a:extLst>
          </p:cNvPr>
          <p:cNvSpPr>
            <a:spLocks noGrp="1" noRot="1" noMove="1" noResize="1" noEditPoints="1" noAdjustHandles="1" noChangeArrowheads="1" noChangeShapeType="1"/>
          </p:cNvSpPr>
          <p:nvPr/>
        </p:nvSpPr>
        <p:spPr>
          <a:xfrm>
            <a:off x="487675" y="403650"/>
            <a:ext cx="8181300" cy="4153800"/>
          </a:xfrm>
          <a:prstGeom prst="roundRect">
            <a:avLst>
              <a:gd name="adj" fmla="val 2303"/>
            </a:avLst>
          </a:prstGeom>
          <a:solidFill>
            <a:srgbClr val="2934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 name="Picture 1" descr="A logo of a company&#10;&#10;AI-generated content may be incorrect.">
            <a:extLst>
              <a:ext uri="{FF2B5EF4-FFF2-40B4-BE49-F238E27FC236}">
                <a16:creationId xmlns:a16="http://schemas.microsoft.com/office/drawing/2014/main" id="{7EBF125C-021C-FEB9-9139-9A3274BE5891}"/>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4294907" y="4731974"/>
            <a:ext cx="554186" cy="185801"/>
          </a:xfrm>
          <a:prstGeom prst="rect">
            <a:avLst/>
          </a:prstGeom>
        </p:spPr>
      </p:pic>
      <p:sp>
        <p:nvSpPr>
          <p:cNvPr id="4" name="Google Shape;572;p58">
            <a:extLst>
              <a:ext uri="{FF2B5EF4-FFF2-40B4-BE49-F238E27FC236}">
                <a16:creationId xmlns:a16="http://schemas.microsoft.com/office/drawing/2014/main" id="{2BD61A1F-1DC5-B773-FCE6-6725995FE91D}"/>
              </a:ext>
            </a:extLst>
          </p:cNvPr>
          <p:cNvSpPr/>
          <p:nvPr/>
        </p:nvSpPr>
        <p:spPr>
          <a:xfrm>
            <a:off x="1143000" y="3474720"/>
            <a:ext cx="1371600" cy="310896"/>
          </a:xfrm>
          <a:prstGeom prst="roundRect">
            <a:avLst>
              <a:gd name="adj" fmla="val 50000"/>
            </a:avLst>
          </a:prstGeom>
          <a:solidFill>
            <a:srgbClr val="FF620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algn="ctr"/>
            <a:r>
              <a:rPr sz="1100" b="1">
                <a:solidFill>
                  <a:srgbClr val="FFFFFF"/>
                </a:solidFill>
                <a:latin typeface="Ember Modern Display Standard"/>
              </a:rPr>
              <a:t>Part 1 of 5</a:t>
            </a:r>
          </a:p>
        </p:txBody>
      </p:sp>
      <p:sp>
        <p:nvSpPr>
          <p:cNvPr id="126" name="TextBox 125"/>
          <p:cNvSpPr txBox="1"/>
          <p:nvPr/>
        </p:nvSpPr>
        <p:spPr>
          <a:xfrm>
            <a:off x="1143000" y="1097280"/>
            <a:ext cx="3657600" cy="1005840"/>
          </a:xfrm>
          <a:prstGeom prst="rect">
            <a:avLst/>
          </a:prstGeom>
          <a:noFill/>
        </p:spPr>
        <p:txBody>
          <a:bodyPr wrap="square" lIns="0" rIns="0" tIns="0" bIns="0" anchor="t">
            <a:spAutoFit/>
          </a:bodyPr>
          <a:lstStyle/>
          <a:p>
            <a:pPr algn="l"/>
            <a:r>
              <a:rPr sz="7200" b="1">
                <a:solidFill>
                  <a:srgbClr val="FF6200"/>
                </a:solidFill>
                <a:latin typeface="Ember Modern Display Standard"/>
              </a:rPr>
              <a:t>01</a:t>
            </a:r>
          </a:p>
        </p:txBody>
      </p:sp>
      <p:sp>
        <p:nvSpPr>
          <p:cNvPr id="127" name="TextBox 126"/>
          <p:cNvSpPr txBox="1"/>
          <p:nvPr/>
        </p:nvSpPr>
        <p:spPr>
          <a:xfrm>
            <a:off x="1143000" y="2194560"/>
            <a:ext cx="6949440" cy="640080"/>
          </a:xfrm>
          <a:prstGeom prst="rect">
            <a:avLst/>
          </a:prstGeom>
          <a:noFill/>
        </p:spPr>
        <p:txBody>
          <a:bodyPr wrap="square" lIns="0" rIns="0" tIns="0" bIns="0" anchor="t">
            <a:spAutoFit/>
          </a:bodyPr>
          <a:lstStyle/>
          <a:p>
            <a:pPr algn="l"/>
            <a:r>
              <a:rPr sz="3400" b="1">
                <a:solidFill>
                  <a:srgbClr val="FFFFFF"/>
                </a:solidFill>
                <a:latin typeface="Ember Modern Display Standard"/>
              </a:rPr>
              <a:t>Understanding the problem</a:t>
            </a:r>
          </a:p>
        </p:txBody>
      </p:sp>
      <p:sp>
        <p:nvSpPr>
          <p:cNvPr id="128" name="TextBox 127"/>
          <p:cNvSpPr txBox="1"/>
          <p:nvPr/>
        </p:nvSpPr>
        <p:spPr>
          <a:xfrm>
            <a:off x="1143000" y="2852928"/>
            <a:ext cx="6949440" cy="365760"/>
          </a:xfrm>
          <a:prstGeom prst="rect">
            <a:avLst/>
          </a:prstGeom>
          <a:noFill/>
        </p:spPr>
        <p:txBody>
          <a:bodyPr wrap="square" lIns="0" rIns="0" tIns="0" bIns="0" anchor="t">
            <a:spAutoFit/>
          </a:bodyPr>
          <a:lstStyle/>
          <a:p>
            <a:pPr algn="l"/>
            <a:r>
              <a:rPr sz="1500" b="0">
                <a:solidFill>
                  <a:srgbClr val="D6DCE7"/>
                </a:solidFill>
                <a:latin typeface="Ember Modern Display Standard"/>
              </a:rPr>
              <a:t>What the data told us, and the rules we set ourselves.</a:t>
            </a:r>
          </a:p>
        </p:txBody>
      </p:sp>
    </p:spTree>
    <p:extLst>
      <p:ext uri="{BB962C8B-B14F-4D97-AF65-F5344CB8AC3E}">
        <p14:creationId xmlns:p14="http://schemas.microsoft.com/office/powerpoint/2010/main" val="32279695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126"/>
                                        </p:tgtEl>
                                        <p:attrNameLst>
                                          <p:attrName>style.visibility</p:attrName>
                                        </p:attrNameLst>
                                      </p:cBhvr>
                                      <p:to>
                                        <p:strVal val="visible"/>
                                      </p:to>
                                    </p:set>
                                    <p:animEffect transition="in" filter="fade">
                                      <p:cBhvr>
                                        <p:cTn id="6" dur="450"/>
                                        <p:tgtEl>
                                          <p:spTgt spid="126"/>
                                        </p:tgtEl>
                                      </p:cBhvr>
                                    </p:animEffect>
                                  </p:childTnLst>
                                </p:cTn>
                              </p:par>
                            </p:childTnLst>
                          </p:cTn>
                        </p:par>
                        <p:par>
                          <p:cTn id="17" fill="hold">
                            <p:stCondLst>
                              <p:cond delay="450"/>
                            </p:stCondLst>
                            <p:childTnLst>
                              <p:par>
                                <p:cTn id="8" presetID="10" presetClass="entr" presetSubtype="0" fill="hold" grpId="0" nodeType="afterEffect">
                                  <p:stCondLst>
                                    <p:cond delay="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450"/>
                                        <p:tgtEl>
                                          <p:spTgt spid="1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8"/>
                                        </p:tgtEl>
                                        <p:attrNameLst>
                                          <p:attrName>style.visibility</p:attrName>
                                        </p:attrNameLst>
                                      </p:cBhvr>
                                      <p:to>
                                        <p:strVal val="visible"/>
                                      </p:to>
                                    </p:set>
                                    <p:animEffect transition="in" filter="fade">
                                      <p:cBhvr>
                                        <p:cTn id="13" dur="450"/>
                                        <p:tgtEl>
                                          <p:spTgt spid="1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27" grpId="0" animBg="1"/>
      <p:bldP spid="128" grpId="0" animBg="1"/>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Shape 124">
          <a:extLst>
            <a:ext uri="{FF2B5EF4-FFF2-40B4-BE49-F238E27FC236}">
              <a16:creationId xmlns:a16="http://schemas.microsoft.com/office/drawing/2014/main" id="{73DD50EC-CAFF-8F02-F010-6694E0B1FB8B}"/>
            </a:ext>
          </a:extLst>
        </p:cNvPr>
        <p:cNvGrpSpPr/>
        <p:nvPr/>
      </p:nvGrpSpPr>
      <p:grpSpPr>
        <a:xfrm>
          <a:off x="0" y="0"/>
          <a:ext cx="0" cy="0"/>
          <a:chOff x="0" y="0"/>
          <a:chExt cx="0" cy="0"/>
        </a:xfrm>
      </p:grpSpPr>
      <p:sp>
        <p:nvSpPr>
          <p:cNvPr id="125" name="Google Shape;125;p36">
            <a:extLst>
              <a:ext uri="{FF2B5EF4-FFF2-40B4-BE49-F238E27FC236}">
                <a16:creationId xmlns:a16="http://schemas.microsoft.com/office/drawing/2014/main" id="{FB03AD22-4ED4-FE94-6FE7-8417ED8F816B}"/>
              </a:ext>
            </a:extLst>
          </p:cNvPr>
          <p:cNvSpPr>
            <a:spLocks noGrp="1" noRot="1" noMove="1" noResize="1" noEditPoints="1" noAdjustHandles="1" noChangeArrowheads="1" noChangeShapeType="1"/>
          </p:cNvSpPr>
          <p:nvPr/>
        </p:nvSpPr>
        <p:spPr>
          <a:xfrm>
            <a:off x="487675" y="403650"/>
            <a:ext cx="8181300" cy="4153800"/>
          </a:xfrm>
          <a:prstGeom prst="roundRect">
            <a:avLst>
              <a:gd name="adj" fmla="val 2303"/>
            </a:avLst>
          </a:prstGeom>
          <a:solidFill>
            <a:srgbClr val="2934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 name="Picture 1" descr="A logo of a company&#10;&#10;AI-generated content may be incorrect.">
            <a:extLst>
              <a:ext uri="{FF2B5EF4-FFF2-40B4-BE49-F238E27FC236}">
                <a16:creationId xmlns:a16="http://schemas.microsoft.com/office/drawing/2014/main" id="{7EBF125C-021C-FEB9-9139-9A3274BE5891}"/>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4294907" y="4731974"/>
            <a:ext cx="554186" cy="185801"/>
          </a:xfrm>
          <a:prstGeom prst="rect">
            <a:avLst/>
          </a:prstGeom>
        </p:spPr>
      </p:pic>
      <p:sp>
        <p:nvSpPr>
          <p:cNvPr id="4" name="Google Shape;572;p58">
            <a:extLst>
              <a:ext uri="{FF2B5EF4-FFF2-40B4-BE49-F238E27FC236}">
                <a16:creationId xmlns:a16="http://schemas.microsoft.com/office/drawing/2014/main" id="{2BD61A1F-1DC5-B773-FCE6-6725995FE91D}"/>
              </a:ext>
            </a:extLst>
          </p:cNvPr>
          <p:cNvSpPr/>
          <p:nvPr/>
        </p:nvSpPr>
        <p:spPr>
          <a:xfrm>
            <a:off x="1143000" y="3474720"/>
            <a:ext cx="1371600" cy="310896"/>
          </a:xfrm>
          <a:prstGeom prst="roundRect">
            <a:avLst>
              <a:gd name="adj" fmla="val 50000"/>
            </a:avLst>
          </a:prstGeom>
          <a:solidFill>
            <a:srgbClr val="FF620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algn="ctr"/>
            <a:r>
              <a:rPr sz="1100" b="1">
                <a:solidFill>
                  <a:srgbClr val="FFFFFF"/>
                </a:solidFill>
                <a:latin typeface="Ember Modern Display Standard"/>
              </a:rPr>
              <a:t>Part 2 of 5</a:t>
            </a:r>
          </a:p>
        </p:txBody>
      </p:sp>
      <p:sp>
        <p:nvSpPr>
          <p:cNvPr id="126" name="TextBox 125"/>
          <p:cNvSpPr txBox="1"/>
          <p:nvPr/>
        </p:nvSpPr>
        <p:spPr>
          <a:xfrm>
            <a:off x="1143000" y="1097280"/>
            <a:ext cx="3657600" cy="1005840"/>
          </a:xfrm>
          <a:prstGeom prst="rect">
            <a:avLst/>
          </a:prstGeom>
          <a:noFill/>
        </p:spPr>
        <p:txBody>
          <a:bodyPr wrap="square" lIns="0" rIns="0" tIns="0" bIns="0" anchor="t">
            <a:spAutoFit/>
          </a:bodyPr>
          <a:lstStyle/>
          <a:p>
            <a:pPr algn="l"/>
            <a:r>
              <a:rPr sz="7200" b="1">
                <a:solidFill>
                  <a:srgbClr val="FF6200"/>
                </a:solidFill>
                <a:latin typeface="Ember Modern Display Standard"/>
              </a:rPr>
              <a:t>02</a:t>
            </a:r>
          </a:p>
        </p:txBody>
      </p:sp>
      <p:sp>
        <p:nvSpPr>
          <p:cNvPr id="127" name="TextBox 126"/>
          <p:cNvSpPr txBox="1"/>
          <p:nvPr/>
        </p:nvSpPr>
        <p:spPr>
          <a:xfrm>
            <a:off x="1143000" y="2194560"/>
            <a:ext cx="6949440" cy="640080"/>
          </a:xfrm>
          <a:prstGeom prst="rect">
            <a:avLst/>
          </a:prstGeom>
          <a:noFill/>
        </p:spPr>
        <p:txBody>
          <a:bodyPr wrap="square" lIns="0" rIns="0" tIns="0" bIns="0" anchor="t">
            <a:spAutoFit/>
          </a:bodyPr>
          <a:lstStyle/>
          <a:p>
            <a:pPr algn="l"/>
            <a:r>
              <a:rPr sz="3400" b="1">
                <a:solidFill>
                  <a:srgbClr val="FFFFFF"/>
                </a:solidFill>
                <a:latin typeface="Ember Modern Display Standard"/>
              </a:rPr>
              <a:t>Building the solution</a:t>
            </a:r>
          </a:p>
        </p:txBody>
      </p:sp>
      <p:sp>
        <p:nvSpPr>
          <p:cNvPr id="128" name="TextBox 127"/>
          <p:cNvSpPr txBox="1"/>
          <p:nvPr/>
        </p:nvSpPr>
        <p:spPr>
          <a:xfrm>
            <a:off x="1143000" y="2852928"/>
            <a:ext cx="6949440" cy="365760"/>
          </a:xfrm>
          <a:prstGeom prst="rect">
            <a:avLst/>
          </a:prstGeom>
          <a:noFill/>
        </p:spPr>
        <p:txBody>
          <a:bodyPr wrap="square" lIns="0" rIns="0" tIns="0" bIns="0" anchor="t">
            <a:spAutoFit/>
          </a:bodyPr>
          <a:lstStyle/>
          <a:p>
            <a:pPr algn="l"/>
            <a:r>
              <a:rPr sz="1500" b="0">
                <a:solidFill>
                  <a:srgbClr val="D6DCE7"/>
                </a:solidFill>
                <a:latin typeface="Ember Modern Display Standard"/>
              </a:rPr>
              <a:t>How we search, score, decide, and stay fast.</a:t>
            </a:r>
          </a:p>
        </p:txBody>
      </p:sp>
    </p:spTree>
    <p:extLst>
      <p:ext uri="{BB962C8B-B14F-4D97-AF65-F5344CB8AC3E}">
        <p14:creationId xmlns:p14="http://schemas.microsoft.com/office/powerpoint/2010/main" val="32279695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126"/>
                                        </p:tgtEl>
                                        <p:attrNameLst>
                                          <p:attrName>style.visibility</p:attrName>
                                        </p:attrNameLst>
                                      </p:cBhvr>
                                      <p:to>
                                        <p:strVal val="visible"/>
                                      </p:to>
                                    </p:set>
                                    <p:animEffect transition="in" filter="fade">
                                      <p:cBhvr>
                                        <p:cTn id="6" dur="450"/>
                                        <p:tgtEl>
                                          <p:spTgt spid="126"/>
                                        </p:tgtEl>
                                      </p:cBhvr>
                                    </p:animEffect>
                                  </p:childTnLst>
                                </p:cTn>
                              </p:par>
                            </p:childTnLst>
                          </p:cTn>
                        </p:par>
                        <p:par>
                          <p:cTn id="17" fill="hold">
                            <p:stCondLst>
                              <p:cond delay="450"/>
                            </p:stCondLst>
                            <p:childTnLst>
                              <p:par>
                                <p:cTn id="8" presetID="10" presetClass="entr" presetSubtype="0" fill="hold" grpId="0" nodeType="afterEffect">
                                  <p:stCondLst>
                                    <p:cond delay="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450"/>
                                        <p:tgtEl>
                                          <p:spTgt spid="1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8"/>
                                        </p:tgtEl>
                                        <p:attrNameLst>
                                          <p:attrName>style.visibility</p:attrName>
                                        </p:attrNameLst>
                                      </p:cBhvr>
                                      <p:to>
                                        <p:strVal val="visible"/>
                                      </p:to>
                                    </p:set>
                                    <p:animEffect transition="in" filter="fade">
                                      <p:cBhvr>
                                        <p:cTn id="13" dur="450"/>
                                        <p:tgtEl>
                                          <p:spTgt spid="1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27" grpId="0" animBg="1"/>
      <p:bldP spid="128"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Shape 124">
          <a:extLst>
            <a:ext uri="{FF2B5EF4-FFF2-40B4-BE49-F238E27FC236}">
              <a16:creationId xmlns:a16="http://schemas.microsoft.com/office/drawing/2014/main" id="{73DD50EC-CAFF-8F02-F010-6694E0B1FB8B}"/>
            </a:ext>
          </a:extLst>
        </p:cNvPr>
        <p:cNvGrpSpPr/>
        <p:nvPr/>
      </p:nvGrpSpPr>
      <p:grpSpPr>
        <a:xfrm>
          <a:off x="0" y="0"/>
          <a:ext cx="0" cy="0"/>
          <a:chOff x="0" y="0"/>
          <a:chExt cx="0" cy="0"/>
        </a:xfrm>
      </p:grpSpPr>
      <p:sp>
        <p:nvSpPr>
          <p:cNvPr id="125" name="Google Shape;125;p36">
            <a:extLst>
              <a:ext uri="{FF2B5EF4-FFF2-40B4-BE49-F238E27FC236}">
                <a16:creationId xmlns:a16="http://schemas.microsoft.com/office/drawing/2014/main" id="{FB03AD22-4ED4-FE94-6FE7-8417ED8F816B}"/>
              </a:ext>
            </a:extLst>
          </p:cNvPr>
          <p:cNvSpPr>
            <a:spLocks noGrp="1" noRot="1" noMove="1" noResize="1" noEditPoints="1" noAdjustHandles="1" noChangeArrowheads="1" noChangeShapeType="1"/>
          </p:cNvSpPr>
          <p:nvPr/>
        </p:nvSpPr>
        <p:spPr>
          <a:xfrm>
            <a:off x="487675" y="403650"/>
            <a:ext cx="8181300" cy="4153800"/>
          </a:xfrm>
          <a:prstGeom prst="roundRect">
            <a:avLst>
              <a:gd name="adj" fmla="val 2303"/>
            </a:avLst>
          </a:prstGeom>
          <a:solidFill>
            <a:srgbClr val="2934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 name="Picture 1" descr="A logo of a company&#10;&#10;AI-generated content may be incorrect.">
            <a:extLst>
              <a:ext uri="{FF2B5EF4-FFF2-40B4-BE49-F238E27FC236}">
                <a16:creationId xmlns:a16="http://schemas.microsoft.com/office/drawing/2014/main" id="{7EBF125C-021C-FEB9-9139-9A3274BE5891}"/>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4294907" y="4731974"/>
            <a:ext cx="554186" cy="185801"/>
          </a:xfrm>
          <a:prstGeom prst="rect">
            <a:avLst/>
          </a:prstGeom>
        </p:spPr>
      </p:pic>
      <p:sp>
        <p:nvSpPr>
          <p:cNvPr id="4" name="Google Shape;572;p58">
            <a:extLst>
              <a:ext uri="{FF2B5EF4-FFF2-40B4-BE49-F238E27FC236}">
                <a16:creationId xmlns:a16="http://schemas.microsoft.com/office/drawing/2014/main" id="{2BD61A1F-1DC5-B773-FCE6-6725995FE91D}"/>
              </a:ext>
            </a:extLst>
          </p:cNvPr>
          <p:cNvSpPr/>
          <p:nvPr/>
        </p:nvSpPr>
        <p:spPr>
          <a:xfrm>
            <a:off x="1143000" y="3474720"/>
            <a:ext cx="1371600" cy="310896"/>
          </a:xfrm>
          <a:prstGeom prst="roundRect">
            <a:avLst>
              <a:gd name="adj" fmla="val 50000"/>
            </a:avLst>
          </a:prstGeom>
          <a:solidFill>
            <a:srgbClr val="FF620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algn="ctr"/>
            <a:r>
              <a:rPr sz="1100" b="1">
                <a:solidFill>
                  <a:srgbClr val="FFFFFF"/>
                </a:solidFill>
                <a:latin typeface="Ember Modern Display Standard"/>
              </a:rPr>
              <a:t>Part 3 of 5</a:t>
            </a:r>
          </a:p>
        </p:txBody>
      </p:sp>
      <p:sp>
        <p:nvSpPr>
          <p:cNvPr id="126" name="TextBox 125"/>
          <p:cNvSpPr txBox="1"/>
          <p:nvPr/>
        </p:nvSpPr>
        <p:spPr>
          <a:xfrm>
            <a:off x="1143000" y="1097280"/>
            <a:ext cx="3657600" cy="1005840"/>
          </a:xfrm>
          <a:prstGeom prst="rect">
            <a:avLst/>
          </a:prstGeom>
          <a:noFill/>
        </p:spPr>
        <p:txBody>
          <a:bodyPr wrap="square" lIns="0" rIns="0" tIns="0" bIns="0" anchor="t">
            <a:spAutoFit/>
          </a:bodyPr>
          <a:lstStyle/>
          <a:p>
            <a:pPr algn="l"/>
            <a:r>
              <a:rPr sz="7200" b="1">
                <a:solidFill>
                  <a:srgbClr val="FF6200"/>
                </a:solidFill>
                <a:latin typeface="Ember Modern Display Standard"/>
              </a:rPr>
              <a:t>03</a:t>
            </a:r>
          </a:p>
        </p:txBody>
      </p:sp>
      <p:sp>
        <p:nvSpPr>
          <p:cNvPr id="127" name="TextBox 126"/>
          <p:cNvSpPr txBox="1"/>
          <p:nvPr/>
        </p:nvSpPr>
        <p:spPr>
          <a:xfrm>
            <a:off x="1143000" y="2194560"/>
            <a:ext cx="6949440" cy="640080"/>
          </a:xfrm>
          <a:prstGeom prst="rect">
            <a:avLst/>
          </a:prstGeom>
          <a:noFill/>
        </p:spPr>
        <p:txBody>
          <a:bodyPr wrap="square" lIns="0" rIns="0" tIns="0" bIns="0" anchor="t">
            <a:spAutoFit/>
          </a:bodyPr>
          <a:lstStyle/>
          <a:p>
            <a:pPr algn="l"/>
            <a:r>
              <a:rPr sz="3400" b="1">
                <a:solidFill>
                  <a:srgbClr val="FFFFFF"/>
                </a:solidFill>
                <a:latin typeface="Ember Modern Display Standard"/>
              </a:rPr>
              <a:t>Learning from feedback</a:t>
            </a:r>
          </a:p>
        </p:txBody>
      </p:sp>
      <p:sp>
        <p:nvSpPr>
          <p:cNvPr id="128" name="TextBox 127"/>
          <p:cNvSpPr txBox="1"/>
          <p:nvPr/>
        </p:nvSpPr>
        <p:spPr>
          <a:xfrm>
            <a:off x="1143000" y="2852928"/>
            <a:ext cx="6949440" cy="365760"/>
          </a:xfrm>
          <a:prstGeom prst="rect">
            <a:avLst/>
          </a:prstGeom>
          <a:noFill/>
        </p:spPr>
        <p:txBody>
          <a:bodyPr wrap="square" lIns="0" rIns="0" tIns="0" bIns="0" anchor="t">
            <a:spAutoFit/>
          </a:bodyPr>
          <a:lstStyle/>
          <a:p>
            <a:pPr algn="l"/>
            <a:r>
              <a:rPr sz="1500" b="0">
                <a:solidFill>
                  <a:srgbClr val="D6DCE7"/>
                </a:solidFill>
                <a:latin typeface="Ember Modern Display Standard"/>
              </a:rPr>
              <a:t>What the leaderboard showed us, and how we responded.</a:t>
            </a:r>
          </a:p>
        </p:txBody>
      </p:sp>
    </p:spTree>
    <p:extLst>
      <p:ext uri="{BB962C8B-B14F-4D97-AF65-F5344CB8AC3E}">
        <p14:creationId xmlns:p14="http://schemas.microsoft.com/office/powerpoint/2010/main" val="32279695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126"/>
                                        </p:tgtEl>
                                        <p:attrNameLst>
                                          <p:attrName>style.visibility</p:attrName>
                                        </p:attrNameLst>
                                      </p:cBhvr>
                                      <p:to>
                                        <p:strVal val="visible"/>
                                      </p:to>
                                    </p:set>
                                    <p:animEffect transition="in" filter="fade">
                                      <p:cBhvr>
                                        <p:cTn id="6" dur="450"/>
                                        <p:tgtEl>
                                          <p:spTgt spid="126"/>
                                        </p:tgtEl>
                                      </p:cBhvr>
                                    </p:animEffect>
                                  </p:childTnLst>
                                </p:cTn>
                              </p:par>
                            </p:childTnLst>
                          </p:cTn>
                        </p:par>
                        <p:par>
                          <p:cTn id="17" fill="hold">
                            <p:stCondLst>
                              <p:cond delay="450"/>
                            </p:stCondLst>
                            <p:childTnLst>
                              <p:par>
                                <p:cTn id="8" presetID="10" presetClass="entr" presetSubtype="0" fill="hold" grpId="0" nodeType="afterEffect">
                                  <p:stCondLst>
                                    <p:cond delay="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450"/>
                                        <p:tgtEl>
                                          <p:spTgt spid="1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8"/>
                                        </p:tgtEl>
                                        <p:attrNameLst>
                                          <p:attrName>style.visibility</p:attrName>
                                        </p:attrNameLst>
                                      </p:cBhvr>
                                      <p:to>
                                        <p:strVal val="visible"/>
                                      </p:to>
                                    </p:set>
                                    <p:animEffect transition="in" filter="fade">
                                      <p:cBhvr>
                                        <p:cTn id="13" dur="450"/>
                                        <p:tgtEl>
                                          <p:spTgt spid="1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27" grpId="0" animBg="1"/>
      <p:bldP spid="128"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Shape 124">
          <a:extLst>
            <a:ext uri="{FF2B5EF4-FFF2-40B4-BE49-F238E27FC236}">
              <a16:creationId xmlns:a16="http://schemas.microsoft.com/office/drawing/2014/main" id="{73DD50EC-CAFF-8F02-F010-6694E0B1FB8B}"/>
            </a:ext>
          </a:extLst>
        </p:cNvPr>
        <p:cNvGrpSpPr/>
        <p:nvPr/>
      </p:nvGrpSpPr>
      <p:grpSpPr>
        <a:xfrm>
          <a:off x="0" y="0"/>
          <a:ext cx="0" cy="0"/>
          <a:chOff x="0" y="0"/>
          <a:chExt cx="0" cy="0"/>
        </a:xfrm>
      </p:grpSpPr>
      <p:sp>
        <p:nvSpPr>
          <p:cNvPr id="125" name="Google Shape;125;p36">
            <a:extLst>
              <a:ext uri="{FF2B5EF4-FFF2-40B4-BE49-F238E27FC236}">
                <a16:creationId xmlns:a16="http://schemas.microsoft.com/office/drawing/2014/main" id="{FB03AD22-4ED4-FE94-6FE7-8417ED8F816B}"/>
              </a:ext>
            </a:extLst>
          </p:cNvPr>
          <p:cNvSpPr>
            <a:spLocks noGrp="1" noRot="1" noMove="1" noResize="1" noEditPoints="1" noAdjustHandles="1" noChangeArrowheads="1" noChangeShapeType="1"/>
          </p:cNvSpPr>
          <p:nvPr/>
        </p:nvSpPr>
        <p:spPr>
          <a:xfrm>
            <a:off x="487675" y="403650"/>
            <a:ext cx="8181300" cy="4153800"/>
          </a:xfrm>
          <a:prstGeom prst="roundRect">
            <a:avLst>
              <a:gd name="adj" fmla="val 2303"/>
            </a:avLst>
          </a:prstGeom>
          <a:solidFill>
            <a:srgbClr val="2934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 name="Picture 1" descr="A logo of a company&#10;&#10;AI-generated content may be incorrect.">
            <a:extLst>
              <a:ext uri="{FF2B5EF4-FFF2-40B4-BE49-F238E27FC236}">
                <a16:creationId xmlns:a16="http://schemas.microsoft.com/office/drawing/2014/main" id="{7EBF125C-021C-FEB9-9139-9A3274BE5891}"/>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4294907" y="4731974"/>
            <a:ext cx="554186" cy="185801"/>
          </a:xfrm>
          <a:prstGeom prst="rect">
            <a:avLst/>
          </a:prstGeom>
        </p:spPr>
      </p:pic>
      <p:sp>
        <p:nvSpPr>
          <p:cNvPr id="4" name="Google Shape;572;p58">
            <a:extLst>
              <a:ext uri="{FF2B5EF4-FFF2-40B4-BE49-F238E27FC236}">
                <a16:creationId xmlns:a16="http://schemas.microsoft.com/office/drawing/2014/main" id="{2BD61A1F-1DC5-B773-FCE6-6725995FE91D}"/>
              </a:ext>
            </a:extLst>
          </p:cNvPr>
          <p:cNvSpPr/>
          <p:nvPr/>
        </p:nvSpPr>
        <p:spPr>
          <a:xfrm>
            <a:off x="1143000" y="3474720"/>
            <a:ext cx="1371600" cy="310896"/>
          </a:xfrm>
          <a:prstGeom prst="roundRect">
            <a:avLst>
              <a:gd name="adj" fmla="val 50000"/>
            </a:avLst>
          </a:prstGeom>
          <a:solidFill>
            <a:srgbClr val="FF620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algn="ctr"/>
            <a:r>
              <a:rPr sz="1100" b="1">
                <a:solidFill>
                  <a:srgbClr val="FFFFFF"/>
                </a:solidFill>
                <a:latin typeface="Ember Modern Display Standard"/>
              </a:rPr>
              <a:t>Part 4 of 5</a:t>
            </a:r>
          </a:p>
        </p:txBody>
      </p:sp>
      <p:sp>
        <p:nvSpPr>
          <p:cNvPr id="126" name="TextBox 125"/>
          <p:cNvSpPr txBox="1"/>
          <p:nvPr/>
        </p:nvSpPr>
        <p:spPr>
          <a:xfrm>
            <a:off x="1143000" y="1097280"/>
            <a:ext cx="3657600" cy="1005840"/>
          </a:xfrm>
          <a:prstGeom prst="rect">
            <a:avLst/>
          </a:prstGeom>
          <a:noFill/>
        </p:spPr>
        <p:txBody>
          <a:bodyPr wrap="square" lIns="0" rIns="0" tIns="0" bIns="0" anchor="t">
            <a:spAutoFit/>
          </a:bodyPr>
          <a:lstStyle/>
          <a:p>
            <a:pPr algn="l"/>
            <a:r>
              <a:rPr sz="7200" b="1">
                <a:solidFill>
                  <a:srgbClr val="FF6200"/>
                </a:solidFill>
                <a:latin typeface="Ember Modern Display Standard"/>
              </a:rPr>
              <a:t>04</a:t>
            </a:r>
          </a:p>
        </p:txBody>
      </p:sp>
      <p:sp>
        <p:nvSpPr>
          <p:cNvPr id="127" name="TextBox 126"/>
          <p:cNvSpPr txBox="1"/>
          <p:nvPr/>
        </p:nvSpPr>
        <p:spPr>
          <a:xfrm>
            <a:off x="1143000" y="2194560"/>
            <a:ext cx="6949440" cy="640080"/>
          </a:xfrm>
          <a:prstGeom prst="rect">
            <a:avLst/>
          </a:prstGeom>
          <a:noFill/>
        </p:spPr>
        <p:txBody>
          <a:bodyPr wrap="square" lIns="0" rIns="0" tIns="0" bIns="0" anchor="t">
            <a:spAutoFit/>
          </a:bodyPr>
          <a:lstStyle/>
          <a:p>
            <a:pPr algn="l"/>
            <a:r>
              <a:rPr sz="3400" b="1">
                <a:solidFill>
                  <a:srgbClr val="FFFFFF"/>
                </a:solidFill>
                <a:latin typeface="Ember Modern Display Standard"/>
              </a:rPr>
              <a:t>Results and reflection</a:t>
            </a:r>
          </a:p>
        </p:txBody>
      </p:sp>
      <p:sp>
        <p:nvSpPr>
          <p:cNvPr id="128" name="TextBox 127"/>
          <p:cNvSpPr txBox="1"/>
          <p:nvPr/>
        </p:nvSpPr>
        <p:spPr>
          <a:xfrm>
            <a:off x="1143000" y="2852928"/>
            <a:ext cx="6949440" cy="365760"/>
          </a:xfrm>
          <a:prstGeom prst="rect">
            <a:avLst/>
          </a:prstGeom>
          <a:noFill/>
        </p:spPr>
        <p:txBody>
          <a:bodyPr wrap="square" lIns="0" rIns="0" tIns="0" bIns="0" anchor="t">
            <a:spAutoFit/>
          </a:bodyPr>
          <a:lstStyle/>
          <a:p>
            <a:pPr algn="l"/>
            <a:r>
              <a:rPr sz="1500" b="0">
                <a:solidFill>
                  <a:srgbClr val="D6DCE7"/>
                </a:solidFill>
                <a:latin typeface="Ember Modern Display Standard"/>
              </a:rPr>
              <a:t>How we worked, where we landed, and what we learned.</a:t>
            </a:r>
          </a:p>
        </p:txBody>
      </p:sp>
    </p:spTree>
    <p:extLst>
      <p:ext uri="{BB962C8B-B14F-4D97-AF65-F5344CB8AC3E}">
        <p14:creationId xmlns:p14="http://schemas.microsoft.com/office/powerpoint/2010/main" val="32279695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126"/>
                                        </p:tgtEl>
                                        <p:attrNameLst>
                                          <p:attrName>style.visibility</p:attrName>
                                        </p:attrNameLst>
                                      </p:cBhvr>
                                      <p:to>
                                        <p:strVal val="visible"/>
                                      </p:to>
                                    </p:set>
                                    <p:animEffect transition="in" filter="fade">
                                      <p:cBhvr>
                                        <p:cTn id="6" dur="450"/>
                                        <p:tgtEl>
                                          <p:spTgt spid="126"/>
                                        </p:tgtEl>
                                      </p:cBhvr>
                                    </p:animEffect>
                                  </p:childTnLst>
                                </p:cTn>
                              </p:par>
                            </p:childTnLst>
                          </p:cTn>
                        </p:par>
                        <p:par>
                          <p:cTn id="17" fill="hold">
                            <p:stCondLst>
                              <p:cond delay="450"/>
                            </p:stCondLst>
                            <p:childTnLst>
                              <p:par>
                                <p:cTn id="8" presetID="10" presetClass="entr" presetSubtype="0" fill="hold" grpId="0" nodeType="afterEffect">
                                  <p:stCondLst>
                                    <p:cond delay="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450"/>
                                        <p:tgtEl>
                                          <p:spTgt spid="1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8"/>
                                        </p:tgtEl>
                                        <p:attrNameLst>
                                          <p:attrName>style.visibility</p:attrName>
                                        </p:attrNameLst>
                                      </p:cBhvr>
                                      <p:to>
                                        <p:strVal val="visible"/>
                                      </p:to>
                                    </p:set>
                                    <p:animEffect transition="in" filter="fade">
                                      <p:cBhvr>
                                        <p:cTn id="13" dur="450"/>
                                        <p:tgtEl>
                                          <p:spTgt spid="1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27" grpId="0" animBg="1"/>
      <p:bldP spid="128"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Shape 124">
          <a:extLst>
            <a:ext uri="{FF2B5EF4-FFF2-40B4-BE49-F238E27FC236}">
              <a16:creationId xmlns:a16="http://schemas.microsoft.com/office/drawing/2014/main" id="{73DD50EC-CAFF-8F02-F010-6694E0B1FB8B}"/>
            </a:ext>
          </a:extLst>
        </p:cNvPr>
        <p:cNvGrpSpPr/>
        <p:nvPr/>
      </p:nvGrpSpPr>
      <p:grpSpPr>
        <a:xfrm>
          <a:off x="0" y="0"/>
          <a:ext cx="0" cy="0"/>
          <a:chOff x="0" y="0"/>
          <a:chExt cx="0" cy="0"/>
        </a:xfrm>
      </p:grpSpPr>
      <p:sp>
        <p:nvSpPr>
          <p:cNvPr id="125" name="Google Shape;125;p36">
            <a:extLst>
              <a:ext uri="{FF2B5EF4-FFF2-40B4-BE49-F238E27FC236}">
                <a16:creationId xmlns:a16="http://schemas.microsoft.com/office/drawing/2014/main" id="{FB03AD22-4ED4-FE94-6FE7-8417ED8F816B}"/>
              </a:ext>
            </a:extLst>
          </p:cNvPr>
          <p:cNvSpPr>
            <a:spLocks noGrp="1" noRot="1" noMove="1" noResize="1" noEditPoints="1" noAdjustHandles="1" noChangeArrowheads="1" noChangeShapeType="1"/>
          </p:cNvSpPr>
          <p:nvPr/>
        </p:nvSpPr>
        <p:spPr>
          <a:xfrm>
            <a:off x="487675" y="403650"/>
            <a:ext cx="8181300" cy="4153800"/>
          </a:xfrm>
          <a:prstGeom prst="roundRect">
            <a:avLst>
              <a:gd name="adj" fmla="val 2303"/>
            </a:avLst>
          </a:prstGeom>
          <a:solidFill>
            <a:srgbClr val="2934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 name="Picture 1" descr="A logo of a company&#10;&#10;AI-generated content may be incorrect.">
            <a:extLst>
              <a:ext uri="{FF2B5EF4-FFF2-40B4-BE49-F238E27FC236}">
                <a16:creationId xmlns:a16="http://schemas.microsoft.com/office/drawing/2014/main" id="{7EBF125C-021C-FEB9-9139-9A3274BE5891}"/>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4294907" y="4731974"/>
            <a:ext cx="554186" cy="185801"/>
          </a:xfrm>
          <a:prstGeom prst="rect">
            <a:avLst/>
          </a:prstGeom>
        </p:spPr>
      </p:pic>
      <p:sp>
        <p:nvSpPr>
          <p:cNvPr id="4" name="Google Shape;572;p58">
            <a:extLst>
              <a:ext uri="{FF2B5EF4-FFF2-40B4-BE49-F238E27FC236}">
                <a16:creationId xmlns:a16="http://schemas.microsoft.com/office/drawing/2014/main" id="{2BD61A1F-1DC5-B773-FCE6-6725995FE91D}"/>
              </a:ext>
            </a:extLst>
          </p:cNvPr>
          <p:cNvSpPr/>
          <p:nvPr/>
        </p:nvSpPr>
        <p:spPr>
          <a:xfrm>
            <a:off x="1143000" y="3474720"/>
            <a:ext cx="1371600" cy="310896"/>
          </a:xfrm>
          <a:prstGeom prst="roundRect">
            <a:avLst>
              <a:gd name="adj" fmla="val 50000"/>
            </a:avLst>
          </a:prstGeom>
          <a:solidFill>
            <a:srgbClr val="FF620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algn="ctr"/>
            <a:r>
              <a:rPr sz="1100" b="1">
                <a:solidFill>
                  <a:srgbClr val="FFFFFF"/>
                </a:solidFill>
                <a:latin typeface="Ember Modern Display Standard"/>
              </a:rPr>
              <a:t>Part 5 of 5</a:t>
            </a:r>
          </a:p>
        </p:txBody>
      </p:sp>
      <p:sp>
        <p:nvSpPr>
          <p:cNvPr id="126" name="TextBox 125"/>
          <p:cNvSpPr txBox="1"/>
          <p:nvPr/>
        </p:nvSpPr>
        <p:spPr>
          <a:xfrm>
            <a:off x="1143000" y="1097280"/>
            <a:ext cx="3657600" cy="1005840"/>
          </a:xfrm>
          <a:prstGeom prst="rect">
            <a:avLst/>
          </a:prstGeom>
          <a:noFill/>
        </p:spPr>
        <p:txBody>
          <a:bodyPr wrap="square" lIns="0" rIns="0" tIns="0" bIns="0" anchor="t">
            <a:spAutoFit/>
          </a:bodyPr>
          <a:lstStyle/>
          <a:p>
            <a:pPr algn="l"/>
            <a:r>
              <a:rPr sz="7200" b="1">
                <a:solidFill>
                  <a:srgbClr val="FF6200"/>
                </a:solidFill>
                <a:latin typeface="Ember Modern Display Standard"/>
              </a:rPr>
              <a:t>05</a:t>
            </a:r>
          </a:p>
        </p:txBody>
      </p:sp>
      <p:sp>
        <p:nvSpPr>
          <p:cNvPr id="127" name="TextBox 126"/>
          <p:cNvSpPr txBox="1"/>
          <p:nvPr/>
        </p:nvSpPr>
        <p:spPr>
          <a:xfrm>
            <a:off x="1143000" y="2194560"/>
            <a:ext cx="6949440" cy="640080"/>
          </a:xfrm>
          <a:prstGeom prst="rect">
            <a:avLst/>
          </a:prstGeom>
          <a:noFill/>
        </p:spPr>
        <p:txBody>
          <a:bodyPr wrap="square" lIns="0" rIns="0" tIns="0" bIns="0" anchor="t">
            <a:spAutoFit/>
          </a:bodyPr>
          <a:lstStyle/>
          <a:p>
            <a:pPr algn="l"/>
            <a:r>
              <a:rPr sz="3400" b="1">
                <a:solidFill>
                  <a:srgbClr val="FFFFFF"/>
                </a:solidFill>
                <a:latin typeface="Ember Modern Display Standard"/>
              </a:rPr>
              <a:t>Looking ahead</a:t>
            </a:r>
          </a:p>
        </p:txBody>
      </p:sp>
      <p:sp>
        <p:nvSpPr>
          <p:cNvPr id="128" name="TextBox 127"/>
          <p:cNvSpPr txBox="1"/>
          <p:nvPr/>
        </p:nvSpPr>
        <p:spPr>
          <a:xfrm>
            <a:off x="1143000" y="2852928"/>
            <a:ext cx="6949440" cy="365760"/>
          </a:xfrm>
          <a:prstGeom prst="rect">
            <a:avLst/>
          </a:prstGeom>
          <a:noFill/>
        </p:spPr>
        <p:txBody>
          <a:bodyPr wrap="square" lIns="0" rIns="0" tIns="0" bIns="0" anchor="t">
            <a:spAutoFit/>
          </a:bodyPr>
          <a:lstStyle/>
          <a:p>
            <a:pPr algn="l"/>
            <a:r>
              <a:rPr sz="1500" b="0">
                <a:solidFill>
                  <a:srgbClr val="D6DCE7"/>
                </a:solidFill>
                <a:latin typeface="Ember Modern Display Standard"/>
              </a:rPr>
              <a:t>How it scales, and where it goes next.</a:t>
            </a:r>
          </a:p>
        </p:txBody>
      </p:sp>
    </p:spTree>
    <p:extLst>
      <p:ext uri="{BB962C8B-B14F-4D97-AF65-F5344CB8AC3E}">
        <p14:creationId xmlns:p14="http://schemas.microsoft.com/office/powerpoint/2010/main" val="32279695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126"/>
                                        </p:tgtEl>
                                        <p:attrNameLst>
                                          <p:attrName>style.visibility</p:attrName>
                                        </p:attrNameLst>
                                      </p:cBhvr>
                                      <p:to>
                                        <p:strVal val="visible"/>
                                      </p:to>
                                    </p:set>
                                    <p:animEffect transition="in" filter="fade">
                                      <p:cBhvr>
                                        <p:cTn id="6" dur="450"/>
                                        <p:tgtEl>
                                          <p:spTgt spid="126"/>
                                        </p:tgtEl>
                                      </p:cBhvr>
                                    </p:animEffect>
                                  </p:childTnLst>
                                </p:cTn>
                              </p:par>
                            </p:childTnLst>
                          </p:cTn>
                        </p:par>
                        <p:par>
                          <p:cTn id="17" fill="hold">
                            <p:stCondLst>
                              <p:cond delay="450"/>
                            </p:stCondLst>
                            <p:childTnLst>
                              <p:par>
                                <p:cTn id="8" presetID="10" presetClass="entr" presetSubtype="0" fill="hold" grpId="0" nodeType="afterEffect">
                                  <p:stCondLst>
                                    <p:cond delay="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450"/>
                                        <p:tgtEl>
                                          <p:spTgt spid="1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8"/>
                                        </p:tgtEl>
                                        <p:attrNameLst>
                                          <p:attrName>style.visibility</p:attrName>
                                        </p:attrNameLst>
                                      </p:cBhvr>
                                      <p:to>
                                        <p:strVal val="visible"/>
                                      </p:to>
                                    </p:set>
                                    <p:animEffect transition="in" filter="fade">
                                      <p:cBhvr>
                                        <p:cTn id="13" dur="450"/>
                                        <p:tgtEl>
                                          <p:spTgt spid="1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27" grpId="0" animBg="1"/>
      <p:bldP spid="128" grpId="0" animBg="1"/>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Shape 124">
          <a:extLst>
            <a:ext uri="{FF2B5EF4-FFF2-40B4-BE49-F238E27FC236}">
              <a16:creationId xmlns:a16="http://schemas.microsoft.com/office/drawing/2014/main" id="{73DD50EC-CAFF-8F02-F010-6694E0B1FB8B}"/>
            </a:ext>
          </a:extLst>
        </p:cNvPr>
        <p:cNvGrpSpPr/>
        <p:nvPr/>
      </p:nvGrpSpPr>
      <p:grpSpPr>
        <a:xfrm>
          <a:off x="0" y="0"/>
          <a:ext cx="0" cy="0"/>
          <a:chOff x="0" y="0"/>
          <a:chExt cx="0" cy="0"/>
        </a:xfrm>
      </p:grpSpPr>
      <p:sp>
        <p:nvSpPr>
          <p:cNvPr id="125" name="Google Shape;125;p36">
            <a:extLst>
              <a:ext uri="{FF2B5EF4-FFF2-40B4-BE49-F238E27FC236}">
                <a16:creationId xmlns:a16="http://schemas.microsoft.com/office/drawing/2014/main" id="{FB03AD22-4ED4-FE94-6FE7-8417ED8F816B}"/>
              </a:ext>
            </a:extLst>
          </p:cNvPr>
          <p:cNvSpPr>
            <a:spLocks noGrp="1" noRot="1" noMove="1" noResize="1" noEditPoints="1" noAdjustHandles="1" noChangeArrowheads="1" noChangeShapeType="1"/>
          </p:cNvSpPr>
          <p:nvPr/>
        </p:nvSpPr>
        <p:spPr>
          <a:xfrm>
            <a:off x="487675" y="403650"/>
            <a:ext cx="8181300" cy="4153800"/>
          </a:xfrm>
          <a:prstGeom prst="roundRect">
            <a:avLst>
              <a:gd name="adj" fmla="val 2303"/>
            </a:avLst>
          </a:prstGeom>
          <a:solidFill>
            <a:srgbClr val="2934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 name="Picture 1" descr="A logo of a company&#10;&#10;AI-generated content may be incorrect.">
            <a:extLst>
              <a:ext uri="{FF2B5EF4-FFF2-40B4-BE49-F238E27FC236}">
                <a16:creationId xmlns:a16="http://schemas.microsoft.com/office/drawing/2014/main" id="{7EBF125C-021C-FEB9-9139-9A3274BE5891}"/>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4294907" y="4731974"/>
            <a:ext cx="554186" cy="185801"/>
          </a:xfrm>
          <a:prstGeom prst="rect">
            <a:avLst/>
          </a:prstGeom>
        </p:spPr>
      </p:pic>
      <p:sp>
        <p:nvSpPr>
          <p:cNvPr id="4" name="Google Shape;572;p58">
            <a:extLst>
              <a:ext uri="{FF2B5EF4-FFF2-40B4-BE49-F238E27FC236}">
                <a16:creationId xmlns:a16="http://schemas.microsoft.com/office/drawing/2014/main" id="{2BD61A1F-1DC5-B773-FCE6-6725995FE91D}"/>
              </a:ext>
            </a:extLst>
          </p:cNvPr>
          <p:cNvSpPr/>
          <p:nvPr/>
        </p:nvSpPr>
        <p:spPr>
          <a:xfrm>
            <a:off x="3035315" y="3156693"/>
            <a:ext cx="3114474" cy="292800"/>
          </a:xfrm>
          <a:prstGeom prst="roundRect">
            <a:avLst>
              <a:gd name="adj" fmla="val 50000"/>
            </a:avLst>
          </a:prstGeom>
          <a:solidFill>
            <a:srgbClr val="FF620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algn="ctr"/>
            <a:r>
              <a:rPr sz="1200" b="1">
                <a:solidFill>
                  <a:srgbClr val="FFFFFF"/>
                </a:solidFill>
                <a:latin typeface="Ember Modern Display Standard"/>
              </a:rPr>
              <a:t>Questions welcome</a:t>
            </a:r>
          </a:p>
        </p:txBody>
      </p:sp>
      <p:sp>
        <p:nvSpPr>
          <p:cNvPr id="126" name="TextBox 125"/>
          <p:cNvSpPr txBox="1"/>
          <p:nvPr/>
        </p:nvSpPr>
        <p:spPr>
          <a:xfrm>
            <a:off x="484632" y="1051560"/>
            <a:ext cx="8183879" cy="822960"/>
          </a:xfrm>
          <a:prstGeom prst="rect">
            <a:avLst/>
          </a:prstGeom>
          <a:noFill/>
        </p:spPr>
        <p:txBody>
          <a:bodyPr wrap="square" lIns="0" rIns="0" tIns="0" bIns="0" anchor="t">
            <a:spAutoFit/>
          </a:bodyPr>
          <a:lstStyle/>
          <a:p>
            <a:pPr algn="ctr"/>
            <a:r>
              <a:rPr sz="4400" b="1">
                <a:solidFill>
                  <a:srgbClr val="FFFFFF"/>
                </a:solidFill>
                <a:latin typeface="Ember Modern Display Standard"/>
              </a:rPr>
              <a:t>Thank </a:t>
            </a:r>
            <a:r>
              <a:rPr sz="4400" b="1">
                <a:solidFill>
                  <a:srgbClr val="FF6200"/>
                </a:solidFill>
                <a:latin typeface="Ember Modern Display Standard"/>
              </a:rPr>
              <a:t>You</a:t>
            </a:r>
          </a:p>
        </p:txBody>
      </p:sp>
      <p:sp>
        <p:nvSpPr>
          <p:cNvPr id="127" name="TextBox 126"/>
          <p:cNvSpPr txBox="1"/>
          <p:nvPr/>
        </p:nvSpPr>
        <p:spPr>
          <a:xfrm>
            <a:off x="914400" y="2148840"/>
            <a:ext cx="7315200" cy="365760"/>
          </a:xfrm>
          <a:prstGeom prst="rect">
            <a:avLst/>
          </a:prstGeom>
          <a:noFill/>
        </p:spPr>
        <p:txBody>
          <a:bodyPr wrap="square" lIns="0" rIns="0" tIns="0" bIns="0" anchor="t">
            <a:spAutoFit/>
          </a:bodyPr>
          <a:lstStyle/>
          <a:p>
            <a:pPr algn="ctr"/>
            <a:r>
              <a:rPr sz="1500" b="0">
                <a:solidFill>
                  <a:srgbClr val="D6DCE7"/>
                </a:solidFill>
                <a:latin typeface="Ember Modern Display Standard"/>
              </a:rPr>
              <a:t>Read the data.   Decide like the metric.   Spend compute where it matters.</a:t>
            </a:r>
          </a:p>
        </p:txBody>
      </p:sp>
      <p:sp>
        <p:nvSpPr>
          <p:cNvPr id="128" name="TextBox 127"/>
          <p:cNvSpPr txBox="1"/>
          <p:nvPr/>
        </p:nvSpPr>
        <p:spPr>
          <a:xfrm>
            <a:off x="484632" y="3749039"/>
            <a:ext cx="8183879" cy="274320"/>
          </a:xfrm>
          <a:prstGeom prst="rect">
            <a:avLst/>
          </a:prstGeom>
          <a:noFill/>
        </p:spPr>
        <p:txBody>
          <a:bodyPr wrap="square" lIns="0" rIns="0" tIns="0" bIns="0" anchor="t">
            <a:spAutoFit/>
          </a:bodyPr>
          <a:lstStyle/>
          <a:p>
            <a:pPr algn="ctr"/>
            <a:r>
              <a:rPr sz="1100" b="0">
                <a:solidFill>
                  <a:srgbClr val="B8C0CC"/>
                </a:solidFill>
                <a:latin typeface="Ember Modern Display Standard"/>
              </a:rPr>
              <a:t>Team Grenuke  ·  Ameya Borkar  ·  Aarush Bakshi  ·  Sachi Dhoka</a:t>
            </a:r>
          </a:p>
        </p:txBody>
      </p:sp>
    </p:spTree>
    <p:extLst>
      <p:ext uri="{BB962C8B-B14F-4D97-AF65-F5344CB8AC3E}">
        <p14:creationId xmlns:p14="http://schemas.microsoft.com/office/powerpoint/2010/main" val="32279695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126"/>
                                        </p:tgtEl>
                                        <p:attrNameLst>
                                          <p:attrName>style.visibility</p:attrName>
                                        </p:attrNameLst>
                                      </p:cBhvr>
                                      <p:to>
                                        <p:strVal val="visible"/>
                                      </p:to>
                                    </p:set>
                                    <p:animEffect transition="in" filter="fade">
                                      <p:cBhvr>
                                        <p:cTn id="6" dur="450"/>
                                        <p:tgtEl>
                                          <p:spTgt spid="126"/>
                                        </p:tgtEl>
                                      </p:cBhvr>
                                    </p:animEffect>
                                  </p:childTnLst>
                                </p:cTn>
                              </p:par>
                            </p:childTnLst>
                          </p:cTn>
                        </p:par>
                        <p:par>
                          <p:cTn id="11" fill="hold">
                            <p:stCondLst>
                              <p:cond delay="450"/>
                            </p:stCondLst>
                            <p:childTnLst>
                              <p:par>
                                <p:cTn id="8" presetID="10" presetClass="entr" presetSubtype="0" fill="hold" grpId="0" nodeType="afterEffect">
                                  <p:stCondLst>
                                    <p:cond delay="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450"/>
                                        <p:tgtEl>
                                          <p:spTgt spid="127"/>
                                        </p:tgtEl>
                                      </p:cBhvr>
                                    </p:animEffect>
                                  </p:childTnLst>
                                </p:cTn>
                              </p:par>
                            </p:childTnLst>
                          </p:cTn>
                        </p:par>
                        <p:par>
                          <p:cTn id="18" fill="hold">
                            <p:stCondLst>
                              <p:cond delay="900"/>
                            </p:stCondLst>
                            <p:childTnLst>
                              <p:par>
                                <p:cTn id="12" presetID="10" presetClass="entr" presetSubtype="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8"/>
                                        </p:tgtEl>
                                        <p:attrNameLst>
                                          <p:attrName>style.visibility</p:attrName>
                                        </p:attrNameLst>
                                      </p:cBhvr>
                                      <p:to>
                                        <p:strVal val="visible"/>
                                      </p:to>
                                    </p:set>
                                    <p:animEffect transition="in" filter="fade">
                                      <p:cBhvr>
                                        <p:cTn id="17" dur="45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27" grpId="0" animBg="1"/>
      <p:bldP spid="4" grpId="0" animBg="1"/>
      <p:bldP spid="128" grpId="0" animBg="1"/>
    </p:bldLst>
  </p:timing>
</p:sld>
</file>

<file path=ppt/theme/theme1.xml><?xml version="1.0" encoding="utf-8"?>
<a:theme xmlns:a="http://schemas.openxmlformats.org/drawingml/2006/main" name="Amazon">
  <a:themeElements>
    <a:clrScheme name="Simple Light">
      <a:dk1>
        <a:srgbClr val="000000"/>
      </a:dk1>
      <a:lt1>
        <a:srgbClr val="FFFFFF"/>
      </a:lt1>
      <a:dk2>
        <a:srgbClr val="595959"/>
      </a:dk2>
      <a:lt2>
        <a:srgbClr val="EEEEEE"/>
      </a:lt2>
      <a:accent1>
        <a:srgbClr val="FF6200"/>
      </a:accent1>
      <a:accent2>
        <a:srgbClr val="161D26"/>
      </a:accent2>
      <a:accent3>
        <a:srgbClr val="F5F3EF"/>
      </a:accent3>
      <a:accent4>
        <a:srgbClr val="FFB28B"/>
      </a:accent4>
      <a:accent5>
        <a:srgbClr val="D1CAC2"/>
      </a:accent5>
      <a:accent6>
        <a:srgbClr val="D6DCE7"/>
      </a:accent6>
      <a:hlink>
        <a:srgbClr val="B6BFB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473</TotalTime>
  <Words>285</Words>
  <Application>Microsoft Office PowerPoint</Application>
  <PresentationFormat>On-screen Show (16:9)</PresentationFormat>
  <Paragraphs>13</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Ember Modern Display Standard</vt:lpstr>
      <vt:lpstr>Arial</vt:lpstr>
      <vt:lpstr>Helvetica Neue</vt:lpstr>
      <vt:lpstr>Play</vt:lpstr>
      <vt:lpstr>Amazon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Kumar A, Lathish</dc:creator>
  <cp:lastModifiedBy>Kumar A, Lathish</cp:lastModifiedBy>
  <cp:revision>16</cp:revision>
  <dcterms:modified xsi:type="dcterms:W3CDTF">2026-10-03T09:35:33Z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2026-01-29T18:51:21Z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c58a1bf8-dfa2-42af-b639-c349773bb8a9</vt:lpwstr>
  </property>
  <property fmtid="{D5CDD505-2E9C-101B-9397-08002B2CF9AE}" pid="8" name="MSIP_Label_19e68092-05df-4271-8e3e-b2a4c82ba797_ContentBits">
    <vt:lpwstr>0</vt:lpwstr>
  </property>
  <property fmtid="{D5CDD505-2E9C-101B-9397-08002B2CF9AE}" pid="9" name="MSIP_Label_19e68092-05df-4271-8e3e-b2a4c82ba797_Tag">
    <vt:lpwstr>10, 3, 0, 1</vt:lpwstr>
  </property>
</Properties>
</file>