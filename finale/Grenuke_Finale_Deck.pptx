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5"/>
  </p:notesMasterIdLst>
  <p:sldIdLst>
    <p:sldId id="257" r:id="rId2"/>
    <p:sldId id="262" r:id="rId3"/>
    <p:sldId id="287" r:id="rId28"/>
    <p:sldId id="286" r:id="rId27"/>
    <p:sldId id="285" r:id="rId26"/>
    <p:sldId id="284" r:id="rId25"/>
    <p:sldId id="283" r:id="rId24"/>
    <p:sldId id="282" r:id="rId23"/>
    <p:sldId id="281" r:id="rId22"/>
    <p:sldId id="280" r:id="rId21"/>
    <p:sldId id="279" r:id="rId4"/>
  </p:sldIdLst>
  <p:sldSz cx="9144000" cy="5143500" type="screen16x9"/>
  <p:notesSz cx="6858000" cy="9144000"/>
  <p:embeddedFontLst>
    <p:embeddedFont>
      <p:font typeface="Ember Modern Display Standard" panose="020B0503020204020204" pitchFamily="34" charset="0"/>
      <p:regular r:id="rId6"/>
      <p:bold r:id="rId7"/>
    </p:embeddedFont>
    <p:embeddedFont>
      <p:font typeface="Helvetica Neue" panose="020B0604020202020204" charset="0"/>
      <p:regular r:id="rId8"/>
      <p:bold r:id="rId9"/>
      <p:italic r:id="rId10"/>
      <p:boldItalic r:id="rId11"/>
    </p:embeddedFont>
    <p:embeddedFont>
      <p:font typeface="Play" panose="020B0604020202020204" charset="0"/>
      <p:regular r:id="rId12"/>
      <p:bold r:id="rId13"/>
      <p:italic r:id="rId14"/>
      <p:boldItalic r:id="rId1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ylec@amazon.co.uk" initials="" lastIdx="8" clrIdx="0"/>
  <p:cmAuthor id="1" name="Monika Lumb" initials="" lastIdx="4" clrIdx="1"/>
  <p:cmAuthor id="2" name="Samantha Trup" initials="" lastIdx="1" clrIdx="2"/>
  <p:cmAuthor id="3" name="Gabriela Beitel" initials="" lastIdx="17"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101"/>
    <a:srgbClr val="131C27"/>
    <a:srgbClr val="EEEEEE"/>
    <a:srgbClr val="F491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26"/>
  </p:normalViewPr>
  <p:slideViewPr>
    <p:cSldViewPr snapToGrid="0">
      <p:cViewPr varScale="1">
        <p:scale>
          <a:sx n="93" d="100"/>
          <a:sy n="93" d="100"/>
        </p:scale>
        <p:origin x="544" y="5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11.xml"/><Relationship Id="rId5" Type="http://schemas.openxmlformats.org/officeDocument/2006/relationships/notesMaster" Target="notesMasters/notesMaster1.xml"/><Relationship Id="rId6" Type="http://schemas.openxmlformats.org/officeDocument/2006/relationships/font" Target="fonts/font1.fntdata"/><Relationship Id="rId7" Type="http://schemas.openxmlformats.org/officeDocument/2006/relationships/font" Target="fonts/font2.fntdata"/><Relationship Id="rId8" Type="http://schemas.openxmlformats.org/officeDocument/2006/relationships/font" Target="fonts/font3.fntdata"/><Relationship Id="rId9" Type="http://schemas.openxmlformats.org/officeDocument/2006/relationships/font" Target="fonts/font4.fntdata"/><Relationship Id="rId10" Type="http://schemas.openxmlformats.org/officeDocument/2006/relationships/font" Target="fonts/font5.fntdata"/><Relationship Id="rId11" Type="http://schemas.openxmlformats.org/officeDocument/2006/relationships/font" Target="fonts/font6.fntdata"/><Relationship Id="rId12" Type="http://schemas.openxmlformats.org/officeDocument/2006/relationships/font" Target="fonts/font7.fntdata"/><Relationship Id="rId13" Type="http://schemas.openxmlformats.org/officeDocument/2006/relationships/font" Target="fonts/font8.fntdata"/><Relationship Id="rId14" Type="http://schemas.openxmlformats.org/officeDocument/2006/relationships/font" Target="fonts/font9.fntdata"/><Relationship Id="rId15" Type="http://schemas.openxmlformats.org/officeDocument/2006/relationships/font" Target="fonts/font10.fntdata"/><Relationship Id="rId16" Type="http://schemas.openxmlformats.org/officeDocument/2006/relationships/commentAuthors" Target="commentAuthors.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0.xml"/><Relationship Id="rId22" Type="http://schemas.openxmlformats.org/officeDocument/2006/relationships/slide" Target="slides/slide9.xml"/><Relationship Id="rId23" Type="http://schemas.openxmlformats.org/officeDocument/2006/relationships/slide" Target="slides/slide8.xml"/><Relationship Id="rId24" Type="http://schemas.openxmlformats.org/officeDocument/2006/relationships/slide" Target="slides/slide7.xml"/><Relationship Id="rId25" Type="http://schemas.openxmlformats.org/officeDocument/2006/relationships/slide" Target="slides/slide6.xml"/><Relationship Id="rId26" Type="http://schemas.openxmlformats.org/officeDocument/2006/relationships/slide" Target="slides/slide5.xml"/><Relationship Id="rId27" Type="http://schemas.openxmlformats.org/officeDocument/2006/relationships/slide" Target="slides/slide4.xml"/><Relationship Id="rId28"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public leaderboard</c:v>
                </c:pt>
              </c:strCache>
            </c:strRef>
          </c:tx>
          <c:spPr>
            <a:ln w="31750">
              <a:solidFill>
                <a:srgbClr val="FF6200"/>
              </a:solidFill>
            </a:ln>
          </c:spPr>
          <c:marker>
            <c:symbol val="circle"/>
            <c:size val="7"/>
            <c:spPr>
              <a:solidFill>
                <a:srgbClr val="161D26"/>
              </a:solidFill>
              <a:ln>
                <a:noFill/>
              </a:ln>
            </c:spPr>
          </c:marker>
          <c:dLbls>
            <c:dLbl>
              <c:idx val="0"/>
              <c:tx>
                <c:rich>
                  <a:bodyPr/>
                  <a:lstStyle/>
                  <a:p>
                    <a:r>
                      <a:rPr sz="1000" b="1">
                        <a:solidFill>
                          <a:srgbClr val="161D26"/>
                        </a:solidFill>
                        <a:latin typeface="Ember Modern Display Standard"/>
                      </a:rPr>
                      <a:t>0.976</a:t>
                    </a:r>
                  </a:p>
                </c:rich>
              </c:tx>
              <c:dLblPos val="r"/>
              <c:showLegendKey val="0"/>
              <c:showVal val="1"/>
              <c:showCatName val="0"/>
              <c:showSerName val="0"/>
              <c:showPercent val="0"/>
              <c:showBubbleSize val="0"/>
            </c:dLbl>
            <c:dLbl>
              <c:idx val="2"/>
              <c:tx>
                <c:rich>
                  <a:bodyPr/>
                  <a:lstStyle/>
                  <a:p>
                    <a:r>
                      <a:rPr sz="1000" b="1">
                        <a:solidFill>
                          <a:srgbClr val="161D26"/>
                        </a:solidFill>
                        <a:latin typeface="Ember Modern Display Standard"/>
                      </a:rPr>
                      <a:t>0.988</a:t>
                    </a:r>
                  </a:p>
                </c:rich>
              </c:tx>
              <c:dLblPos val="t"/>
              <c:showLegendKey val="0"/>
              <c:showVal val="1"/>
              <c:showCatName val="0"/>
              <c:showSerName val="0"/>
              <c:showPercent val="0"/>
              <c:showBubbleSize val="0"/>
            </c:dLbl>
            <c:dLbl>
              <c:idx val="4"/>
              <c:tx>
                <c:rich>
                  <a:bodyPr/>
                  <a:lstStyle/>
                  <a:p>
                    <a:r>
                      <a:rPr sz="1000" b="1">
                        <a:solidFill>
                          <a:srgbClr val="161D26"/>
                        </a:solidFill>
                        <a:latin typeface="Ember Modern Display Standard"/>
                      </a:rPr>
                      <a:t>0.990</a:t>
                    </a:r>
                  </a:p>
                </c:rich>
              </c:tx>
              <c:dLblPos val="t"/>
              <c:showLegendKey val="0"/>
              <c:showVal val="1"/>
              <c:showCatName val="0"/>
              <c:showSerName val="0"/>
              <c:showPercent val="0"/>
              <c:showBubbleSize val="0"/>
            </c:dLbl>
            <c:dLbl>
              <c:idx val="9"/>
              <c:tx>
                <c:rich>
                  <a:bodyPr/>
                  <a:lstStyle/>
                  <a:p>
                    <a:r>
                      <a:rPr sz="1000" b="1">
                        <a:solidFill>
                          <a:srgbClr val="161D26"/>
                        </a:solidFill>
                        <a:latin typeface="Ember Modern Display Standard"/>
                      </a:rPr>
                      <a:t>0.9909</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first
model</c:v>
                </c:pt>
                <c:pt idx="1">
                  <c:v>+ legal
forms</c:v>
                </c:pt>
                <c:pt idx="2">
                  <c:v>+ France
rules</c:v>
                </c:pt>
                <c:pt idx="3">
                  <c:v>+ stage 3,
repairs</c:v>
                </c:pt>
                <c:pt idx="4">
                  <c:v>+ trans-
formers</c:v>
                </c:pt>
                <c:pt idx="5">
                  <c:v>+ self-
training</c:v>
                </c:pt>
                <c:pt idx="6">
                  <c:v>+ decision
layer</c:v>
                </c:pt>
                <c:pt idx="7">
                  <c:v>+ French
models</c:v>
                </c:pt>
                <c:pt idx="8">
                  <c:v>+ France
layer</c:v>
                </c:pt>
                <c:pt idx="9">
                  <c:v>+ 7B</c:v>
                </c:pt>
              </c:strCache>
            </c:strRef>
          </c:cat>
          <c:val>
            <c:numRef>
              <c:f>Sheet1!$B$2:$B$11</c:f>
              <c:numCache>
                <c:formatCode>General</c:formatCode>
                <c:ptCount val="10"/>
                <c:pt idx="0">
                  <c:v>0.97608</c:v>
                </c:pt>
                <c:pt idx="1">
                  <c:v>0.97961</c:v>
                </c:pt>
                <c:pt idx="2">
                  <c:v>0.98781</c:v>
                </c:pt>
                <c:pt idx="3">
                  <c:v>0.988609</c:v>
                </c:pt>
                <c:pt idx="4">
                  <c:v>0.989721</c:v>
                </c:pt>
                <c:pt idx="5">
                  <c:v>0.990179</c:v>
                </c:pt>
                <c:pt idx="6">
                  <c:v>0.990264</c:v>
                </c:pt>
                <c:pt idx="7">
                  <c:v>0.990545</c:v>
                </c:pt>
                <c:pt idx="8">
                  <c:v>0.990699</c:v>
                </c:pt>
                <c:pt idx="9">
                  <c:v>0.990879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8C0CC"/>
            </a:solidFill>
          </a:ln>
        </c:spPr>
        <c:crossAx val="2140495176"/>
        <c:crosses val="autoZero"/>
        <c:auto val="1"/>
        <c:lblAlgn val="ctr"/>
        <c:lblOffset val="100"/>
        <c:noMultiLvlLbl val="0"/>
      </c:catAx>
      <c:valAx>
        <c:axId val="2140495176"/>
        <c:scaling>
          <c:max val="0.992"/>
          <c:min val="0.975"/>
        </c:scaling>
        <c:delete val="0"/>
        <c:axPos val="l"/>
        <c:majorGridlines>
          <c:spPr>
            <a:ln>
              <a:solidFill>
                <a:srgbClr val="E5E7EB"/>
              </a:solidFill>
            </a:ln>
          </c:spPr>
        </c:majorGridlines>
        <c:numFmt formatCode="0.000" sourceLinked="0"/>
        <c:majorTickMark val="out"/>
        <c:minorTickMark val="none"/>
        <c:tickLblPos val="nextTo"/>
        <c:spPr>
          <a:ln>
            <a:noFill/>
          </a:ln>
        </c:spPr>
        <c:crossAx val="2118791784"/>
        <c:crosses val="autoZero"/>
        <c:majorUnit val="0.005"/>
      </c:valAx>
    </c:plotArea>
    <c:plotVisOnly val="1"/>
    <c:dispBlanksAs val="gap"/>
    <c:showDLblsOverMax val="0"/>
  </c:chart>
  <c:txPr>
    <a:bodyPr/>
    <a:lstStyle/>
    <a:p>
      <a:pPr>
        <a:defRPr sz="850">
          <a:solidFill>
            <a:srgbClr val="6B7280"/>
          </a:solidFill>
          <a:latin typeface="Ember Modern Display Standar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ae4afcfa35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3ae4afcfa35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[0:15] Hi, we are team Grenuke: Ameya, Aarush and Sachi. In the next nine minutes we will walk you through our journey on the entity resolution challenge: what we saw in the data, what we built, what the leaderboard taught us, and what we would do next.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3a4273c6775_0_3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4" name="Google Shape;264;g3a4273c6775_0_3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[1:10] The problem reached us on Friday morning, and the first thing we did was not to train a model. We spent the first hours reading the data, because if you don't understand the data, the model is only guessing. Four facts shaped everything. The test set had about 23% more records per entity than training, but the same number of true matches, so the extra records were look-alikes, decoys. About half the entities share their name with another one, so the address has to decide. Not a single record in 7.6 million true pairs belongs to two entities, so we give every record one owner. And 15% of the test set is France, a country we had no labels for. So from the first hour, we planned for the unknown.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8DDBAE79-5551-27A9-A762-591EA6DD9A2F}"/>
            </a:ext>
          </a:extLst>
        </p:cNvPr>
        <p:cNvGrpSpPr/>
        <p:nvPr/>
      </p:nvGrpSpPr>
      <p:grpSpPr>
        <a:xfrm>
          <a:off x="0" y="0"/>
          <a:ext cx="0" cy="0"/>
          <a:chOff x="0" y="0"/>
          <a:chExt cx="0" cy="0"/>
        </a:xfrm>
      </p:grpSpPr>
      <p:sp>
        <p:nvSpPr>
          <p:cNvPr id="122" name="Google Shape;122;g3ae4afcfa35_0_222:notes">
            <a:extLst>
              <a:ext uri="{FF2B5EF4-FFF2-40B4-BE49-F238E27FC236}">
                <a16:creationId xmlns:a16="http://schemas.microsoft.com/office/drawing/2014/main" id="{1ADA5E14-48EE-1348-1869-2ED73EC4F1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ae4afcfa35_0_222:notes">
            <a:extLst>
              <a:ext uri="{FF2B5EF4-FFF2-40B4-BE49-F238E27FC236}">
                <a16:creationId xmlns:a16="http://schemas.microsoft.com/office/drawing/2014/main" id="{FAB588EA-0C48-4CD3-973F-7335AD8C7D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[0:10] To sum up: read the data, decide the way the metric scores, and spend compute where it matters. Thank you, we are happy to take your questions.</a:t>
            </a:r>
          </a:p>
        </p:txBody>
      </p:sp>
    </p:spTree>
    <p:extLst>
      <p:ext uri="{BB962C8B-B14F-4D97-AF65-F5344CB8AC3E}">
        <p14:creationId xmlns:p14="http://schemas.microsoft.com/office/powerpoint/2010/main" val="164226886"/>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[0:45] Two principles came straight out of that. First, decide like the metric. F0.5 weighs a false merge as heavily as four missed copies, and merging two different businesses is exactly the mistake that hurts a real customer. So we are precision first, and each entity gets its own best set of matches, including an empty one. Second, spend compute only where the model is unsure. A cheap model reads every pair, and the expensive models read about 2.6% of them.</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[1:00] Comparing every entity with every record would mean about 17 trillion pairs, so blocking decides the ceiling. We search each country separately, by name and address together, plus a names-only search for records whose address is empty. We repair names before searching: OCR digits, web-style names, and Hindi-to-Latin spellings that we learned from the training pairs. That retrieves 58 million pairs and keeps 99.1% of true matches. A learned cut then takes it to 3.7 candidates per entity while keeping 98.4%. We chose soft address matching over hard city or state keys, because many true copies have an empty or landmark-only address, and a hard key would lose them.</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[1:00] This is the whole pipeline. Retrieval gives the candidates. XGBoost, a fast tree model, scores every pair with name, address and context features. Only the pairs it is unsure about, about 1.5 million or 2.6%, are re-read by transformer models: e5, bge and Qwen. Then for each entity we pick the set of records with the highest expected F0.5, instead of one global threshold. Rules clean up known error patterns. Last, a 7B model re-checks the answers the pipeline was most confident about, because those were never read by a transformer. Scoring everything with the 7B would cost about 27 GPU-hours; using it this way costs a fraction.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[1:00] Our first uploads were humbling. Validation said 0.989; the leaderboard said 0.980. Instead of tuning blindly, we treated the gap as a bug report. We ruled out the metric and our files, then split the gap by country: US and India behaved exactly like our validation, so the whole gap was France, at roughly 0.93. Then we read the French mistakes by hand. The data generator makes decoys by swapping one word of the name at the same address, and in France our model was accepting them. That one finding redirected our whole second day.</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[1:10] France was the heart of the problem: no labels at all. We did three things. First, we learned its vocabulary without labels, from how words behave around moved house numbers, so French look-alike words stopped looking harmless. Second, the model taught itself: we took its most confident French decisions as training labels, with guards, and cross-fitted so no pair is ever graded by a model that saw its own label. Honestly, this failed twice before it worked. Third, a second opinion: different model families disagree four times more in France, so we combined them, and a 7B model re-checks confident answers. Our estimate is that France went from about 0.93 to about 0.98, but we say estimate, because France was never measured directly.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[0:55] We were three people, and we used that to try everything. Over the weekend we ran 329 measured experiments, kept 177 and dropped 126, and every one of our 13 leaderboard uploads was designed as a test of one change. Every decision is written down with its reason and evidence. Ameya led the data analysis, blocking, the pipeline and France. Aarush trained the 7B model, built the re-check and the final composite. Sachi built our testing gates, the Qwen LoRA model and a synthetic French generator. And one rule kept us honest: when two ideas tie, keep the simpler one.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[0:50] Here is the climb on the public leaderboard, from 0.976 to 0.9909. The biggest single jump came from the France fixes on day two. Transformers on the uncertain pairs added about a thousandth, self-training on France half of that, and the 7B parts the last two ten-thousandths. Each point is one upload, and each one changed one thing we understood. Our final submission scored 0.990879, and the final ranking put us second of the Top 10, among more than 32,000 teams. Our local validation says 0.9913, but it cannot include France, so we quote the leaderboard.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[0:50] Three lessons. Read the data first; every good decision we made traced back to it. Doubt your own estimates: our label-free estimates for France were built from our own model's probabilities, so they shared its blind spots, and the leaderboard corrected us. And diversity beats one strong model, especially for a country you have never seen. With more time and at Amazon scale, we would label a few hundred French pairs where our models disagree, shard the same cascade by country and region, and keep the candidates per entity small, because every later step pays per candidate pair.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56" name="Google Shape;56;p1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7" name="Google Shape;57;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60" name="Google Shape;60;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1"/>
        <p:cNvGrpSpPr/>
        <p:nvPr/>
      </p:nvGrpSpPr>
      <p:grpSpPr>
        <a:xfrm>
          <a:off x="0" y="0"/>
          <a:ext cx="0" cy="0"/>
          <a:chOff x="0" y="0"/>
          <a:chExt cx="0" cy="0"/>
        </a:xfrm>
      </p:grpSpPr>
      <p:sp>
        <p:nvSpPr>
          <p:cNvPr id="62" name="Google Shape;6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3" name="Google Shape;63;p16"/>
          <p:cNvSpPr txBox="1">
            <a:spLocks noGrp="1"/>
          </p:cNvSpPr>
          <p:nvPr>
            <p:ph type="body" idx="1"/>
          </p:nvPr>
        </p:nvSpPr>
        <p:spPr>
          <a:xfrm>
            <a:off x="373175" y="11322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64" name="Google Shape;64;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5"/>
        <p:cNvGrpSpPr/>
        <p:nvPr/>
      </p:nvGrpSpPr>
      <p:grpSpPr>
        <a:xfrm>
          <a:off x="0" y="0"/>
          <a:ext cx="0" cy="0"/>
          <a:chOff x="0" y="0"/>
          <a:chExt cx="0" cy="0"/>
        </a:xfrm>
      </p:grpSpPr>
      <p:sp>
        <p:nvSpPr>
          <p:cNvPr id="66" name="Google Shape;66;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7" name="Google Shape;67;p17"/>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68" name="Google Shape;68;p17"/>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69" name="Google Shape;6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2" name="Google Shape;7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3"/>
        <p:cNvGrpSpPr/>
        <p:nvPr/>
      </p:nvGrpSpPr>
      <p:grpSpPr>
        <a:xfrm>
          <a:off x="0" y="0"/>
          <a:ext cx="0" cy="0"/>
          <a:chOff x="0" y="0"/>
          <a:chExt cx="0" cy="0"/>
        </a:xfrm>
      </p:grpSpPr>
      <p:sp>
        <p:nvSpPr>
          <p:cNvPr id="74" name="Google Shape;74;p19"/>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75" name="Google Shape;75;p19"/>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6" name="Google Shape;76;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7"/>
        <p:cNvGrpSpPr/>
        <p:nvPr/>
      </p:nvGrpSpPr>
      <p:grpSpPr>
        <a:xfrm>
          <a:off x="0" y="0"/>
          <a:ext cx="0" cy="0"/>
          <a:chOff x="0" y="0"/>
          <a:chExt cx="0" cy="0"/>
        </a:xfrm>
      </p:grpSpPr>
      <p:sp>
        <p:nvSpPr>
          <p:cNvPr id="78" name="Google Shape;78;p20"/>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79" name="Google Shape;79;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1"/>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83" name="Google Shape;83;p21"/>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4" name="Google Shape;84;p21"/>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85" name="Google Shape;85;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22"/>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88" name="Google Shape;88;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9"/>
        <p:cNvGrpSpPr/>
        <p:nvPr/>
      </p:nvGrpSpPr>
      <p:grpSpPr>
        <a:xfrm>
          <a:off x="0" y="0"/>
          <a:ext cx="0" cy="0"/>
          <a:chOff x="0" y="0"/>
          <a:chExt cx="0" cy="0"/>
        </a:xfrm>
      </p:grpSpPr>
      <p:sp>
        <p:nvSpPr>
          <p:cNvPr id="90" name="Google Shape;90;p23"/>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91" name="Google Shape;91;p23"/>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92" name="Google Shape;92;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Wiser Purple">
  <p:cSld name="TITLE_ONLY_1">
    <p:spTree>
      <p:nvGrpSpPr>
        <p:cNvPr id="1" name="Shape 95"/>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Title and Content" type="obj">
  <p:cSld name="OBJECT">
    <p:bg>
      <p:bgPr>
        <a:solidFill>
          <a:srgbClr val="FF6200"/>
        </a:solidFill>
        <a:effectLst/>
      </p:bgPr>
    </p:bg>
    <p:spTree>
      <p:nvGrpSpPr>
        <p:cNvPr id="1" name="Shape 96"/>
        <p:cNvGrpSpPr/>
        <p:nvPr/>
      </p:nvGrpSpPr>
      <p:grpSpPr>
        <a:xfrm>
          <a:off x="0" y="0"/>
          <a:ext cx="0" cy="0"/>
          <a:chOff x="0" y="0"/>
          <a:chExt cx="0" cy="0"/>
        </a:xfrm>
      </p:grpSpPr>
      <p:sp>
        <p:nvSpPr>
          <p:cNvPr id="97" name="Google Shape;97;p26"/>
          <p:cNvSpPr/>
          <p:nvPr/>
        </p:nvSpPr>
        <p:spPr>
          <a:xfrm>
            <a:off x="0" y="0"/>
            <a:ext cx="9147366" cy="5145465"/>
          </a:xfrm>
          <a:custGeom>
            <a:avLst/>
            <a:gdLst/>
            <a:ahLst/>
            <a:cxnLst/>
            <a:rect l="l" t="t" r="r" b="b"/>
            <a:pathLst>
              <a:path w="20104100" h="11308715" extrusionOk="0">
                <a:moveTo>
                  <a:pt x="20104099" y="0"/>
                </a:moveTo>
                <a:lnTo>
                  <a:pt x="0" y="0"/>
                </a:lnTo>
                <a:lnTo>
                  <a:pt x="0" y="11308556"/>
                </a:lnTo>
                <a:lnTo>
                  <a:pt x="20104099" y="11308556"/>
                </a:lnTo>
                <a:lnTo>
                  <a:pt x="20104099" y="0"/>
                </a:lnTo>
                <a:close/>
              </a:path>
            </a:pathLst>
          </a:custGeom>
          <a:solidFill>
            <a:srgbClr val="FF6200"/>
          </a:solidFill>
          <a:ln>
            <a:noFill/>
          </a:ln>
        </p:spPr>
        <p:txBody>
          <a:bodyPr spcFirstLastPara="1" wrap="square" lIns="0" tIns="0" rIns="0" bIns="0" anchor="t" anchorCtr="0">
            <a:noAutofit/>
          </a:bodyPr>
          <a:lstStyle/>
          <a:p>
            <a:pPr marL="0" lvl="0" indent="0" algn="l" rtl="0">
              <a:spcBef>
                <a:spcPts val="0"/>
              </a:spcBef>
              <a:spcAft>
                <a:spcPts val="0"/>
              </a:spcAft>
              <a:buNone/>
            </a:pPr>
            <a:endParaRPr sz="800"/>
          </a:p>
        </p:txBody>
      </p:sp>
      <p:sp>
        <p:nvSpPr>
          <p:cNvPr id="98" name="Google Shape;98;p26"/>
          <p:cNvSpPr txBox="1">
            <a:spLocks noGrp="1"/>
          </p:cNvSpPr>
          <p:nvPr>
            <p:ph type="title"/>
          </p:nvPr>
        </p:nvSpPr>
        <p:spPr>
          <a:xfrm>
            <a:off x="351411" y="268461"/>
            <a:ext cx="4280400" cy="6117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2800"/>
              <a:buNone/>
              <a:defRPr sz="2300" b="1" i="0">
                <a:solidFill>
                  <a:srgbClr val="FF6200"/>
                </a:solidFill>
                <a:latin typeface="Play"/>
                <a:ea typeface="Play"/>
                <a:cs typeface="Play"/>
                <a:sym typeface="Play"/>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99" name="Google Shape;99;p26"/>
          <p:cNvSpPr txBox="1">
            <a:spLocks noGrp="1"/>
          </p:cNvSpPr>
          <p:nvPr>
            <p:ph type="body" idx="1"/>
          </p:nvPr>
        </p:nvSpPr>
        <p:spPr>
          <a:xfrm>
            <a:off x="4701119" y="2487711"/>
            <a:ext cx="3905700" cy="216390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800"/>
              <a:buNone/>
              <a:defRPr sz="2300" b="1" i="0">
                <a:solidFill>
                  <a:srgbClr val="161D26"/>
                </a:solidFill>
                <a:latin typeface="Play"/>
                <a:ea typeface="Play"/>
                <a:cs typeface="Play"/>
                <a:sym typeface="Play"/>
              </a:defRPr>
            </a:lvl1pPr>
            <a:lvl2pPr marL="914400" lvl="1" indent="-228600" algn="l">
              <a:spcBef>
                <a:spcPts val="1200"/>
              </a:spcBef>
              <a:spcAft>
                <a:spcPts val="0"/>
              </a:spcAft>
              <a:buSzPts val="1400"/>
              <a:buNone/>
              <a:defRPr/>
            </a:lvl2pPr>
            <a:lvl3pPr marL="1371600" lvl="2" indent="-228600" algn="l">
              <a:spcBef>
                <a:spcPts val="1200"/>
              </a:spcBef>
              <a:spcAft>
                <a:spcPts val="0"/>
              </a:spcAft>
              <a:buSzPts val="1400"/>
              <a:buNone/>
              <a:defRPr/>
            </a:lvl3pPr>
            <a:lvl4pPr marL="1828800" lvl="3" indent="-228600" algn="l">
              <a:spcBef>
                <a:spcPts val="1200"/>
              </a:spcBef>
              <a:spcAft>
                <a:spcPts val="0"/>
              </a:spcAft>
              <a:buSzPts val="1400"/>
              <a:buNone/>
              <a:defRPr/>
            </a:lvl4pPr>
            <a:lvl5pPr marL="2286000" lvl="4" indent="-228600" algn="l">
              <a:spcBef>
                <a:spcPts val="1200"/>
              </a:spcBef>
              <a:spcAft>
                <a:spcPts val="0"/>
              </a:spcAft>
              <a:buSzPts val="1400"/>
              <a:buNone/>
              <a:defRPr/>
            </a:lvl5pPr>
            <a:lvl6pPr marL="2743200" lvl="5" indent="-228600" algn="l">
              <a:spcBef>
                <a:spcPts val="1200"/>
              </a:spcBef>
              <a:spcAft>
                <a:spcPts val="0"/>
              </a:spcAft>
              <a:buSzPts val="1400"/>
              <a:buNone/>
              <a:defRPr/>
            </a:lvl6pPr>
            <a:lvl7pPr marL="3200400" lvl="6" indent="-228600" algn="l">
              <a:spcBef>
                <a:spcPts val="1200"/>
              </a:spcBef>
              <a:spcAft>
                <a:spcPts val="0"/>
              </a:spcAft>
              <a:buSzPts val="1400"/>
              <a:buNone/>
              <a:defRPr/>
            </a:lvl7pPr>
            <a:lvl8pPr marL="3657600" lvl="7" indent="-228600" algn="l">
              <a:spcBef>
                <a:spcPts val="1200"/>
              </a:spcBef>
              <a:spcAft>
                <a:spcPts val="0"/>
              </a:spcAft>
              <a:buSzPts val="1400"/>
              <a:buNone/>
              <a:defRPr/>
            </a:lvl8pPr>
            <a:lvl9pPr marL="4114800" lvl="8" indent="-228600" algn="l">
              <a:spcBef>
                <a:spcPts val="1200"/>
              </a:spcBef>
              <a:spcAft>
                <a:spcPts val="1200"/>
              </a:spcAft>
              <a:buSzPts val="1400"/>
              <a:buNone/>
              <a:defRPr/>
            </a:lvl9pPr>
          </a:lstStyle>
          <a:p>
            <a:endParaRPr/>
          </a:p>
        </p:txBody>
      </p:sp>
      <p:sp>
        <p:nvSpPr>
          <p:cNvPr id="100" name="Google Shape;100;p26"/>
          <p:cNvSpPr txBox="1">
            <a:spLocks noGrp="1"/>
          </p:cNvSpPr>
          <p:nvPr>
            <p:ph type="ftr" idx="11"/>
          </p:nvPr>
        </p:nvSpPr>
        <p:spPr>
          <a:xfrm>
            <a:off x="3108960" y="4783455"/>
            <a:ext cx="2925900" cy="2571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600"/>
              <a:buNone/>
              <a:defRPr sz="600">
                <a:solidFill>
                  <a:srgbClr val="888888"/>
                </a:solidFill>
              </a:defRPr>
            </a:lvl1pPr>
            <a:lvl2pPr lvl="1">
              <a:spcBef>
                <a:spcPts val="0"/>
              </a:spcBef>
              <a:spcAft>
                <a:spcPts val="0"/>
              </a:spcAft>
              <a:buSzPts val="600"/>
              <a:buNone/>
              <a:defRPr sz="600"/>
            </a:lvl2pPr>
            <a:lvl3pPr lvl="2">
              <a:spcBef>
                <a:spcPts val="0"/>
              </a:spcBef>
              <a:spcAft>
                <a:spcPts val="0"/>
              </a:spcAft>
              <a:buSzPts val="600"/>
              <a:buNone/>
              <a:defRPr sz="600"/>
            </a:lvl3pPr>
            <a:lvl4pPr lvl="3">
              <a:spcBef>
                <a:spcPts val="0"/>
              </a:spcBef>
              <a:spcAft>
                <a:spcPts val="0"/>
              </a:spcAft>
              <a:buSzPts val="600"/>
              <a:buNone/>
              <a:defRPr sz="600"/>
            </a:lvl4pPr>
            <a:lvl5pPr lvl="4">
              <a:spcBef>
                <a:spcPts val="0"/>
              </a:spcBef>
              <a:spcAft>
                <a:spcPts val="0"/>
              </a:spcAft>
              <a:buSzPts val="600"/>
              <a:buNone/>
              <a:defRPr sz="600"/>
            </a:lvl5pPr>
            <a:lvl6pPr lvl="5">
              <a:spcBef>
                <a:spcPts val="0"/>
              </a:spcBef>
              <a:spcAft>
                <a:spcPts val="0"/>
              </a:spcAft>
              <a:buSzPts val="600"/>
              <a:buNone/>
              <a:defRPr sz="600"/>
            </a:lvl6pPr>
            <a:lvl7pPr lvl="6">
              <a:spcBef>
                <a:spcPts val="0"/>
              </a:spcBef>
              <a:spcAft>
                <a:spcPts val="0"/>
              </a:spcAft>
              <a:buSzPts val="600"/>
              <a:buNone/>
              <a:defRPr sz="600"/>
            </a:lvl7pPr>
            <a:lvl8pPr lvl="7">
              <a:spcBef>
                <a:spcPts val="0"/>
              </a:spcBef>
              <a:spcAft>
                <a:spcPts val="0"/>
              </a:spcAft>
              <a:buSzPts val="600"/>
              <a:buNone/>
              <a:defRPr sz="600"/>
            </a:lvl8pPr>
            <a:lvl9pPr lvl="8">
              <a:spcBef>
                <a:spcPts val="0"/>
              </a:spcBef>
              <a:spcAft>
                <a:spcPts val="0"/>
              </a:spcAft>
              <a:buSzPts val="600"/>
              <a:buNone/>
              <a:defRPr sz="600"/>
            </a:lvl9pPr>
          </a:lstStyle>
          <a:p>
            <a:endParaRPr/>
          </a:p>
        </p:txBody>
      </p:sp>
      <p:sp>
        <p:nvSpPr>
          <p:cNvPr id="101" name="Google Shape;101;p26"/>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600"/>
              <a:buNone/>
              <a:defRPr sz="600">
                <a:solidFill>
                  <a:srgbClr val="888888"/>
                </a:solidFill>
              </a:defRPr>
            </a:lvl1pPr>
            <a:lvl2pPr lvl="1">
              <a:spcBef>
                <a:spcPts val="0"/>
              </a:spcBef>
              <a:spcAft>
                <a:spcPts val="0"/>
              </a:spcAft>
              <a:buSzPts val="600"/>
              <a:buNone/>
              <a:defRPr sz="600"/>
            </a:lvl2pPr>
            <a:lvl3pPr lvl="2">
              <a:spcBef>
                <a:spcPts val="0"/>
              </a:spcBef>
              <a:spcAft>
                <a:spcPts val="0"/>
              </a:spcAft>
              <a:buSzPts val="600"/>
              <a:buNone/>
              <a:defRPr sz="600"/>
            </a:lvl3pPr>
            <a:lvl4pPr lvl="3">
              <a:spcBef>
                <a:spcPts val="0"/>
              </a:spcBef>
              <a:spcAft>
                <a:spcPts val="0"/>
              </a:spcAft>
              <a:buSzPts val="600"/>
              <a:buNone/>
              <a:defRPr sz="600"/>
            </a:lvl4pPr>
            <a:lvl5pPr lvl="4">
              <a:spcBef>
                <a:spcPts val="0"/>
              </a:spcBef>
              <a:spcAft>
                <a:spcPts val="0"/>
              </a:spcAft>
              <a:buSzPts val="600"/>
              <a:buNone/>
              <a:defRPr sz="600"/>
            </a:lvl5pPr>
            <a:lvl6pPr lvl="5">
              <a:spcBef>
                <a:spcPts val="0"/>
              </a:spcBef>
              <a:spcAft>
                <a:spcPts val="0"/>
              </a:spcAft>
              <a:buSzPts val="600"/>
              <a:buNone/>
              <a:defRPr sz="600"/>
            </a:lvl6pPr>
            <a:lvl7pPr lvl="6">
              <a:spcBef>
                <a:spcPts val="0"/>
              </a:spcBef>
              <a:spcAft>
                <a:spcPts val="0"/>
              </a:spcAft>
              <a:buSzPts val="600"/>
              <a:buNone/>
              <a:defRPr sz="600"/>
            </a:lvl7pPr>
            <a:lvl8pPr lvl="7">
              <a:spcBef>
                <a:spcPts val="0"/>
              </a:spcBef>
              <a:spcAft>
                <a:spcPts val="0"/>
              </a:spcAft>
              <a:buSzPts val="600"/>
              <a:buNone/>
              <a:defRPr sz="600"/>
            </a:lvl8pPr>
            <a:lvl9pPr lvl="8">
              <a:spcBef>
                <a:spcPts val="0"/>
              </a:spcBef>
              <a:spcAft>
                <a:spcPts val="0"/>
              </a:spcAft>
              <a:buSzPts val="600"/>
              <a:buNone/>
              <a:defRPr sz="600"/>
            </a:lvl9pPr>
          </a:lstStyle>
          <a:p>
            <a:endParaRPr/>
          </a:p>
        </p:txBody>
      </p:sp>
      <p:sp>
        <p:nvSpPr>
          <p:cNvPr id="102" name="Google Shape;102;p26"/>
          <p:cNvSpPr txBox="1">
            <a:spLocks noGrp="1"/>
          </p:cNvSpPr>
          <p:nvPr>
            <p:ph type="sldNum" idx="12"/>
          </p:nvPr>
        </p:nvSpPr>
        <p:spPr>
          <a:xfrm>
            <a:off x="6583680" y="4783455"/>
            <a:ext cx="2103000" cy="153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Wiser Plum" userDrawn="1">
  <p:cSld name="TITLE_AND_TWO_COLUMNS_1">
    <p:spTree>
      <p:nvGrpSpPr>
        <p:cNvPr id="1" name="Shape 105"/>
        <p:cNvGrpSpPr/>
        <p:nvPr/>
      </p:nvGrpSpPr>
      <p:grpSpPr>
        <a:xfrm>
          <a:off x="0" y="0"/>
          <a:ext cx="0" cy="0"/>
          <a:chOff x="0" y="0"/>
          <a:chExt cx="0" cy="0"/>
        </a:xfrm>
      </p:grpSpPr>
      <p:sp>
        <p:nvSpPr>
          <p:cNvPr id="7" name="Picture Placeholder 6">
            <a:extLst>
              <a:ext uri="{FF2B5EF4-FFF2-40B4-BE49-F238E27FC236}">
                <a16:creationId xmlns:a16="http://schemas.microsoft.com/office/drawing/2014/main" id="{8443B5F7-EF56-1F15-49A3-569995F7184C}"/>
              </a:ext>
            </a:extLst>
          </p:cNvPr>
          <p:cNvSpPr>
            <a:spLocks noGrp="1"/>
          </p:cNvSpPr>
          <p:nvPr>
            <p:ph type="pic" sz="quarter" idx="13"/>
          </p:nvPr>
        </p:nvSpPr>
        <p:spPr>
          <a:xfrm>
            <a:off x="779463" y="1866864"/>
            <a:ext cx="1773237" cy="2024100"/>
          </a:xfrm>
          <a:prstGeom prst="roundRect">
            <a:avLst>
              <a:gd name="adj" fmla="val 12434"/>
            </a:avLst>
          </a:prstGeom>
          <a:solidFill>
            <a:schemeClr val="bg1">
              <a:lumMod val="95000"/>
            </a:schemeClr>
          </a:solidFill>
        </p:spPr>
        <p:txBody>
          <a:bodyPr/>
          <a:lstStyle/>
          <a:p>
            <a:endParaRPr lang="en-US"/>
          </a:p>
        </p:txBody>
      </p:sp>
      <p:sp>
        <p:nvSpPr>
          <p:cNvPr id="8" name="Picture Placeholder 6">
            <a:extLst>
              <a:ext uri="{FF2B5EF4-FFF2-40B4-BE49-F238E27FC236}">
                <a16:creationId xmlns:a16="http://schemas.microsoft.com/office/drawing/2014/main" id="{454DC439-9F8D-9427-12C5-06A07E1271E1}"/>
              </a:ext>
            </a:extLst>
          </p:cNvPr>
          <p:cNvSpPr>
            <a:spLocks noGrp="1"/>
          </p:cNvSpPr>
          <p:nvPr>
            <p:ph type="pic" sz="quarter" idx="14"/>
          </p:nvPr>
        </p:nvSpPr>
        <p:spPr>
          <a:xfrm>
            <a:off x="2717445" y="1866864"/>
            <a:ext cx="1773237" cy="2024100"/>
          </a:xfrm>
          <a:prstGeom prst="roundRect">
            <a:avLst>
              <a:gd name="adj" fmla="val 12434"/>
            </a:avLst>
          </a:prstGeom>
          <a:solidFill>
            <a:schemeClr val="bg1">
              <a:lumMod val="95000"/>
            </a:schemeClr>
          </a:solidFill>
        </p:spPr>
        <p:txBody>
          <a:bodyPr/>
          <a:lstStyle/>
          <a:p>
            <a:endParaRPr lang="en-US"/>
          </a:p>
        </p:txBody>
      </p:sp>
      <p:sp>
        <p:nvSpPr>
          <p:cNvPr id="9" name="Picture Placeholder 6">
            <a:extLst>
              <a:ext uri="{FF2B5EF4-FFF2-40B4-BE49-F238E27FC236}">
                <a16:creationId xmlns:a16="http://schemas.microsoft.com/office/drawing/2014/main" id="{5A368EE7-3E3B-2F44-2596-2B5B8D64F892}"/>
              </a:ext>
            </a:extLst>
          </p:cNvPr>
          <p:cNvSpPr>
            <a:spLocks noGrp="1"/>
          </p:cNvSpPr>
          <p:nvPr>
            <p:ph type="pic" sz="quarter" idx="15"/>
          </p:nvPr>
        </p:nvSpPr>
        <p:spPr>
          <a:xfrm>
            <a:off x="4648603" y="1866864"/>
            <a:ext cx="1773237" cy="2024100"/>
          </a:xfrm>
          <a:prstGeom prst="roundRect">
            <a:avLst>
              <a:gd name="adj" fmla="val 12434"/>
            </a:avLst>
          </a:prstGeom>
          <a:solidFill>
            <a:schemeClr val="bg1">
              <a:lumMod val="95000"/>
            </a:schemeClr>
          </a:solidFill>
        </p:spPr>
        <p:txBody>
          <a:bodyPr/>
          <a:lstStyle/>
          <a:p>
            <a:endParaRPr lang="en-US"/>
          </a:p>
        </p:txBody>
      </p:sp>
      <p:sp>
        <p:nvSpPr>
          <p:cNvPr id="10" name="Picture Placeholder 6">
            <a:extLst>
              <a:ext uri="{FF2B5EF4-FFF2-40B4-BE49-F238E27FC236}">
                <a16:creationId xmlns:a16="http://schemas.microsoft.com/office/drawing/2014/main" id="{8BA25F23-E8C1-8698-C67D-C52C2F761A8A}"/>
              </a:ext>
            </a:extLst>
          </p:cNvPr>
          <p:cNvSpPr>
            <a:spLocks noGrp="1"/>
          </p:cNvSpPr>
          <p:nvPr>
            <p:ph type="pic" sz="quarter" idx="16"/>
          </p:nvPr>
        </p:nvSpPr>
        <p:spPr>
          <a:xfrm>
            <a:off x="6586585" y="1866864"/>
            <a:ext cx="1773237" cy="2024100"/>
          </a:xfrm>
          <a:prstGeom prst="roundRect">
            <a:avLst>
              <a:gd name="adj" fmla="val 12434"/>
            </a:avLst>
          </a:prstGeom>
          <a:solidFill>
            <a:schemeClr val="bg1">
              <a:lumMod val="95000"/>
            </a:schemeClr>
          </a:solidFill>
        </p:spPr>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Wiser Plum" preserve="1" userDrawn="1">
  <p:cSld name="1_Wiser Plum">
    <p:spTree>
      <p:nvGrpSpPr>
        <p:cNvPr id="1" name="Shape 105"/>
        <p:cNvGrpSpPr/>
        <p:nvPr/>
      </p:nvGrpSpPr>
      <p:grpSpPr>
        <a:xfrm>
          <a:off x="0" y="0"/>
          <a:ext cx="0" cy="0"/>
          <a:chOff x="0" y="0"/>
          <a:chExt cx="0" cy="0"/>
        </a:xfrm>
      </p:grpSpPr>
      <p:sp>
        <p:nvSpPr>
          <p:cNvPr id="6" name="Picture Placeholder 6">
            <a:extLst>
              <a:ext uri="{FF2B5EF4-FFF2-40B4-BE49-F238E27FC236}">
                <a16:creationId xmlns:a16="http://schemas.microsoft.com/office/drawing/2014/main" id="{D637DBAA-E392-5870-4249-46419E9FE035}"/>
              </a:ext>
            </a:extLst>
          </p:cNvPr>
          <p:cNvSpPr>
            <a:spLocks noGrp="1"/>
          </p:cNvSpPr>
          <p:nvPr>
            <p:ph type="pic" sz="quarter" idx="13"/>
          </p:nvPr>
        </p:nvSpPr>
        <p:spPr>
          <a:xfrm>
            <a:off x="739876" y="1559700"/>
            <a:ext cx="1692771" cy="1932250"/>
          </a:xfrm>
          <a:prstGeom prst="roundRect">
            <a:avLst>
              <a:gd name="adj" fmla="val 12434"/>
            </a:avLst>
          </a:prstGeom>
          <a:solidFill>
            <a:schemeClr val="bg1">
              <a:lumMod val="95000"/>
            </a:schemeClr>
          </a:solidFill>
        </p:spPr>
        <p:txBody>
          <a:bodyPr/>
          <a:lstStyle/>
          <a:p>
            <a:endParaRPr lang="en-US"/>
          </a:p>
        </p:txBody>
      </p:sp>
      <p:sp>
        <p:nvSpPr>
          <p:cNvPr id="11" name="Picture Placeholder 6">
            <a:extLst>
              <a:ext uri="{FF2B5EF4-FFF2-40B4-BE49-F238E27FC236}">
                <a16:creationId xmlns:a16="http://schemas.microsoft.com/office/drawing/2014/main" id="{0F1E19A5-6345-E0C3-F089-1BC3F23E186E}"/>
              </a:ext>
            </a:extLst>
          </p:cNvPr>
          <p:cNvSpPr>
            <a:spLocks noGrp="1"/>
          </p:cNvSpPr>
          <p:nvPr>
            <p:ph type="pic" sz="quarter" idx="14"/>
          </p:nvPr>
        </p:nvSpPr>
        <p:spPr>
          <a:xfrm>
            <a:off x="2834807" y="1559700"/>
            <a:ext cx="1692771" cy="1932250"/>
          </a:xfrm>
          <a:prstGeom prst="roundRect">
            <a:avLst>
              <a:gd name="adj" fmla="val 12434"/>
            </a:avLst>
          </a:prstGeom>
          <a:solidFill>
            <a:schemeClr val="bg1">
              <a:lumMod val="95000"/>
            </a:schemeClr>
          </a:solidFill>
        </p:spPr>
        <p:txBody>
          <a:bodyPr/>
          <a:lstStyle/>
          <a:p>
            <a:endParaRPr lang="en-US"/>
          </a:p>
        </p:txBody>
      </p:sp>
      <p:sp>
        <p:nvSpPr>
          <p:cNvPr id="12" name="Picture Placeholder 6">
            <a:extLst>
              <a:ext uri="{FF2B5EF4-FFF2-40B4-BE49-F238E27FC236}">
                <a16:creationId xmlns:a16="http://schemas.microsoft.com/office/drawing/2014/main" id="{D7EEFAC9-5F28-4633-D474-BAB20FB1B427}"/>
              </a:ext>
            </a:extLst>
          </p:cNvPr>
          <p:cNvSpPr>
            <a:spLocks noGrp="1"/>
          </p:cNvSpPr>
          <p:nvPr>
            <p:ph type="pic" sz="quarter" idx="15"/>
          </p:nvPr>
        </p:nvSpPr>
        <p:spPr>
          <a:xfrm>
            <a:off x="4916091" y="1559700"/>
            <a:ext cx="1692771" cy="1932250"/>
          </a:xfrm>
          <a:prstGeom prst="roundRect">
            <a:avLst>
              <a:gd name="adj" fmla="val 12434"/>
            </a:avLst>
          </a:prstGeom>
          <a:solidFill>
            <a:schemeClr val="bg1">
              <a:lumMod val="95000"/>
            </a:schemeClr>
          </a:solidFill>
        </p:spPr>
        <p:txBody>
          <a:bodyPr/>
          <a:lstStyle/>
          <a:p>
            <a:endParaRPr lang="en-US"/>
          </a:p>
        </p:txBody>
      </p:sp>
      <p:sp>
        <p:nvSpPr>
          <p:cNvPr id="13" name="Picture Placeholder 6">
            <a:extLst>
              <a:ext uri="{FF2B5EF4-FFF2-40B4-BE49-F238E27FC236}">
                <a16:creationId xmlns:a16="http://schemas.microsoft.com/office/drawing/2014/main" id="{B7913989-BE66-F651-DF45-ABC524911DEB}"/>
              </a:ext>
            </a:extLst>
          </p:cNvPr>
          <p:cNvSpPr>
            <a:spLocks noGrp="1"/>
          </p:cNvSpPr>
          <p:nvPr>
            <p:ph type="pic" sz="quarter" idx="16"/>
          </p:nvPr>
        </p:nvSpPr>
        <p:spPr>
          <a:xfrm>
            <a:off x="7011022" y="1559700"/>
            <a:ext cx="1692771" cy="1932250"/>
          </a:xfrm>
          <a:prstGeom prst="roundRect">
            <a:avLst>
              <a:gd name="adj" fmla="val 12434"/>
            </a:avLst>
          </a:prstGeom>
          <a:solidFill>
            <a:schemeClr val="bg1">
              <a:lumMod val="95000"/>
            </a:schemeClr>
          </a:solidFill>
        </p:spPr>
        <p:txBody>
          <a:bodyPr/>
          <a:lstStyle/>
          <a:p>
            <a:endParaRPr lang="en-US"/>
          </a:p>
        </p:txBody>
      </p:sp>
    </p:spTree>
    <p:extLst>
      <p:ext uri="{BB962C8B-B14F-4D97-AF65-F5344CB8AC3E}">
        <p14:creationId xmlns:p14="http://schemas.microsoft.com/office/powerpoint/2010/main" val="3433858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Wiser Purple 1">
  <p:cSld name="TITLE_ONLY_2">
    <p:spTree>
      <p:nvGrpSpPr>
        <p:cNvPr id="1" name="Shape 107"/>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Wiser Plum 4">
  <p:cSld name="TITLE_AND_TWO_COLUMNS_5">
    <p:spTree>
      <p:nvGrpSpPr>
        <p:cNvPr id="1" name="Shape 108"/>
        <p:cNvGrpSpPr/>
        <p:nvPr/>
      </p:nvGrpSpPr>
      <p:grpSpPr>
        <a:xfrm>
          <a:off x="0" y="0"/>
          <a:ext cx="0" cy="0"/>
          <a:chOff x="0" y="0"/>
          <a:chExt cx="0" cy="0"/>
        </a:xfrm>
      </p:grpSpPr>
      <p:sp>
        <p:nvSpPr>
          <p:cNvPr id="109" name="Google Shape;109;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6">
    <p:spTree>
      <p:nvGrpSpPr>
        <p:cNvPr id="1" name="Shape 110"/>
        <p:cNvGrpSpPr/>
        <p:nvPr/>
      </p:nvGrpSpPr>
      <p:grpSpPr>
        <a:xfrm>
          <a:off x="0" y="0"/>
          <a:ext cx="0" cy="0"/>
          <a:chOff x="0" y="0"/>
          <a:chExt cx="0" cy="0"/>
        </a:xfrm>
      </p:grpSpPr>
      <p:sp>
        <p:nvSpPr>
          <p:cNvPr id="111" name="Google Shape;111;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12" name="Google Shape;112;p31"/>
          <p:cNvSpPr/>
          <p:nvPr/>
        </p:nvSpPr>
        <p:spPr>
          <a:xfrm>
            <a:off x="3200525" y="0"/>
            <a:ext cx="5943600" cy="51435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ustom Layout 1 1 1 1 1">
  <p:cSld name="CUSTOM_2_1_1_1">
    <p:spTree>
      <p:nvGrpSpPr>
        <p:cNvPr id="1" name="Shape 115"/>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_HEADER_1_1">
  <p:cSld name="SECTION_HEADER_1_1">
    <p:spTree>
      <p:nvGrpSpPr>
        <p:cNvPr id="1" name="Shape 116"/>
        <p:cNvGrpSpPr/>
        <p:nvPr/>
      </p:nvGrpSpPr>
      <p:grpSpPr>
        <a:xfrm>
          <a:off x="0" y="0"/>
          <a:ext cx="0" cy="0"/>
          <a:chOff x="0" y="0"/>
          <a:chExt cx="0" cy="0"/>
        </a:xfrm>
      </p:grpSpPr>
      <p:sp>
        <p:nvSpPr>
          <p:cNvPr id="117" name="Google Shape;117;p3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18" name="Google Shape;118;p34"/>
          <p:cNvSpPr txBox="1">
            <a:spLocks noGrp="1"/>
          </p:cNvSpPr>
          <p:nvPr>
            <p:ph type="sldNum" idx="12"/>
          </p:nvPr>
        </p:nvSpPr>
        <p:spPr>
          <a:xfrm>
            <a:off x="8472458" y="4663217"/>
            <a:ext cx="548700" cy="123000"/>
          </a:xfrm>
          <a:prstGeom prst="rect">
            <a:avLst/>
          </a:prstGeom>
        </p:spPr>
        <p:txBody>
          <a:bodyPr spcFirstLastPara="1" wrap="square" lIns="91425" tIns="91425" rIns="91425" bIns="91425" anchor="ctr" anchorCtr="0">
            <a:normAutofit fontScale="250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ARCLAYS–LIGHT 1 1">
  <p:cSld name="TITLE_ONLY_1_1_2">
    <p:bg>
      <p:bgPr>
        <a:solidFill>
          <a:srgbClr val="00AEEF"/>
        </a:solidFill>
        <a:effectLst/>
      </p:bgPr>
    </p:bg>
    <p:spTree>
      <p:nvGrpSpPr>
        <p:cNvPr id="1" name="Shape 119"/>
        <p:cNvGrpSpPr/>
        <p:nvPr/>
      </p:nvGrpSpPr>
      <p:grpSpPr>
        <a:xfrm>
          <a:off x="0" y="0"/>
          <a:ext cx="0" cy="0"/>
          <a:chOff x="0" y="0"/>
          <a:chExt cx="0" cy="0"/>
        </a:xfrm>
      </p:grpSpPr>
      <p:sp>
        <p:nvSpPr>
          <p:cNvPr id="120" name="Google Shape;120;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FF6200"/>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373175" y="11322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70" r:id="rId11"/>
    <p:sldLayoutId id="2147483671" r:id="rId12"/>
    <p:sldLayoutId id="2147483673" r:id="rId13"/>
    <p:sldLayoutId id="2147483681" r:id="rId14"/>
    <p:sldLayoutId id="2147483674" r:id="rId15"/>
    <p:sldLayoutId id="2147483675" r:id="rId16"/>
    <p:sldLayoutId id="2147483676" r:id="rId17"/>
    <p:sldLayoutId id="2147483678" r:id="rId18"/>
    <p:sldLayoutId id="2147483679" r:id="rId19"/>
    <p:sldLayoutId id="2147483680" r:id="rId2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xml"/><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1C27"/>
        </a:solidFill>
        <a:effectLst/>
      </p:bgPr>
    </p:bg>
    <p:spTree>
      <p:nvGrpSpPr>
        <p:cNvPr id="1" name="Shape 156"/>
        <p:cNvGrpSpPr/>
        <p:nvPr/>
      </p:nvGrpSpPr>
      <p:grpSpPr>
        <a:xfrm>
          <a:off x="0" y="0"/>
          <a:ext cx="0" cy="0"/>
          <a:chOff x="0" y="0"/>
          <a:chExt cx="0" cy="0"/>
        </a:xfrm>
      </p:grpSpPr>
      <p:sp>
        <p:nvSpPr>
          <p:cNvPr id="157" name="Google Shape;157;p37"/>
          <p:cNvSpPr txBox="1"/>
          <p:nvPr/>
        </p:nvSpPr>
        <p:spPr>
          <a:xfrm>
            <a:off x="3712464" y="4084778"/>
            <a:ext cx="1716900" cy="365700"/>
          </a:xfrm>
          <a:prstGeom prst="rect">
            <a:avLst/>
          </a:prstGeom>
          <a:noFill/>
          <a:ln>
            <a:noFill/>
          </a:ln>
        </p:spPr>
        <p:txBody>
          <a:bodyPr spcFirstLastPara="1" wrap="square" lIns="0" tIns="0" rIns="0" bIns="0" anchor="t" anchorCtr="0">
            <a:noAutofit/>
          </a:bodyPr>
          <a:lstStyle/>
          <a:p>
            <a:pPr marL="0" lvl="0" indent="0" algn="ctr" rtl="0">
              <a:lnSpc>
                <a:spcPct val="70000"/>
              </a:lnSpc>
              <a:spcBef>
                <a:spcPts val="0"/>
              </a:spcBef>
              <a:spcAft>
                <a:spcPts val="0"/>
              </a:spcAft>
              <a:buClr>
                <a:schemeClr val="dk1"/>
              </a:buClr>
              <a:buSzPts val="1100"/>
              <a:buFont typeface="Arial"/>
              <a:buNone/>
            </a:pPr>
            <a:r>
              <a:rPr lang="en" sz="1063" b="1" dirty="0">
                <a:solidFill>
                  <a:schemeClr val="lt1"/>
                </a:solidFill>
                <a:latin typeface="Ember Modern Display Standard" panose="020B0503020204020204" pitchFamily="34" charset="0"/>
                <a:ea typeface="Special Gothic"/>
                <a:cs typeface="Special Gothic"/>
                <a:sym typeface="Special Gothic"/>
              </a:rPr>
              <a:t>AARUSH BAKSHI</a:t>
            </a:r>
            <a:endParaRPr sz="1063" b="1" dirty="0">
              <a:solidFill>
                <a:schemeClr val="lt1"/>
              </a:solidFill>
              <a:latin typeface="Ember Modern Display Standard" panose="020B0503020204020204" pitchFamily="34" charset="0"/>
              <a:ea typeface="Special Gothic"/>
              <a:cs typeface="Special Gothic"/>
              <a:sym typeface="Special Gothic"/>
            </a:endParaRPr>
          </a:p>
          <a:p>
            <a:pPr marL="0" lvl="0" indent="0" algn="ctr" rtl="0">
              <a:spcBef>
                <a:spcPts val="0"/>
              </a:spcBef>
              <a:spcAft>
                <a:spcPts val="0"/>
              </a:spcAft>
              <a:buClr>
                <a:schemeClr val="dk1"/>
              </a:buClr>
              <a:buSzPts val="1100"/>
              <a:buFont typeface="Arial"/>
              <a:buNone/>
            </a:pPr>
            <a:endParaRPr sz="1063" b="1" dirty="0">
              <a:solidFill>
                <a:srgbClr val="FFFFFF"/>
              </a:solidFill>
              <a:latin typeface="Ember Modern Display Standard" panose="020B0503020204020204" pitchFamily="34" charset="0"/>
              <a:ea typeface="Special Gothic"/>
              <a:cs typeface="Special Gothic"/>
              <a:sym typeface="Special Gothic"/>
            </a:endParaRPr>
          </a:p>
        </p:txBody>
      </p:sp>
      <p:sp>
        <p:nvSpPr>
          <p:cNvPr id="158" name="Google Shape;158;p37"/>
          <p:cNvSpPr txBox="1"/>
          <p:nvPr/>
        </p:nvSpPr>
        <p:spPr>
          <a:xfrm>
            <a:off x="1664208" y="4084837"/>
            <a:ext cx="1716900" cy="365700"/>
          </a:xfrm>
          <a:prstGeom prst="rect">
            <a:avLst/>
          </a:prstGeom>
          <a:noFill/>
          <a:ln>
            <a:noFill/>
          </a:ln>
        </p:spPr>
        <p:txBody>
          <a:bodyPr spcFirstLastPara="1" wrap="square" lIns="0" tIns="0" rIns="0" bIns="0" anchor="t" anchorCtr="0">
            <a:noAutofit/>
          </a:bodyPr>
          <a:lstStyle/>
          <a:p>
            <a:pPr marL="0" lvl="0" indent="0" algn="ctr" rtl="0">
              <a:lnSpc>
                <a:spcPct val="70000"/>
              </a:lnSpc>
              <a:spcBef>
                <a:spcPts val="0"/>
              </a:spcBef>
              <a:spcAft>
                <a:spcPts val="0"/>
              </a:spcAft>
              <a:buNone/>
            </a:pPr>
            <a:r>
              <a:rPr lang="en" sz="1063" b="1" dirty="0">
                <a:solidFill>
                  <a:srgbClr val="FFFFFF"/>
                </a:solidFill>
                <a:latin typeface="Ember Modern Display Standard" panose="020B0503020204020204" pitchFamily="34" charset="0"/>
                <a:ea typeface="Special Gothic"/>
                <a:cs typeface="Special Gothic"/>
                <a:sym typeface="Special Gothic"/>
              </a:rPr>
              <a:t>AMEYA BORKAR</a:t>
            </a:r>
            <a:endParaRPr sz="1063" b="1" dirty="0">
              <a:solidFill>
                <a:srgbClr val="FFFFFF"/>
              </a:solidFill>
              <a:latin typeface="Ember Modern Display Standard" panose="020B0503020204020204" pitchFamily="34" charset="0"/>
              <a:ea typeface="Special Gothic"/>
              <a:cs typeface="Special Gothic"/>
              <a:sym typeface="Special Gothic"/>
            </a:endParaRPr>
          </a:p>
          <a:p>
            <a:pPr marL="0" lvl="0" indent="0" algn="ctr" rtl="0">
              <a:spcBef>
                <a:spcPts val="0"/>
              </a:spcBef>
              <a:spcAft>
                <a:spcPts val="0"/>
              </a:spcAft>
              <a:buNone/>
            </a:pPr>
            <a:endParaRPr sz="1299" b="1" dirty="0">
              <a:solidFill>
                <a:srgbClr val="FFFFFF"/>
              </a:solidFill>
              <a:latin typeface="Ember Modern Display Standard" panose="020B0503020204020204" pitchFamily="34" charset="0"/>
              <a:ea typeface="Special Gothic"/>
              <a:cs typeface="Special Gothic"/>
              <a:sym typeface="Special Gothic"/>
            </a:endParaRPr>
          </a:p>
        </p:txBody>
      </p:sp>
      <p:sp>
        <p:nvSpPr>
          <p:cNvPr id="159" name="Google Shape;159;p37"/>
          <p:cNvSpPr txBox="1"/>
          <p:nvPr/>
        </p:nvSpPr>
        <p:spPr>
          <a:xfrm>
            <a:off x="779287" y="663396"/>
            <a:ext cx="7585425" cy="861900"/>
          </a:xfrm>
          <a:prstGeom prst="rect">
            <a:avLst/>
          </a:prstGeom>
          <a:noFill/>
          <a:ln>
            <a:noFill/>
          </a:ln>
        </p:spPr>
        <p:txBody>
          <a:bodyPr spcFirstLastPara="1" wrap="square" lIns="91425" tIns="91425" rIns="91425" bIns="91425" anchor="t" anchorCtr="0">
            <a:spAutoFit/>
          </a:bodyPr>
          <a:lstStyle/>
          <a:p>
            <a:pPr marL="0" lvl="0" indent="0" algn="ctr" rtl="0">
              <a:lnSpc>
                <a:spcPct val="80000"/>
              </a:lnSpc>
              <a:spcBef>
                <a:spcPts val="0"/>
              </a:spcBef>
              <a:spcAft>
                <a:spcPts val="0"/>
              </a:spcAft>
              <a:buNone/>
            </a:pPr>
            <a:r>
              <a:rPr lang="en" sz="5500" b="1" dirty="0">
                <a:solidFill>
                  <a:schemeClr val="lt2"/>
                </a:solidFill>
                <a:latin typeface="Ember Modern Display Standard" panose="020B0503020204020204" pitchFamily="34" charset="0"/>
                <a:ea typeface="Special Gothic"/>
                <a:cs typeface="Special Gothic"/>
                <a:sym typeface="Special Gothic"/>
              </a:rPr>
              <a:t>Team </a:t>
            </a:r>
            <a:r>
              <a:rPr lang="en" sz="5500" b="1" dirty="0">
                <a:solidFill>
                  <a:srgbClr val="FF6101"/>
                </a:solidFill>
                <a:latin typeface="Ember Modern Display Standard" panose="020B0503020204020204" pitchFamily="34" charset="0"/>
                <a:ea typeface="Special Gothic"/>
                <a:cs typeface="Special Gothic"/>
                <a:sym typeface="Special Gothic"/>
              </a:rPr>
              <a:t>Grenuke</a:t>
            </a:r>
            <a:endParaRPr sz="2000" b="1" dirty="0">
              <a:solidFill>
                <a:schemeClr val="lt1"/>
              </a:solidFill>
              <a:latin typeface="Ember Modern Display Standard" panose="020B0503020204020204" pitchFamily="34" charset="0"/>
              <a:ea typeface="Special Gothic"/>
              <a:cs typeface="Special Gothic"/>
              <a:sym typeface="Special Gothic"/>
            </a:endParaRPr>
          </a:p>
        </p:txBody>
      </p:sp>
      <p:sp>
        <p:nvSpPr>
          <p:cNvPr id="161" name="Google Shape;161;p37"/>
          <p:cNvSpPr txBox="1"/>
          <p:nvPr/>
        </p:nvSpPr>
        <p:spPr>
          <a:xfrm>
            <a:off x="5760720" y="4084808"/>
            <a:ext cx="1716900" cy="365700"/>
          </a:xfrm>
          <a:prstGeom prst="rect">
            <a:avLst/>
          </a:prstGeom>
          <a:noFill/>
          <a:ln>
            <a:noFill/>
          </a:ln>
        </p:spPr>
        <p:txBody>
          <a:bodyPr spcFirstLastPara="1" wrap="square" lIns="0" tIns="0" rIns="0" bIns="0" anchor="t" anchorCtr="0">
            <a:noAutofit/>
          </a:bodyPr>
          <a:lstStyle/>
          <a:p>
            <a:pPr marL="0" lvl="0" indent="0" algn="ctr" rtl="0">
              <a:lnSpc>
                <a:spcPct val="70000"/>
              </a:lnSpc>
              <a:spcBef>
                <a:spcPts val="0"/>
              </a:spcBef>
              <a:spcAft>
                <a:spcPts val="0"/>
              </a:spcAft>
              <a:buClr>
                <a:schemeClr val="dk1"/>
              </a:buClr>
              <a:buSzPts val="1100"/>
              <a:buFont typeface="Arial"/>
              <a:buNone/>
            </a:pPr>
            <a:r>
              <a:rPr lang="en" sz="1063" b="1" dirty="0">
                <a:solidFill>
                  <a:schemeClr val="lt1"/>
                </a:solidFill>
                <a:latin typeface="Ember Modern Display Standard" panose="020B0503020204020204" pitchFamily="34" charset="0"/>
                <a:ea typeface="Special Gothic"/>
                <a:cs typeface="Special Gothic"/>
                <a:sym typeface="Special Gothic"/>
              </a:rPr>
              <a:t>SACHI DHOKA</a:t>
            </a:r>
            <a:endParaRPr sz="1063" b="1" dirty="0">
              <a:solidFill>
                <a:schemeClr val="lt1"/>
              </a:solidFill>
              <a:latin typeface="Ember Modern Display Standard" panose="020B0503020204020204" pitchFamily="34" charset="0"/>
              <a:ea typeface="Special Gothic"/>
              <a:cs typeface="Special Gothic"/>
              <a:sym typeface="Special Gothic"/>
            </a:endParaRPr>
          </a:p>
          <a:p>
            <a:pPr marL="0" lvl="0" indent="0" algn="ctr" rtl="0">
              <a:spcBef>
                <a:spcPts val="0"/>
              </a:spcBef>
              <a:spcAft>
                <a:spcPts val="0"/>
              </a:spcAft>
              <a:buClr>
                <a:schemeClr val="dk1"/>
              </a:buClr>
              <a:buSzPts val="1100"/>
              <a:buFont typeface="Arial"/>
              <a:buNone/>
            </a:pPr>
            <a:endParaRPr sz="1063" b="1" dirty="0">
              <a:solidFill>
                <a:srgbClr val="FFFFFF"/>
              </a:solidFill>
              <a:latin typeface="Ember Modern Display Standard" panose="020B0503020204020204" pitchFamily="34" charset="0"/>
              <a:ea typeface="Special Gothic"/>
              <a:cs typeface="Special Gothic"/>
              <a:sym typeface="Special Gothic"/>
            </a:endParaRPr>
          </a:p>
        </p:txBody>
      </p:sp>
      <p:pic>
        <p:nvPicPr>
          <p:cNvPr id="13" name="Picture 12" descr="A logo of a company&#10;&#10;AI-generated content may be incorrect.">
            <a:extLst>
              <a:ext uri="{FF2B5EF4-FFF2-40B4-BE49-F238E27FC236}">
                <a16:creationId xmlns:a16="http://schemas.microsoft.com/office/drawing/2014/main" id="{54E96A6D-C6EA-9D61-ED22-340732ADB5AA}"/>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18" name="Picture Placeholder 17">
            <a:extLst>
              <a:ext uri="{FF2B5EF4-FFF2-40B4-BE49-F238E27FC236}">
                <a16:creationId xmlns:a16="http://schemas.microsoft.com/office/drawing/2014/main" id="{B6EBC231-E852-2F1A-C156-0432CEF758F5}"/>
              </a:ext>
            </a:extLst>
          </p:cNvPr>
          <p:cNvSpPr>
            <a:spLocks noGrp="1"/>
          </p:cNvSpPr>
          <p:nvPr>
            <p:ph type="pic" sz="quarter" idx="13"/>
          </p:nvPr>
        </p:nvSpPr>
        <p:spPr>
          <a:xfrm>
            <a:off x="1636776" y="1865376"/>
            <a:ext cx="1773936" cy="2020824"/>
          </a:xfrm>
        </p:spPr>
        <p:txBody>
          <a:bodyPr/>
          <a:lstStyle/>
          <a:p>
            <a:endParaRPr lang="en-US"/>
          </a:p>
        </p:txBody>
      </p:sp>
      <p:sp>
        <p:nvSpPr>
          <p:cNvPr id="19" name="Picture Placeholder 18">
            <a:extLst>
              <a:ext uri="{FF2B5EF4-FFF2-40B4-BE49-F238E27FC236}">
                <a16:creationId xmlns:a16="http://schemas.microsoft.com/office/drawing/2014/main" id="{3AB9B1BB-405A-843D-39F8-98C2FD91D459}"/>
              </a:ext>
            </a:extLst>
          </p:cNvPr>
          <p:cNvSpPr>
            <a:spLocks noGrp="1"/>
          </p:cNvSpPr>
          <p:nvPr>
            <p:ph type="pic" sz="quarter" idx="14"/>
          </p:nvPr>
        </p:nvSpPr>
        <p:spPr>
          <a:xfrm>
            <a:off x="3685032" y="1865376"/>
            <a:ext cx="1773936" cy="2020824"/>
          </a:xfrm>
        </p:spPr>
        <p:txBody>
          <a:bodyPr/>
          <a:lstStyle/>
          <a:p>
            <a:endParaRPr lang="en-US"/>
          </a:p>
        </p:txBody>
      </p:sp>
      <p:sp>
        <p:nvSpPr>
          <p:cNvPr id="20" name="Picture Placeholder 19">
            <a:extLst>
              <a:ext uri="{FF2B5EF4-FFF2-40B4-BE49-F238E27FC236}">
                <a16:creationId xmlns:a16="http://schemas.microsoft.com/office/drawing/2014/main" id="{AB42942B-65ED-01F3-97B1-DDAE12BA2B07}"/>
              </a:ext>
            </a:extLst>
          </p:cNvPr>
          <p:cNvSpPr>
            <a:spLocks noGrp="1"/>
          </p:cNvSpPr>
          <p:nvPr>
            <p:ph type="pic" sz="quarter" idx="15"/>
          </p:nvPr>
        </p:nvSpPr>
        <p:spPr>
          <a:xfrm>
            <a:off x="5733288" y="1865376"/>
            <a:ext cx="1773936" cy="2020824"/>
          </a:xfrm>
        </p:spPr>
        <p:txBody>
          <a:bodyPr/>
          <a:lstStyle/>
          <a:p>
            <a:endParaRPr lang="en-US"/>
          </a:p>
        </p:txBody>
      </p:sp>
      <p:sp>
        <p:nvSpPr>
          <p:cNvPr id="162" name="TextBox 161"/>
          <p:cNvSpPr txBox="1"/>
          <p:nvPr/>
        </p:nvSpPr>
        <p:spPr>
          <a:xfrm>
            <a:off x="777240" y="1481328"/>
            <a:ext cx="7589520" cy="274320"/>
          </a:xfrm>
          <a:prstGeom prst="rect">
            <a:avLst/>
          </a:prstGeom>
          <a:noFill/>
        </p:spPr>
        <p:txBody>
          <a:bodyPr wrap="square" lIns="0" rIns="0" tIns="0" bIns="0" anchor="t">
            <a:spAutoFit/>
          </a:bodyPr>
          <a:lstStyle/>
          <a:p>
            <a:pPr algn="ctr"/>
            <a:r>
              <a:rPr sz="1300" b="0">
                <a:solidFill>
                  <a:srgbClr val="D6DCE7"/>
                </a:solidFill>
                <a:latin typeface="Ember Modern Display Standard"/>
              </a:rPr>
              <a:t>Business Entity Resolution   ·   Amazon ML Challenge 2026 Grand Finale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First, the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Data</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Before writing a model, we read the data. Each fact changed a design choice.</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486400" cy="201168"/>
          </a:xfrm>
          <a:prstGeom prst="rect">
            <a:avLst/>
          </a:prstGeom>
          <a:noFill/>
        </p:spPr>
        <p:txBody>
          <a:bodyPr wrap="square" lIns="0" rIns="0" tIns="0" bIns="0" anchor="t">
            <a:spAutoFit/>
          </a:bodyPr>
          <a:lstStyle/>
          <a:p>
            <a:pPr algn="l"/>
            <a:r>
              <a:rPr sz="850" b="1">
                <a:solidFill>
                  <a:srgbClr val="FF6200"/>
                </a:solidFill>
                <a:latin typeface="Ember Modern Display Standard"/>
              </a:rPr>
              <a:t>Data</a:t>
            </a:r>
            <a:r>
              <a:rPr sz="850" b="0">
                <a:solidFill>
                  <a:srgbClr val="B8C0CC"/>
                </a:solidFill>
                <a:latin typeface="Ember Modern Display Standard"/>
              </a:rPr>
              <a:t>   ·   </a:t>
            </a:r>
            <a:r>
              <a:rPr sz="850" b="0">
                <a:solidFill>
                  <a:srgbClr val="6B7280"/>
                </a:solidFill>
                <a:latin typeface="Ember Modern Display Standard"/>
              </a:rPr>
              <a:t>Principles</a:t>
            </a:r>
            <a:r>
              <a:rPr sz="850" b="0">
                <a:solidFill>
                  <a:srgbClr val="B8C0CC"/>
                </a:solidFill>
                <a:latin typeface="Ember Modern Display Standard"/>
              </a:rPr>
              <a:t>   ·   </a:t>
            </a:r>
            <a:r>
              <a:rPr sz="850" b="0">
                <a:solidFill>
                  <a:srgbClr val="6B7280"/>
                </a:solidFill>
                <a:latin typeface="Ember Modern Display Standard"/>
              </a:rPr>
              <a:t>Blocking</a:t>
            </a:r>
            <a:r>
              <a:rPr sz="850" b="0">
                <a:solidFill>
                  <a:srgbClr val="B8C0CC"/>
                </a:solidFill>
                <a:latin typeface="Ember Modern Display Standard"/>
              </a:rPr>
              <a:t>   ·   </a:t>
            </a:r>
            <a:r>
              <a:rPr sz="850" b="0">
                <a:solidFill>
                  <a:srgbClr val="6B7280"/>
                </a:solidFill>
                <a:latin typeface="Ember Modern Display Standard"/>
              </a:rPr>
              <a:t>Pipeline</a:t>
            </a:r>
            <a:r>
              <a:rPr sz="850" b="0">
                <a:solidFill>
                  <a:srgbClr val="B8C0CC"/>
                </a:solidFill>
                <a:latin typeface="Ember Modern Display Standard"/>
              </a:rPr>
              <a:t>   ·   </a:t>
            </a:r>
            <a:r>
              <a:rPr sz="850" b="0">
                <a:solidFill>
                  <a:srgbClr val="6B7280"/>
                </a:solidFill>
                <a:latin typeface="Ember Modern Display Standard"/>
              </a:rPr>
              <a:t>Leaderboard</a:t>
            </a:r>
            <a:r>
              <a:rPr sz="850" b="0">
                <a:solidFill>
                  <a:srgbClr val="B8C0CC"/>
                </a:solidFill>
                <a:latin typeface="Ember Modern Display Standard"/>
              </a:rPr>
              <a:t>   ·   </a:t>
            </a:r>
            <a:r>
              <a:rPr sz="850" b="0">
                <a:solidFill>
                  <a:srgbClr val="6B7280"/>
                </a:solidFill>
                <a:latin typeface="Ember Modern Display Standard"/>
              </a:rPr>
              <a:t>France</a:t>
            </a:r>
            <a:r>
              <a:rPr sz="850" b="0">
                <a:solidFill>
                  <a:srgbClr val="B8C0CC"/>
                </a:solidFill>
                <a:latin typeface="Ember Modern Display Standard"/>
              </a:rPr>
              <a:t>   ·   </a:t>
            </a:r>
            <a:r>
              <a:rPr sz="850" b="0">
                <a:solidFill>
                  <a:srgbClr val="6B7280"/>
                </a:solidFill>
                <a:latin typeface="Ember Modern Display Standard"/>
              </a:rPr>
              <a:t>Team</a:t>
            </a:r>
            <a:r>
              <a:rPr sz="850" b="0">
                <a:solidFill>
                  <a:srgbClr val="B8C0CC"/>
                </a:solidFill>
                <a:latin typeface="Ember Modern Display Standard"/>
              </a:rPr>
              <a:t>   ·   </a:t>
            </a:r>
            <a:r>
              <a:rPr sz="850" b="0">
                <a:solidFill>
                  <a:srgbClr val="6B7280"/>
                </a:solidFill>
                <a:latin typeface="Ember Modern Display Standard"/>
              </a:rPr>
              <a:t>Results</a:t>
            </a:r>
            <a:r>
              <a:rPr sz="850" b="0">
                <a:solidFill>
                  <a:srgbClr val="B8C0CC"/>
                </a:solidFill>
                <a:latin typeface="Ember Modern Display Standard"/>
              </a:rPr>
              <a:t>   ·   </a:t>
            </a:r>
            <a:r>
              <a:rPr sz="850" b="0">
                <a:solidFill>
                  <a:srgbClr val="6B7280"/>
                </a:solidFill>
                <a:latin typeface="Ember Modern Display Standard"/>
              </a:rPr>
              <a:t>Lessons</a:t>
            </a:r>
          </a:p>
        </p:txBody>
      </p:sp>
      <p:sp>
        <p:nvSpPr>
          <p:cNvPr id="268" name="TextBox 267"/>
          <p:cNvSpPr txBox="1"/>
          <p:nvPr/>
        </p:nvSpPr>
        <p:spPr>
          <a:xfrm>
            <a:off x="5669280" y="4608576"/>
            <a:ext cx="297180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Dive Deep  ·  Learn and Be Curious</a:t>
            </a:r>
          </a:p>
        </p:txBody>
      </p:sp>
      <p:sp>
        <p:nvSpPr>
          <p:cNvPr id="269" name="Rounded Rectangle 268"/>
          <p:cNvSpPr/>
          <p:nvPr/>
        </p:nvSpPr>
        <p:spPr>
          <a:xfrm>
            <a:off x="502920" y="1371600"/>
            <a:ext cx="2606040" cy="1435608"/>
          </a:xfrm>
          <a:prstGeom prst="roundRect">
            <a:avLst>
              <a:gd name="adj" fmla="val 3821"/>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685800" y="1490472"/>
            <a:ext cx="2286000" cy="411480"/>
          </a:xfrm>
          <a:prstGeom prst="rect">
            <a:avLst/>
          </a:prstGeom>
          <a:noFill/>
        </p:spPr>
        <p:txBody>
          <a:bodyPr wrap="square" lIns="0" rIns="0" tIns="0" bIns="0" anchor="t">
            <a:spAutoFit/>
          </a:bodyPr>
          <a:lstStyle/>
          <a:p>
            <a:pPr algn="l"/>
            <a:r>
              <a:rPr sz="2600" b="1">
                <a:solidFill>
                  <a:srgbClr val="FF6200"/>
                </a:solidFill>
                <a:latin typeface="Ember Modern Display Standard"/>
              </a:rPr>
              <a:t>+23%</a:t>
            </a:r>
          </a:p>
        </p:txBody>
      </p:sp>
      <p:sp>
        <p:nvSpPr>
          <p:cNvPr id="271" name="TextBox 270"/>
          <p:cNvSpPr txBox="1"/>
          <p:nvPr/>
        </p:nvSpPr>
        <p:spPr>
          <a:xfrm>
            <a:off x="685800" y="1938528"/>
            <a:ext cx="2286000" cy="411480"/>
          </a:xfrm>
          <a:prstGeom prst="rect">
            <a:avLst/>
          </a:prstGeom>
          <a:noFill/>
        </p:spPr>
        <p:txBody>
          <a:bodyPr wrap="square" lIns="0" rIns="0" tIns="0" bIns="0" anchor="t">
            <a:spAutoFit/>
          </a:bodyPr>
          <a:lstStyle/>
          <a:p>
            <a:pPr algn="l"/>
            <a:r>
              <a:rPr sz="1150" b="0">
                <a:solidFill>
                  <a:srgbClr val="161D26"/>
                </a:solidFill>
                <a:latin typeface="Ember Modern Display Standard"/>
              </a:rPr>
              <a:t>more records per entity in test, but the same true matches</a:t>
            </a:r>
          </a:p>
        </p:txBody>
      </p:sp>
      <p:sp>
        <p:nvSpPr>
          <p:cNvPr id="272" name="TextBox 271"/>
          <p:cNvSpPr txBox="1"/>
          <p:nvPr/>
        </p:nvSpPr>
        <p:spPr>
          <a:xfrm>
            <a:off x="685800" y="2414015"/>
            <a:ext cx="2286000" cy="274320"/>
          </a:xfrm>
          <a:prstGeom prst="rect">
            <a:avLst/>
          </a:prstGeom>
          <a:noFill/>
        </p:spPr>
        <p:txBody>
          <a:bodyPr wrap="square" lIns="0" rIns="0" tIns="0" bIns="0" anchor="t">
            <a:spAutoFit/>
          </a:bodyPr>
          <a:lstStyle/>
          <a:p>
            <a:pPr algn="l"/>
            <a:r>
              <a:rPr sz="1250" b="1">
                <a:solidFill>
                  <a:srgbClr val="FF6200"/>
                </a:solidFill>
                <a:latin typeface="Ember Modern Display Standard"/>
              </a:rPr>
              <a:t>→  </a:t>
            </a:r>
            <a:r>
              <a:rPr sz="1250" b="1">
                <a:solidFill>
                  <a:srgbClr val="161D26"/>
                </a:solidFill>
                <a:latin typeface="Ember Modern Display Standard"/>
              </a:rPr>
              <a:t>The extras are look-alikes</a:t>
            </a:r>
          </a:p>
        </p:txBody>
      </p:sp>
      <p:sp>
        <p:nvSpPr>
          <p:cNvPr id="273" name="Rounded Rectangle 272"/>
          <p:cNvSpPr/>
          <p:nvPr/>
        </p:nvSpPr>
        <p:spPr>
          <a:xfrm>
            <a:off x="3246120" y="1371600"/>
            <a:ext cx="2606040" cy="1435608"/>
          </a:xfrm>
          <a:prstGeom prst="roundRect">
            <a:avLst>
              <a:gd name="adj" fmla="val 3821"/>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extBox 273"/>
          <p:cNvSpPr txBox="1"/>
          <p:nvPr/>
        </p:nvSpPr>
        <p:spPr>
          <a:xfrm>
            <a:off x="3429000" y="1490472"/>
            <a:ext cx="2286000" cy="411480"/>
          </a:xfrm>
          <a:prstGeom prst="rect">
            <a:avLst/>
          </a:prstGeom>
          <a:noFill/>
        </p:spPr>
        <p:txBody>
          <a:bodyPr wrap="square" lIns="0" rIns="0" tIns="0" bIns="0" anchor="t">
            <a:spAutoFit/>
          </a:bodyPr>
          <a:lstStyle/>
          <a:p>
            <a:pPr algn="l"/>
            <a:r>
              <a:rPr sz="2600" b="1">
                <a:solidFill>
                  <a:srgbClr val="FF6200"/>
                </a:solidFill>
                <a:latin typeface="Ember Modern Display Standard"/>
              </a:rPr>
              <a:t>1 in 2</a:t>
            </a:r>
          </a:p>
        </p:txBody>
      </p:sp>
      <p:sp>
        <p:nvSpPr>
          <p:cNvPr id="275" name="TextBox 274"/>
          <p:cNvSpPr txBox="1"/>
          <p:nvPr/>
        </p:nvSpPr>
        <p:spPr>
          <a:xfrm>
            <a:off x="3429000" y="1938528"/>
            <a:ext cx="2286000" cy="411480"/>
          </a:xfrm>
          <a:prstGeom prst="rect">
            <a:avLst/>
          </a:prstGeom>
          <a:noFill/>
        </p:spPr>
        <p:txBody>
          <a:bodyPr wrap="square" lIns="0" rIns="0" tIns="0" bIns="0" anchor="t">
            <a:spAutoFit/>
          </a:bodyPr>
          <a:lstStyle/>
          <a:p>
            <a:pPr algn="l"/>
            <a:r>
              <a:rPr sz="1150" b="0">
                <a:solidFill>
                  <a:srgbClr val="161D26"/>
                </a:solidFill>
                <a:latin typeface="Ember Modern Display Standard"/>
              </a:rPr>
              <a:t>entities share their name with another entity</a:t>
            </a:r>
          </a:p>
        </p:txBody>
      </p:sp>
      <p:sp>
        <p:nvSpPr>
          <p:cNvPr id="276" name="TextBox 275"/>
          <p:cNvSpPr txBox="1"/>
          <p:nvPr/>
        </p:nvSpPr>
        <p:spPr>
          <a:xfrm>
            <a:off x="3429000" y="2414015"/>
            <a:ext cx="2286000" cy="274320"/>
          </a:xfrm>
          <a:prstGeom prst="rect">
            <a:avLst/>
          </a:prstGeom>
          <a:noFill/>
        </p:spPr>
        <p:txBody>
          <a:bodyPr wrap="square" lIns="0" rIns="0" tIns="0" bIns="0" anchor="t">
            <a:spAutoFit/>
          </a:bodyPr>
          <a:lstStyle/>
          <a:p>
            <a:pPr algn="l"/>
            <a:r>
              <a:rPr sz="1250" b="1">
                <a:solidFill>
                  <a:srgbClr val="FF6200"/>
                </a:solidFill>
                <a:latin typeface="Ember Modern Display Standard"/>
              </a:rPr>
              <a:t>→  </a:t>
            </a:r>
            <a:r>
              <a:rPr sz="1250" b="1">
                <a:solidFill>
                  <a:srgbClr val="161D26"/>
                </a:solidFill>
                <a:latin typeface="Ember Modern Display Standard"/>
              </a:rPr>
              <a:t>The address decides</a:t>
            </a:r>
          </a:p>
        </p:txBody>
      </p:sp>
      <p:sp>
        <p:nvSpPr>
          <p:cNvPr id="277" name="Rounded Rectangle 276"/>
          <p:cNvSpPr/>
          <p:nvPr/>
        </p:nvSpPr>
        <p:spPr>
          <a:xfrm>
            <a:off x="502920" y="2944368"/>
            <a:ext cx="2606040" cy="1435608"/>
          </a:xfrm>
          <a:prstGeom prst="roundRect">
            <a:avLst>
              <a:gd name="adj" fmla="val 3821"/>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85800" y="3063239"/>
            <a:ext cx="2286000" cy="411480"/>
          </a:xfrm>
          <a:prstGeom prst="rect">
            <a:avLst/>
          </a:prstGeom>
          <a:noFill/>
        </p:spPr>
        <p:txBody>
          <a:bodyPr wrap="square" lIns="0" rIns="0" tIns="0" bIns="0" anchor="t">
            <a:spAutoFit/>
          </a:bodyPr>
          <a:lstStyle/>
          <a:p>
            <a:pPr algn="l"/>
            <a:r>
              <a:rPr sz="2600" b="1">
                <a:solidFill>
                  <a:srgbClr val="FF6200"/>
                </a:solidFill>
                <a:latin typeface="Ember Modern Display Standard"/>
              </a:rPr>
              <a:t>0</a:t>
            </a:r>
          </a:p>
        </p:txBody>
      </p:sp>
      <p:sp>
        <p:nvSpPr>
          <p:cNvPr id="279" name="TextBox 278"/>
          <p:cNvSpPr txBox="1"/>
          <p:nvPr/>
        </p:nvSpPr>
        <p:spPr>
          <a:xfrm>
            <a:off x="685800" y="3511296"/>
            <a:ext cx="2286000" cy="411480"/>
          </a:xfrm>
          <a:prstGeom prst="rect">
            <a:avLst/>
          </a:prstGeom>
          <a:noFill/>
        </p:spPr>
        <p:txBody>
          <a:bodyPr wrap="square" lIns="0" rIns="0" tIns="0" bIns="0" anchor="t">
            <a:spAutoFit/>
          </a:bodyPr>
          <a:lstStyle/>
          <a:p>
            <a:pPr algn="l"/>
            <a:r>
              <a:rPr sz="1150" b="0">
                <a:solidFill>
                  <a:srgbClr val="161D26"/>
                </a:solidFill>
                <a:latin typeface="Ember Modern Display Standard"/>
              </a:rPr>
              <a:t>records belong to two entities (7.6M checked)</a:t>
            </a:r>
          </a:p>
        </p:txBody>
      </p:sp>
      <p:sp>
        <p:nvSpPr>
          <p:cNvPr id="280" name="TextBox 279"/>
          <p:cNvSpPr txBox="1"/>
          <p:nvPr/>
        </p:nvSpPr>
        <p:spPr>
          <a:xfrm>
            <a:off x="685800" y="3986783"/>
            <a:ext cx="2286000" cy="274320"/>
          </a:xfrm>
          <a:prstGeom prst="rect">
            <a:avLst/>
          </a:prstGeom>
          <a:noFill/>
        </p:spPr>
        <p:txBody>
          <a:bodyPr wrap="square" lIns="0" rIns="0" tIns="0" bIns="0" anchor="t">
            <a:spAutoFit/>
          </a:bodyPr>
          <a:lstStyle/>
          <a:p>
            <a:pPr algn="l"/>
            <a:r>
              <a:rPr sz="1250" b="1">
                <a:solidFill>
                  <a:srgbClr val="FF6200"/>
                </a:solidFill>
                <a:latin typeface="Ember Modern Display Standard"/>
              </a:rPr>
              <a:t>→  </a:t>
            </a:r>
            <a:r>
              <a:rPr sz="1250" b="1">
                <a:solidFill>
                  <a:srgbClr val="161D26"/>
                </a:solidFill>
                <a:latin typeface="Ember Modern Display Standard"/>
              </a:rPr>
              <a:t>One owner per record</a:t>
            </a:r>
          </a:p>
        </p:txBody>
      </p:sp>
      <p:sp>
        <p:nvSpPr>
          <p:cNvPr id="281" name="Rounded Rectangle 280"/>
          <p:cNvSpPr/>
          <p:nvPr/>
        </p:nvSpPr>
        <p:spPr>
          <a:xfrm>
            <a:off x="3246120" y="2944368"/>
            <a:ext cx="2606040" cy="1435608"/>
          </a:xfrm>
          <a:prstGeom prst="roundRect">
            <a:avLst>
              <a:gd name="adj" fmla="val 3821"/>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TextBox 281"/>
          <p:cNvSpPr txBox="1"/>
          <p:nvPr/>
        </p:nvSpPr>
        <p:spPr>
          <a:xfrm>
            <a:off x="3429000" y="3063239"/>
            <a:ext cx="2286000" cy="411480"/>
          </a:xfrm>
          <a:prstGeom prst="rect">
            <a:avLst/>
          </a:prstGeom>
          <a:noFill/>
        </p:spPr>
        <p:txBody>
          <a:bodyPr wrap="square" lIns="0" rIns="0" tIns="0" bIns="0" anchor="t">
            <a:spAutoFit/>
          </a:bodyPr>
          <a:lstStyle/>
          <a:p>
            <a:pPr algn="l"/>
            <a:r>
              <a:rPr sz="2600" b="1">
                <a:solidFill>
                  <a:srgbClr val="FF6200"/>
                </a:solidFill>
                <a:latin typeface="Ember Modern Display Standard"/>
              </a:rPr>
              <a:t>15%</a:t>
            </a:r>
          </a:p>
        </p:txBody>
      </p:sp>
      <p:sp>
        <p:nvSpPr>
          <p:cNvPr id="283" name="TextBox 282"/>
          <p:cNvSpPr txBox="1"/>
          <p:nvPr/>
        </p:nvSpPr>
        <p:spPr>
          <a:xfrm>
            <a:off x="3429000" y="3511296"/>
            <a:ext cx="2286000" cy="411480"/>
          </a:xfrm>
          <a:prstGeom prst="rect">
            <a:avLst/>
          </a:prstGeom>
          <a:noFill/>
        </p:spPr>
        <p:txBody>
          <a:bodyPr wrap="square" lIns="0" rIns="0" tIns="0" bIns="0" anchor="t">
            <a:spAutoFit/>
          </a:bodyPr>
          <a:lstStyle/>
          <a:p>
            <a:pPr algn="l"/>
            <a:r>
              <a:rPr sz="1150" b="0">
                <a:solidFill>
                  <a:srgbClr val="161D26"/>
                </a:solidFill>
                <a:latin typeface="Ember Modern Display Standard"/>
              </a:rPr>
              <a:t>of the test set is France, never seen in training</a:t>
            </a:r>
          </a:p>
        </p:txBody>
      </p:sp>
      <p:sp>
        <p:nvSpPr>
          <p:cNvPr id="284" name="TextBox 283"/>
          <p:cNvSpPr txBox="1"/>
          <p:nvPr/>
        </p:nvSpPr>
        <p:spPr>
          <a:xfrm>
            <a:off x="3429000" y="3986783"/>
            <a:ext cx="2286000" cy="274320"/>
          </a:xfrm>
          <a:prstGeom prst="rect">
            <a:avLst/>
          </a:prstGeom>
          <a:noFill/>
        </p:spPr>
        <p:txBody>
          <a:bodyPr wrap="square" lIns="0" rIns="0" tIns="0" bIns="0" anchor="t">
            <a:spAutoFit/>
          </a:bodyPr>
          <a:lstStyle/>
          <a:p>
            <a:pPr algn="l"/>
            <a:r>
              <a:rPr sz="1250" b="1">
                <a:solidFill>
                  <a:srgbClr val="FF6200"/>
                </a:solidFill>
                <a:latin typeface="Ember Modern Display Standard"/>
              </a:rPr>
              <a:t>→  </a:t>
            </a:r>
            <a:r>
              <a:rPr sz="1250" b="1">
                <a:solidFill>
                  <a:srgbClr val="161D26"/>
                </a:solidFill>
                <a:latin typeface="Ember Modern Display Standard"/>
              </a:rPr>
              <a:t>Plan for the unknown</a:t>
            </a:r>
          </a:p>
        </p:txBody>
      </p:sp>
      <p:sp>
        <p:nvSpPr>
          <p:cNvPr id="285" name="Rounded Rectangle 284"/>
          <p:cNvSpPr/>
          <p:nvPr/>
        </p:nvSpPr>
        <p:spPr>
          <a:xfrm>
            <a:off x="6080760" y="1371600"/>
            <a:ext cx="2560320" cy="3008376"/>
          </a:xfrm>
          <a:prstGeom prst="roundRect">
            <a:avLst>
              <a:gd name="adj" fmla="val 2142"/>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6291072" y="1572768"/>
            <a:ext cx="2194560" cy="228600"/>
          </a:xfrm>
          <a:prstGeom prst="rect">
            <a:avLst/>
          </a:prstGeom>
          <a:noFill/>
        </p:spPr>
        <p:txBody>
          <a:bodyPr wrap="square" lIns="0" rIns="0" tIns="0" bIns="0" anchor="t">
            <a:spAutoFit/>
          </a:bodyPr>
          <a:lstStyle/>
          <a:p>
            <a:pPr algn="l"/>
            <a:r>
              <a:rPr sz="900" b="1">
                <a:solidFill>
                  <a:srgbClr val="FF6200"/>
                </a:solidFill>
                <a:latin typeface="Ember Modern Display Standard"/>
              </a:rPr>
              <a:t>WHY WE STARTED HERE</a:t>
            </a:r>
          </a:p>
        </p:txBody>
      </p:sp>
      <p:sp>
        <p:nvSpPr>
          <p:cNvPr id="287" name="TextBox 286"/>
          <p:cNvSpPr txBox="1"/>
          <p:nvPr/>
        </p:nvSpPr>
        <p:spPr>
          <a:xfrm>
            <a:off x="6291072" y="1874519"/>
            <a:ext cx="2194560" cy="1188720"/>
          </a:xfrm>
          <a:prstGeom prst="rect">
            <a:avLst/>
          </a:prstGeom>
          <a:noFill/>
        </p:spPr>
        <p:txBody>
          <a:bodyPr wrap="square" lIns="0" rIns="0" tIns="0" bIns="0" anchor="t">
            <a:spAutoFit/>
          </a:bodyPr>
          <a:lstStyle/>
          <a:p>
            <a:pPr algn="l"/>
            <a:r>
              <a:rPr sz="1600" b="1">
                <a:solidFill>
                  <a:srgbClr val="FFFFFF"/>
                </a:solidFill>
                <a:latin typeface="Ember Modern Display Standard"/>
              </a:rPr>
              <a:t>If we don't understand the data, the model is only guessing.</a:t>
            </a:r>
          </a:p>
        </p:txBody>
      </p:sp>
      <p:sp>
        <p:nvSpPr>
          <p:cNvPr id="288" name="TextBox 287"/>
          <p:cNvSpPr txBox="1"/>
          <p:nvPr/>
        </p:nvSpPr>
        <p:spPr>
          <a:xfrm>
            <a:off x="6291072" y="3246120"/>
            <a:ext cx="2194560" cy="914400"/>
          </a:xfrm>
          <a:prstGeom prst="rect">
            <a:avLst/>
          </a:prstGeom>
          <a:noFill/>
        </p:spPr>
        <p:txBody>
          <a:bodyPr wrap="square" lIns="0" rIns="0" tIns="0" bIns="0" anchor="t">
            <a:spAutoFit/>
          </a:bodyPr>
          <a:lstStyle/>
          <a:p>
            <a:pPr algn="l"/>
            <a:r>
              <a:rPr sz="1250" b="1">
                <a:solidFill>
                  <a:srgbClr val="FF6200"/>
                </a:solidFill>
                <a:latin typeface="Ember Modern Display Standard"/>
              </a:rPr>
              <a:t>24.2M</a:t>
            </a:r>
            <a:r>
              <a:rPr sz="1250" b="0">
                <a:solidFill>
                  <a:srgbClr val="FFFFFF"/>
                </a:solidFill>
                <a:latin typeface="Ember Modern Display Standard"/>
              </a:rPr>
              <a:t> records</a:t>
            </a:r>
          </a:p>
          <a:p>
            <a:pPr algn="l">
              <a:spcBef>
                <a:spcPts val="400"/>
              </a:spcBef>
            </a:pPr>
            <a:r>
              <a:rPr sz="1250" b="1">
                <a:solidFill>
                  <a:srgbClr val="FF6200"/>
                </a:solidFill>
                <a:latin typeface="Ember Modern Display Standard"/>
              </a:rPr>
              <a:t>3</a:t>
            </a:r>
            <a:r>
              <a:rPr sz="1250" b="0">
                <a:solidFill>
                  <a:srgbClr val="FFFFFF"/>
                </a:solidFill>
                <a:latin typeface="Ember Modern Display Standard"/>
              </a:rPr>
              <a:t> sources</a:t>
            </a:r>
          </a:p>
          <a:p>
            <a:pPr algn="l">
              <a:spcBef>
                <a:spcPts val="400"/>
              </a:spcBef>
            </a:pPr>
            <a:r>
              <a:rPr sz="1250" b="1">
                <a:solidFill>
                  <a:srgbClr val="FF6200"/>
                </a:solidFill>
                <a:latin typeface="Ember Modern Display Standard"/>
              </a:rPr>
              <a:t>3</a:t>
            </a:r>
            <a:r>
              <a:rPr sz="1250" b="0">
                <a:solidFill>
                  <a:srgbClr val="FFFFFF"/>
                </a:solidFill>
                <a:latin typeface="Ember Modern Display Standard"/>
              </a:rPr>
              <a:t> countries, one unseen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Two</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Principles</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The metric and the data shaped every choice after this.</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486400" cy="201168"/>
          </a:xfrm>
          <a:prstGeom prst="rect">
            <a:avLst/>
          </a:prstGeom>
          <a:noFill/>
        </p:spPr>
        <p:txBody>
          <a:bodyPr wrap="square" lIns="0" rIns="0" tIns="0" bIns="0" anchor="t">
            <a:spAutoFit/>
          </a:bodyPr>
          <a:lstStyle/>
          <a:p>
            <a:pPr algn="l"/>
            <a:r>
              <a:rPr sz="850" b="0">
                <a:solidFill>
                  <a:srgbClr val="6B7280"/>
                </a:solidFill>
                <a:latin typeface="Ember Modern Display Standard"/>
              </a:rPr>
              <a:t>Data</a:t>
            </a:r>
            <a:r>
              <a:rPr sz="850" b="0">
                <a:solidFill>
                  <a:srgbClr val="B8C0CC"/>
                </a:solidFill>
                <a:latin typeface="Ember Modern Display Standard"/>
              </a:rPr>
              <a:t>   ·   </a:t>
            </a:r>
            <a:r>
              <a:rPr sz="850" b="1">
                <a:solidFill>
                  <a:srgbClr val="FF6200"/>
                </a:solidFill>
                <a:latin typeface="Ember Modern Display Standard"/>
              </a:rPr>
              <a:t>Principles</a:t>
            </a:r>
            <a:r>
              <a:rPr sz="850" b="0">
                <a:solidFill>
                  <a:srgbClr val="B8C0CC"/>
                </a:solidFill>
                <a:latin typeface="Ember Modern Display Standard"/>
              </a:rPr>
              <a:t>   ·   </a:t>
            </a:r>
            <a:r>
              <a:rPr sz="850" b="0">
                <a:solidFill>
                  <a:srgbClr val="6B7280"/>
                </a:solidFill>
                <a:latin typeface="Ember Modern Display Standard"/>
              </a:rPr>
              <a:t>Blocking</a:t>
            </a:r>
            <a:r>
              <a:rPr sz="850" b="0">
                <a:solidFill>
                  <a:srgbClr val="B8C0CC"/>
                </a:solidFill>
                <a:latin typeface="Ember Modern Display Standard"/>
              </a:rPr>
              <a:t>   ·   </a:t>
            </a:r>
            <a:r>
              <a:rPr sz="850" b="0">
                <a:solidFill>
                  <a:srgbClr val="6B7280"/>
                </a:solidFill>
                <a:latin typeface="Ember Modern Display Standard"/>
              </a:rPr>
              <a:t>Pipeline</a:t>
            </a:r>
            <a:r>
              <a:rPr sz="850" b="0">
                <a:solidFill>
                  <a:srgbClr val="B8C0CC"/>
                </a:solidFill>
                <a:latin typeface="Ember Modern Display Standard"/>
              </a:rPr>
              <a:t>   ·   </a:t>
            </a:r>
            <a:r>
              <a:rPr sz="850" b="0">
                <a:solidFill>
                  <a:srgbClr val="6B7280"/>
                </a:solidFill>
                <a:latin typeface="Ember Modern Display Standard"/>
              </a:rPr>
              <a:t>Leaderboard</a:t>
            </a:r>
            <a:r>
              <a:rPr sz="850" b="0">
                <a:solidFill>
                  <a:srgbClr val="B8C0CC"/>
                </a:solidFill>
                <a:latin typeface="Ember Modern Display Standard"/>
              </a:rPr>
              <a:t>   ·   </a:t>
            </a:r>
            <a:r>
              <a:rPr sz="850" b="0">
                <a:solidFill>
                  <a:srgbClr val="6B7280"/>
                </a:solidFill>
                <a:latin typeface="Ember Modern Display Standard"/>
              </a:rPr>
              <a:t>France</a:t>
            </a:r>
            <a:r>
              <a:rPr sz="850" b="0">
                <a:solidFill>
                  <a:srgbClr val="B8C0CC"/>
                </a:solidFill>
                <a:latin typeface="Ember Modern Display Standard"/>
              </a:rPr>
              <a:t>   ·   </a:t>
            </a:r>
            <a:r>
              <a:rPr sz="850" b="0">
                <a:solidFill>
                  <a:srgbClr val="6B7280"/>
                </a:solidFill>
                <a:latin typeface="Ember Modern Display Standard"/>
              </a:rPr>
              <a:t>Team</a:t>
            </a:r>
            <a:r>
              <a:rPr sz="850" b="0">
                <a:solidFill>
                  <a:srgbClr val="B8C0CC"/>
                </a:solidFill>
                <a:latin typeface="Ember Modern Display Standard"/>
              </a:rPr>
              <a:t>   ·   </a:t>
            </a:r>
            <a:r>
              <a:rPr sz="850" b="0">
                <a:solidFill>
                  <a:srgbClr val="6B7280"/>
                </a:solidFill>
                <a:latin typeface="Ember Modern Display Standard"/>
              </a:rPr>
              <a:t>Results</a:t>
            </a:r>
            <a:r>
              <a:rPr sz="850" b="0">
                <a:solidFill>
                  <a:srgbClr val="B8C0CC"/>
                </a:solidFill>
                <a:latin typeface="Ember Modern Display Standard"/>
              </a:rPr>
              <a:t>   ·   </a:t>
            </a:r>
            <a:r>
              <a:rPr sz="850" b="0">
                <a:solidFill>
                  <a:srgbClr val="6B7280"/>
                </a:solidFill>
                <a:latin typeface="Ember Modern Display Standard"/>
              </a:rPr>
              <a:t>Lessons</a:t>
            </a:r>
          </a:p>
        </p:txBody>
      </p:sp>
      <p:sp>
        <p:nvSpPr>
          <p:cNvPr id="268" name="TextBox 267"/>
          <p:cNvSpPr txBox="1"/>
          <p:nvPr/>
        </p:nvSpPr>
        <p:spPr>
          <a:xfrm>
            <a:off x="5669280" y="4608576"/>
            <a:ext cx="297180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Customer Obsession  ·  Think Big</a:t>
            </a:r>
          </a:p>
        </p:txBody>
      </p:sp>
      <p:sp>
        <p:nvSpPr>
          <p:cNvPr id="269" name="Rounded Rectangle 268"/>
          <p:cNvSpPr/>
          <p:nvPr/>
        </p:nvSpPr>
        <p:spPr>
          <a:xfrm>
            <a:off x="502920" y="1371600"/>
            <a:ext cx="3931920" cy="3008376"/>
          </a:xfrm>
          <a:prstGeom prst="roundRect">
            <a:avLst>
              <a:gd name="adj" fmla="val 1823"/>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Oval 269"/>
          <p:cNvSpPr/>
          <p:nvPr/>
        </p:nvSpPr>
        <p:spPr>
          <a:xfrm>
            <a:off x="731520" y="1572768"/>
            <a:ext cx="384048" cy="384048"/>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731520" y="1572768"/>
            <a:ext cx="384048" cy="384048"/>
          </a:xfrm>
          <a:prstGeom prst="rect">
            <a:avLst/>
          </a:prstGeom>
          <a:noFill/>
        </p:spPr>
        <p:txBody>
          <a:bodyPr wrap="square" lIns="0" rIns="0" tIns="0" bIns="0" anchor="ctr">
            <a:spAutoFit/>
          </a:bodyPr>
          <a:lstStyle/>
          <a:p>
            <a:pPr algn="ctr"/>
            <a:r>
              <a:rPr sz="1500" b="1">
                <a:solidFill>
                  <a:srgbClr val="FFFFFF"/>
                </a:solidFill>
                <a:latin typeface="Ember Modern Display Standard"/>
              </a:rPr>
              <a:t>1</a:t>
            </a:r>
          </a:p>
        </p:txBody>
      </p:sp>
      <p:sp>
        <p:nvSpPr>
          <p:cNvPr id="272" name="TextBox 271"/>
          <p:cNvSpPr txBox="1"/>
          <p:nvPr/>
        </p:nvSpPr>
        <p:spPr>
          <a:xfrm>
            <a:off x="1261872" y="1609344"/>
            <a:ext cx="3017520" cy="365760"/>
          </a:xfrm>
          <a:prstGeom prst="rect">
            <a:avLst/>
          </a:prstGeom>
          <a:noFill/>
        </p:spPr>
        <p:txBody>
          <a:bodyPr wrap="square" lIns="0" rIns="0" tIns="0" bIns="0" anchor="t">
            <a:spAutoFit/>
          </a:bodyPr>
          <a:lstStyle/>
          <a:p>
            <a:pPr algn="l"/>
            <a:r>
              <a:rPr sz="1800" b="1">
                <a:solidFill>
                  <a:srgbClr val="FFFFFF"/>
                </a:solidFill>
                <a:latin typeface="Ember Modern Display Standard"/>
              </a:rPr>
              <a:t>Decide like the metric</a:t>
            </a:r>
          </a:p>
        </p:txBody>
      </p:sp>
      <p:sp>
        <p:nvSpPr>
          <p:cNvPr id="273" name="TextBox 272"/>
          <p:cNvSpPr txBox="1"/>
          <p:nvPr/>
        </p:nvSpPr>
        <p:spPr>
          <a:xfrm>
            <a:off x="731520" y="2240280"/>
            <a:ext cx="3520440" cy="457200"/>
          </a:xfrm>
          <a:prstGeom prst="rect">
            <a:avLst/>
          </a:prstGeom>
          <a:noFill/>
        </p:spPr>
        <p:txBody>
          <a:bodyPr wrap="square" lIns="0" rIns="0" tIns="0" bIns="0" anchor="t">
            <a:spAutoFit/>
          </a:bodyPr>
          <a:lstStyle/>
          <a:p>
            <a:pPr algn="l"/>
            <a:r>
              <a:rPr sz="1900" b="1">
                <a:solidFill>
                  <a:srgbClr val="FF6200"/>
                </a:solidFill>
                <a:latin typeface="Ember Modern Display Standard"/>
              </a:rPr>
              <a:t>1 false merge = 4 missed copies</a:t>
            </a:r>
          </a:p>
        </p:txBody>
      </p:sp>
      <p:sp>
        <p:nvSpPr>
          <p:cNvPr id="274" name="TextBox 273"/>
          <p:cNvSpPr txBox="1"/>
          <p:nvPr/>
        </p:nvSpPr>
        <p:spPr>
          <a:xfrm>
            <a:off x="731520" y="2834640"/>
            <a:ext cx="3520440" cy="1371600"/>
          </a:xfrm>
          <a:prstGeom prst="rect">
            <a:avLst/>
          </a:prstGeom>
          <a:noFill/>
        </p:spPr>
        <p:txBody>
          <a:bodyPr wrap="square" lIns="0" rIns="0" tIns="0" bIns="0" anchor="t">
            <a:spAutoFit/>
          </a:bodyPr>
          <a:lstStyle/>
          <a:p>
            <a:pPr algn="l"/>
            <a:r>
              <a:rPr sz="1250" b="0">
                <a:solidFill>
                  <a:srgbClr val="FFFFFF"/>
                </a:solidFill>
                <a:latin typeface="Ember Modern Display Standard"/>
              </a:rPr>
              <a:t>F0.5 rewards precision, so every entity gets its own best answer.</a:t>
            </a:r>
          </a:p>
          <a:p>
            <a:pPr algn="l">
              <a:spcBef>
                <a:spcPts val="600"/>
              </a:spcBef>
            </a:pPr>
            <a:r>
              <a:rPr sz="1250" b="0">
                <a:solidFill>
                  <a:srgbClr val="FFFFFF"/>
                </a:solidFill>
                <a:latin typeface="Ember Modern Display Standard"/>
              </a:rPr>
              <a:t>An empty answer is often right: 5.6% of entities have no match.</a:t>
            </a:r>
          </a:p>
        </p:txBody>
      </p:sp>
      <p:sp>
        <p:nvSpPr>
          <p:cNvPr id="275" name="Rounded Rectangle 274"/>
          <p:cNvSpPr/>
          <p:nvPr/>
        </p:nvSpPr>
        <p:spPr>
          <a:xfrm>
            <a:off x="4709160" y="1371600"/>
            <a:ext cx="3931920" cy="3008376"/>
          </a:xfrm>
          <a:prstGeom prst="roundRect">
            <a:avLst>
              <a:gd name="adj" fmla="val 1823"/>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Oval 275"/>
          <p:cNvSpPr/>
          <p:nvPr/>
        </p:nvSpPr>
        <p:spPr>
          <a:xfrm>
            <a:off x="4937760" y="1572768"/>
            <a:ext cx="384048" cy="384048"/>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extBox 276"/>
          <p:cNvSpPr txBox="1"/>
          <p:nvPr/>
        </p:nvSpPr>
        <p:spPr>
          <a:xfrm>
            <a:off x="4937760" y="1572768"/>
            <a:ext cx="384048" cy="384048"/>
          </a:xfrm>
          <a:prstGeom prst="rect">
            <a:avLst/>
          </a:prstGeom>
          <a:noFill/>
        </p:spPr>
        <p:txBody>
          <a:bodyPr wrap="square" lIns="0" rIns="0" tIns="0" bIns="0" anchor="ctr">
            <a:spAutoFit/>
          </a:bodyPr>
          <a:lstStyle/>
          <a:p>
            <a:pPr algn="ctr"/>
            <a:r>
              <a:rPr sz="1500" b="1">
                <a:solidFill>
                  <a:srgbClr val="FFFFFF"/>
                </a:solidFill>
                <a:latin typeface="Ember Modern Display Standard"/>
              </a:rPr>
              <a:t>2</a:t>
            </a:r>
          </a:p>
        </p:txBody>
      </p:sp>
      <p:sp>
        <p:nvSpPr>
          <p:cNvPr id="278" name="TextBox 277"/>
          <p:cNvSpPr txBox="1"/>
          <p:nvPr/>
        </p:nvSpPr>
        <p:spPr>
          <a:xfrm>
            <a:off x="5468112" y="1609344"/>
            <a:ext cx="3017520" cy="365760"/>
          </a:xfrm>
          <a:prstGeom prst="rect">
            <a:avLst/>
          </a:prstGeom>
          <a:noFill/>
        </p:spPr>
        <p:txBody>
          <a:bodyPr wrap="square" lIns="0" rIns="0" tIns="0" bIns="0" anchor="t">
            <a:spAutoFit/>
          </a:bodyPr>
          <a:lstStyle/>
          <a:p>
            <a:pPr algn="l"/>
            <a:r>
              <a:rPr sz="1800" b="1">
                <a:solidFill>
                  <a:srgbClr val="161D26"/>
                </a:solidFill>
                <a:latin typeface="Ember Modern Display Standard"/>
              </a:rPr>
              <a:t>Compute where it's unsure</a:t>
            </a:r>
          </a:p>
        </p:txBody>
      </p:sp>
      <p:sp>
        <p:nvSpPr>
          <p:cNvPr id="279" name="TextBox 278"/>
          <p:cNvSpPr txBox="1"/>
          <p:nvPr/>
        </p:nvSpPr>
        <p:spPr>
          <a:xfrm>
            <a:off x="4937760" y="2176272"/>
            <a:ext cx="1371600" cy="548640"/>
          </a:xfrm>
          <a:prstGeom prst="rect">
            <a:avLst/>
          </a:prstGeom>
          <a:noFill/>
        </p:spPr>
        <p:txBody>
          <a:bodyPr wrap="square" lIns="0" rIns="0" tIns="0" bIns="0" anchor="t">
            <a:spAutoFit/>
          </a:bodyPr>
          <a:lstStyle/>
          <a:p>
            <a:pPr algn="l"/>
            <a:r>
              <a:rPr sz="3000" b="1">
                <a:solidFill>
                  <a:srgbClr val="FF6200"/>
                </a:solidFill>
                <a:latin typeface="Ember Modern Display Standard"/>
              </a:rPr>
              <a:t>2.6%</a:t>
            </a:r>
          </a:p>
        </p:txBody>
      </p:sp>
      <p:sp>
        <p:nvSpPr>
          <p:cNvPr id="280" name="TextBox 279"/>
          <p:cNvSpPr txBox="1"/>
          <p:nvPr/>
        </p:nvSpPr>
        <p:spPr>
          <a:xfrm>
            <a:off x="6309360" y="2258568"/>
            <a:ext cx="2103120" cy="457200"/>
          </a:xfrm>
          <a:prstGeom prst="rect">
            <a:avLst/>
          </a:prstGeom>
          <a:noFill/>
        </p:spPr>
        <p:txBody>
          <a:bodyPr wrap="square" lIns="0" rIns="0" tIns="0" bIns="0" anchor="t">
            <a:spAutoFit/>
          </a:bodyPr>
          <a:lstStyle/>
          <a:p>
            <a:pPr algn="l"/>
            <a:r>
              <a:rPr sz="1250" b="1">
                <a:solidFill>
                  <a:srgbClr val="161D26"/>
                </a:solidFill>
                <a:latin typeface="Ember Modern Display Standard"/>
              </a:rPr>
              <a:t>of pairs ever reach a transformer model</a:t>
            </a:r>
          </a:p>
        </p:txBody>
      </p:sp>
      <p:sp>
        <p:nvSpPr>
          <p:cNvPr id="281" name="TextBox 280"/>
          <p:cNvSpPr txBox="1"/>
          <p:nvPr/>
        </p:nvSpPr>
        <p:spPr>
          <a:xfrm>
            <a:off x="4937760" y="2834640"/>
            <a:ext cx="3520440" cy="1371600"/>
          </a:xfrm>
          <a:prstGeom prst="rect">
            <a:avLst/>
          </a:prstGeom>
          <a:noFill/>
        </p:spPr>
        <p:txBody>
          <a:bodyPr wrap="square" lIns="0" rIns="0" tIns="0" bIns="0" anchor="t">
            <a:spAutoFit/>
          </a:bodyPr>
          <a:lstStyle/>
          <a:p>
            <a:pPr algn="l"/>
            <a:r>
              <a:rPr sz="1250" b="0">
                <a:solidFill>
                  <a:srgbClr val="161D26"/>
                </a:solidFill>
                <a:latin typeface="Ember Modern Display Standard"/>
              </a:rPr>
              <a:t>A cheap model reads every pair.</a:t>
            </a:r>
          </a:p>
          <a:p>
            <a:pPr algn="l">
              <a:spcBef>
                <a:spcPts val="600"/>
              </a:spcBef>
            </a:pPr>
            <a:r>
              <a:rPr sz="1250" b="0">
                <a:solidFill>
                  <a:srgbClr val="161D26"/>
                </a:solidFill>
                <a:latin typeface="Ember Modern Display Standard"/>
              </a:rPr>
              <a:t>Big models read only the pairs it is unsure about.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Smart</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Blocking</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From every possible pair to 3.7 candidates per entity, keeping 98.4% of true matches.</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486400" cy="201168"/>
          </a:xfrm>
          <a:prstGeom prst="rect">
            <a:avLst/>
          </a:prstGeom>
          <a:noFill/>
        </p:spPr>
        <p:txBody>
          <a:bodyPr wrap="square" lIns="0" rIns="0" tIns="0" bIns="0" anchor="t">
            <a:spAutoFit/>
          </a:bodyPr>
          <a:lstStyle/>
          <a:p>
            <a:pPr algn="l"/>
            <a:r>
              <a:rPr sz="850" b="0">
                <a:solidFill>
                  <a:srgbClr val="6B7280"/>
                </a:solidFill>
                <a:latin typeface="Ember Modern Display Standard"/>
              </a:rPr>
              <a:t>Data</a:t>
            </a:r>
            <a:r>
              <a:rPr sz="850" b="0">
                <a:solidFill>
                  <a:srgbClr val="B8C0CC"/>
                </a:solidFill>
                <a:latin typeface="Ember Modern Display Standard"/>
              </a:rPr>
              <a:t>   ·   </a:t>
            </a:r>
            <a:r>
              <a:rPr sz="850" b="0">
                <a:solidFill>
                  <a:srgbClr val="6B7280"/>
                </a:solidFill>
                <a:latin typeface="Ember Modern Display Standard"/>
              </a:rPr>
              <a:t>Principles</a:t>
            </a:r>
            <a:r>
              <a:rPr sz="850" b="0">
                <a:solidFill>
                  <a:srgbClr val="B8C0CC"/>
                </a:solidFill>
                <a:latin typeface="Ember Modern Display Standard"/>
              </a:rPr>
              <a:t>   ·   </a:t>
            </a:r>
            <a:r>
              <a:rPr sz="850" b="1">
                <a:solidFill>
                  <a:srgbClr val="FF6200"/>
                </a:solidFill>
                <a:latin typeface="Ember Modern Display Standard"/>
              </a:rPr>
              <a:t>Blocking</a:t>
            </a:r>
            <a:r>
              <a:rPr sz="850" b="0">
                <a:solidFill>
                  <a:srgbClr val="B8C0CC"/>
                </a:solidFill>
                <a:latin typeface="Ember Modern Display Standard"/>
              </a:rPr>
              <a:t>   ·   </a:t>
            </a:r>
            <a:r>
              <a:rPr sz="850" b="0">
                <a:solidFill>
                  <a:srgbClr val="6B7280"/>
                </a:solidFill>
                <a:latin typeface="Ember Modern Display Standard"/>
              </a:rPr>
              <a:t>Pipeline</a:t>
            </a:r>
            <a:r>
              <a:rPr sz="850" b="0">
                <a:solidFill>
                  <a:srgbClr val="B8C0CC"/>
                </a:solidFill>
                <a:latin typeface="Ember Modern Display Standard"/>
              </a:rPr>
              <a:t>   ·   </a:t>
            </a:r>
            <a:r>
              <a:rPr sz="850" b="0">
                <a:solidFill>
                  <a:srgbClr val="6B7280"/>
                </a:solidFill>
                <a:latin typeface="Ember Modern Display Standard"/>
              </a:rPr>
              <a:t>Leaderboard</a:t>
            </a:r>
            <a:r>
              <a:rPr sz="850" b="0">
                <a:solidFill>
                  <a:srgbClr val="B8C0CC"/>
                </a:solidFill>
                <a:latin typeface="Ember Modern Display Standard"/>
              </a:rPr>
              <a:t>   ·   </a:t>
            </a:r>
            <a:r>
              <a:rPr sz="850" b="0">
                <a:solidFill>
                  <a:srgbClr val="6B7280"/>
                </a:solidFill>
                <a:latin typeface="Ember Modern Display Standard"/>
              </a:rPr>
              <a:t>France</a:t>
            </a:r>
            <a:r>
              <a:rPr sz="850" b="0">
                <a:solidFill>
                  <a:srgbClr val="B8C0CC"/>
                </a:solidFill>
                <a:latin typeface="Ember Modern Display Standard"/>
              </a:rPr>
              <a:t>   ·   </a:t>
            </a:r>
            <a:r>
              <a:rPr sz="850" b="0">
                <a:solidFill>
                  <a:srgbClr val="6B7280"/>
                </a:solidFill>
                <a:latin typeface="Ember Modern Display Standard"/>
              </a:rPr>
              <a:t>Team</a:t>
            </a:r>
            <a:r>
              <a:rPr sz="850" b="0">
                <a:solidFill>
                  <a:srgbClr val="B8C0CC"/>
                </a:solidFill>
                <a:latin typeface="Ember Modern Display Standard"/>
              </a:rPr>
              <a:t>   ·   </a:t>
            </a:r>
            <a:r>
              <a:rPr sz="850" b="0">
                <a:solidFill>
                  <a:srgbClr val="6B7280"/>
                </a:solidFill>
                <a:latin typeface="Ember Modern Display Standard"/>
              </a:rPr>
              <a:t>Results</a:t>
            </a:r>
            <a:r>
              <a:rPr sz="850" b="0">
                <a:solidFill>
                  <a:srgbClr val="B8C0CC"/>
                </a:solidFill>
                <a:latin typeface="Ember Modern Display Standard"/>
              </a:rPr>
              <a:t>   ·   </a:t>
            </a:r>
            <a:r>
              <a:rPr sz="850" b="0">
                <a:solidFill>
                  <a:srgbClr val="6B7280"/>
                </a:solidFill>
                <a:latin typeface="Ember Modern Display Standard"/>
              </a:rPr>
              <a:t>Lessons</a:t>
            </a:r>
          </a:p>
        </p:txBody>
      </p:sp>
      <p:sp>
        <p:nvSpPr>
          <p:cNvPr id="268" name="TextBox 267"/>
          <p:cNvSpPr txBox="1"/>
          <p:nvPr/>
        </p:nvSpPr>
        <p:spPr>
          <a:xfrm>
            <a:off x="5669280" y="4608576"/>
            <a:ext cx="297180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Invent and Simplify</a:t>
            </a:r>
          </a:p>
        </p:txBody>
      </p:sp>
      <p:sp>
        <p:nvSpPr>
          <p:cNvPr id="269" name="Rounded Rectangle 268"/>
          <p:cNvSpPr/>
          <p:nvPr/>
        </p:nvSpPr>
        <p:spPr>
          <a:xfrm>
            <a:off x="502920" y="1371600"/>
            <a:ext cx="2331720" cy="2240280"/>
          </a:xfrm>
          <a:prstGeom prst="roundRect">
            <a:avLst>
              <a:gd name="adj" fmla="val 2448"/>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704088" y="1554480"/>
            <a:ext cx="1965960" cy="274320"/>
          </a:xfrm>
          <a:prstGeom prst="rect">
            <a:avLst/>
          </a:prstGeom>
          <a:noFill/>
        </p:spPr>
        <p:txBody>
          <a:bodyPr wrap="square" lIns="0" rIns="0" tIns="0" bIns="0" anchor="t">
            <a:spAutoFit/>
          </a:bodyPr>
          <a:lstStyle/>
          <a:p>
            <a:pPr algn="l"/>
            <a:r>
              <a:rPr sz="1250" b="1">
                <a:solidFill>
                  <a:srgbClr val="6B7280"/>
                </a:solidFill>
                <a:latin typeface="Ember Modern Display Standard"/>
              </a:rPr>
              <a:t>Every possible pair</a:t>
            </a:r>
          </a:p>
        </p:txBody>
      </p:sp>
      <p:sp>
        <p:nvSpPr>
          <p:cNvPr id="271" name="TextBox 270"/>
          <p:cNvSpPr txBox="1"/>
          <p:nvPr/>
        </p:nvSpPr>
        <p:spPr>
          <a:xfrm>
            <a:off x="704088" y="1874519"/>
            <a:ext cx="1965960" cy="548640"/>
          </a:xfrm>
          <a:prstGeom prst="rect">
            <a:avLst/>
          </a:prstGeom>
          <a:noFill/>
        </p:spPr>
        <p:txBody>
          <a:bodyPr wrap="square" lIns="0" rIns="0" tIns="0" bIns="0" anchor="t">
            <a:spAutoFit/>
          </a:bodyPr>
          <a:lstStyle/>
          <a:p>
            <a:pPr algn="l"/>
            <a:r>
              <a:rPr sz="2600" b="1">
                <a:solidFill>
                  <a:srgbClr val="161D26"/>
                </a:solidFill>
                <a:latin typeface="Ember Modern Display Standard"/>
              </a:rPr>
              <a:t>17 trillion</a:t>
            </a:r>
          </a:p>
        </p:txBody>
      </p:sp>
      <p:sp>
        <p:nvSpPr>
          <p:cNvPr id="272" name="TextBox 271"/>
          <p:cNvSpPr txBox="1"/>
          <p:nvPr/>
        </p:nvSpPr>
        <p:spPr>
          <a:xfrm>
            <a:off x="704088" y="3227832"/>
            <a:ext cx="1965960" cy="274320"/>
          </a:xfrm>
          <a:prstGeom prst="rect">
            <a:avLst/>
          </a:prstGeom>
          <a:noFill/>
        </p:spPr>
        <p:txBody>
          <a:bodyPr wrap="square" lIns="0" rIns="0" tIns="0" bIns="0" anchor="t">
            <a:spAutoFit/>
          </a:bodyPr>
          <a:lstStyle/>
          <a:p>
            <a:pPr algn="l"/>
            <a:r>
              <a:rPr sz="1050" b="0">
                <a:solidFill>
                  <a:srgbClr val="161D26"/>
                </a:solidFill>
                <a:latin typeface="Ember Modern Display Standard"/>
              </a:rPr>
              <a:t>1.7M entities × 10M records</a:t>
            </a:r>
          </a:p>
        </p:txBody>
      </p:sp>
      <p:sp>
        <p:nvSpPr>
          <p:cNvPr id="273" name="Rounded Rectangle 272"/>
          <p:cNvSpPr/>
          <p:nvPr/>
        </p:nvSpPr>
        <p:spPr>
          <a:xfrm>
            <a:off x="3200400" y="1600200"/>
            <a:ext cx="2331720" cy="1783080"/>
          </a:xfrm>
          <a:prstGeom prst="roundRect">
            <a:avLst>
              <a:gd name="adj" fmla="val 3076"/>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extBox 273"/>
          <p:cNvSpPr txBox="1"/>
          <p:nvPr/>
        </p:nvSpPr>
        <p:spPr>
          <a:xfrm>
            <a:off x="3401568" y="1783080"/>
            <a:ext cx="1965960" cy="274320"/>
          </a:xfrm>
          <a:prstGeom prst="rect">
            <a:avLst/>
          </a:prstGeom>
          <a:noFill/>
        </p:spPr>
        <p:txBody>
          <a:bodyPr wrap="square" lIns="0" rIns="0" tIns="0" bIns="0" anchor="t">
            <a:spAutoFit/>
          </a:bodyPr>
          <a:lstStyle/>
          <a:p>
            <a:pPr algn="l"/>
            <a:r>
              <a:rPr sz="1250" b="1">
                <a:solidFill>
                  <a:srgbClr val="6B7280"/>
                </a:solidFill>
                <a:latin typeface="Ember Modern Display Standard"/>
              </a:rPr>
              <a:t>Retrieval</a:t>
            </a:r>
          </a:p>
        </p:txBody>
      </p:sp>
      <p:sp>
        <p:nvSpPr>
          <p:cNvPr id="275" name="TextBox 274"/>
          <p:cNvSpPr txBox="1"/>
          <p:nvPr/>
        </p:nvSpPr>
        <p:spPr>
          <a:xfrm>
            <a:off x="3401568" y="2103120"/>
            <a:ext cx="1965960" cy="548640"/>
          </a:xfrm>
          <a:prstGeom prst="rect">
            <a:avLst/>
          </a:prstGeom>
          <a:noFill/>
        </p:spPr>
        <p:txBody>
          <a:bodyPr wrap="square" lIns="0" rIns="0" tIns="0" bIns="0" anchor="t">
            <a:spAutoFit/>
          </a:bodyPr>
          <a:lstStyle/>
          <a:p>
            <a:pPr algn="l"/>
            <a:r>
              <a:rPr sz="2600" b="1">
                <a:solidFill>
                  <a:srgbClr val="161D26"/>
                </a:solidFill>
                <a:latin typeface="Ember Modern Display Standard"/>
              </a:rPr>
              <a:t>58.4M</a:t>
            </a:r>
          </a:p>
        </p:txBody>
      </p:sp>
      <p:sp>
        <p:nvSpPr>
          <p:cNvPr id="276" name="TextBox 275"/>
          <p:cNvSpPr txBox="1"/>
          <p:nvPr/>
        </p:nvSpPr>
        <p:spPr>
          <a:xfrm>
            <a:off x="3401568" y="2999232"/>
            <a:ext cx="1965960" cy="274320"/>
          </a:xfrm>
          <a:prstGeom prst="rect">
            <a:avLst/>
          </a:prstGeom>
          <a:noFill/>
        </p:spPr>
        <p:txBody>
          <a:bodyPr wrap="square" lIns="0" rIns="0" tIns="0" bIns="0" anchor="t">
            <a:spAutoFit/>
          </a:bodyPr>
          <a:lstStyle/>
          <a:p>
            <a:pPr algn="l"/>
            <a:r>
              <a:rPr sz="1050" b="0">
                <a:solidFill>
                  <a:srgbClr val="161D26"/>
                </a:solidFill>
                <a:latin typeface="Ember Modern Display Standard"/>
              </a:rPr>
              <a:t>34 per entity · 99.1% of true matches</a:t>
            </a:r>
          </a:p>
        </p:txBody>
      </p:sp>
      <p:sp>
        <p:nvSpPr>
          <p:cNvPr id="277" name="Rounded Rectangle 276"/>
          <p:cNvSpPr/>
          <p:nvPr/>
        </p:nvSpPr>
        <p:spPr>
          <a:xfrm>
            <a:off x="5897880" y="1709928"/>
            <a:ext cx="2743200" cy="1563624"/>
          </a:xfrm>
          <a:prstGeom prst="roundRect">
            <a:avLst>
              <a:gd name="adj" fmla="val 3508"/>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099048" y="1892808"/>
            <a:ext cx="2377440" cy="274320"/>
          </a:xfrm>
          <a:prstGeom prst="rect">
            <a:avLst/>
          </a:prstGeom>
          <a:noFill/>
        </p:spPr>
        <p:txBody>
          <a:bodyPr wrap="square" lIns="0" rIns="0" tIns="0" bIns="0" anchor="t">
            <a:spAutoFit/>
          </a:bodyPr>
          <a:lstStyle/>
          <a:p>
            <a:pPr algn="l"/>
            <a:r>
              <a:rPr sz="1250" b="1">
                <a:solidFill>
                  <a:srgbClr val="FFFFFF"/>
                </a:solidFill>
                <a:latin typeface="Ember Modern Display Standard"/>
              </a:rPr>
              <a:t>Learned cut</a:t>
            </a:r>
          </a:p>
        </p:txBody>
      </p:sp>
      <p:sp>
        <p:nvSpPr>
          <p:cNvPr id="279" name="TextBox 278"/>
          <p:cNvSpPr txBox="1"/>
          <p:nvPr/>
        </p:nvSpPr>
        <p:spPr>
          <a:xfrm>
            <a:off x="6099048" y="2889504"/>
            <a:ext cx="2377440" cy="274320"/>
          </a:xfrm>
          <a:prstGeom prst="rect">
            <a:avLst/>
          </a:prstGeom>
          <a:noFill/>
        </p:spPr>
        <p:txBody>
          <a:bodyPr wrap="square" lIns="0" rIns="0" tIns="0" bIns="0" anchor="t">
            <a:spAutoFit/>
          </a:bodyPr>
          <a:lstStyle/>
          <a:p>
            <a:pPr algn="l"/>
            <a:r>
              <a:rPr sz="1050" b="0">
                <a:solidFill>
                  <a:srgbClr val="FFFFFF"/>
                </a:solidFill>
                <a:latin typeface="Ember Modern Display Standard"/>
              </a:rPr>
              <a:t>6.4M pairs · 98.4% of true matches</a:t>
            </a:r>
          </a:p>
        </p:txBody>
      </p:sp>
      <p:sp>
        <p:nvSpPr>
          <p:cNvPr id="280" name="TextBox 279"/>
          <p:cNvSpPr txBox="1"/>
          <p:nvPr/>
        </p:nvSpPr>
        <p:spPr>
          <a:xfrm>
            <a:off x="6099048" y="2103120"/>
            <a:ext cx="2377440" cy="548640"/>
          </a:xfrm>
          <a:prstGeom prst="rect">
            <a:avLst/>
          </a:prstGeom>
          <a:noFill/>
        </p:spPr>
        <p:txBody>
          <a:bodyPr wrap="square" lIns="0" rIns="0" tIns="0" bIns="0" anchor="t">
            <a:spAutoFit/>
          </a:bodyPr>
          <a:lstStyle/>
          <a:p>
            <a:pPr algn="l"/>
            <a:r>
              <a:rPr sz="3200" b="1">
                <a:solidFill>
                  <a:srgbClr val="FF6200"/>
                </a:solidFill>
                <a:latin typeface="Ember Modern Display Standard"/>
              </a:rPr>
              <a:t>3.7</a:t>
            </a:r>
            <a:r>
              <a:rPr sz="1300" b="1">
                <a:solidFill>
                  <a:srgbClr val="FFFFFF"/>
                </a:solidFill>
                <a:latin typeface="Ember Modern Display Standard"/>
              </a:rPr>
              <a:t>  per entity</a:t>
            </a:r>
          </a:p>
        </p:txBody>
      </p:sp>
      <p:sp>
        <p:nvSpPr>
          <p:cNvPr id="281" name="Chevron 280"/>
          <p:cNvSpPr/>
          <p:nvPr/>
        </p:nvSpPr>
        <p:spPr>
          <a:xfrm>
            <a:off x="2916936" y="2404872"/>
            <a:ext cx="182880" cy="182880"/>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Chevron 281"/>
          <p:cNvSpPr/>
          <p:nvPr/>
        </p:nvSpPr>
        <p:spPr>
          <a:xfrm>
            <a:off x="5614416" y="2404872"/>
            <a:ext cx="182880" cy="182880"/>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502920" y="3858768"/>
            <a:ext cx="1234440" cy="384048"/>
          </a:xfrm>
          <a:prstGeom prst="roundRect">
            <a:avLst>
              <a:gd name="adj" fmla="val 50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extBox 283"/>
          <p:cNvSpPr txBox="1"/>
          <p:nvPr/>
        </p:nvSpPr>
        <p:spPr>
          <a:xfrm>
            <a:off x="502920" y="3858768"/>
            <a:ext cx="1234440" cy="384048"/>
          </a:xfrm>
          <a:prstGeom prst="rect">
            <a:avLst/>
          </a:prstGeom>
          <a:noFill/>
        </p:spPr>
        <p:txBody>
          <a:bodyPr wrap="square" lIns="0" rIns="0" tIns="0" bIns="0" anchor="ctr">
            <a:spAutoFit/>
          </a:bodyPr>
          <a:lstStyle/>
          <a:p>
            <a:pPr algn="ctr"/>
            <a:r>
              <a:rPr sz="1050" b="0">
                <a:solidFill>
                  <a:srgbClr val="161D26"/>
                </a:solidFill>
                <a:latin typeface="Ember Modern Display Standard"/>
              </a:rPr>
              <a:t>Per country</a:t>
            </a:r>
          </a:p>
        </p:txBody>
      </p:sp>
      <p:sp>
        <p:nvSpPr>
          <p:cNvPr id="285" name="Rounded Rectangle 284"/>
          <p:cNvSpPr/>
          <p:nvPr/>
        </p:nvSpPr>
        <p:spPr>
          <a:xfrm>
            <a:off x="1828800" y="3858768"/>
            <a:ext cx="1463040" cy="384048"/>
          </a:xfrm>
          <a:prstGeom prst="roundRect">
            <a:avLst>
              <a:gd name="adj" fmla="val 50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1828800" y="3858768"/>
            <a:ext cx="1463040" cy="384048"/>
          </a:xfrm>
          <a:prstGeom prst="rect">
            <a:avLst/>
          </a:prstGeom>
          <a:noFill/>
        </p:spPr>
        <p:txBody>
          <a:bodyPr wrap="square" lIns="0" rIns="0" tIns="0" bIns="0" anchor="ctr">
            <a:spAutoFit/>
          </a:bodyPr>
          <a:lstStyle/>
          <a:p>
            <a:pPr algn="ctr"/>
            <a:r>
              <a:rPr sz="1050" b="0">
                <a:solidFill>
                  <a:srgbClr val="161D26"/>
                </a:solidFill>
                <a:latin typeface="Ember Modern Display Standard"/>
              </a:rPr>
              <a:t>Name + address</a:t>
            </a:r>
          </a:p>
        </p:txBody>
      </p:sp>
      <p:sp>
        <p:nvSpPr>
          <p:cNvPr id="287" name="Rounded Rectangle 286"/>
          <p:cNvSpPr/>
          <p:nvPr/>
        </p:nvSpPr>
        <p:spPr>
          <a:xfrm>
            <a:off x="3383280" y="3858768"/>
            <a:ext cx="2514600" cy="384048"/>
          </a:xfrm>
          <a:prstGeom prst="roundRect">
            <a:avLst>
              <a:gd name="adj" fmla="val 50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3383280" y="3858768"/>
            <a:ext cx="2514600" cy="384048"/>
          </a:xfrm>
          <a:prstGeom prst="rect">
            <a:avLst/>
          </a:prstGeom>
          <a:noFill/>
        </p:spPr>
        <p:txBody>
          <a:bodyPr wrap="square" lIns="0" rIns="0" tIns="0" bIns="0" anchor="ctr">
            <a:spAutoFit/>
          </a:bodyPr>
          <a:lstStyle/>
          <a:p>
            <a:pPr algn="ctr"/>
            <a:r>
              <a:rPr sz="1050" b="0">
                <a:solidFill>
                  <a:srgbClr val="161D26"/>
                </a:solidFill>
                <a:latin typeface="Ember Modern Display Standard"/>
              </a:rPr>
              <a:t>Name only, when the address is empty</a:t>
            </a:r>
          </a:p>
        </p:txBody>
      </p:sp>
      <p:sp>
        <p:nvSpPr>
          <p:cNvPr id="289" name="Rounded Rectangle 288"/>
          <p:cNvSpPr/>
          <p:nvPr/>
        </p:nvSpPr>
        <p:spPr>
          <a:xfrm>
            <a:off x="5989320" y="3858768"/>
            <a:ext cx="2651760" cy="384048"/>
          </a:xfrm>
          <a:prstGeom prst="roundRect">
            <a:avLst>
              <a:gd name="adj" fmla="val 50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extBox 289"/>
          <p:cNvSpPr txBox="1"/>
          <p:nvPr/>
        </p:nvSpPr>
        <p:spPr>
          <a:xfrm>
            <a:off x="5989320" y="3858768"/>
            <a:ext cx="2651760" cy="384048"/>
          </a:xfrm>
          <a:prstGeom prst="rect">
            <a:avLst/>
          </a:prstGeom>
          <a:noFill/>
        </p:spPr>
        <p:txBody>
          <a:bodyPr wrap="square" lIns="0" rIns="0" tIns="0" bIns="0" anchor="ctr">
            <a:spAutoFit/>
          </a:bodyPr>
          <a:lstStyle/>
          <a:p>
            <a:pPr algn="ctr"/>
            <a:r>
              <a:rPr sz="1050" b="0">
                <a:solidFill>
                  <a:srgbClr val="161D26"/>
                </a:solidFill>
                <a:latin typeface="Ember Modern Display Standard"/>
              </a:rPr>
              <a:t>Fixes: OCR, web names, Hindi → Latin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The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Pipeline</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Cheap models read everything; expensive models only where they pay off.</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486400" cy="201168"/>
          </a:xfrm>
          <a:prstGeom prst="rect">
            <a:avLst/>
          </a:prstGeom>
          <a:noFill/>
        </p:spPr>
        <p:txBody>
          <a:bodyPr wrap="square" lIns="0" rIns="0" tIns="0" bIns="0" anchor="t">
            <a:spAutoFit/>
          </a:bodyPr>
          <a:lstStyle/>
          <a:p>
            <a:pPr algn="l"/>
            <a:r>
              <a:rPr sz="850" b="0">
                <a:solidFill>
                  <a:srgbClr val="6B7280"/>
                </a:solidFill>
                <a:latin typeface="Ember Modern Display Standard"/>
              </a:rPr>
              <a:t>Data</a:t>
            </a:r>
            <a:r>
              <a:rPr sz="850" b="0">
                <a:solidFill>
                  <a:srgbClr val="B8C0CC"/>
                </a:solidFill>
                <a:latin typeface="Ember Modern Display Standard"/>
              </a:rPr>
              <a:t>   ·   </a:t>
            </a:r>
            <a:r>
              <a:rPr sz="850" b="0">
                <a:solidFill>
                  <a:srgbClr val="6B7280"/>
                </a:solidFill>
                <a:latin typeface="Ember Modern Display Standard"/>
              </a:rPr>
              <a:t>Principles</a:t>
            </a:r>
            <a:r>
              <a:rPr sz="850" b="0">
                <a:solidFill>
                  <a:srgbClr val="B8C0CC"/>
                </a:solidFill>
                <a:latin typeface="Ember Modern Display Standard"/>
              </a:rPr>
              <a:t>   ·   </a:t>
            </a:r>
            <a:r>
              <a:rPr sz="850" b="0">
                <a:solidFill>
                  <a:srgbClr val="6B7280"/>
                </a:solidFill>
                <a:latin typeface="Ember Modern Display Standard"/>
              </a:rPr>
              <a:t>Blocking</a:t>
            </a:r>
            <a:r>
              <a:rPr sz="850" b="0">
                <a:solidFill>
                  <a:srgbClr val="B8C0CC"/>
                </a:solidFill>
                <a:latin typeface="Ember Modern Display Standard"/>
              </a:rPr>
              <a:t>   ·   </a:t>
            </a:r>
            <a:r>
              <a:rPr sz="850" b="1">
                <a:solidFill>
                  <a:srgbClr val="FF6200"/>
                </a:solidFill>
                <a:latin typeface="Ember Modern Display Standard"/>
              </a:rPr>
              <a:t>Pipeline</a:t>
            </a:r>
            <a:r>
              <a:rPr sz="850" b="0">
                <a:solidFill>
                  <a:srgbClr val="B8C0CC"/>
                </a:solidFill>
                <a:latin typeface="Ember Modern Display Standard"/>
              </a:rPr>
              <a:t>   ·   </a:t>
            </a:r>
            <a:r>
              <a:rPr sz="850" b="0">
                <a:solidFill>
                  <a:srgbClr val="6B7280"/>
                </a:solidFill>
                <a:latin typeface="Ember Modern Display Standard"/>
              </a:rPr>
              <a:t>Leaderboard</a:t>
            </a:r>
            <a:r>
              <a:rPr sz="850" b="0">
                <a:solidFill>
                  <a:srgbClr val="B8C0CC"/>
                </a:solidFill>
                <a:latin typeface="Ember Modern Display Standard"/>
              </a:rPr>
              <a:t>   ·   </a:t>
            </a:r>
            <a:r>
              <a:rPr sz="850" b="0">
                <a:solidFill>
                  <a:srgbClr val="6B7280"/>
                </a:solidFill>
                <a:latin typeface="Ember Modern Display Standard"/>
              </a:rPr>
              <a:t>France</a:t>
            </a:r>
            <a:r>
              <a:rPr sz="850" b="0">
                <a:solidFill>
                  <a:srgbClr val="B8C0CC"/>
                </a:solidFill>
                <a:latin typeface="Ember Modern Display Standard"/>
              </a:rPr>
              <a:t>   ·   </a:t>
            </a:r>
            <a:r>
              <a:rPr sz="850" b="0">
                <a:solidFill>
                  <a:srgbClr val="6B7280"/>
                </a:solidFill>
                <a:latin typeface="Ember Modern Display Standard"/>
              </a:rPr>
              <a:t>Team</a:t>
            </a:r>
            <a:r>
              <a:rPr sz="850" b="0">
                <a:solidFill>
                  <a:srgbClr val="B8C0CC"/>
                </a:solidFill>
                <a:latin typeface="Ember Modern Display Standard"/>
              </a:rPr>
              <a:t>   ·   </a:t>
            </a:r>
            <a:r>
              <a:rPr sz="850" b="0">
                <a:solidFill>
                  <a:srgbClr val="6B7280"/>
                </a:solidFill>
                <a:latin typeface="Ember Modern Display Standard"/>
              </a:rPr>
              <a:t>Results</a:t>
            </a:r>
            <a:r>
              <a:rPr sz="850" b="0">
                <a:solidFill>
                  <a:srgbClr val="B8C0CC"/>
                </a:solidFill>
                <a:latin typeface="Ember Modern Display Standard"/>
              </a:rPr>
              <a:t>   ·   </a:t>
            </a:r>
            <a:r>
              <a:rPr sz="850" b="0">
                <a:solidFill>
                  <a:srgbClr val="6B7280"/>
                </a:solidFill>
                <a:latin typeface="Ember Modern Display Standard"/>
              </a:rPr>
              <a:t>Lessons</a:t>
            </a:r>
          </a:p>
        </p:txBody>
      </p:sp>
      <p:sp>
        <p:nvSpPr>
          <p:cNvPr id="268" name="TextBox 267"/>
          <p:cNvSpPr txBox="1"/>
          <p:nvPr/>
        </p:nvSpPr>
        <p:spPr>
          <a:xfrm>
            <a:off x="5669280" y="4608576"/>
            <a:ext cx="297180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Frugality</a:t>
            </a:r>
          </a:p>
        </p:txBody>
      </p:sp>
      <p:sp>
        <p:nvSpPr>
          <p:cNvPr id="269" name="Rounded Rectangle 268"/>
          <p:cNvSpPr/>
          <p:nvPr/>
        </p:nvSpPr>
        <p:spPr>
          <a:xfrm>
            <a:off x="502920" y="1481328"/>
            <a:ext cx="1188720" cy="822960"/>
          </a:xfrm>
          <a:prstGeom prst="roundRect">
            <a:avLst>
              <a:gd name="adj" fmla="val 6666"/>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502920" y="1481328"/>
            <a:ext cx="1188720" cy="822960"/>
          </a:xfrm>
          <a:prstGeom prst="rect">
            <a:avLst/>
          </a:prstGeom>
          <a:noFill/>
        </p:spPr>
        <p:txBody>
          <a:bodyPr wrap="square" lIns="0" rIns="0" tIns="0" bIns="0" anchor="ctr">
            <a:spAutoFit/>
          </a:bodyPr>
          <a:lstStyle/>
          <a:p>
            <a:pPr algn="ctr"/>
            <a:r>
              <a:rPr sz="1450" b="1">
                <a:solidFill>
                  <a:srgbClr val="161D26"/>
                </a:solidFill>
                <a:latin typeface="Ember Modern Display Standard"/>
              </a:rPr>
              <a:t>Retrieve</a:t>
            </a:r>
          </a:p>
        </p:txBody>
      </p:sp>
      <p:sp>
        <p:nvSpPr>
          <p:cNvPr id="271" name="TextBox 270"/>
          <p:cNvSpPr txBox="1"/>
          <p:nvPr/>
        </p:nvSpPr>
        <p:spPr>
          <a:xfrm>
            <a:off x="502920" y="2395728"/>
            <a:ext cx="1188720" cy="548640"/>
          </a:xfrm>
          <a:prstGeom prst="rect">
            <a:avLst/>
          </a:prstGeom>
          <a:noFill/>
        </p:spPr>
        <p:txBody>
          <a:bodyPr wrap="square" lIns="0" rIns="0" tIns="0" bIns="0" anchor="t">
            <a:spAutoFit/>
          </a:bodyPr>
          <a:lstStyle/>
          <a:p>
            <a:pPr algn="ctr"/>
            <a:r>
              <a:rPr sz="1050" b="0">
                <a:solidFill>
                  <a:srgbClr val="6B7280"/>
                </a:solidFill>
                <a:latin typeface="Ember Modern Display Standard"/>
              </a:rPr>
              <a:t>58.4M pairs</a:t>
            </a:r>
          </a:p>
        </p:txBody>
      </p:sp>
      <p:sp>
        <p:nvSpPr>
          <p:cNvPr id="272" name="Chevron 271"/>
          <p:cNvSpPr/>
          <p:nvPr/>
        </p:nvSpPr>
        <p:spPr>
          <a:xfrm>
            <a:off x="1719072" y="1810512"/>
            <a:ext cx="146304" cy="146304"/>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ounded Rectangle 272"/>
          <p:cNvSpPr/>
          <p:nvPr/>
        </p:nvSpPr>
        <p:spPr>
          <a:xfrm>
            <a:off x="1892808" y="1481328"/>
            <a:ext cx="1188720" cy="822960"/>
          </a:xfrm>
          <a:prstGeom prst="roundRect">
            <a:avLst>
              <a:gd name="adj" fmla="val 6666"/>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extBox 273"/>
          <p:cNvSpPr txBox="1"/>
          <p:nvPr/>
        </p:nvSpPr>
        <p:spPr>
          <a:xfrm>
            <a:off x="1892808" y="1481328"/>
            <a:ext cx="1188720" cy="822960"/>
          </a:xfrm>
          <a:prstGeom prst="rect">
            <a:avLst/>
          </a:prstGeom>
          <a:noFill/>
        </p:spPr>
        <p:txBody>
          <a:bodyPr wrap="square" lIns="0" rIns="0" tIns="0" bIns="0" anchor="ctr">
            <a:spAutoFit/>
          </a:bodyPr>
          <a:lstStyle/>
          <a:p>
            <a:pPr algn="ctr"/>
            <a:r>
              <a:rPr sz="1450" b="1">
                <a:solidFill>
                  <a:srgbClr val="161D26"/>
                </a:solidFill>
                <a:latin typeface="Ember Modern Display Standard"/>
              </a:rPr>
              <a:t>Score</a:t>
            </a:r>
          </a:p>
        </p:txBody>
      </p:sp>
      <p:sp>
        <p:nvSpPr>
          <p:cNvPr id="275" name="TextBox 274"/>
          <p:cNvSpPr txBox="1"/>
          <p:nvPr/>
        </p:nvSpPr>
        <p:spPr>
          <a:xfrm>
            <a:off x="1892808" y="2395728"/>
            <a:ext cx="1188720" cy="548640"/>
          </a:xfrm>
          <a:prstGeom prst="rect">
            <a:avLst/>
          </a:prstGeom>
          <a:noFill/>
        </p:spPr>
        <p:txBody>
          <a:bodyPr wrap="square" lIns="0" rIns="0" tIns="0" bIns="0" anchor="t">
            <a:spAutoFit/>
          </a:bodyPr>
          <a:lstStyle/>
          <a:p>
            <a:pPr algn="ctr"/>
            <a:r>
              <a:rPr sz="1050" b="0">
                <a:solidFill>
                  <a:srgbClr val="6B7280"/>
                </a:solidFill>
                <a:latin typeface="Ember Modern Display Standard"/>
              </a:rPr>
              <a:t>XGBoost, every pair</a:t>
            </a:r>
          </a:p>
        </p:txBody>
      </p:sp>
      <p:sp>
        <p:nvSpPr>
          <p:cNvPr id="276" name="Chevron 275"/>
          <p:cNvSpPr/>
          <p:nvPr/>
        </p:nvSpPr>
        <p:spPr>
          <a:xfrm>
            <a:off x="3108960" y="1810512"/>
            <a:ext cx="146304" cy="146304"/>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ounded Rectangle 276"/>
          <p:cNvSpPr/>
          <p:nvPr/>
        </p:nvSpPr>
        <p:spPr>
          <a:xfrm>
            <a:off x="3282696" y="1481328"/>
            <a:ext cx="1188720" cy="822960"/>
          </a:xfrm>
          <a:prstGeom prst="roundRect">
            <a:avLst>
              <a:gd name="adj" fmla="val 6666"/>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3282696" y="1481328"/>
            <a:ext cx="1188720" cy="822960"/>
          </a:xfrm>
          <a:prstGeom prst="rect">
            <a:avLst/>
          </a:prstGeom>
          <a:noFill/>
        </p:spPr>
        <p:txBody>
          <a:bodyPr wrap="square" lIns="0" rIns="0" tIns="0" bIns="0" anchor="ctr">
            <a:spAutoFit/>
          </a:bodyPr>
          <a:lstStyle/>
          <a:p>
            <a:pPr algn="ctr"/>
            <a:r>
              <a:rPr sz="1450" b="1">
                <a:solidFill>
                  <a:srgbClr val="FF6200"/>
                </a:solidFill>
                <a:latin typeface="Ember Modern Display Standard"/>
              </a:rPr>
              <a:t>Re-read</a:t>
            </a:r>
          </a:p>
        </p:txBody>
      </p:sp>
      <p:sp>
        <p:nvSpPr>
          <p:cNvPr id="279" name="TextBox 278"/>
          <p:cNvSpPr txBox="1"/>
          <p:nvPr/>
        </p:nvSpPr>
        <p:spPr>
          <a:xfrm>
            <a:off x="3282696" y="2395728"/>
            <a:ext cx="1188720" cy="548640"/>
          </a:xfrm>
          <a:prstGeom prst="rect">
            <a:avLst/>
          </a:prstGeom>
          <a:noFill/>
        </p:spPr>
        <p:txBody>
          <a:bodyPr wrap="square" lIns="0" rIns="0" tIns="0" bIns="0" anchor="t">
            <a:spAutoFit/>
          </a:bodyPr>
          <a:lstStyle/>
          <a:p>
            <a:pPr algn="ctr"/>
            <a:r>
              <a:rPr sz="1050" b="0">
                <a:solidFill>
                  <a:srgbClr val="6B7280"/>
                </a:solidFill>
                <a:latin typeface="Ember Modern Display Standard"/>
              </a:rPr>
              <a:t>transformers, 1.49M unsure pairs</a:t>
            </a:r>
          </a:p>
        </p:txBody>
      </p:sp>
      <p:sp>
        <p:nvSpPr>
          <p:cNvPr id="280" name="Chevron 279"/>
          <p:cNvSpPr/>
          <p:nvPr/>
        </p:nvSpPr>
        <p:spPr>
          <a:xfrm>
            <a:off x="4498848" y="1810512"/>
            <a:ext cx="146304" cy="146304"/>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4672584" y="1481328"/>
            <a:ext cx="1188720" cy="822960"/>
          </a:xfrm>
          <a:prstGeom prst="roundRect">
            <a:avLst>
              <a:gd name="adj" fmla="val 6666"/>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TextBox 281"/>
          <p:cNvSpPr txBox="1"/>
          <p:nvPr/>
        </p:nvSpPr>
        <p:spPr>
          <a:xfrm>
            <a:off x="4672584" y="1481328"/>
            <a:ext cx="1188720" cy="822960"/>
          </a:xfrm>
          <a:prstGeom prst="rect">
            <a:avLst/>
          </a:prstGeom>
          <a:noFill/>
        </p:spPr>
        <p:txBody>
          <a:bodyPr wrap="square" lIns="0" rIns="0" tIns="0" bIns="0" anchor="ctr">
            <a:spAutoFit/>
          </a:bodyPr>
          <a:lstStyle/>
          <a:p>
            <a:pPr algn="ctr"/>
            <a:r>
              <a:rPr sz="1450" b="1">
                <a:solidFill>
                  <a:srgbClr val="161D26"/>
                </a:solidFill>
                <a:latin typeface="Ember Modern Display Standard"/>
              </a:rPr>
              <a:t>Decide</a:t>
            </a:r>
          </a:p>
        </p:txBody>
      </p:sp>
      <p:sp>
        <p:nvSpPr>
          <p:cNvPr id="283" name="TextBox 282"/>
          <p:cNvSpPr txBox="1"/>
          <p:nvPr/>
        </p:nvSpPr>
        <p:spPr>
          <a:xfrm>
            <a:off x="4672584" y="2395728"/>
            <a:ext cx="1188720" cy="548640"/>
          </a:xfrm>
          <a:prstGeom prst="rect">
            <a:avLst/>
          </a:prstGeom>
          <a:noFill/>
        </p:spPr>
        <p:txBody>
          <a:bodyPr wrap="square" lIns="0" rIns="0" tIns="0" bIns="0" anchor="t">
            <a:spAutoFit/>
          </a:bodyPr>
          <a:lstStyle/>
          <a:p>
            <a:pPr algn="ctr"/>
            <a:r>
              <a:rPr sz="1050" b="0">
                <a:solidFill>
                  <a:srgbClr val="6B7280"/>
                </a:solidFill>
                <a:latin typeface="Ember Modern Display Standard"/>
              </a:rPr>
              <a:t>best set per entity</a:t>
            </a:r>
          </a:p>
        </p:txBody>
      </p:sp>
      <p:sp>
        <p:nvSpPr>
          <p:cNvPr id="284" name="Chevron 283"/>
          <p:cNvSpPr/>
          <p:nvPr/>
        </p:nvSpPr>
        <p:spPr>
          <a:xfrm>
            <a:off x="5888736" y="1810512"/>
            <a:ext cx="146304" cy="146304"/>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Rounded Rectangle 284"/>
          <p:cNvSpPr/>
          <p:nvPr/>
        </p:nvSpPr>
        <p:spPr>
          <a:xfrm>
            <a:off x="6062472" y="1481328"/>
            <a:ext cx="1188720" cy="822960"/>
          </a:xfrm>
          <a:prstGeom prst="roundRect">
            <a:avLst>
              <a:gd name="adj" fmla="val 6666"/>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6062472" y="1481328"/>
            <a:ext cx="1188720" cy="822960"/>
          </a:xfrm>
          <a:prstGeom prst="rect">
            <a:avLst/>
          </a:prstGeom>
          <a:noFill/>
        </p:spPr>
        <p:txBody>
          <a:bodyPr wrap="square" lIns="0" rIns="0" tIns="0" bIns="0" anchor="ctr">
            <a:spAutoFit/>
          </a:bodyPr>
          <a:lstStyle/>
          <a:p>
            <a:pPr algn="ctr"/>
            <a:r>
              <a:rPr sz="1450" b="1">
                <a:solidFill>
                  <a:srgbClr val="161D26"/>
                </a:solidFill>
                <a:latin typeface="Ember Modern Display Standard"/>
              </a:rPr>
              <a:t>Clean</a:t>
            </a:r>
          </a:p>
        </p:txBody>
      </p:sp>
      <p:sp>
        <p:nvSpPr>
          <p:cNvPr id="287" name="TextBox 286"/>
          <p:cNvSpPr txBox="1"/>
          <p:nvPr/>
        </p:nvSpPr>
        <p:spPr>
          <a:xfrm>
            <a:off x="6062472" y="2395728"/>
            <a:ext cx="1188720" cy="548640"/>
          </a:xfrm>
          <a:prstGeom prst="rect">
            <a:avLst/>
          </a:prstGeom>
          <a:noFill/>
        </p:spPr>
        <p:txBody>
          <a:bodyPr wrap="square" lIns="0" rIns="0" tIns="0" bIns="0" anchor="t">
            <a:spAutoFit/>
          </a:bodyPr>
          <a:lstStyle/>
          <a:p>
            <a:pPr algn="ctr"/>
            <a:r>
              <a:rPr sz="1050" b="0">
                <a:solidFill>
                  <a:srgbClr val="6B7280"/>
                </a:solidFill>
                <a:latin typeface="Ember Modern Display Standard"/>
              </a:rPr>
              <a:t>known error patterns</a:t>
            </a:r>
          </a:p>
        </p:txBody>
      </p:sp>
      <p:sp>
        <p:nvSpPr>
          <p:cNvPr id="288" name="Chevron 287"/>
          <p:cNvSpPr/>
          <p:nvPr/>
        </p:nvSpPr>
        <p:spPr>
          <a:xfrm>
            <a:off x="7278624" y="1810512"/>
            <a:ext cx="146304" cy="146304"/>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ounded Rectangle 288"/>
          <p:cNvSpPr/>
          <p:nvPr/>
        </p:nvSpPr>
        <p:spPr>
          <a:xfrm>
            <a:off x="7452360" y="1481328"/>
            <a:ext cx="1188720" cy="822960"/>
          </a:xfrm>
          <a:prstGeom prst="roundRect">
            <a:avLst>
              <a:gd name="adj" fmla="val 6666"/>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extBox 289"/>
          <p:cNvSpPr txBox="1"/>
          <p:nvPr/>
        </p:nvSpPr>
        <p:spPr>
          <a:xfrm>
            <a:off x="7452360" y="1481328"/>
            <a:ext cx="1188720" cy="822960"/>
          </a:xfrm>
          <a:prstGeom prst="rect">
            <a:avLst/>
          </a:prstGeom>
          <a:noFill/>
        </p:spPr>
        <p:txBody>
          <a:bodyPr wrap="square" lIns="0" rIns="0" tIns="0" bIns="0" anchor="ctr">
            <a:spAutoFit/>
          </a:bodyPr>
          <a:lstStyle/>
          <a:p>
            <a:pPr algn="ctr"/>
            <a:r>
              <a:rPr sz="1450" b="1">
                <a:solidFill>
                  <a:srgbClr val="FF6200"/>
                </a:solidFill>
                <a:latin typeface="Ember Modern Display Standard"/>
              </a:rPr>
              <a:t>Re-check</a:t>
            </a:r>
          </a:p>
        </p:txBody>
      </p:sp>
      <p:sp>
        <p:nvSpPr>
          <p:cNvPr id="291" name="TextBox 290"/>
          <p:cNvSpPr txBox="1"/>
          <p:nvPr/>
        </p:nvSpPr>
        <p:spPr>
          <a:xfrm>
            <a:off x="7452360" y="2395728"/>
            <a:ext cx="1188720" cy="548640"/>
          </a:xfrm>
          <a:prstGeom prst="rect">
            <a:avLst/>
          </a:prstGeom>
          <a:noFill/>
        </p:spPr>
        <p:txBody>
          <a:bodyPr wrap="square" lIns="0" rIns="0" tIns="0" bIns="0" anchor="t">
            <a:spAutoFit/>
          </a:bodyPr>
          <a:lstStyle/>
          <a:p>
            <a:pPr algn="ctr"/>
            <a:r>
              <a:rPr sz="1050" b="0">
                <a:solidFill>
                  <a:srgbClr val="6B7280"/>
                </a:solidFill>
                <a:latin typeface="Ember Modern Display Standard"/>
              </a:rPr>
              <a:t>7B model, confident answers</a:t>
            </a:r>
          </a:p>
        </p:txBody>
      </p:sp>
      <p:sp>
        <p:nvSpPr>
          <p:cNvPr id="292" name="TextBox 291"/>
          <p:cNvSpPr txBox="1"/>
          <p:nvPr/>
        </p:nvSpPr>
        <p:spPr>
          <a:xfrm>
            <a:off x="502920" y="3310128"/>
            <a:ext cx="1554480" cy="640080"/>
          </a:xfrm>
          <a:prstGeom prst="rect">
            <a:avLst/>
          </a:prstGeom>
          <a:noFill/>
        </p:spPr>
        <p:txBody>
          <a:bodyPr wrap="square" lIns="0" rIns="0" tIns="0" bIns="0" anchor="t">
            <a:spAutoFit/>
          </a:bodyPr>
          <a:lstStyle/>
          <a:p>
            <a:pPr algn="l"/>
            <a:r>
              <a:rPr sz="3600" b="1">
                <a:solidFill>
                  <a:srgbClr val="FF6200"/>
                </a:solidFill>
                <a:latin typeface="Ember Modern Display Standard"/>
              </a:rPr>
              <a:t>2.6%</a:t>
            </a:r>
          </a:p>
        </p:txBody>
      </p:sp>
      <p:sp>
        <p:nvSpPr>
          <p:cNvPr id="293" name="TextBox 292"/>
          <p:cNvSpPr txBox="1"/>
          <p:nvPr/>
        </p:nvSpPr>
        <p:spPr>
          <a:xfrm>
            <a:off x="2148840" y="3291840"/>
            <a:ext cx="6492240" cy="685800"/>
          </a:xfrm>
          <a:prstGeom prst="rect">
            <a:avLst/>
          </a:prstGeom>
          <a:noFill/>
        </p:spPr>
        <p:txBody>
          <a:bodyPr wrap="square" lIns="0" rIns="0" tIns="0" bIns="0" anchor="t">
            <a:spAutoFit/>
          </a:bodyPr>
          <a:lstStyle/>
          <a:p>
            <a:pPr algn="l"/>
            <a:r>
              <a:rPr sz="1300" b="0">
                <a:solidFill>
                  <a:srgbClr val="161D26"/>
                </a:solidFill>
                <a:latin typeface="Ember Modern Display Standard"/>
              </a:rPr>
              <a:t>of pairs ever reach a transformer. Scoring all 58M pairs with the 7B model would take about 27 GPU-hours, so it only re-checks answers we were already sure of.</a:t>
            </a:r>
          </a:p>
        </p:txBody>
      </p:sp>
      <p:sp>
        <p:nvSpPr>
          <p:cNvPr id="294" name="Rounded Rectangle 293"/>
          <p:cNvSpPr/>
          <p:nvPr/>
        </p:nvSpPr>
        <p:spPr>
          <a:xfrm>
            <a:off x="2148840" y="4087368"/>
            <a:ext cx="6492240" cy="109728"/>
          </a:xfrm>
          <a:prstGeom prst="roundRect">
            <a:avLst>
              <a:gd name="adj" fmla="val 50000"/>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Rounded Rectangle 294"/>
          <p:cNvSpPr/>
          <p:nvPr/>
        </p:nvSpPr>
        <p:spPr>
          <a:xfrm>
            <a:off x="2148840" y="4087368"/>
            <a:ext cx="173736" cy="109728"/>
          </a:xfrm>
          <a:prstGeom prst="roundRect">
            <a:avLst>
              <a:gd name="adj" fmla="val 50000"/>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The Leaderboard</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Talked Back</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Our first scores exposed a gap our own validation could not see.</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486400" cy="201168"/>
          </a:xfrm>
          <a:prstGeom prst="rect">
            <a:avLst/>
          </a:prstGeom>
          <a:noFill/>
        </p:spPr>
        <p:txBody>
          <a:bodyPr wrap="square" lIns="0" rIns="0" tIns="0" bIns="0" anchor="t">
            <a:spAutoFit/>
          </a:bodyPr>
          <a:lstStyle/>
          <a:p>
            <a:pPr algn="l"/>
            <a:r>
              <a:rPr sz="850" b="0">
                <a:solidFill>
                  <a:srgbClr val="6B7280"/>
                </a:solidFill>
                <a:latin typeface="Ember Modern Display Standard"/>
              </a:rPr>
              <a:t>Data</a:t>
            </a:r>
            <a:r>
              <a:rPr sz="850" b="0">
                <a:solidFill>
                  <a:srgbClr val="B8C0CC"/>
                </a:solidFill>
                <a:latin typeface="Ember Modern Display Standard"/>
              </a:rPr>
              <a:t>   ·   </a:t>
            </a:r>
            <a:r>
              <a:rPr sz="850" b="0">
                <a:solidFill>
                  <a:srgbClr val="6B7280"/>
                </a:solidFill>
                <a:latin typeface="Ember Modern Display Standard"/>
              </a:rPr>
              <a:t>Principles</a:t>
            </a:r>
            <a:r>
              <a:rPr sz="850" b="0">
                <a:solidFill>
                  <a:srgbClr val="B8C0CC"/>
                </a:solidFill>
                <a:latin typeface="Ember Modern Display Standard"/>
              </a:rPr>
              <a:t>   ·   </a:t>
            </a:r>
            <a:r>
              <a:rPr sz="850" b="0">
                <a:solidFill>
                  <a:srgbClr val="6B7280"/>
                </a:solidFill>
                <a:latin typeface="Ember Modern Display Standard"/>
              </a:rPr>
              <a:t>Blocking</a:t>
            </a:r>
            <a:r>
              <a:rPr sz="850" b="0">
                <a:solidFill>
                  <a:srgbClr val="B8C0CC"/>
                </a:solidFill>
                <a:latin typeface="Ember Modern Display Standard"/>
              </a:rPr>
              <a:t>   ·   </a:t>
            </a:r>
            <a:r>
              <a:rPr sz="850" b="0">
                <a:solidFill>
                  <a:srgbClr val="6B7280"/>
                </a:solidFill>
                <a:latin typeface="Ember Modern Display Standard"/>
              </a:rPr>
              <a:t>Pipeline</a:t>
            </a:r>
            <a:r>
              <a:rPr sz="850" b="0">
                <a:solidFill>
                  <a:srgbClr val="B8C0CC"/>
                </a:solidFill>
                <a:latin typeface="Ember Modern Display Standard"/>
              </a:rPr>
              <a:t>   ·   </a:t>
            </a:r>
            <a:r>
              <a:rPr sz="850" b="1">
                <a:solidFill>
                  <a:srgbClr val="FF6200"/>
                </a:solidFill>
                <a:latin typeface="Ember Modern Display Standard"/>
              </a:rPr>
              <a:t>Leaderboard</a:t>
            </a:r>
            <a:r>
              <a:rPr sz="850" b="0">
                <a:solidFill>
                  <a:srgbClr val="B8C0CC"/>
                </a:solidFill>
                <a:latin typeface="Ember Modern Display Standard"/>
              </a:rPr>
              <a:t>   ·   </a:t>
            </a:r>
            <a:r>
              <a:rPr sz="850" b="0">
                <a:solidFill>
                  <a:srgbClr val="6B7280"/>
                </a:solidFill>
                <a:latin typeface="Ember Modern Display Standard"/>
              </a:rPr>
              <a:t>France</a:t>
            </a:r>
            <a:r>
              <a:rPr sz="850" b="0">
                <a:solidFill>
                  <a:srgbClr val="B8C0CC"/>
                </a:solidFill>
                <a:latin typeface="Ember Modern Display Standard"/>
              </a:rPr>
              <a:t>   ·   </a:t>
            </a:r>
            <a:r>
              <a:rPr sz="850" b="0">
                <a:solidFill>
                  <a:srgbClr val="6B7280"/>
                </a:solidFill>
                <a:latin typeface="Ember Modern Display Standard"/>
              </a:rPr>
              <a:t>Team</a:t>
            </a:r>
            <a:r>
              <a:rPr sz="850" b="0">
                <a:solidFill>
                  <a:srgbClr val="B8C0CC"/>
                </a:solidFill>
                <a:latin typeface="Ember Modern Display Standard"/>
              </a:rPr>
              <a:t>   ·   </a:t>
            </a:r>
            <a:r>
              <a:rPr sz="850" b="0">
                <a:solidFill>
                  <a:srgbClr val="6B7280"/>
                </a:solidFill>
                <a:latin typeface="Ember Modern Display Standard"/>
              </a:rPr>
              <a:t>Results</a:t>
            </a:r>
            <a:r>
              <a:rPr sz="850" b="0">
                <a:solidFill>
                  <a:srgbClr val="B8C0CC"/>
                </a:solidFill>
                <a:latin typeface="Ember Modern Display Standard"/>
              </a:rPr>
              <a:t>   ·   </a:t>
            </a:r>
            <a:r>
              <a:rPr sz="850" b="0">
                <a:solidFill>
                  <a:srgbClr val="6B7280"/>
                </a:solidFill>
                <a:latin typeface="Ember Modern Display Standard"/>
              </a:rPr>
              <a:t>Lessons</a:t>
            </a:r>
          </a:p>
        </p:txBody>
      </p:sp>
      <p:sp>
        <p:nvSpPr>
          <p:cNvPr id="268" name="TextBox 267"/>
          <p:cNvSpPr txBox="1"/>
          <p:nvPr/>
        </p:nvSpPr>
        <p:spPr>
          <a:xfrm>
            <a:off x="5669280" y="4608576"/>
            <a:ext cx="297180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Insist on the Highest Standards</a:t>
            </a:r>
          </a:p>
        </p:txBody>
      </p:sp>
      <p:sp>
        <p:nvSpPr>
          <p:cNvPr id="269" name="TextBox 268"/>
          <p:cNvSpPr txBox="1"/>
          <p:nvPr/>
        </p:nvSpPr>
        <p:spPr>
          <a:xfrm>
            <a:off x="502920" y="1371600"/>
            <a:ext cx="3657600" cy="566928"/>
          </a:xfrm>
          <a:prstGeom prst="rect">
            <a:avLst/>
          </a:prstGeom>
          <a:noFill/>
        </p:spPr>
        <p:txBody>
          <a:bodyPr wrap="square" lIns="0" rIns="0" tIns="0" bIns="0" anchor="t">
            <a:spAutoFit/>
          </a:bodyPr>
          <a:lstStyle/>
          <a:p>
            <a:pPr algn="l"/>
            <a:r>
              <a:rPr sz="3200" b="1">
                <a:solidFill>
                  <a:srgbClr val="161D26"/>
                </a:solidFill>
                <a:latin typeface="Ember Modern Display Standard"/>
              </a:rPr>
              <a:t>0.9888</a:t>
            </a:r>
          </a:p>
        </p:txBody>
      </p:sp>
      <p:sp>
        <p:nvSpPr>
          <p:cNvPr id="270" name="TextBox 269"/>
          <p:cNvSpPr txBox="1"/>
          <p:nvPr/>
        </p:nvSpPr>
        <p:spPr>
          <a:xfrm>
            <a:off x="502920" y="1920240"/>
            <a:ext cx="3657600" cy="274320"/>
          </a:xfrm>
          <a:prstGeom prst="rect">
            <a:avLst/>
          </a:prstGeom>
          <a:noFill/>
        </p:spPr>
        <p:txBody>
          <a:bodyPr wrap="square" lIns="0" rIns="0" tIns="0" bIns="0" anchor="t">
            <a:spAutoFit/>
          </a:bodyPr>
          <a:lstStyle/>
          <a:p>
            <a:pPr algn="l"/>
            <a:r>
              <a:rPr sz="1200" b="0">
                <a:solidFill>
                  <a:srgbClr val="6B7280"/>
                </a:solidFill>
                <a:latin typeface="Ember Modern Display Standard"/>
              </a:rPr>
              <a:t>our validation: US and India</a:t>
            </a:r>
          </a:p>
        </p:txBody>
      </p:sp>
      <p:sp>
        <p:nvSpPr>
          <p:cNvPr id="271" name="TextBox 270"/>
          <p:cNvSpPr txBox="1"/>
          <p:nvPr/>
        </p:nvSpPr>
        <p:spPr>
          <a:xfrm>
            <a:off x="502920" y="2286000"/>
            <a:ext cx="3657600" cy="566928"/>
          </a:xfrm>
          <a:prstGeom prst="rect">
            <a:avLst/>
          </a:prstGeom>
          <a:noFill/>
        </p:spPr>
        <p:txBody>
          <a:bodyPr wrap="square" lIns="0" rIns="0" tIns="0" bIns="0" anchor="t">
            <a:spAutoFit/>
          </a:bodyPr>
          <a:lstStyle/>
          <a:p>
            <a:pPr algn="l"/>
            <a:r>
              <a:rPr sz="3200" b="1">
                <a:solidFill>
                  <a:srgbClr val="FF6200"/>
                </a:solidFill>
                <a:latin typeface="Ember Modern Display Standard"/>
              </a:rPr>
              <a:t>0.9796</a:t>
            </a:r>
          </a:p>
        </p:txBody>
      </p:sp>
      <p:sp>
        <p:nvSpPr>
          <p:cNvPr id="272" name="TextBox 271"/>
          <p:cNvSpPr txBox="1"/>
          <p:nvPr/>
        </p:nvSpPr>
        <p:spPr>
          <a:xfrm>
            <a:off x="502920" y="2834640"/>
            <a:ext cx="3657600" cy="274320"/>
          </a:xfrm>
          <a:prstGeom prst="rect">
            <a:avLst/>
          </a:prstGeom>
          <a:noFill/>
        </p:spPr>
        <p:txBody>
          <a:bodyPr wrap="square" lIns="0" rIns="0" tIns="0" bIns="0" anchor="t">
            <a:spAutoFit/>
          </a:bodyPr>
          <a:lstStyle/>
          <a:p>
            <a:pPr algn="l"/>
            <a:r>
              <a:rPr sz="1200" b="0">
                <a:solidFill>
                  <a:srgbClr val="6B7280"/>
                </a:solidFill>
                <a:latin typeface="Ember Modern Display Standard"/>
              </a:rPr>
              <a:t>our first leaderboard score</a:t>
            </a:r>
          </a:p>
        </p:txBody>
      </p:sp>
      <p:sp>
        <p:nvSpPr>
          <p:cNvPr id="273" name="Rounded Rectangle 272"/>
          <p:cNvSpPr/>
          <p:nvPr/>
        </p:nvSpPr>
        <p:spPr>
          <a:xfrm>
            <a:off x="502920" y="3310128"/>
            <a:ext cx="3657600" cy="1069848"/>
          </a:xfrm>
          <a:prstGeom prst="roundRect">
            <a:avLst>
              <a:gd name="adj" fmla="val 5128"/>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extBox 273"/>
          <p:cNvSpPr txBox="1"/>
          <p:nvPr/>
        </p:nvSpPr>
        <p:spPr>
          <a:xfrm>
            <a:off x="713232" y="3456432"/>
            <a:ext cx="3291840" cy="365760"/>
          </a:xfrm>
          <a:prstGeom prst="rect">
            <a:avLst/>
          </a:prstGeom>
          <a:noFill/>
        </p:spPr>
        <p:txBody>
          <a:bodyPr wrap="square" lIns="0" rIns="0" tIns="0" bIns="0" anchor="t">
            <a:spAutoFit/>
          </a:bodyPr>
          <a:lstStyle/>
          <a:p>
            <a:pPr algn="l"/>
            <a:r>
              <a:rPr sz="1600" b="1">
                <a:solidFill>
                  <a:srgbClr val="FFFFFF"/>
                </a:solidFill>
                <a:latin typeface="Ember Modern Display Standard"/>
              </a:rPr>
              <a:t>The gap was France: </a:t>
            </a:r>
            <a:r>
              <a:rPr sz="1600" b="1">
                <a:solidFill>
                  <a:srgbClr val="FF6200"/>
                </a:solidFill>
                <a:latin typeface="Ember Modern Display Standard"/>
              </a:rPr>
              <a:t>≈ 0.93</a:t>
            </a:r>
          </a:p>
        </p:txBody>
      </p:sp>
      <p:sp>
        <p:nvSpPr>
          <p:cNvPr id="275" name="TextBox 274"/>
          <p:cNvSpPr txBox="1"/>
          <p:nvPr/>
        </p:nvSpPr>
        <p:spPr>
          <a:xfrm>
            <a:off x="713232" y="3904487"/>
            <a:ext cx="3291840" cy="320040"/>
          </a:xfrm>
          <a:prstGeom prst="rect">
            <a:avLst/>
          </a:prstGeom>
          <a:noFill/>
        </p:spPr>
        <p:txBody>
          <a:bodyPr wrap="square" lIns="0" rIns="0" tIns="0" bIns="0" anchor="t">
            <a:spAutoFit/>
          </a:bodyPr>
          <a:lstStyle/>
          <a:p>
            <a:pPr algn="l"/>
            <a:r>
              <a:rPr sz="1050" b="0">
                <a:solidFill>
                  <a:srgbClr val="FFB28B"/>
                </a:solidFill>
                <a:latin typeface="Ember Modern Display Standard"/>
              </a:rPr>
              <a:t>estimated: France has no labels</a:t>
            </a:r>
          </a:p>
        </p:txBody>
      </p:sp>
      <p:sp>
        <p:nvSpPr>
          <p:cNvPr id="276" name="TextBox 275"/>
          <p:cNvSpPr txBox="1"/>
          <p:nvPr/>
        </p:nvSpPr>
        <p:spPr>
          <a:xfrm>
            <a:off x="4572000" y="1417320"/>
            <a:ext cx="4023360" cy="320040"/>
          </a:xfrm>
          <a:prstGeom prst="rect">
            <a:avLst/>
          </a:prstGeom>
          <a:noFill/>
        </p:spPr>
        <p:txBody>
          <a:bodyPr wrap="square" lIns="0" rIns="0" tIns="0" bIns="0" anchor="t">
            <a:spAutoFit/>
          </a:bodyPr>
          <a:lstStyle/>
          <a:p>
            <a:pPr algn="l"/>
            <a:r>
              <a:rPr sz="1400" b="1">
                <a:solidFill>
                  <a:srgbClr val="161D26"/>
                </a:solidFill>
                <a:latin typeface="Ember Modern Display Standard"/>
              </a:rPr>
              <a:t>How we tracked it down</a:t>
            </a:r>
          </a:p>
        </p:txBody>
      </p:sp>
      <p:sp>
        <p:nvSpPr>
          <p:cNvPr id="277" name="Oval 276"/>
          <p:cNvSpPr/>
          <p:nvPr/>
        </p:nvSpPr>
        <p:spPr>
          <a:xfrm>
            <a:off x="4572000" y="1920240"/>
            <a:ext cx="365760" cy="365760"/>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4572000" y="1920240"/>
            <a:ext cx="365760" cy="365760"/>
          </a:xfrm>
          <a:prstGeom prst="rect">
            <a:avLst/>
          </a:prstGeom>
          <a:noFill/>
        </p:spPr>
        <p:txBody>
          <a:bodyPr wrap="square" lIns="0" rIns="0" tIns="0" bIns="0" anchor="ctr">
            <a:spAutoFit/>
          </a:bodyPr>
          <a:lstStyle/>
          <a:p>
            <a:pPr algn="ctr"/>
            <a:r>
              <a:rPr sz="1300" b="1">
                <a:solidFill>
                  <a:srgbClr val="FFFFFF"/>
                </a:solidFill>
                <a:latin typeface="Ember Modern Display Standard"/>
              </a:rPr>
              <a:t>1</a:t>
            </a:r>
          </a:p>
        </p:txBody>
      </p:sp>
      <p:sp>
        <p:nvSpPr>
          <p:cNvPr id="279" name="TextBox 278"/>
          <p:cNvSpPr txBox="1"/>
          <p:nvPr/>
        </p:nvSpPr>
        <p:spPr>
          <a:xfrm>
            <a:off x="5120640" y="1938528"/>
            <a:ext cx="3520440" cy="640080"/>
          </a:xfrm>
          <a:prstGeom prst="rect">
            <a:avLst/>
          </a:prstGeom>
          <a:noFill/>
        </p:spPr>
        <p:txBody>
          <a:bodyPr wrap="square" lIns="0" rIns="0" tIns="0" bIns="0" anchor="t">
            <a:spAutoFit/>
          </a:bodyPr>
          <a:lstStyle/>
          <a:p>
            <a:pPr algn="l"/>
            <a:r>
              <a:rPr sz="1350" b="0">
                <a:solidFill>
                  <a:srgbClr val="161D26"/>
                </a:solidFill>
                <a:latin typeface="Ember Modern Display Standard"/>
              </a:rPr>
              <a:t>Ruled out the metric and our own files</a:t>
            </a:r>
          </a:p>
        </p:txBody>
      </p:sp>
      <p:sp>
        <p:nvSpPr>
          <p:cNvPr id="280" name="Oval 279"/>
          <p:cNvSpPr/>
          <p:nvPr/>
        </p:nvSpPr>
        <p:spPr>
          <a:xfrm>
            <a:off x="4572000" y="2724912"/>
            <a:ext cx="365760" cy="365760"/>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TextBox 280"/>
          <p:cNvSpPr txBox="1"/>
          <p:nvPr/>
        </p:nvSpPr>
        <p:spPr>
          <a:xfrm>
            <a:off x="4572000" y="2724912"/>
            <a:ext cx="365760" cy="365760"/>
          </a:xfrm>
          <a:prstGeom prst="rect">
            <a:avLst/>
          </a:prstGeom>
          <a:noFill/>
        </p:spPr>
        <p:txBody>
          <a:bodyPr wrap="square" lIns="0" rIns="0" tIns="0" bIns="0" anchor="ctr">
            <a:spAutoFit/>
          </a:bodyPr>
          <a:lstStyle/>
          <a:p>
            <a:pPr algn="ctr"/>
            <a:r>
              <a:rPr sz="1300" b="1">
                <a:solidFill>
                  <a:srgbClr val="FFFFFF"/>
                </a:solidFill>
                <a:latin typeface="Ember Modern Display Standard"/>
              </a:rPr>
              <a:t>2</a:t>
            </a:r>
          </a:p>
        </p:txBody>
      </p:sp>
      <p:sp>
        <p:nvSpPr>
          <p:cNvPr id="282" name="TextBox 281"/>
          <p:cNvSpPr txBox="1"/>
          <p:nvPr/>
        </p:nvSpPr>
        <p:spPr>
          <a:xfrm>
            <a:off x="5120640" y="2743200"/>
            <a:ext cx="3520440" cy="640080"/>
          </a:xfrm>
          <a:prstGeom prst="rect">
            <a:avLst/>
          </a:prstGeom>
          <a:noFill/>
        </p:spPr>
        <p:txBody>
          <a:bodyPr wrap="square" lIns="0" rIns="0" tIns="0" bIns="0" anchor="t">
            <a:spAutoFit/>
          </a:bodyPr>
          <a:lstStyle/>
          <a:p>
            <a:pPr algn="l"/>
            <a:r>
              <a:rPr sz="1350" b="0">
                <a:solidFill>
                  <a:srgbClr val="161D26"/>
                </a:solidFill>
                <a:latin typeface="Ember Modern Display Standard"/>
              </a:rPr>
              <a:t>Split the gap by country: US and India matched our validation</a:t>
            </a:r>
          </a:p>
        </p:txBody>
      </p:sp>
      <p:sp>
        <p:nvSpPr>
          <p:cNvPr id="283" name="Oval 282"/>
          <p:cNvSpPr/>
          <p:nvPr/>
        </p:nvSpPr>
        <p:spPr>
          <a:xfrm>
            <a:off x="4572000" y="3529584"/>
            <a:ext cx="365760" cy="365760"/>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extBox 283"/>
          <p:cNvSpPr txBox="1"/>
          <p:nvPr/>
        </p:nvSpPr>
        <p:spPr>
          <a:xfrm>
            <a:off x="4572000" y="3529584"/>
            <a:ext cx="365760" cy="365760"/>
          </a:xfrm>
          <a:prstGeom prst="rect">
            <a:avLst/>
          </a:prstGeom>
          <a:noFill/>
        </p:spPr>
        <p:txBody>
          <a:bodyPr wrap="square" lIns="0" rIns="0" tIns="0" bIns="0" anchor="ctr">
            <a:spAutoFit/>
          </a:bodyPr>
          <a:lstStyle/>
          <a:p>
            <a:pPr algn="ctr"/>
            <a:r>
              <a:rPr sz="1300" b="1">
                <a:solidFill>
                  <a:srgbClr val="FFFFFF"/>
                </a:solidFill>
                <a:latin typeface="Ember Modern Display Standard"/>
              </a:rPr>
              <a:t>3</a:t>
            </a:r>
          </a:p>
        </p:txBody>
      </p:sp>
      <p:sp>
        <p:nvSpPr>
          <p:cNvPr id="285" name="TextBox 284"/>
          <p:cNvSpPr txBox="1"/>
          <p:nvPr/>
        </p:nvSpPr>
        <p:spPr>
          <a:xfrm>
            <a:off x="5120640" y="3547872"/>
            <a:ext cx="3520440" cy="640080"/>
          </a:xfrm>
          <a:prstGeom prst="rect">
            <a:avLst/>
          </a:prstGeom>
          <a:noFill/>
        </p:spPr>
        <p:txBody>
          <a:bodyPr wrap="square" lIns="0" rIns="0" tIns="0" bIns="0" anchor="t">
            <a:spAutoFit/>
          </a:bodyPr>
          <a:lstStyle/>
          <a:p>
            <a:pPr algn="l"/>
            <a:r>
              <a:rPr sz="1350" b="0">
                <a:solidFill>
                  <a:srgbClr val="161D26"/>
                </a:solidFill>
                <a:latin typeface="Ember Modern Display Standard"/>
              </a:rPr>
              <a:t>Read French errors: one word swapped, same address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A Country We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Never Saw</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France had no labels, so we let the data teach us, with guards.</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486400" cy="201168"/>
          </a:xfrm>
          <a:prstGeom prst="rect">
            <a:avLst/>
          </a:prstGeom>
          <a:noFill/>
        </p:spPr>
        <p:txBody>
          <a:bodyPr wrap="square" lIns="0" rIns="0" tIns="0" bIns="0" anchor="t">
            <a:spAutoFit/>
          </a:bodyPr>
          <a:lstStyle/>
          <a:p>
            <a:pPr algn="l"/>
            <a:r>
              <a:rPr sz="850" b="0">
                <a:solidFill>
                  <a:srgbClr val="6B7280"/>
                </a:solidFill>
                <a:latin typeface="Ember Modern Display Standard"/>
              </a:rPr>
              <a:t>Data</a:t>
            </a:r>
            <a:r>
              <a:rPr sz="850" b="0">
                <a:solidFill>
                  <a:srgbClr val="B8C0CC"/>
                </a:solidFill>
                <a:latin typeface="Ember Modern Display Standard"/>
              </a:rPr>
              <a:t>   ·   </a:t>
            </a:r>
            <a:r>
              <a:rPr sz="850" b="0">
                <a:solidFill>
                  <a:srgbClr val="6B7280"/>
                </a:solidFill>
                <a:latin typeface="Ember Modern Display Standard"/>
              </a:rPr>
              <a:t>Principles</a:t>
            </a:r>
            <a:r>
              <a:rPr sz="850" b="0">
                <a:solidFill>
                  <a:srgbClr val="B8C0CC"/>
                </a:solidFill>
                <a:latin typeface="Ember Modern Display Standard"/>
              </a:rPr>
              <a:t>   ·   </a:t>
            </a:r>
            <a:r>
              <a:rPr sz="850" b="0">
                <a:solidFill>
                  <a:srgbClr val="6B7280"/>
                </a:solidFill>
                <a:latin typeface="Ember Modern Display Standard"/>
              </a:rPr>
              <a:t>Blocking</a:t>
            </a:r>
            <a:r>
              <a:rPr sz="850" b="0">
                <a:solidFill>
                  <a:srgbClr val="B8C0CC"/>
                </a:solidFill>
                <a:latin typeface="Ember Modern Display Standard"/>
              </a:rPr>
              <a:t>   ·   </a:t>
            </a:r>
            <a:r>
              <a:rPr sz="850" b="0">
                <a:solidFill>
                  <a:srgbClr val="6B7280"/>
                </a:solidFill>
                <a:latin typeface="Ember Modern Display Standard"/>
              </a:rPr>
              <a:t>Pipeline</a:t>
            </a:r>
            <a:r>
              <a:rPr sz="850" b="0">
                <a:solidFill>
                  <a:srgbClr val="B8C0CC"/>
                </a:solidFill>
                <a:latin typeface="Ember Modern Display Standard"/>
              </a:rPr>
              <a:t>   ·   </a:t>
            </a:r>
            <a:r>
              <a:rPr sz="850" b="0">
                <a:solidFill>
                  <a:srgbClr val="6B7280"/>
                </a:solidFill>
                <a:latin typeface="Ember Modern Display Standard"/>
              </a:rPr>
              <a:t>Leaderboard</a:t>
            </a:r>
            <a:r>
              <a:rPr sz="850" b="0">
                <a:solidFill>
                  <a:srgbClr val="B8C0CC"/>
                </a:solidFill>
                <a:latin typeface="Ember Modern Display Standard"/>
              </a:rPr>
              <a:t>   ·   </a:t>
            </a:r>
            <a:r>
              <a:rPr sz="850" b="1">
                <a:solidFill>
                  <a:srgbClr val="FF6200"/>
                </a:solidFill>
                <a:latin typeface="Ember Modern Display Standard"/>
              </a:rPr>
              <a:t>France</a:t>
            </a:r>
            <a:r>
              <a:rPr sz="850" b="0">
                <a:solidFill>
                  <a:srgbClr val="B8C0CC"/>
                </a:solidFill>
                <a:latin typeface="Ember Modern Display Standard"/>
              </a:rPr>
              <a:t>   ·   </a:t>
            </a:r>
            <a:r>
              <a:rPr sz="850" b="0">
                <a:solidFill>
                  <a:srgbClr val="6B7280"/>
                </a:solidFill>
                <a:latin typeface="Ember Modern Display Standard"/>
              </a:rPr>
              <a:t>Team</a:t>
            </a:r>
            <a:r>
              <a:rPr sz="850" b="0">
                <a:solidFill>
                  <a:srgbClr val="B8C0CC"/>
                </a:solidFill>
                <a:latin typeface="Ember Modern Display Standard"/>
              </a:rPr>
              <a:t>   ·   </a:t>
            </a:r>
            <a:r>
              <a:rPr sz="850" b="0">
                <a:solidFill>
                  <a:srgbClr val="6B7280"/>
                </a:solidFill>
                <a:latin typeface="Ember Modern Display Standard"/>
              </a:rPr>
              <a:t>Results</a:t>
            </a:r>
            <a:r>
              <a:rPr sz="850" b="0">
                <a:solidFill>
                  <a:srgbClr val="B8C0CC"/>
                </a:solidFill>
                <a:latin typeface="Ember Modern Display Standard"/>
              </a:rPr>
              <a:t>   ·   </a:t>
            </a:r>
            <a:r>
              <a:rPr sz="850" b="0">
                <a:solidFill>
                  <a:srgbClr val="6B7280"/>
                </a:solidFill>
                <a:latin typeface="Ember Modern Display Standard"/>
              </a:rPr>
              <a:t>Lessons</a:t>
            </a:r>
          </a:p>
        </p:txBody>
      </p:sp>
      <p:sp>
        <p:nvSpPr>
          <p:cNvPr id="268" name="TextBox 267"/>
          <p:cNvSpPr txBox="1"/>
          <p:nvPr/>
        </p:nvSpPr>
        <p:spPr>
          <a:xfrm>
            <a:off x="5669280" y="4608576"/>
            <a:ext cx="297180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Are Right, A Lot</a:t>
            </a:r>
          </a:p>
        </p:txBody>
      </p:sp>
      <p:sp>
        <p:nvSpPr>
          <p:cNvPr id="269" name="Rounded Rectangle 268"/>
          <p:cNvSpPr/>
          <p:nvPr/>
        </p:nvSpPr>
        <p:spPr>
          <a:xfrm>
            <a:off x="502920" y="1371600"/>
            <a:ext cx="2606040" cy="1828800"/>
          </a:xfrm>
          <a:prstGeom prst="roundRect">
            <a:avLst>
              <a:gd name="adj" fmla="val 3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Oval 269"/>
          <p:cNvSpPr/>
          <p:nvPr/>
        </p:nvSpPr>
        <p:spPr>
          <a:xfrm>
            <a:off x="704088" y="1554480"/>
            <a:ext cx="365760" cy="365760"/>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704088" y="1554480"/>
            <a:ext cx="365760" cy="365760"/>
          </a:xfrm>
          <a:prstGeom prst="rect">
            <a:avLst/>
          </a:prstGeom>
          <a:noFill/>
        </p:spPr>
        <p:txBody>
          <a:bodyPr wrap="square" lIns="0" rIns="0" tIns="0" bIns="0" anchor="ctr">
            <a:spAutoFit/>
          </a:bodyPr>
          <a:lstStyle/>
          <a:p>
            <a:pPr algn="ctr"/>
            <a:r>
              <a:rPr sz="1300" b="1">
                <a:solidFill>
                  <a:srgbClr val="FFFFFF"/>
                </a:solidFill>
                <a:latin typeface="Ember Modern Display Standard"/>
              </a:rPr>
              <a:t>1</a:t>
            </a:r>
          </a:p>
        </p:txBody>
      </p:sp>
      <p:sp>
        <p:nvSpPr>
          <p:cNvPr id="272" name="TextBox 271"/>
          <p:cNvSpPr txBox="1"/>
          <p:nvPr/>
        </p:nvSpPr>
        <p:spPr>
          <a:xfrm>
            <a:off x="704088" y="2057400"/>
            <a:ext cx="2240280" cy="320040"/>
          </a:xfrm>
          <a:prstGeom prst="rect">
            <a:avLst/>
          </a:prstGeom>
          <a:noFill/>
        </p:spPr>
        <p:txBody>
          <a:bodyPr wrap="square" lIns="0" rIns="0" tIns="0" bIns="0" anchor="t">
            <a:spAutoFit/>
          </a:bodyPr>
          <a:lstStyle/>
          <a:p>
            <a:pPr algn="l"/>
            <a:r>
              <a:rPr sz="1450" b="1">
                <a:solidFill>
                  <a:srgbClr val="161D26"/>
                </a:solidFill>
                <a:latin typeface="Ember Modern Display Standard"/>
              </a:rPr>
              <a:t>Learn its words</a:t>
            </a:r>
          </a:p>
        </p:txBody>
      </p:sp>
      <p:sp>
        <p:nvSpPr>
          <p:cNvPr id="273" name="TextBox 272"/>
          <p:cNvSpPr txBox="1"/>
          <p:nvPr/>
        </p:nvSpPr>
        <p:spPr>
          <a:xfrm>
            <a:off x="704088" y="2450592"/>
            <a:ext cx="2240280" cy="685800"/>
          </a:xfrm>
          <a:prstGeom prst="rect">
            <a:avLst/>
          </a:prstGeom>
          <a:noFill/>
        </p:spPr>
        <p:txBody>
          <a:bodyPr wrap="square" lIns="0" rIns="0" tIns="0" bIns="0" anchor="t">
            <a:spAutoFit/>
          </a:bodyPr>
          <a:lstStyle/>
          <a:p>
            <a:pPr algn="l"/>
            <a:r>
              <a:rPr sz="1150" b="0">
                <a:solidFill>
                  <a:srgbClr val="161D26"/>
                </a:solidFill>
                <a:latin typeface="Ember Modern Display Standard"/>
              </a:rPr>
              <a:t>Label-free word statistics told look-alike words from harmless noise.</a:t>
            </a:r>
          </a:p>
        </p:txBody>
      </p:sp>
      <p:sp>
        <p:nvSpPr>
          <p:cNvPr id="274" name="Rounded Rectangle 273"/>
          <p:cNvSpPr/>
          <p:nvPr/>
        </p:nvSpPr>
        <p:spPr>
          <a:xfrm>
            <a:off x="3268980" y="1371600"/>
            <a:ext cx="2606040" cy="1828800"/>
          </a:xfrm>
          <a:prstGeom prst="roundRect">
            <a:avLst>
              <a:gd name="adj" fmla="val 3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Oval 274"/>
          <p:cNvSpPr/>
          <p:nvPr/>
        </p:nvSpPr>
        <p:spPr>
          <a:xfrm>
            <a:off x="3470148" y="1554480"/>
            <a:ext cx="365760" cy="365760"/>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TextBox 275"/>
          <p:cNvSpPr txBox="1"/>
          <p:nvPr/>
        </p:nvSpPr>
        <p:spPr>
          <a:xfrm>
            <a:off x="3470148" y="1554480"/>
            <a:ext cx="365760" cy="365760"/>
          </a:xfrm>
          <a:prstGeom prst="rect">
            <a:avLst/>
          </a:prstGeom>
          <a:noFill/>
        </p:spPr>
        <p:txBody>
          <a:bodyPr wrap="square" lIns="0" rIns="0" tIns="0" bIns="0" anchor="ctr">
            <a:spAutoFit/>
          </a:bodyPr>
          <a:lstStyle/>
          <a:p>
            <a:pPr algn="ctr"/>
            <a:r>
              <a:rPr sz="1300" b="1">
                <a:solidFill>
                  <a:srgbClr val="FFFFFF"/>
                </a:solidFill>
                <a:latin typeface="Ember Modern Display Standard"/>
              </a:rPr>
              <a:t>2</a:t>
            </a:r>
          </a:p>
        </p:txBody>
      </p:sp>
      <p:sp>
        <p:nvSpPr>
          <p:cNvPr id="277" name="TextBox 276"/>
          <p:cNvSpPr txBox="1"/>
          <p:nvPr/>
        </p:nvSpPr>
        <p:spPr>
          <a:xfrm>
            <a:off x="3470148" y="2057400"/>
            <a:ext cx="2240280" cy="320040"/>
          </a:xfrm>
          <a:prstGeom prst="rect">
            <a:avLst/>
          </a:prstGeom>
          <a:noFill/>
        </p:spPr>
        <p:txBody>
          <a:bodyPr wrap="square" lIns="0" rIns="0" tIns="0" bIns="0" anchor="t">
            <a:spAutoFit/>
          </a:bodyPr>
          <a:lstStyle/>
          <a:p>
            <a:pPr algn="l"/>
            <a:r>
              <a:rPr sz="1450" b="1">
                <a:solidFill>
                  <a:srgbClr val="161D26"/>
                </a:solidFill>
                <a:latin typeface="Ember Modern Display Standard"/>
              </a:rPr>
              <a:t>Teach itself, carefully</a:t>
            </a:r>
          </a:p>
        </p:txBody>
      </p:sp>
      <p:sp>
        <p:nvSpPr>
          <p:cNvPr id="278" name="TextBox 277"/>
          <p:cNvSpPr txBox="1"/>
          <p:nvPr/>
        </p:nvSpPr>
        <p:spPr>
          <a:xfrm>
            <a:off x="3470148" y="2450592"/>
            <a:ext cx="2240280" cy="685800"/>
          </a:xfrm>
          <a:prstGeom prst="rect">
            <a:avLst/>
          </a:prstGeom>
          <a:noFill/>
        </p:spPr>
        <p:txBody>
          <a:bodyPr wrap="square" lIns="0" rIns="0" tIns="0" bIns="0" anchor="t">
            <a:spAutoFit/>
          </a:bodyPr>
          <a:lstStyle/>
          <a:p>
            <a:pPr algn="l"/>
            <a:r>
              <a:rPr sz="1150" b="0">
                <a:solidFill>
                  <a:srgbClr val="161D26"/>
                </a:solidFill>
                <a:latin typeface="Ember Modern Display Standard"/>
              </a:rPr>
              <a:t>Self-training on confident French decisions. No pair ever grades itself.</a:t>
            </a:r>
          </a:p>
        </p:txBody>
      </p:sp>
      <p:sp>
        <p:nvSpPr>
          <p:cNvPr id="279" name="Rounded Rectangle 278"/>
          <p:cNvSpPr/>
          <p:nvPr/>
        </p:nvSpPr>
        <p:spPr>
          <a:xfrm>
            <a:off x="6035040" y="1371600"/>
            <a:ext cx="2606040" cy="1828800"/>
          </a:xfrm>
          <a:prstGeom prst="roundRect">
            <a:avLst>
              <a:gd name="adj" fmla="val 3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Oval 279"/>
          <p:cNvSpPr/>
          <p:nvPr/>
        </p:nvSpPr>
        <p:spPr>
          <a:xfrm>
            <a:off x="6236207" y="1554480"/>
            <a:ext cx="365760" cy="365760"/>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TextBox 280"/>
          <p:cNvSpPr txBox="1"/>
          <p:nvPr/>
        </p:nvSpPr>
        <p:spPr>
          <a:xfrm>
            <a:off x="6236207" y="1554480"/>
            <a:ext cx="365760" cy="365760"/>
          </a:xfrm>
          <a:prstGeom prst="rect">
            <a:avLst/>
          </a:prstGeom>
          <a:noFill/>
        </p:spPr>
        <p:txBody>
          <a:bodyPr wrap="square" lIns="0" rIns="0" tIns="0" bIns="0" anchor="ctr">
            <a:spAutoFit/>
          </a:bodyPr>
          <a:lstStyle/>
          <a:p>
            <a:pPr algn="ctr"/>
            <a:r>
              <a:rPr sz="1300" b="1">
                <a:solidFill>
                  <a:srgbClr val="FFFFFF"/>
                </a:solidFill>
                <a:latin typeface="Ember Modern Display Standard"/>
              </a:rPr>
              <a:t>3</a:t>
            </a:r>
          </a:p>
        </p:txBody>
      </p:sp>
      <p:sp>
        <p:nvSpPr>
          <p:cNvPr id="282" name="TextBox 281"/>
          <p:cNvSpPr txBox="1"/>
          <p:nvPr/>
        </p:nvSpPr>
        <p:spPr>
          <a:xfrm>
            <a:off x="6236207" y="2057400"/>
            <a:ext cx="2240280" cy="320040"/>
          </a:xfrm>
          <a:prstGeom prst="rect">
            <a:avLst/>
          </a:prstGeom>
          <a:noFill/>
        </p:spPr>
        <p:txBody>
          <a:bodyPr wrap="square" lIns="0" rIns="0" tIns="0" bIns="0" anchor="t">
            <a:spAutoFit/>
          </a:bodyPr>
          <a:lstStyle/>
          <a:p>
            <a:pPr algn="l"/>
            <a:r>
              <a:rPr sz="1450" b="1">
                <a:solidFill>
                  <a:srgbClr val="161D26"/>
                </a:solidFill>
                <a:latin typeface="Ember Modern Display Standard"/>
              </a:rPr>
              <a:t>Get a second opinion</a:t>
            </a:r>
          </a:p>
        </p:txBody>
      </p:sp>
      <p:sp>
        <p:nvSpPr>
          <p:cNvPr id="283" name="TextBox 282"/>
          <p:cNvSpPr txBox="1"/>
          <p:nvPr/>
        </p:nvSpPr>
        <p:spPr>
          <a:xfrm>
            <a:off x="6236207" y="2450592"/>
            <a:ext cx="2240280" cy="685800"/>
          </a:xfrm>
          <a:prstGeom prst="rect">
            <a:avLst/>
          </a:prstGeom>
          <a:noFill/>
        </p:spPr>
        <p:txBody>
          <a:bodyPr wrap="square" lIns="0" rIns="0" tIns="0" bIns="0" anchor="t">
            <a:spAutoFit/>
          </a:bodyPr>
          <a:lstStyle/>
          <a:p>
            <a:pPr algn="l"/>
            <a:r>
              <a:rPr sz="1150" b="0">
                <a:solidFill>
                  <a:srgbClr val="161D26"/>
                </a:solidFill>
                <a:latin typeface="Ember Modern Display Standard"/>
              </a:rPr>
              <a:t>Diverse model families, then a 7B model re-checks confident answers.</a:t>
            </a:r>
          </a:p>
        </p:txBody>
      </p:sp>
      <p:sp>
        <p:nvSpPr>
          <p:cNvPr id="284" name="Rounded Rectangle 283"/>
          <p:cNvSpPr/>
          <p:nvPr/>
        </p:nvSpPr>
        <p:spPr>
          <a:xfrm>
            <a:off x="502920" y="3383280"/>
            <a:ext cx="8138160" cy="996696"/>
          </a:xfrm>
          <a:prstGeom prst="roundRect">
            <a:avLst>
              <a:gd name="adj" fmla="val 5504"/>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731520" y="3474720"/>
            <a:ext cx="1097280" cy="274320"/>
          </a:xfrm>
          <a:prstGeom prst="rect">
            <a:avLst/>
          </a:prstGeom>
          <a:noFill/>
        </p:spPr>
        <p:txBody>
          <a:bodyPr wrap="square" lIns="0" rIns="0" tIns="0" bIns="0" anchor="t">
            <a:spAutoFit/>
          </a:bodyPr>
          <a:lstStyle/>
          <a:p>
            <a:pPr algn="l"/>
            <a:r>
              <a:rPr sz="1000" b="1">
                <a:solidFill>
                  <a:srgbClr val="FFB28B"/>
                </a:solidFill>
                <a:latin typeface="Ember Modern Display Standard"/>
              </a:rPr>
              <a:t>FRANCE</a:t>
            </a:r>
          </a:p>
        </p:txBody>
      </p:sp>
      <p:sp>
        <p:nvSpPr>
          <p:cNvPr id="286" name="TextBox 285"/>
          <p:cNvSpPr txBox="1"/>
          <p:nvPr/>
        </p:nvSpPr>
        <p:spPr>
          <a:xfrm>
            <a:off x="731520" y="3703320"/>
            <a:ext cx="3108960" cy="548640"/>
          </a:xfrm>
          <a:prstGeom prst="rect">
            <a:avLst/>
          </a:prstGeom>
          <a:noFill/>
        </p:spPr>
        <p:txBody>
          <a:bodyPr wrap="square" lIns="0" rIns="0" tIns="0" bIns="0" anchor="t">
            <a:spAutoFit/>
          </a:bodyPr>
          <a:lstStyle/>
          <a:p>
            <a:pPr algn="l"/>
            <a:r>
              <a:rPr sz="2600" b="1">
                <a:solidFill>
                  <a:srgbClr val="FF6200"/>
                </a:solidFill>
                <a:latin typeface="Ember Modern Display Standard"/>
              </a:rPr>
              <a:t>≈ 0.93  →  ≈ 0.98</a:t>
            </a:r>
          </a:p>
        </p:txBody>
      </p:sp>
      <p:sp>
        <p:nvSpPr>
          <p:cNvPr id="287" name="TextBox 286"/>
          <p:cNvSpPr txBox="1"/>
          <p:nvPr/>
        </p:nvSpPr>
        <p:spPr>
          <a:xfrm>
            <a:off x="4160520" y="3547872"/>
            <a:ext cx="4297680" cy="731520"/>
          </a:xfrm>
          <a:prstGeom prst="rect">
            <a:avLst/>
          </a:prstGeom>
          <a:noFill/>
        </p:spPr>
        <p:txBody>
          <a:bodyPr wrap="square" lIns="0" rIns="0" tIns="0" bIns="0" anchor="t">
            <a:spAutoFit/>
          </a:bodyPr>
          <a:lstStyle/>
          <a:p>
            <a:pPr algn="l"/>
            <a:r>
              <a:rPr sz="1200" b="0">
                <a:solidFill>
                  <a:srgbClr val="FFFFFF"/>
                </a:solidFill>
                <a:latin typeface="Ember Modern Display Standard"/>
              </a:rPr>
              <a:t>Estimated: France was never measured directly.</a:t>
            </a:r>
          </a:p>
          <a:p>
            <a:pPr algn="l">
              <a:spcBef>
                <a:spcPts val="400"/>
              </a:spcBef>
            </a:pPr>
            <a:r>
              <a:rPr sz="1200" b="0">
                <a:solidFill>
                  <a:srgbClr val="FFFFFF"/>
                </a:solidFill>
                <a:latin typeface="Ember Modern Display Standard"/>
              </a:rPr>
              <a:t>Self-training failed twice before we got it right.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Three People,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Every Idea Tested</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We tried everything we could, and kept only what the evidence supported.</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486400" cy="201168"/>
          </a:xfrm>
          <a:prstGeom prst="rect">
            <a:avLst/>
          </a:prstGeom>
          <a:noFill/>
        </p:spPr>
        <p:txBody>
          <a:bodyPr wrap="square" lIns="0" rIns="0" tIns="0" bIns="0" anchor="t">
            <a:spAutoFit/>
          </a:bodyPr>
          <a:lstStyle/>
          <a:p>
            <a:pPr algn="l"/>
            <a:r>
              <a:rPr sz="850" b="0">
                <a:solidFill>
                  <a:srgbClr val="6B7280"/>
                </a:solidFill>
                <a:latin typeface="Ember Modern Display Standard"/>
              </a:rPr>
              <a:t>Data</a:t>
            </a:r>
            <a:r>
              <a:rPr sz="850" b="0">
                <a:solidFill>
                  <a:srgbClr val="B8C0CC"/>
                </a:solidFill>
                <a:latin typeface="Ember Modern Display Standard"/>
              </a:rPr>
              <a:t>   ·   </a:t>
            </a:r>
            <a:r>
              <a:rPr sz="850" b="0">
                <a:solidFill>
                  <a:srgbClr val="6B7280"/>
                </a:solidFill>
                <a:latin typeface="Ember Modern Display Standard"/>
              </a:rPr>
              <a:t>Principles</a:t>
            </a:r>
            <a:r>
              <a:rPr sz="850" b="0">
                <a:solidFill>
                  <a:srgbClr val="B8C0CC"/>
                </a:solidFill>
                <a:latin typeface="Ember Modern Display Standard"/>
              </a:rPr>
              <a:t>   ·   </a:t>
            </a:r>
            <a:r>
              <a:rPr sz="850" b="0">
                <a:solidFill>
                  <a:srgbClr val="6B7280"/>
                </a:solidFill>
                <a:latin typeface="Ember Modern Display Standard"/>
              </a:rPr>
              <a:t>Blocking</a:t>
            </a:r>
            <a:r>
              <a:rPr sz="850" b="0">
                <a:solidFill>
                  <a:srgbClr val="B8C0CC"/>
                </a:solidFill>
                <a:latin typeface="Ember Modern Display Standard"/>
              </a:rPr>
              <a:t>   ·   </a:t>
            </a:r>
            <a:r>
              <a:rPr sz="850" b="0">
                <a:solidFill>
                  <a:srgbClr val="6B7280"/>
                </a:solidFill>
                <a:latin typeface="Ember Modern Display Standard"/>
              </a:rPr>
              <a:t>Pipeline</a:t>
            </a:r>
            <a:r>
              <a:rPr sz="850" b="0">
                <a:solidFill>
                  <a:srgbClr val="B8C0CC"/>
                </a:solidFill>
                <a:latin typeface="Ember Modern Display Standard"/>
              </a:rPr>
              <a:t>   ·   </a:t>
            </a:r>
            <a:r>
              <a:rPr sz="850" b="0">
                <a:solidFill>
                  <a:srgbClr val="6B7280"/>
                </a:solidFill>
                <a:latin typeface="Ember Modern Display Standard"/>
              </a:rPr>
              <a:t>Leaderboard</a:t>
            </a:r>
            <a:r>
              <a:rPr sz="850" b="0">
                <a:solidFill>
                  <a:srgbClr val="B8C0CC"/>
                </a:solidFill>
                <a:latin typeface="Ember Modern Display Standard"/>
              </a:rPr>
              <a:t>   ·   </a:t>
            </a:r>
            <a:r>
              <a:rPr sz="850" b="0">
                <a:solidFill>
                  <a:srgbClr val="6B7280"/>
                </a:solidFill>
                <a:latin typeface="Ember Modern Display Standard"/>
              </a:rPr>
              <a:t>France</a:t>
            </a:r>
            <a:r>
              <a:rPr sz="850" b="0">
                <a:solidFill>
                  <a:srgbClr val="B8C0CC"/>
                </a:solidFill>
                <a:latin typeface="Ember Modern Display Standard"/>
              </a:rPr>
              <a:t>   ·   </a:t>
            </a:r>
            <a:r>
              <a:rPr sz="850" b="1">
                <a:solidFill>
                  <a:srgbClr val="FF6200"/>
                </a:solidFill>
                <a:latin typeface="Ember Modern Display Standard"/>
              </a:rPr>
              <a:t>Team</a:t>
            </a:r>
            <a:r>
              <a:rPr sz="850" b="0">
                <a:solidFill>
                  <a:srgbClr val="B8C0CC"/>
                </a:solidFill>
                <a:latin typeface="Ember Modern Display Standard"/>
              </a:rPr>
              <a:t>   ·   </a:t>
            </a:r>
            <a:r>
              <a:rPr sz="850" b="0">
                <a:solidFill>
                  <a:srgbClr val="6B7280"/>
                </a:solidFill>
                <a:latin typeface="Ember Modern Display Standard"/>
              </a:rPr>
              <a:t>Results</a:t>
            </a:r>
            <a:r>
              <a:rPr sz="850" b="0">
                <a:solidFill>
                  <a:srgbClr val="B8C0CC"/>
                </a:solidFill>
                <a:latin typeface="Ember Modern Display Standard"/>
              </a:rPr>
              <a:t>   ·   </a:t>
            </a:r>
            <a:r>
              <a:rPr sz="850" b="0">
                <a:solidFill>
                  <a:srgbClr val="6B7280"/>
                </a:solidFill>
                <a:latin typeface="Ember Modern Display Standard"/>
              </a:rPr>
              <a:t>Lessons</a:t>
            </a:r>
          </a:p>
        </p:txBody>
      </p:sp>
      <p:sp>
        <p:nvSpPr>
          <p:cNvPr id="268" name="TextBox 267"/>
          <p:cNvSpPr txBox="1"/>
          <p:nvPr/>
        </p:nvSpPr>
        <p:spPr>
          <a:xfrm>
            <a:off x="5669280" y="4608576"/>
            <a:ext cx="297180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Bias for Action  ·  Ownership  ·  Earn Trust</a:t>
            </a:r>
          </a:p>
        </p:txBody>
      </p:sp>
      <p:sp>
        <p:nvSpPr>
          <p:cNvPr id="269" name="TextBox 268"/>
          <p:cNvSpPr txBox="1"/>
          <p:nvPr/>
        </p:nvSpPr>
        <p:spPr>
          <a:xfrm>
            <a:off x="502920" y="1325880"/>
            <a:ext cx="2560320" cy="594360"/>
          </a:xfrm>
          <a:prstGeom prst="rect">
            <a:avLst/>
          </a:prstGeom>
          <a:noFill/>
        </p:spPr>
        <p:txBody>
          <a:bodyPr wrap="square" lIns="0" rIns="0" tIns="0" bIns="0" anchor="t">
            <a:spAutoFit/>
          </a:bodyPr>
          <a:lstStyle/>
          <a:p>
            <a:pPr algn="l"/>
            <a:r>
              <a:rPr sz="3400" b="1">
                <a:solidFill>
                  <a:srgbClr val="FF6200"/>
                </a:solidFill>
                <a:latin typeface="Ember Modern Display Standard"/>
              </a:rPr>
              <a:t>329</a:t>
            </a:r>
          </a:p>
        </p:txBody>
      </p:sp>
      <p:sp>
        <p:nvSpPr>
          <p:cNvPr id="270" name="TextBox 269"/>
          <p:cNvSpPr txBox="1"/>
          <p:nvPr/>
        </p:nvSpPr>
        <p:spPr>
          <a:xfrm>
            <a:off x="502920" y="1938528"/>
            <a:ext cx="2560320" cy="274320"/>
          </a:xfrm>
          <a:prstGeom prst="rect">
            <a:avLst/>
          </a:prstGeom>
          <a:noFill/>
        </p:spPr>
        <p:txBody>
          <a:bodyPr wrap="square" lIns="0" rIns="0" tIns="0" bIns="0" anchor="t">
            <a:spAutoFit/>
          </a:bodyPr>
          <a:lstStyle/>
          <a:p>
            <a:pPr algn="l"/>
            <a:r>
              <a:rPr sz="1350" b="1">
                <a:solidFill>
                  <a:srgbClr val="161D26"/>
                </a:solidFill>
                <a:latin typeface="Ember Modern Display Standard"/>
              </a:rPr>
              <a:t>experiments</a:t>
            </a:r>
          </a:p>
        </p:txBody>
      </p:sp>
      <p:sp>
        <p:nvSpPr>
          <p:cNvPr id="271" name="TextBox 270"/>
          <p:cNvSpPr txBox="1"/>
          <p:nvPr/>
        </p:nvSpPr>
        <p:spPr>
          <a:xfrm>
            <a:off x="502920" y="2221992"/>
            <a:ext cx="2560320" cy="274320"/>
          </a:xfrm>
          <a:prstGeom prst="rect">
            <a:avLst/>
          </a:prstGeom>
          <a:noFill/>
        </p:spPr>
        <p:txBody>
          <a:bodyPr wrap="square" lIns="0" rIns="0" tIns="0" bIns="0" anchor="t">
            <a:spAutoFit/>
          </a:bodyPr>
          <a:lstStyle/>
          <a:p>
            <a:pPr algn="l"/>
            <a:r>
              <a:rPr sz="1050" b="0">
                <a:solidFill>
                  <a:srgbClr val="6B7280"/>
                </a:solidFill>
                <a:latin typeface="Ember Modern Display Standard"/>
              </a:rPr>
              <a:t>177 kept · 126 dropped</a:t>
            </a:r>
          </a:p>
        </p:txBody>
      </p:sp>
      <p:sp>
        <p:nvSpPr>
          <p:cNvPr id="272" name="TextBox 271"/>
          <p:cNvSpPr txBox="1"/>
          <p:nvPr/>
        </p:nvSpPr>
        <p:spPr>
          <a:xfrm>
            <a:off x="3246120" y="1325880"/>
            <a:ext cx="2560320" cy="594360"/>
          </a:xfrm>
          <a:prstGeom prst="rect">
            <a:avLst/>
          </a:prstGeom>
          <a:noFill/>
        </p:spPr>
        <p:txBody>
          <a:bodyPr wrap="square" lIns="0" rIns="0" tIns="0" bIns="0" anchor="t">
            <a:spAutoFit/>
          </a:bodyPr>
          <a:lstStyle/>
          <a:p>
            <a:pPr algn="l"/>
            <a:r>
              <a:rPr sz="3400" b="1">
                <a:solidFill>
                  <a:srgbClr val="FF6200"/>
                </a:solidFill>
                <a:latin typeface="Ember Modern Display Standard"/>
              </a:rPr>
              <a:t>13</a:t>
            </a:r>
          </a:p>
        </p:txBody>
      </p:sp>
      <p:sp>
        <p:nvSpPr>
          <p:cNvPr id="273" name="TextBox 272"/>
          <p:cNvSpPr txBox="1"/>
          <p:nvPr/>
        </p:nvSpPr>
        <p:spPr>
          <a:xfrm>
            <a:off x="3246120" y="1938528"/>
            <a:ext cx="2560320" cy="274320"/>
          </a:xfrm>
          <a:prstGeom prst="rect">
            <a:avLst/>
          </a:prstGeom>
          <a:noFill/>
        </p:spPr>
        <p:txBody>
          <a:bodyPr wrap="square" lIns="0" rIns="0" tIns="0" bIns="0" anchor="t">
            <a:spAutoFit/>
          </a:bodyPr>
          <a:lstStyle/>
          <a:p>
            <a:pPr algn="l"/>
            <a:r>
              <a:rPr sz="1350" b="1">
                <a:solidFill>
                  <a:srgbClr val="161D26"/>
                </a:solidFill>
                <a:latin typeface="Ember Modern Display Standard"/>
              </a:rPr>
              <a:t>leaderboard uploads</a:t>
            </a:r>
          </a:p>
        </p:txBody>
      </p:sp>
      <p:sp>
        <p:nvSpPr>
          <p:cNvPr id="274" name="TextBox 273"/>
          <p:cNvSpPr txBox="1"/>
          <p:nvPr/>
        </p:nvSpPr>
        <p:spPr>
          <a:xfrm>
            <a:off x="3246120" y="2221992"/>
            <a:ext cx="2560320" cy="274320"/>
          </a:xfrm>
          <a:prstGeom prst="rect">
            <a:avLst/>
          </a:prstGeom>
          <a:noFill/>
        </p:spPr>
        <p:txBody>
          <a:bodyPr wrap="square" lIns="0" rIns="0" tIns="0" bIns="0" anchor="t">
            <a:spAutoFit/>
          </a:bodyPr>
          <a:lstStyle/>
          <a:p>
            <a:pPr algn="l"/>
            <a:r>
              <a:rPr sz="1050" b="0">
                <a:solidFill>
                  <a:srgbClr val="6B7280"/>
                </a:solidFill>
                <a:latin typeface="Ember Modern Display Standard"/>
              </a:rPr>
              <a:t>each one a controlled test</a:t>
            </a:r>
          </a:p>
        </p:txBody>
      </p:sp>
      <p:sp>
        <p:nvSpPr>
          <p:cNvPr id="275" name="TextBox 274"/>
          <p:cNvSpPr txBox="1"/>
          <p:nvPr/>
        </p:nvSpPr>
        <p:spPr>
          <a:xfrm>
            <a:off x="5989320" y="1325880"/>
            <a:ext cx="2560320" cy="594360"/>
          </a:xfrm>
          <a:prstGeom prst="rect">
            <a:avLst/>
          </a:prstGeom>
          <a:noFill/>
        </p:spPr>
        <p:txBody>
          <a:bodyPr wrap="square" lIns="0" rIns="0" tIns="0" bIns="0" anchor="t">
            <a:spAutoFit/>
          </a:bodyPr>
          <a:lstStyle/>
          <a:p>
            <a:pPr algn="l"/>
            <a:r>
              <a:rPr sz="3400" b="1">
                <a:solidFill>
                  <a:srgbClr val="FF6200"/>
                </a:solidFill>
                <a:latin typeface="Ember Modern Display Standard"/>
              </a:rPr>
              <a:t>247</a:t>
            </a:r>
          </a:p>
        </p:txBody>
      </p:sp>
      <p:sp>
        <p:nvSpPr>
          <p:cNvPr id="276" name="TextBox 275"/>
          <p:cNvSpPr txBox="1"/>
          <p:nvPr/>
        </p:nvSpPr>
        <p:spPr>
          <a:xfrm>
            <a:off x="5989320" y="1938528"/>
            <a:ext cx="2560320" cy="274320"/>
          </a:xfrm>
          <a:prstGeom prst="rect">
            <a:avLst/>
          </a:prstGeom>
          <a:noFill/>
        </p:spPr>
        <p:txBody>
          <a:bodyPr wrap="square" lIns="0" rIns="0" tIns="0" bIns="0" anchor="t">
            <a:spAutoFit/>
          </a:bodyPr>
          <a:lstStyle/>
          <a:p>
            <a:pPr algn="l"/>
            <a:r>
              <a:rPr sz="1350" b="1">
                <a:solidFill>
                  <a:srgbClr val="161D26"/>
                </a:solidFill>
                <a:latin typeface="Ember Modern Display Standard"/>
              </a:rPr>
              <a:t>decisions written down</a:t>
            </a:r>
          </a:p>
        </p:txBody>
      </p:sp>
      <p:sp>
        <p:nvSpPr>
          <p:cNvPr id="277" name="TextBox 276"/>
          <p:cNvSpPr txBox="1"/>
          <p:nvPr/>
        </p:nvSpPr>
        <p:spPr>
          <a:xfrm>
            <a:off x="5989320" y="2221992"/>
            <a:ext cx="2560320" cy="274320"/>
          </a:xfrm>
          <a:prstGeom prst="rect">
            <a:avLst/>
          </a:prstGeom>
          <a:noFill/>
        </p:spPr>
        <p:txBody>
          <a:bodyPr wrap="square" lIns="0" rIns="0" tIns="0" bIns="0" anchor="t">
            <a:spAutoFit/>
          </a:bodyPr>
          <a:lstStyle/>
          <a:p>
            <a:pPr algn="l"/>
            <a:r>
              <a:rPr sz="1050" b="0">
                <a:solidFill>
                  <a:srgbClr val="6B7280"/>
                </a:solidFill>
                <a:latin typeface="Ember Modern Display Standard"/>
              </a:rPr>
              <a:t>with the reason and the evidence</a:t>
            </a:r>
          </a:p>
        </p:txBody>
      </p:sp>
      <p:sp>
        <p:nvSpPr>
          <p:cNvPr id="278" name="Rounded Rectangle 277"/>
          <p:cNvSpPr/>
          <p:nvPr/>
        </p:nvSpPr>
        <p:spPr>
          <a:xfrm>
            <a:off x="502920" y="2743200"/>
            <a:ext cx="8138160" cy="1636776"/>
          </a:xfrm>
          <a:prstGeom prst="roundRect">
            <a:avLst>
              <a:gd name="adj" fmla="val 3351"/>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extBox 278"/>
          <p:cNvSpPr txBox="1"/>
          <p:nvPr/>
        </p:nvSpPr>
        <p:spPr>
          <a:xfrm>
            <a:off x="749808" y="2926080"/>
            <a:ext cx="2377440" cy="320040"/>
          </a:xfrm>
          <a:prstGeom prst="rect">
            <a:avLst/>
          </a:prstGeom>
          <a:noFill/>
        </p:spPr>
        <p:txBody>
          <a:bodyPr wrap="square" lIns="0" rIns="0" tIns="0" bIns="0" anchor="t">
            <a:spAutoFit/>
          </a:bodyPr>
          <a:lstStyle/>
          <a:p>
            <a:pPr algn="l"/>
            <a:r>
              <a:rPr sz="1500" b="1">
                <a:solidFill>
                  <a:srgbClr val="FF6200"/>
                </a:solidFill>
                <a:latin typeface="Ember Modern Display Standard"/>
              </a:rPr>
              <a:t>Ameya</a:t>
            </a:r>
          </a:p>
        </p:txBody>
      </p:sp>
      <p:sp>
        <p:nvSpPr>
          <p:cNvPr id="280" name="TextBox 279"/>
          <p:cNvSpPr txBox="1"/>
          <p:nvPr/>
        </p:nvSpPr>
        <p:spPr>
          <a:xfrm>
            <a:off x="749808" y="3273552"/>
            <a:ext cx="2377440" cy="548640"/>
          </a:xfrm>
          <a:prstGeom prst="rect">
            <a:avLst/>
          </a:prstGeom>
          <a:noFill/>
        </p:spPr>
        <p:txBody>
          <a:bodyPr wrap="square" lIns="0" rIns="0" tIns="0" bIns="0" anchor="t">
            <a:spAutoFit/>
          </a:bodyPr>
          <a:lstStyle/>
          <a:p>
            <a:pPr algn="l"/>
            <a:r>
              <a:rPr sz="1150" b="0">
                <a:solidFill>
                  <a:srgbClr val="FFFFFF"/>
                </a:solidFill>
                <a:latin typeface="Ember Modern Display Standard"/>
              </a:rPr>
              <a:t>Data analysis, blocking, the pipeline, France</a:t>
            </a:r>
          </a:p>
        </p:txBody>
      </p:sp>
      <p:sp>
        <p:nvSpPr>
          <p:cNvPr id="281" name="TextBox 280"/>
          <p:cNvSpPr txBox="1"/>
          <p:nvPr/>
        </p:nvSpPr>
        <p:spPr>
          <a:xfrm>
            <a:off x="3447288" y="2926080"/>
            <a:ext cx="2377440" cy="320040"/>
          </a:xfrm>
          <a:prstGeom prst="rect">
            <a:avLst/>
          </a:prstGeom>
          <a:noFill/>
        </p:spPr>
        <p:txBody>
          <a:bodyPr wrap="square" lIns="0" rIns="0" tIns="0" bIns="0" anchor="t">
            <a:spAutoFit/>
          </a:bodyPr>
          <a:lstStyle/>
          <a:p>
            <a:pPr algn="l"/>
            <a:r>
              <a:rPr sz="1500" b="1">
                <a:solidFill>
                  <a:srgbClr val="FF6200"/>
                </a:solidFill>
                <a:latin typeface="Ember Modern Display Standard"/>
              </a:rPr>
              <a:t>Aarush</a:t>
            </a:r>
          </a:p>
        </p:txBody>
      </p:sp>
      <p:sp>
        <p:nvSpPr>
          <p:cNvPr id="282" name="TextBox 281"/>
          <p:cNvSpPr txBox="1"/>
          <p:nvPr/>
        </p:nvSpPr>
        <p:spPr>
          <a:xfrm>
            <a:off x="3447288" y="3273552"/>
            <a:ext cx="2377440" cy="548640"/>
          </a:xfrm>
          <a:prstGeom prst="rect">
            <a:avLst/>
          </a:prstGeom>
          <a:noFill/>
        </p:spPr>
        <p:txBody>
          <a:bodyPr wrap="square" lIns="0" rIns="0" tIns="0" bIns="0" anchor="t">
            <a:spAutoFit/>
          </a:bodyPr>
          <a:lstStyle/>
          <a:p>
            <a:pPr algn="l"/>
            <a:r>
              <a:rPr sz="1150" b="0">
                <a:solidFill>
                  <a:srgbClr val="FFFFFF"/>
                </a:solidFill>
                <a:latin typeface="Ember Modern Display Standard"/>
              </a:rPr>
              <a:t>The 7B model, the re-check, the final composite</a:t>
            </a:r>
          </a:p>
        </p:txBody>
      </p:sp>
      <p:sp>
        <p:nvSpPr>
          <p:cNvPr id="283" name="TextBox 282"/>
          <p:cNvSpPr txBox="1"/>
          <p:nvPr/>
        </p:nvSpPr>
        <p:spPr>
          <a:xfrm>
            <a:off x="6144768" y="2926080"/>
            <a:ext cx="2377440" cy="320040"/>
          </a:xfrm>
          <a:prstGeom prst="rect">
            <a:avLst/>
          </a:prstGeom>
          <a:noFill/>
        </p:spPr>
        <p:txBody>
          <a:bodyPr wrap="square" lIns="0" rIns="0" tIns="0" bIns="0" anchor="t">
            <a:spAutoFit/>
          </a:bodyPr>
          <a:lstStyle/>
          <a:p>
            <a:pPr algn="l"/>
            <a:r>
              <a:rPr sz="1500" b="1">
                <a:solidFill>
                  <a:srgbClr val="FF6200"/>
                </a:solidFill>
                <a:latin typeface="Ember Modern Display Standard"/>
              </a:rPr>
              <a:t>Sachi</a:t>
            </a:r>
          </a:p>
        </p:txBody>
      </p:sp>
      <p:sp>
        <p:nvSpPr>
          <p:cNvPr id="284" name="TextBox 283"/>
          <p:cNvSpPr txBox="1"/>
          <p:nvPr/>
        </p:nvSpPr>
        <p:spPr>
          <a:xfrm>
            <a:off x="6144768" y="3273552"/>
            <a:ext cx="2377440" cy="548640"/>
          </a:xfrm>
          <a:prstGeom prst="rect">
            <a:avLst/>
          </a:prstGeom>
          <a:noFill/>
        </p:spPr>
        <p:txBody>
          <a:bodyPr wrap="square" lIns="0" rIns="0" tIns="0" bIns="0" anchor="t">
            <a:spAutoFit/>
          </a:bodyPr>
          <a:lstStyle/>
          <a:p>
            <a:pPr algn="l"/>
            <a:r>
              <a:rPr sz="1150" b="0">
                <a:solidFill>
                  <a:srgbClr val="FFFFFF"/>
                </a:solidFill>
                <a:latin typeface="Ember Modern Display Standard"/>
              </a:rPr>
              <a:t>Testing gates, the Qwen LoRA model, synthetic French</a:t>
            </a:r>
          </a:p>
        </p:txBody>
      </p:sp>
      <p:sp>
        <p:nvSpPr>
          <p:cNvPr id="285" name="TextBox 284"/>
          <p:cNvSpPr txBox="1"/>
          <p:nvPr/>
        </p:nvSpPr>
        <p:spPr>
          <a:xfrm>
            <a:off x="749808" y="4023360"/>
            <a:ext cx="7680960" cy="274320"/>
          </a:xfrm>
          <a:prstGeom prst="rect">
            <a:avLst/>
          </a:prstGeom>
          <a:noFill/>
        </p:spPr>
        <p:txBody>
          <a:bodyPr wrap="square" lIns="0" rIns="0" tIns="0" bIns="0" anchor="t">
            <a:spAutoFit/>
          </a:bodyPr>
          <a:lstStyle/>
          <a:p>
            <a:pPr algn="l"/>
            <a:r>
              <a:rPr sz="1100" b="0">
                <a:solidFill>
                  <a:srgbClr val="FFB28B"/>
                </a:solidFill>
                <a:latin typeface="Ember Modern Display Standard"/>
              </a:rPr>
              <a:t>Our rule: when two ideas tie, keep the simpler one.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The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Climb</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Every step up came from one change we understood.</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486400" cy="201168"/>
          </a:xfrm>
          <a:prstGeom prst="rect">
            <a:avLst/>
          </a:prstGeom>
          <a:noFill/>
        </p:spPr>
        <p:txBody>
          <a:bodyPr wrap="square" lIns="0" rIns="0" tIns="0" bIns="0" anchor="t">
            <a:spAutoFit/>
          </a:bodyPr>
          <a:lstStyle/>
          <a:p>
            <a:pPr algn="l"/>
            <a:r>
              <a:rPr sz="850" b="0">
                <a:solidFill>
                  <a:srgbClr val="6B7280"/>
                </a:solidFill>
                <a:latin typeface="Ember Modern Display Standard"/>
              </a:rPr>
              <a:t>Data</a:t>
            </a:r>
            <a:r>
              <a:rPr sz="850" b="0">
                <a:solidFill>
                  <a:srgbClr val="B8C0CC"/>
                </a:solidFill>
                <a:latin typeface="Ember Modern Display Standard"/>
              </a:rPr>
              <a:t>   ·   </a:t>
            </a:r>
            <a:r>
              <a:rPr sz="850" b="0">
                <a:solidFill>
                  <a:srgbClr val="6B7280"/>
                </a:solidFill>
                <a:latin typeface="Ember Modern Display Standard"/>
              </a:rPr>
              <a:t>Principles</a:t>
            </a:r>
            <a:r>
              <a:rPr sz="850" b="0">
                <a:solidFill>
                  <a:srgbClr val="B8C0CC"/>
                </a:solidFill>
                <a:latin typeface="Ember Modern Display Standard"/>
              </a:rPr>
              <a:t>   ·   </a:t>
            </a:r>
            <a:r>
              <a:rPr sz="850" b="0">
                <a:solidFill>
                  <a:srgbClr val="6B7280"/>
                </a:solidFill>
                <a:latin typeface="Ember Modern Display Standard"/>
              </a:rPr>
              <a:t>Blocking</a:t>
            </a:r>
            <a:r>
              <a:rPr sz="850" b="0">
                <a:solidFill>
                  <a:srgbClr val="B8C0CC"/>
                </a:solidFill>
                <a:latin typeface="Ember Modern Display Standard"/>
              </a:rPr>
              <a:t>   ·   </a:t>
            </a:r>
            <a:r>
              <a:rPr sz="850" b="0">
                <a:solidFill>
                  <a:srgbClr val="6B7280"/>
                </a:solidFill>
                <a:latin typeface="Ember Modern Display Standard"/>
              </a:rPr>
              <a:t>Pipeline</a:t>
            </a:r>
            <a:r>
              <a:rPr sz="850" b="0">
                <a:solidFill>
                  <a:srgbClr val="B8C0CC"/>
                </a:solidFill>
                <a:latin typeface="Ember Modern Display Standard"/>
              </a:rPr>
              <a:t>   ·   </a:t>
            </a:r>
            <a:r>
              <a:rPr sz="850" b="0">
                <a:solidFill>
                  <a:srgbClr val="6B7280"/>
                </a:solidFill>
                <a:latin typeface="Ember Modern Display Standard"/>
              </a:rPr>
              <a:t>Leaderboard</a:t>
            </a:r>
            <a:r>
              <a:rPr sz="850" b="0">
                <a:solidFill>
                  <a:srgbClr val="B8C0CC"/>
                </a:solidFill>
                <a:latin typeface="Ember Modern Display Standard"/>
              </a:rPr>
              <a:t>   ·   </a:t>
            </a:r>
            <a:r>
              <a:rPr sz="850" b="0">
                <a:solidFill>
                  <a:srgbClr val="6B7280"/>
                </a:solidFill>
                <a:latin typeface="Ember Modern Display Standard"/>
              </a:rPr>
              <a:t>France</a:t>
            </a:r>
            <a:r>
              <a:rPr sz="850" b="0">
                <a:solidFill>
                  <a:srgbClr val="B8C0CC"/>
                </a:solidFill>
                <a:latin typeface="Ember Modern Display Standard"/>
              </a:rPr>
              <a:t>   ·   </a:t>
            </a:r>
            <a:r>
              <a:rPr sz="850" b="0">
                <a:solidFill>
                  <a:srgbClr val="6B7280"/>
                </a:solidFill>
                <a:latin typeface="Ember Modern Display Standard"/>
              </a:rPr>
              <a:t>Team</a:t>
            </a:r>
            <a:r>
              <a:rPr sz="850" b="0">
                <a:solidFill>
                  <a:srgbClr val="B8C0CC"/>
                </a:solidFill>
                <a:latin typeface="Ember Modern Display Standard"/>
              </a:rPr>
              <a:t>   ·   </a:t>
            </a:r>
            <a:r>
              <a:rPr sz="850" b="1">
                <a:solidFill>
                  <a:srgbClr val="FF6200"/>
                </a:solidFill>
                <a:latin typeface="Ember Modern Display Standard"/>
              </a:rPr>
              <a:t>Results</a:t>
            </a:r>
            <a:r>
              <a:rPr sz="850" b="0">
                <a:solidFill>
                  <a:srgbClr val="B8C0CC"/>
                </a:solidFill>
                <a:latin typeface="Ember Modern Display Standard"/>
              </a:rPr>
              <a:t>   ·   </a:t>
            </a:r>
            <a:r>
              <a:rPr sz="850" b="0">
                <a:solidFill>
                  <a:srgbClr val="6B7280"/>
                </a:solidFill>
                <a:latin typeface="Ember Modern Display Standard"/>
              </a:rPr>
              <a:t>Lessons</a:t>
            </a:r>
          </a:p>
        </p:txBody>
      </p:sp>
      <p:sp>
        <p:nvSpPr>
          <p:cNvPr id="268" name="TextBox 267"/>
          <p:cNvSpPr txBox="1"/>
          <p:nvPr/>
        </p:nvSpPr>
        <p:spPr>
          <a:xfrm>
            <a:off x="5669280" y="4608576"/>
            <a:ext cx="297180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Deliver Results</a:t>
            </a:r>
          </a:p>
        </p:txBody>
      </p:sp>
      <p:graphicFrame>
        <p:nvGraphicFramePr>
          <p:cNvPr id="269" name="Chart 268"/>
          <p:cNvGraphicFramePr>
            <a:graphicFrameLocks noGrp="1"/>
          </p:cNvGraphicFramePr>
          <p:nvPr/>
        </p:nvGraphicFramePr>
        <p:xfrm>
          <a:off x="411480" y="1298448"/>
          <a:ext cx="5806440" cy="3200400"/>
        </p:xfrm>
        <a:graphic>
          <a:graphicData uri="http://schemas.openxmlformats.org/drawingml/2006/chart">
            <c:chart xmlns:c="http://schemas.openxmlformats.org/drawingml/2006/chart" r:id="rId2"/>
          </a:graphicData>
        </a:graphic>
      </p:graphicFrame>
      <p:sp>
        <p:nvSpPr>
          <p:cNvPr id="270" name="Rounded Rectangle 269"/>
          <p:cNvSpPr/>
          <p:nvPr/>
        </p:nvSpPr>
        <p:spPr>
          <a:xfrm>
            <a:off x="6400800" y="1371600"/>
            <a:ext cx="2240280" cy="3008376"/>
          </a:xfrm>
          <a:prstGeom prst="roundRect">
            <a:avLst>
              <a:gd name="adj" fmla="val 2448"/>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6601968" y="1554480"/>
            <a:ext cx="1920240" cy="228600"/>
          </a:xfrm>
          <a:prstGeom prst="rect">
            <a:avLst/>
          </a:prstGeom>
          <a:noFill/>
        </p:spPr>
        <p:txBody>
          <a:bodyPr wrap="square" lIns="0" rIns="0" tIns="0" bIns="0" anchor="t">
            <a:spAutoFit/>
          </a:bodyPr>
          <a:lstStyle/>
          <a:p>
            <a:pPr algn="l"/>
            <a:r>
              <a:rPr sz="850" b="1">
                <a:solidFill>
                  <a:srgbClr val="FFB28B"/>
                </a:solidFill>
                <a:latin typeface="Ember Modern Display Standard"/>
              </a:rPr>
              <a:t>FINAL, PUBLIC LEADERBOARD</a:t>
            </a:r>
          </a:p>
        </p:txBody>
      </p:sp>
      <p:sp>
        <p:nvSpPr>
          <p:cNvPr id="272" name="TextBox 271"/>
          <p:cNvSpPr txBox="1"/>
          <p:nvPr/>
        </p:nvSpPr>
        <p:spPr>
          <a:xfrm>
            <a:off x="6601968" y="1810512"/>
            <a:ext cx="1920240" cy="502920"/>
          </a:xfrm>
          <a:prstGeom prst="rect">
            <a:avLst/>
          </a:prstGeom>
          <a:noFill/>
        </p:spPr>
        <p:txBody>
          <a:bodyPr wrap="square" lIns="0" rIns="0" tIns="0" bIns="0" anchor="t">
            <a:spAutoFit/>
          </a:bodyPr>
          <a:lstStyle/>
          <a:p>
            <a:pPr algn="l"/>
            <a:r>
              <a:rPr sz="2400" b="1">
                <a:solidFill>
                  <a:srgbClr val="FF6200"/>
                </a:solidFill>
                <a:latin typeface="Ember Modern Display Standard"/>
              </a:rPr>
              <a:t>0.990879</a:t>
            </a:r>
          </a:p>
        </p:txBody>
      </p:sp>
      <p:sp>
        <p:nvSpPr>
          <p:cNvPr id="273" name="Rounded Rectangle 272"/>
          <p:cNvSpPr/>
          <p:nvPr/>
        </p:nvSpPr>
        <p:spPr>
          <a:xfrm>
            <a:off x="6601968" y="2487168"/>
            <a:ext cx="1828800" cy="18288"/>
          </a:xfrm>
          <a:prstGeom prst="roundRect">
            <a:avLst>
              <a:gd name="adj" fmla="val 50000"/>
            </a:avLst>
          </a:prstGeom>
          <a:solidFill>
            <a:srgbClr val="3A4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extBox 273"/>
          <p:cNvSpPr txBox="1"/>
          <p:nvPr/>
        </p:nvSpPr>
        <p:spPr>
          <a:xfrm>
            <a:off x="6601968" y="2651760"/>
            <a:ext cx="1920240" cy="640080"/>
          </a:xfrm>
          <a:prstGeom prst="rect">
            <a:avLst/>
          </a:prstGeom>
          <a:noFill/>
        </p:spPr>
        <p:txBody>
          <a:bodyPr wrap="square" lIns="0" rIns="0" tIns="0" bIns="0" anchor="t">
            <a:spAutoFit/>
          </a:bodyPr>
          <a:lstStyle/>
          <a:p>
            <a:pPr algn="l"/>
            <a:r>
              <a:rPr sz="3400" b="1">
                <a:solidFill>
                  <a:srgbClr val="FFFFFF"/>
                </a:solidFill>
                <a:latin typeface="Ember Modern Display Standard"/>
              </a:rPr>
              <a:t>2nd</a:t>
            </a:r>
            <a:r>
              <a:rPr sz="1300" b="0">
                <a:solidFill>
                  <a:srgbClr val="FFFFFF"/>
                </a:solidFill>
                <a:latin typeface="Ember Modern Display Standard"/>
              </a:rPr>
              <a:t>  of the Top 10</a:t>
            </a:r>
          </a:p>
        </p:txBody>
      </p:sp>
      <p:sp>
        <p:nvSpPr>
          <p:cNvPr id="275" name="TextBox 274"/>
          <p:cNvSpPr txBox="1"/>
          <p:nvPr/>
        </p:nvSpPr>
        <p:spPr>
          <a:xfrm>
            <a:off x="6601968" y="3337560"/>
            <a:ext cx="1920240" cy="274320"/>
          </a:xfrm>
          <a:prstGeom prst="rect">
            <a:avLst/>
          </a:prstGeom>
          <a:noFill/>
        </p:spPr>
        <p:txBody>
          <a:bodyPr wrap="square" lIns="0" rIns="0" tIns="0" bIns="0" anchor="t">
            <a:spAutoFit/>
          </a:bodyPr>
          <a:lstStyle/>
          <a:p>
            <a:pPr algn="l"/>
            <a:r>
              <a:rPr sz="1150" b="0">
                <a:solidFill>
                  <a:srgbClr val="FFB28B"/>
                </a:solidFill>
                <a:latin typeface="Ember Modern Display Standard"/>
              </a:rPr>
              <a:t>among 32,000+ teams</a:t>
            </a:r>
          </a:p>
        </p:txBody>
      </p:sp>
      <p:sp>
        <p:nvSpPr>
          <p:cNvPr id="276" name="TextBox 275"/>
          <p:cNvSpPr txBox="1"/>
          <p:nvPr/>
        </p:nvSpPr>
        <p:spPr>
          <a:xfrm>
            <a:off x="6601968" y="3840480"/>
            <a:ext cx="1920240" cy="411480"/>
          </a:xfrm>
          <a:prstGeom prst="rect">
            <a:avLst/>
          </a:prstGeom>
          <a:noFill/>
        </p:spPr>
        <p:txBody>
          <a:bodyPr wrap="square" lIns="0" rIns="0" tIns="0" bIns="0" anchor="t">
            <a:spAutoFit/>
          </a:bodyPr>
          <a:lstStyle/>
          <a:p>
            <a:pPr algn="l"/>
            <a:r>
              <a:rPr sz="1000" b="0">
                <a:solidFill>
                  <a:srgbClr val="B8C0CC"/>
                </a:solidFill>
                <a:latin typeface="Ember Modern Display Standard"/>
              </a:rPr>
              <a:t>local validation 0.9913, without France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What We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Learned</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And what we would do next, at Amazon scale.</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486400" cy="201168"/>
          </a:xfrm>
          <a:prstGeom prst="rect">
            <a:avLst/>
          </a:prstGeom>
          <a:noFill/>
        </p:spPr>
        <p:txBody>
          <a:bodyPr wrap="square" lIns="0" rIns="0" tIns="0" bIns="0" anchor="t">
            <a:spAutoFit/>
          </a:bodyPr>
          <a:lstStyle/>
          <a:p>
            <a:pPr algn="l"/>
            <a:r>
              <a:rPr sz="850" b="0">
                <a:solidFill>
                  <a:srgbClr val="6B7280"/>
                </a:solidFill>
                <a:latin typeface="Ember Modern Display Standard"/>
              </a:rPr>
              <a:t>Data</a:t>
            </a:r>
            <a:r>
              <a:rPr sz="850" b="0">
                <a:solidFill>
                  <a:srgbClr val="B8C0CC"/>
                </a:solidFill>
                <a:latin typeface="Ember Modern Display Standard"/>
              </a:rPr>
              <a:t>   ·   </a:t>
            </a:r>
            <a:r>
              <a:rPr sz="850" b="0">
                <a:solidFill>
                  <a:srgbClr val="6B7280"/>
                </a:solidFill>
                <a:latin typeface="Ember Modern Display Standard"/>
              </a:rPr>
              <a:t>Principles</a:t>
            </a:r>
            <a:r>
              <a:rPr sz="850" b="0">
                <a:solidFill>
                  <a:srgbClr val="B8C0CC"/>
                </a:solidFill>
                <a:latin typeface="Ember Modern Display Standard"/>
              </a:rPr>
              <a:t>   ·   </a:t>
            </a:r>
            <a:r>
              <a:rPr sz="850" b="0">
                <a:solidFill>
                  <a:srgbClr val="6B7280"/>
                </a:solidFill>
                <a:latin typeface="Ember Modern Display Standard"/>
              </a:rPr>
              <a:t>Blocking</a:t>
            </a:r>
            <a:r>
              <a:rPr sz="850" b="0">
                <a:solidFill>
                  <a:srgbClr val="B8C0CC"/>
                </a:solidFill>
                <a:latin typeface="Ember Modern Display Standard"/>
              </a:rPr>
              <a:t>   ·   </a:t>
            </a:r>
            <a:r>
              <a:rPr sz="850" b="0">
                <a:solidFill>
                  <a:srgbClr val="6B7280"/>
                </a:solidFill>
                <a:latin typeface="Ember Modern Display Standard"/>
              </a:rPr>
              <a:t>Pipeline</a:t>
            </a:r>
            <a:r>
              <a:rPr sz="850" b="0">
                <a:solidFill>
                  <a:srgbClr val="B8C0CC"/>
                </a:solidFill>
                <a:latin typeface="Ember Modern Display Standard"/>
              </a:rPr>
              <a:t>   ·   </a:t>
            </a:r>
            <a:r>
              <a:rPr sz="850" b="0">
                <a:solidFill>
                  <a:srgbClr val="6B7280"/>
                </a:solidFill>
                <a:latin typeface="Ember Modern Display Standard"/>
              </a:rPr>
              <a:t>Leaderboard</a:t>
            </a:r>
            <a:r>
              <a:rPr sz="850" b="0">
                <a:solidFill>
                  <a:srgbClr val="B8C0CC"/>
                </a:solidFill>
                <a:latin typeface="Ember Modern Display Standard"/>
              </a:rPr>
              <a:t>   ·   </a:t>
            </a:r>
            <a:r>
              <a:rPr sz="850" b="0">
                <a:solidFill>
                  <a:srgbClr val="6B7280"/>
                </a:solidFill>
                <a:latin typeface="Ember Modern Display Standard"/>
              </a:rPr>
              <a:t>France</a:t>
            </a:r>
            <a:r>
              <a:rPr sz="850" b="0">
                <a:solidFill>
                  <a:srgbClr val="B8C0CC"/>
                </a:solidFill>
                <a:latin typeface="Ember Modern Display Standard"/>
              </a:rPr>
              <a:t>   ·   </a:t>
            </a:r>
            <a:r>
              <a:rPr sz="850" b="0">
                <a:solidFill>
                  <a:srgbClr val="6B7280"/>
                </a:solidFill>
                <a:latin typeface="Ember Modern Display Standard"/>
              </a:rPr>
              <a:t>Team</a:t>
            </a:r>
            <a:r>
              <a:rPr sz="850" b="0">
                <a:solidFill>
                  <a:srgbClr val="B8C0CC"/>
                </a:solidFill>
                <a:latin typeface="Ember Modern Display Standard"/>
              </a:rPr>
              <a:t>   ·   </a:t>
            </a:r>
            <a:r>
              <a:rPr sz="850" b="0">
                <a:solidFill>
                  <a:srgbClr val="6B7280"/>
                </a:solidFill>
                <a:latin typeface="Ember Modern Display Standard"/>
              </a:rPr>
              <a:t>Results</a:t>
            </a:r>
            <a:r>
              <a:rPr sz="850" b="0">
                <a:solidFill>
                  <a:srgbClr val="B8C0CC"/>
                </a:solidFill>
                <a:latin typeface="Ember Modern Display Standard"/>
              </a:rPr>
              <a:t>   ·   </a:t>
            </a:r>
            <a:r>
              <a:rPr sz="850" b="1">
                <a:solidFill>
                  <a:srgbClr val="FF6200"/>
                </a:solidFill>
                <a:latin typeface="Ember Modern Display Standard"/>
              </a:rPr>
              <a:t>Lessons</a:t>
            </a:r>
          </a:p>
        </p:txBody>
      </p:sp>
      <p:sp>
        <p:nvSpPr>
          <p:cNvPr id="268" name="TextBox 267"/>
          <p:cNvSpPr txBox="1"/>
          <p:nvPr/>
        </p:nvSpPr>
        <p:spPr>
          <a:xfrm>
            <a:off x="5669280" y="4608576"/>
            <a:ext cx="297180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Success and Scale Bring Broad Responsibility</a:t>
            </a:r>
          </a:p>
        </p:txBody>
      </p:sp>
      <p:sp>
        <p:nvSpPr>
          <p:cNvPr id="269" name="Rounded Rectangle 268"/>
          <p:cNvSpPr/>
          <p:nvPr/>
        </p:nvSpPr>
        <p:spPr>
          <a:xfrm>
            <a:off x="502920" y="1371600"/>
            <a:ext cx="3931920" cy="3008376"/>
          </a:xfrm>
          <a:prstGeom prst="roundRect">
            <a:avLst>
              <a:gd name="adj" fmla="val 1823"/>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731520" y="1554480"/>
            <a:ext cx="3474720" cy="320040"/>
          </a:xfrm>
          <a:prstGeom prst="rect">
            <a:avLst/>
          </a:prstGeom>
          <a:noFill/>
        </p:spPr>
        <p:txBody>
          <a:bodyPr wrap="square" lIns="0" rIns="0" tIns="0" bIns="0" anchor="t">
            <a:spAutoFit/>
          </a:bodyPr>
          <a:lstStyle/>
          <a:p>
            <a:pPr algn="l"/>
            <a:r>
              <a:rPr sz="1500" b="1">
                <a:solidFill>
                  <a:srgbClr val="FF6200"/>
                </a:solidFill>
                <a:latin typeface="Ember Modern Display Standard"/>
              </a:rPr>
              <a:t>Lessons</a:t>
            </a:r>
          </a:p>
        </p:txBody>
      </p:sp>
      <p:sp>
        <p:nvSpPr>
          <p:cNvPr id="271" name="TextBox 270"/>
          <p:cNvSpPr txBox="1"/>
          <p:nvPr/>
        </p:nvSpPr>
        <p:spPr>
          <a:xfrm>
            <a:off x="731520" y="1965960"/>
            <a:ext cx="3520440" cy="2286000"/>
          </a:xfrm>
          <a:prstGeom prst="rect">
            <a:avLst/>
          </a:prstGeom>
          <a:noFill/>
        </p:spPr>
        <p:txBody>
          <a:bodyPr wrap="square" lIns="0" rIns="0" tIns="0" bIns="0" anchor="t">
            <a:spAutoFit/>
          </a:bodyPr>
          <a:lstStyle/>
          <a:p>
            <a:pPr algn="l"/>
            <a:r>
              <a:rPr sz="1300" b="1">
                <a:solidFill>
                  <a:srgbClr val="161D26"/>
                </a:solidFill>
                <a:latin typeface="Ember Modern Display Standard"/>
              </a:rPr>
              <a:t>Read the data first. </a:t>
            </a:r>
            <a:r>
              <a:rPr sz="1300" b="0">
                <a:solidFill>
                  <a:srgbClr val="161D26"/>
                </a:solidFill>
                <a:latin typeface="Ember Modern Display Standard"/>
              </a:rPr>
              <a:t>It drove every good decision.</a:t>
            </a:r>
          </a:p>
          <a:p>
            <a:pPr algn="l">
              <a:spcBef>
                <a:spcPts val="1200"/>
              </a:spcBef>
            </a:pPr>
            <a:r>
              <a:rPr sz="1300" b="1">
                <a:solidFill>
                  <a:srgbClr val="161D26"/>
                </a:solidFill>
                <a:latin typeface="Ember Modern Display Standard"/>
              </a:rPr>
              <a:t>Doubt your own estimates. </a:t>
            </a:r>
            <a:r>
              <a:rPr sz="1300" b="0">
                <a:solidFill>
                  <a:srgbClr val="161D26"/>
                </a:solidFill>
                <a:latin typeface="Ember Modern Display Standard"/>
              </a:rPr>
              <a:t>Ours shared our model's blind spots.</a:t>
            </a:r>
          </a:p>
          <a:p>
            <a:pPr algn="l">
              <a:spcBef>
                <a:spcPts val="1200"/>
              </a:spcBef>
            </a:pPr>
            <a:r>
              <a:rPr sz="1300" b="1">
                <a:solidFill>
                  <a:srgbClr val="161D26"/>
                </a:solidFill>
                <a:latin typeface="Ember Modern Display Standard"/>
              </a:rPr>
              <a:t>Diversity beats one strong model, </a:t>
            </a:r>
            <a:r>
              <a:rPr sz="1300" b="0">
                <a:solidFill>
                  <a:srgbClr val="161D26"/>
                </a:solidFill>
                <a:latin typeface="Ember Modern Display Standard"/>
              </a:rPr>
              <a:t>most of all in a country you have never seen.</a:t>
            </a:r>
          </a:p>
        </p:txBody>
      </p:sp>
      <p:sp>
        <p:nvSpPr>
          <p:cNvPr id="272" name="Rounded Rectangle 271"/>
          <p:cNvSpPr/>
          <p:nvPr/>
        </p:nvSpPr>
        <p:spPr>
          <a:xfrm>
            <a:off x="4709160" y="1371600"/>
            <a:ext cx="3931920" cy="3008376"/>
          </a:xfrm>
          <a:prstGeom prst="roundRect">
            <a:avLst>
              <a:gd name="adj" fmla="val 1823"/>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4937760" y="1554480"/>
            <a:ext cx="3474720" cy="320040"/>
          </a:xfrm>
          <a:prstGeom prst="rect">
            <a:avLst/>
          </a:prstGeom>
          <a:noFill/>
        </p:spPr>
        <p:txBody>
          <a:bodyPr wrap="square" lIns="0" rIns="0" tIns="0" bIns="0" anchor="t">
            <a:spAutoFit/>
          </a:bodyPr>
          <a:lstStyle/>
          <a:p>
            <a:pPr algn="l"/>
            <a:r>
              <a:rPr sz="1500" b="1">
                <a:solidFill>
                  <a:srgbClr val="FF6200"/>
                </a:solidFill>
                <a:latin typeface="Ember Modern Display Standard"/>
              </a:rPr>
              <a:t>Next, at Amazon scale</a:t>
            </a:r>
          </a:p>
        </p:txBody>
      </p:sp>
      <p:sp>
        <p:nvSpPr>
          <p:cNvPr id="274" name="TextBox 273"/>
          <p:cNvSpPr txBox="1"/>
          <p:nvPr/>
        </p:nvSpPr>
        <p:spPr>
          <a:xfrm>
            <a:off x="4937760" y="1965960"/>
            <a:ext cx="3520440" cy="2286000"/>
          </a:xfrm>
          <a:prstGeom prst="rect">
            <a:avLst/>
          </a:prstGeom>
          <a:noFill/>
        </p:spPr>
        <p:txBody>
          <a:bodyPr wrap="square" lIns="0" rIns="0" tIns="0" bIns="0" anchor="t">
            <a:spAutoFit/>
          </a:bodyPr>
          <a:lstStyle/>
          <a:p>
            <a:pPr algn="l"/>
            <a:r>
              <a:rPr sz="1300" b="1">
                <a:solidFill>
                  <a:srgbClr val="FFFFFF"/>
                </a:solidFill>
                <a:latin typeface="Ember Modern Display Standard"/>
              </a:rPr>
              <a:t>Label 500 French pairs </a:t>
            </a:r>
            <a:r>
              <a:rPr sz="1300" b="0">
                <a:solidFill>
                  <a:srgbClr val="FFFFFF"/>
                </a:solidFill>
                <a:latin typeface="Ember Modern Display Standard"/>
              </a:rPr>
              <a:t>where our models disagree most.</a:t>
            </a:r>
          </a:p>
          <a:p>
            <a:pPr algn="l">
              <a:spcBef>
                <a:spcPts val="1200"/>
              </a:spcBef>
            </a:pPr>
            <a:r>
              <a:rPr sz="1300" b="1">
                <a:solidFill>
                  <a:srgbClr val="FFFFFF"/>
                </a:solidFill>
                <a:latin typeface="Ember Modern Display Standard"/>
              </a:rPr>
              <a:t>Shard by country and region; </a:t>
            </a:r>
            <a:r>
              <a:rPr sz="1300" b="0">
                <a:solidFill>
                  <a:srgbClr val="FFFFFF"/>
                </a:solidFill>
                <a:latin typeface="Ember Modern Display Standard"/>
              </a:rPr>
              <a:t>the same cascade runs on each shard.</a:t>
            </a:r>
          </a:p>
          <a:p>
            <a:pPr algn="l">
              <a:spcBef>
                <a:spcPts val="1200"/>
              </a:spcBef>
            </a:pPr>
            <a:r>
              <a:rPr sz="1300" b="1">
                <a:solidFill>
                  <a:srgbClr val="FFFFFF"/>
                </a:solidFill>
                <a:latin typeface="Ember Modern Display Standard"/>
              </a:rPr>
              <a:t>Keep candidates near 3 to 4 per entity: </a:t>
            </a:r>
            <a:r>
              <a:rPr sz="1300" b="0">
                <a:solidFill>
                  <a:srgbClr val="FFFFFF"/>
                </a:solidFill>
                <a:latin typeface="Ember Modern Display Standard"/>
              </a:rPr>
              <a:t>every later step pays per pair.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Shape 124">
          <a:extLst>
            <a:ext uri="{FF2B5EF4-FFF2-40B4-BE49-F238E27FC236}">
              <a16:creationId xmlns:a16="http://schemas.microsoft.com/office/drawing/2014/main" id="{73DD50EC-CAFF-8F02-F010-6694E0B1FB8B}"/>
            </a:ext>
          </a:extLst>
        </p:cNvPr>
        <p:cNvGrpSpPr/>
        <p:nvPr/>
      </p:nvGrpSpPr>
      <p:grpSpPr>
        <a:xfrm>
          <a:off x="0" y="0"/>
          <a:ext cx="0" cy="0"/>
          <a:chOff x="0" y="0"/>
          <a:chExt cx="0" cy="0"/>
        </a:xfrm>
      </p:grpSpPr>
      <p:sp>
        <p:nvSpPr>
          <p:cNvPr id="125" name="Google Shape;125;p36">
            <a:extLst>
              <a:ext uri="{FF2B5EF4-FFF2-40B4-BE49-F238E27FC236}">
                <a16:creationId xmlns:a16="http://schemas.microsoft.com/office/drawing/2014/main" id="{FB03AD22-4ED4-FE94-6FE7-8417ED8F816B}"/>
              </a:ext>
            </a:extLst>
          </p:cNvPr>
          <p:cNvSpPr>
            <a:spLocks noGrp="1" noRot="1" noMove="1" noResize="1" noEditPoints="1" noAdjustHandles="1" noChangeArrowheads="1" noChangeShapeType="1"/>
          </p:cNvSpPr>
          <p:nvPr/>
        </p:nvSpPr>
        <p:spPr>
          <a:xfrm>
            <a:off x="487675" y="403650"/>
            <a:ext cx="8181300" cy="4153800"/>
          </a:xfrm>
          <a:prstGeom prst="roundRect">
            <a:avLst>
              <a:gd name="adj" fmla="val 2303"/>
            </a:avLst>
          </a:prstGeom>
          <a:solidFill>
            <a:srgbClr val="29344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 name="Picture 1" descr="A logo of a company&#10;&#10;AI-generated content may be incorrect.">
            <a:extLst>
              <a:ext uri="{FF2B5EF4-FFF2-40B4-BE49-F238E27FC236}">
                <a16:creationId xmlns:a16="http://schemas.microsoft.com/office/drawing/2014/main" id="{7EBF125C-021C-FEB9-9139-9A3274BE5891}"/>
              </a:ext>
            </a:extLst>
          </p:cNvPr>
          <p:cNvPicPr>
            <a:picLocks noGrp="1" noRot="1" noChangeAspec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4" name="Google Shape;572;p58">
            <a:extLst>
              <a:ext uri="{FF2B5EF4-FFF2-40B4-BE49-F238E27FC236}">
                <a16:creationId xmlns:a16="http://schemas.microsoft.com/office/drawing/2014/main" id="{2BD61A1F-1DC5-B773-FCE6-6725995FE91D}"/>
              </a:ext>
            </a:extLst>
          </p:cNvPr>
          <p:cNvSpPr/>
          <p:nvPr/>
        </p:nvSpPr>
        <p:spPr>
          <a:xfrm>
            <a:off x="3035315" y="3156693"/>
            <a:ext cx="3114474" cy="292800"/>
          </a:xfrm>
          <a:prstGeom prst="roundRect">
            <a:avLst>
              <a:gd name="adj" fmla="val 50000"/>
            </a:avLst>
          </a:prstGeom>
          <a:solidFill>
            <a:srgbClr val="FF620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algn="ctr"/>
            <a:r>
              <a:rPr sz="1200" b="1">
                <a:solidFill>
                  <a:srgbClr val="FFFFFF"/>
                </a:solidFill>
                <a:latin typeface="Ember Modern Display Standard"/>
              </a:rPr>
              <a:t>Questions welcome</a:t>
            </a:r>
          </a:p>
        </p:txBody>
      </p:sp>
      <p:sp>
        <p:nvSpPr>
          <p:cNvPr id="126" name="TextBox 125"/>
          <p:cNvSpPr txBox="1"/>
          <p:nvPr/>
        </p:nvSpPr>
        <p:spPr>
          <a:xfrm>
            <a:off x="484632" y="1051560"/>
            <a:ext cx="8183879" cy="822960"/>
          </a:xfrm>
          <a:prstGeom prst="rect">
            <a:avLst/>
          </a:prstGeom>
          <a:noFill/>
        </p:spPr>
        <p:txBody>
          <a:bodyPr wrap="square" lIns="0" rIns="0" tIns="0" bIns="0" anchor="t">
            <a:spAutoFit/>
          </a:bodyPr>
          <a:lstStyle/>
          <a:p>
            <a:pPr algn="ctr"/>
            <a:r>
              <a:rPr sz="4400" b="1">
                <a:solidFill>
                  <a:srgbClr val="FFFFFF"/>
                </a:solidFill>
                <a:latin typeface="Ember Modern Display Standard"/>
              </a:rPr>
              <a:t>Thank </a:t>
            </a:r>
            <a:r>
              <a:rPr sz="4400" b="1">
                <a:solidFill>
                  <a:srgbClr val="FF6200"/>
                </a:solidFill>
                <a:latin typeface="Ember Modern Display Standard"/>
              </a:rPr>
              <a:t>You</a:t>
            </a:r>
          </a:p>
        </p:txBody>
      </p:sp>
      <p:sp>
        <p:nvSpPr>
          <p:cNvPr id="127" name="TextBox 126"/>
          <p:cNvSpPr txBox="1"/>
          <p:nvPr/>
        </p:nvSpPr>
        <p:spPr>
          <a:xfrm>
            <a:off x="914400" y="2148840"/>
            <a:ext cx="7315200" cy="365760"/>
          </a:xfrm>
          <a:prstGeom prst="rect">
            <a:avLst/>
          </a:prstGeom>
          <a:noFill/>
        </p:spPr>
        <p:txBody>
          <a:bodyPr wrap="square" lIns="0" rIns="0" tIns="0" bIns="0" anchor="t">
            <a:spAutoFit/>
          </a:bodyPr>
          <a:lstStyle/>
          <a:p>
            <a:pPr algn="ctr"/>
            <a:r>
              <a:rPr sz="1500" b="0">
                <a:solidFill>
                  <a:srgbClr val="D6DCE7"/>
                </a:solidFill>
                <a:latin typeface="Ember Modern Display Standard"/>
              </a:rPr>
              <a:t>Read the data.   Decide like the metric.   Spend compute where it matters.</a:t>
            </a:r>
          </a:p>
        </p:txBody>
      </p:sp>
      <p:sp>
        <p:nvSpPr>
          <p:cNvPr id="128" name="TextBox 127"/>
          <p:cNvSpPr txBox="1"/>
          <p:nvPr/>
        </p:nvSpPr>
        <p:spPr>
          <a:xfrm>
            <a:off x="484632" y="3749039"/>
            <a:ext cx="8183879" cy="274320"/>
          </a:xfrm>
          <a:prstGeom prst="rect">
            <a:avLst/>
          </a:prstGeom>
          <a:noFill/>
        </p:spPr>
        <p:txBody>
          <a:bodyPr wrap="square" lIns="0" rIns="0" tIns="0" bIns="0" anchor="t">
            <a:spAutoFit/>
          </a:bodyPr>
          <a:lstStyle/>
          <a:p>
            <a:pPr algn="ctr"/>
            <a:r>
              <a:rPr sz="1100" b="0">
                <a:solidFill>
                  <a:srgbClr val="B8C0CC"/>
                </a:solidFill>
                <a:latin typeface="Ember Modern Display Standard"/>
              </a:rPr>
              <a:t>Team Grenuke  ·  Ameya Borkar  ·  Aarush Bakshi  ·  Sachi Dhoka</a:t>
            </a:r>
          </a:p>
        </p:txBody>
      </p:sp>
    </p:spTree>
    <p:extLst>
      <p:ext uri="{BB962C8B-B14F-4D97-AF65-F5344CB8AC3E}">
        <p14:creationId xmlns:p14="http://schemas.microsoft.com/office/powerpoint/2010/main" val="3227969509"/>
      </p:ext>
    </p:extLst>
  </p:cSld>
  <p:clrMapOvr>
    <a:masterClrMapping/>
  </p:clrMapOvr>
</p:sld>
</file>

<file path=ppt/theme/theme1.xml><?xml version="1.0" encoding="utf-8"?>
<a:theme xmlns:a="http://schemas.openxmlformats.org/drawingml/2006/main" name="Amazon">
  <a:themeElements>
    <a:clrScheme name="Simple Light">
      <a:dk1>
        <a:srgbClr val="000000"/>
      </a:dk1>
      <a:lt1>
        <a:srgbClr val="FFFFFF"/>
      </a:lt1>
      <a:dk2>
        <a:srgbClr val="595959"/>
      </a:dk2>
      <a:lt2>
        <a:srgbClr val="EEEEEE"/>
      </a:lt2>
      <a:accent1>
        <a:srgbClr val="FF6200"/>
      </a:accent1>
      <a:accent2>
        <a:srgbClr val="161D26"/>
      </a:accent2>
      <a:accent3>
        <a:srgbClr val="F5F3EF"/>
      </a:accent3>
      <a:accent4>
        <a:srgbClr val="FFB28B"/>
      </a:accent4>
      <a:accent5>
        <a:srgbClr val="D1CAC2"/>
      </a:accent5>
      <a:accent6>
        <a:srgbClr val="D6DCE7"/>
      </a:accent6>
      <a:hlink>
        <a:srgbClr val="B6BFB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473</TotalTime>
  <Words>285</Words>
  <Application>Microsoft Office PowerPoint</Application>
  <PresentationFormat>On-screen Show (16:9)</PresentationFormat>
  <Paragraphs>13</Paragraphs>
  <Slides>3</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Ember Modern Display Standard</vt:lpstr>
      <vt:lpstr>Arial</vt:lpstr>
      <vt:lpstr>Helvetica Neue</vt:lpstr>
      <vt:lpstr>Play</vt:lpstr>
      <vt:lpstr>Amazon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Kumar A, Lathish</dc:creator>
  <cp:lastModifiedBy>Kumar A, Lathish</cp:lastModifiedBy>
  <cp:revision>16</cp:revision>
  <dcterms:modified xsi:type="dcterms:W3CDTF">2026-10-03T09:35:33Z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2026-01-29T18:51:21Z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c58a1bf8-dfa2-42af-b639-c349773bb8a9</vt:lpwstr>
  </property>
  <property fmtid="{D5CDD505-2E9C-101B-9397-08002B2CF9AE}" pid="8" name="MSIP_Label_19e68092-05df-4271-8e3e-b2a4c82ba797_ContentBits">
    <vt:lpwstr>0</vt:lpwstr>
  </property>
  <property fmtid="{D5CDD505-2E9C-101B-9397-08002B2CF9AE}" pid="9" name="MSIP_Label_19e68092-05df-4271-8e3e-b2a4c82ba797_Tag">
    <vt:lpwstr>10, 3, 0, 1</vt:lpwstr>
  </property>
</Properties>
</file>