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5"/>
  </p:notesMasterIdLst>
  <p:sldIdLst>
    <p:sldId id="257" r:id="rId2"/>
    <p:sldId id="279" r:id="rId4"/>
    <p:sldId id="262" r:id="rId3"/>
    <p:sldId id="294" r:id="rId35"/>
    <p:sldId id="293" r:id="rId34"/>
    <p:sldId id="292" r:id="rId33"/>
    <p:sldId id="291" r:id="rId32"/>
    <p:sldId id="299" r:id="rId40"/>
    <p:sldId id="290" r:id="rId31"/>
    <p:sldId id="289" r:id="rId30"/>
    <p:sldId id="288" r:id="rId29"/>
    <p:sldId id="287" r:id="rId28"/>
    <p:sldId id="298" r:id="rId39"/>
    <p:sldId id="286" r:id="rId27"/>
    <p:sldId id="285" r:id="rId26"/>
    <p:sldId id="297" r:id="rId38"/>
    <p:sldId id="284" r:id="rId25"/>
    <p:sldId id="283" r:id="rId24"/>
    <p:sldId id="282" r:id="rId23"/>
    <p:sldId id="296" r:id="rId37"/>
    <p:sldId id="281" r:id="rId22"/>
    <p:sldId id="280" r:id="rId21"/>
    <p:sldId id="295" r:id="rId36"/>
  </p:sldIdLst>
  <p:sldSz cx="9144000" cy="5143500" type="screen16x9"/>
  <p:notesSz cx="6858000" cy="9144000"/>
  <p:embeddedFontLst>
    <p:embeddedFont>
      <p:font typeface="Ember Modern Display Standard" panose="020B0503020204020204" pitchFamily="34" charset="0"/>
      <p:regular r:id="rId6"/>
      <p:bold r:id="rId7"/>
    </p:embeddedFont>
    <p:embeddedFont>
      <p:font typeface="Helvetica Neue" panose="020B0604020202020204" charset="0"/>
      <p:regular r:id="rId8"/>
      <p:bold r:id="rId9"/>
      <p:italic r:id="rId10"/>
      <p:boldItalic r:id="rId11"/>
    </p:embeddedFont>
    <p:embeddedFont>
      <p:font typeface="Play" panose="020B0604020202020204" charset="0"/>
      <p:regular r:id="rId12"/>
      <p:bold r:id="rId13"/>
      <p:italic r:id="rId14"/>
      <p:boldItalic r:id="rId1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ylec@amazon.co.uk" initials="" lastIdx="8" clrIdx="0"/>
  <p:cmAuthor id="1" name="Monika Lumb" initials="" lastIdx="4" clrIdx="1"/>
  <p:cmAuthor id="2" name="Samantha Trup" initials="" lastIdx="1" clrIdx="2"/>
  <p:cmAuthor id="3" name="Gabriela Beitel" initials="" lastIdx="17"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101"/>
    <a:srgbClr val="131C27"/>
    <a:srgbClr val="EEEEEE"/>
    <a:srgbClr val="F4916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26"/>
  </p:normalViewPr>
  <p:slideViewPr>
    <p:cSldViewPr snapToGrid="0">
      <p:cViewPr varScale="1">
        <p:scale>
          <a:sx n="93" d="100"/>
          <a:sy n="93" d="100"/>
        </p:scale>
        <p:origin x="544" y="5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18.xml"/><Relationship Id="rId5" Type="http://schemas.openxmlformats.org/officeDocument/2006/relationships/notesMaster" Target="notesMasters/notesMaster1.xml"/><Relationship Id="rId6" Type="http://schemas.openxmlformats.org/officeDocument/2006/relationships/font" Target="fonts/font1.fntdata"/><Relationship Id="rId7" Type="http://schemas.openxmlformats.org/officeDocument/2006/relationships/font" Target="fonts/font2.fntdata"/><Relationship Id="rId8" Type="http://schemas.openxmlformats.org/officeDocument/2006/relationships/font" Target="fonts/font3.fntdata"/><Relationship Id="rId9" Type="http://schemas.openxmlformats.org/officeDocument/2006/relationships/font" Target="fonts/font4.fntdata"/><Relationship Id="rId10" Type="http://schemas.openxmlformats.org/officeDocument/2006/relationships/font" Target="fonts/font5.fntdata"/><Relationship Id="rId11" Type="http://schemas.openxmlformats.org/officeDocument/2006/relationships/font" Target="fonts/font6.fntdata"/><Relationship Id="rId12" Type="http://schemas.openxmlformats.org/officeDocument/2006/relationships/font" Target="fonts/font7.fntdata"/><Relationship Id="rId13" Type="http://schemas.openxmlformats.org/officeDocument/2006/relationships/font" Target="fonts/font8.fntdata"/><Relationship Id="rId14" Type="http://schemas.openxmlformats.org/officeDocument/2006/relationships/font" Target="fonts/font9.fntdata"/><Relationship Id="rId15" Type="http://schemas.openxmlformats.org/officeDocument/2006/relationships/font" Target="fonts/font10.fntdata"/><Relationship Id="rId16" Type="http://schemas.openxmlformats.org/officeDocument/2006/relationships/commentAuthors" Target="commentAuthors.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7.xml"/><Relationship Id="rId22" Type="http://schemas.openxmlformats.org/officeDocument/2006/relationships/slide" Target="slides/slide16.xml"/><Relationship Id="rId23" Type="http://schemas.openxmlformats.org/officeDocument/2006/relationships/slide" Target="slides/slide15.xml"/><Relationship Id="rId24" Type="http://schemas.openxmlformats.org/officeDocument/2006/relationships/slide" Target="slides/slide14.xml"/><Relationship Id="rId25" Type="http://schemas.openxmlformats.org/officeDocument/2006/relationships/slide" Target="slides/slide13.xml"/><Relationship Id="rId26" Type="http://schemas.openxmlformats.org/officeDocument/2006/relationships/slide" Target="slides/slide12.xml"/><Relationship Id="rId27" Type="http://schemas.openxmlformats.org/officeDocument/2006/relationships/slide" Target="slides/slide11.xml"/><Relationship Id="rId28" Type="http://schemas.openxmlformats.org/officeDocument/2006/relationships/slide" Target="slides/slide10.xml"/><Relationship Id="rId29" Type="http://schemas.openxmlformats.org/officeDocument/2006/relationships/slide" Target="slides/slide9.xml"/><Relationship Id="rId30" Type="http://schemas.openxmlformats.org/officeDocument/2006/relationships/slide" Target="slides/slide8.xml"/><Relationship Id="rId31" Type="http://schemas.openxmlformats.org/officeDocument/2006/relationships/slide" Target="slides/slide7.xml"/><Relationship Id="rId32" Type="http://schemas.openxmlformats.org/officeDocument/2006/relationships/slide" Target="slides/slide6.xml"/><Relationship Id="rId33" Type="http://schemas.openxmlformats.org/officeDocument/2006/relationships/slide" Target="slides/slide5.xml"/><Relationship Id="rId34" Type="http://schemas.openxmlformats.org/officeDocument/2006/relationships/slide" Target="slides/slide4.xml"/><Relationship Id="rId35" Type="http://schemas.openxmlformats.org/officeDocument/2006/relationships/slide" Target="slides/slide3.xml"/><Relationship Id="rId36" Type="http://schemas.openxmlformats.org/officeDocument/2006/relationships/slide" Target="slides/slide23.xml"/><Relationship Id="rId37" Type="http://schemas.openxmlformats.org/officeDocument/2006/relationships/slide" Target="slides/slide22.xml"/><Relationship Id="rId38" Type="http://schemas.openxmlformats.org/officeDocument/2006/relationships/slide" Target="slides/slide21.xml"/><Relationship Id="rId39" Type="http://schemas.openxmlformats.org/officeDocument/2006/relationships/slide" Target="slides/slide20.xml"/><Relationship Id="rId40"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US</c:v>
                </c:pt>
              </c:strCache>
            </c:strRef>
          </c:tx>
          <c:spPr>
            <a:solidFill>
              <a:srgbClr val="161D26"/>
            </a:solidFill>
          </c:spPr>
          <c:dLbls>
            <c:dLbl>
              <c:idx val="0"/>
              <c:tx>
                <c:rich>
                  <a:bodyPr/>
                  <a:lstStyle/>
                  <a:p>
                    <a:r>
                      <a:rPr sz="1200" b="1">
                        <a:solidFill>
                          <a:srgbClr val="FFFFFF"/>
                        </a:solidFill>
                        <a:latin typeface="Ember Modern Display Standard"/>
                      </a:rPr>
                      <a:t>1.32M</a:t>
                    </a:r>
                  </a:p>
                </c:rich>
              </c:tx>
              <c:dLblPos val="ctr"/>
              <c:showLegendKey val="0"/>
              <c:showVal val="1"/>
              <c:showCatName val="0"/>
              <c:showSerName val="0"/>
              <c:showPercent val="0"/>
              <c:showBubbleSize val="0"/>
            </c:dLbl>
            <c:dLbl>
              <c:idx val="1"/>
              <c:tx>
                <c:rich>
                  <a:bodyPr/>
                  <a:lstStyle/>
                  <a:p>
                    <a:r>
                      <a:rPr sz="1200" b="1">
                        <a:solidFill>
                          <a:srgbClr val="FFFFFF"/>
                        </a:solidFill>
                        <a:latin typeface="Ember Modern Display Standard"/>
                      </a:rPr>
                      <a:t>0.66M</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Training set</c:v>
                </c:pt>
                <c:pt idx="1">
                  <c:v>Test set</c:v>
                </c:pt>
              </c:strCache>
            </c:strRef>
          </c:cat>
          <c:val>
            <c:numRef>
              <c:f>Sheet1!$B$2:$B$3</c:f>
              <c:numCache>
                <c:formatCode>General</c:formatCode>
                <c:ptCount val="2"/>
                <c:pt idx="0">
                  <c:v>1.324</c:v>
                </c:pt>
                <c:pt idx="1">
                  <c:v>0.663</c:v>
                </c:pt>
              </c:numCache>
            </c:numRef>
          </c:val>
        </c:ser>
        <c:ser>
          <c:idx val="1"/>
          <c:order val="1"/>
          <c:tx>
            <c:strRef>
              <c:f>Sheet1!$C$1</c:f>
              <c:strCache>
                <c:ptCount val="1"/>
                <c:pt idx="0">
                  <c:v>India</c:v>
                </c:pt>
              </c:strCache>
            </c:strRef>
          </c:tx>
          <c:spPr>
            <a:solidFill>
              <a:srgbClr val="D6DCE7"/>
            </a:solidFill>
          </c:spPr>
          <c:dLbls>
            <c:dLbl>
              <c:idx val="0"/>
              <c:tx>
                <c:rich>
                  <a:bodyPr/>
                  <a:lstStyle/>
                  <a:p>
                    <a:r>
                      <a:rPr sz="1200" b="1">
                        <a:solidFill>
                          <a:srgbClr val="161D26"/>
                        </a:solidFill>
                        <a:latin typeface="Ember Modern Display Standard"/>
                      </a:rPr>
                      <a:t>0.88M</a:t>
                    </a:r>
                  </a:p>
                </c:rich>
              </c:tx>
              <c:dLblPos val="ctr"/>
              <c:showLegendKey val="0"/>
              <c:showVal val="1"/>
              <c:showCatName val="0"/>
              <c:showSerName val="0"/>
              <c:showPercent val="0"/>
              <c:showBubbleSize val="0"/>
            </c:dLbl>
            <c:dLbl>
              <c:idx val="1"/>
              <c:tx>
                <c:rich>
                  <a:bodyPr/>
                  <a:lstStyle/>
                  <a:p>
                    <a:r>
                      <a:rPr sz="1200" b="1">
                        <a:solidFill>
                          <a:srgbClr val="161D26"/>
                        </a:solidFill>
                        <a:latin typeface="Ember Modern Display Standard"/>
                      </a:rPr>
                      <a:t>0.81M</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Training set</c:v>
                </c:pt>
                <c:pt idx="1">
                  <c:v>Test set</c:v>
                </c:pt>
              </c:strCache>
            </c:strRef>
          </c:cat>
          <c:val>
            <c:numRef>
              <c:f>Sheet1!$C$2:$C$3</c:f>
              <c:numCache>
                <c:formatCode>General</c:formatCode>
                <c:ptCount val="2"/>
                <c:pt idx="0">
                  <c:v>0.883</c:v>
                </c:pt>
                <c:pt idx="1">
                  <c:v>0.81</c:v>
                </c:pt>
              </c:numCache>
            </c:numRef>
          </c:val>
        </c:ser>
        <c:ser>
          <c:idx val="2"/>
          <c:order val="2"/>
          <c:tx>
            <c:strRef>
              <c:f>Sheet1!$D$1</c:f>
              <c:strCache>
                <c:ptCount val="1"/>
                <c:pt idx="0">
                  <c:v>France</c:v>
                </c:pt>
              </c:strCache>
            </c:strRef>
          </c:tx>
          <c:spPr>
            <a:solidFill>
              <a:srgbClr val="FF6200"/>
            </a:solidFill>
          </c:spPr>
          <c:dLbls>
            <c:dLbl>
              <c:idx val="1"/>
              <c:tx>
                <c:rich>
                  <a:bodyPr/>
                  <a:lstStyle/>
                  <a:p>
                    <a:r>
                      <a:rPr sz="1200" b="1">
                        <a:solidFill>
                          <a:srgbClr val="FFFFFF"/>
                        </a:solidFill>
                        <a:latin typeface="Ember Modern Display Standard"/>
                      </a:rPr>
                      <a:t>0.26M</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Training set</c:v>
                </c:pt>
                <c:pt idx="1">
                  <c:v>Test set</c:v>
                </c:pt>
              </c:strCache>
            </c:strRef>
          </c:cat>
          <c:val>
            <c:numRef>
              <c:f>Sheet1!$D$2:$D$3</c:f>
              <c:numCache>
                <c:formatCode>General</c:formatCode>
                <c:ptCount val="2"/>
                <c:pt idx="0">
                  <c:v>0</c:v>
                </c:pt>
                <c:pt idx="1">
                  <c:v>0.259</c:v>
                </c:pt>
              </c:numCache>
            </c:numRef>
          </c:val>
        </c:ser>
        <c:gapWidth val="55"/>
        <c:overlap val="100"/>
        <c:axId val="-2068027336"/>
        <c:axId val="-2113994440"/>
      </c:barChart>
      <c:catAx>
        <c:axId val="-2068027336"/>
        <c:scaling>
          <c:orientation val="minMax"/>
        </c:scaling>
        <c:delete val="0"/>
        <c:axPos val="b"/>
        <c:majorTickMark val="out"/>
        <c:minorTickMark val="none"/>
        <c:tickLblPos val="nextTo"/>
        <c:spPr>
          <a:ln>
            <a:solidFill>
              <a:srgbClr val="B8C0CC"/>
            </a:solidFill>
          </a:ln>
        </c:spPr>
        <c:crossAx val="-2113994440"/>
        <c:crosses val="autoZero"/>
        <c:auto val="1"/>
        <c:lblAlgn val="ctr"/>
        <c:lblOffset val="100"/>
        <c:noMultiLvlLbl val="0"/>
      </c:catAx>
      <c:valAx>
        <c:axId val="-2113994440"/>
        <c:scaling>
          <c:max val="2.3"/>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D26"/>
          </a:solidFill>
          <a:latin typeface="Ember Modern Display Standard"/>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spPr>
              <a:solidFill>
                <a:srgbClr val="FF6200"/>
              </a:solidFill>
            </c:spPr>
          </c:dPt>
          <c:dPt>
            <c:idx val="1"/>
            <c:spPr>
              <a:solidFill>
                <a:srgbClr val="D6DCE7"/>
              </a:solidFill>
            </c:spPr>
          </c:dPt>
          <c:dPt>
            <c:idx val="2"/>
            <c:spPr>
              <a:solidFill>
                <a:srgbClr val="D6DCE7"/>
              </a:solidFill>
            </c:spPr>
          </c:dPt>
          <c:dPt>
            <c:idx val="3"/>
            <c:spPr>
              <a:solidFill>
                <a:srgbClr val="D6DCE7"/>
              </a:solidFill>
            </c:spPr>
          </c:dPt>
          <c:dPt>
            <c:idx val="4"/>
            <c:spPr>
              <a:solidFill>
                <a:srgbClr val="D6DCE7"/>
              </a:solidFill>
            </c:spPr>
          </c:dPt>
          <c:dPt>
            <c:idx val="5"/>
            <c:spPr>
              <a:solidFill>
                <a:srgbClr val="D6DCE7"/>
              </a:solidFill>
            </c:spPr>
          </c:dPt>
          <c:dPt>
            <c:idx val="6"/>
            <c:spPr>
              <a:solidFill>
                <a:srgbClr val="D6DCE7"/>
              </a:solidFill>
            </c:spPr>
          </c:dPt>
          <c:dPt>
            <c:idx val="7"/>
            <c:spPr>
              <a:solidFill>
                <a:srgbClr val="D6DCE7"/>
              </a:solidFill>
            </c:spPr>
          </c:dPt>
          <c:dLbls>
            <c:dLbl>
              <c:idx val="0"/>
              <c:tx>
                <c:rich>
                  <a:bodyPr/>
                  <a:lstStyle/>
                  <a:p>
                    <a:r>
                      <a:rPr sz="1200" b="1">
                        <a:solidFill>
                          <a:srgbClr val="161D26"/>
                        </a:solidFill>
                        <a:latin typeface="Ember Modern Display Standard"/>
                      </a:rPr>
                      <a:t>5.6%</a:t>
                    </a:r>
                  </a:p>
                </c:rich>
              </c:tx>
              <c:dLblPos val="outEnd"/>
              <c:showLegendKey val="0"/>
              <c:showVal val="1"/>
              <c:showCatName val="0"/>
              <c:showSerName val="0"/>
              <c:showPercent val="0"/>
              <c:showBubbleSize val="0"/>
            </c:dLbl>
            <c:dLbl>
              <c:idx val="1"/>
              <c:tx>
                <c:rich>
                  <a:bodyPr/>
                  <a:lstStyle/>
                  <a:p>
                    <a:r>
                      <a:rPr sz="1200" b="1">
                        <a:solidFill>
                          <a:srgbClr val="161D26"/>
                        </a:solidFill>
                        <a:latin typeface="Ember Modern Display Standard"/>
                      </a:rPr>
                      <a:t>5.4%</a:t>
                    </a:r>
                  </a:p>
                </c:rich>
              </c:tx>
              <c:dLblPos val="outEnd"/>
              <c:showLegendKey val="0"/>
              <c:showVal val="1"/>
              <c:showCatName val="0"/>
              <c:showSerName val="0"/>
              <c:showPercent val="0"/>
              <c:showBubbleSize val="0"/>
            </c:dLbl>
            <c:dLbl>
              <c:idx val="2"/>
              <c:tx>
                <c:rich>
                  <a:bodyPr/>
                  <a:lstStyle/>
                  <a:p>
                    <a:r>
                      <a:rPr sz="1200" b="1">
                        <a:solidFill>
                          <a:srgbClr val="161D26"/>
                        </a:solidFill>
                        <a:latin typeface="Ember Modern Display Standard"/>
                      </a:rPr>
                      <a:t>17%</a:t>
                    </a:r>
                  </a:p>
                </c:rich>
              </c:tx>
              <c:dLblPos val="outEnd"/>
              <c:showLegendKey val="0"/>
              <c:showVal val="1"/>
              <c:showCatName val="0"/>
              <c:showSerName val="0"/>
              <c:showPercent val="0"/>
              <c:showBubbleSize val="0"/>
            </c:dLbl>
            <c:dLbl>
              <c:idx val="3"/>
              <c:tx>
                <c:rich>
                  <a:bodyPr/>
                  <a:lstStyle/>
                  <a:p>
                    <a:r>
                      <a:rPr sz="1200" b="1">
                        <a:solidFill>
                          <a:srgbClr val="161D26"/>
                        </a:solidFill>
                        <a:latin typeface="Ember Modern Display Standard"/>
                      </a:rPr>
                      <a:t>24%</a:t>
                    </a:r>
                  </a:p>
                </c:rich>
              </c:tx>
              <c:dLblPos val="outEnd"/>
              <c:showLegendKey val="0"/>
              <c:showVal val="1"/>
              <c:showCatName val="0"/>
              <c:showSerName val="0"/>
              <c:showPercent val="0"/>
              <c:showBubbleSize val="0"/>
            </c:dLbl>
            <c:dLbl>
              <c:idx val="4"/>
              <c:tx>
                <c:rich>
                  <a:bodyPr/>
                  <a:lstStyle/>
                  <a:p>
                    <a:r>
                      <a:rPr sz="1200" b="1">
                        <a:solidFill>
                          <a:srgbClr val="161D26"/>
                        </a:solidFill>
                        <a:latin typeface="Ember Modern Display Standard"/>
                      </a:rPr>
                      <a:t>22%</a:t>
                    </a:r>
                  </a:p>
                </c:rich>
              </c:tx>
              <c:dLblPos val="outEnd"/>
              <c:showLegendKey val="0"/>
              <c:showVal val="1"/>
              <c:showCatName val="0"/>
              <c:showSerName val="0"/>
              <c:showPercent val="0"/>
              <c:showBubbleSize val="0"/>
            </c:dLbl>
            <c:dLbl>
              <c:idx val="5"/>
              <c:tx>
                <c:rich>
                  <a:bodyPr/>
                  <a:lstStyle/>
                  <a:p>
                    <a:r>
                      <a:rPr sz="1200" b="1">
                        <a:solidFill>
                          <a:srgbClr val="161D26"/>
                        </a:solidFill>
                        <a:latin typeface="Ember Modern Display Standard"/>
                      </a:rPr>
                      <a:t>14.6%</a:t>
                    </a:r>
                  </a:p>
                </c:rich>
              </c:tx>
              <c:dLblPos val="outEnd"/>
              <c:showLegendKey val="0"/>
              <c:showVal val="1"/>
              <c:showCatName val="0"/>
              <c:showSerName val="0"/>
              <c:showPercent val="0"/>
              <c:showBubbleSize val="0"/>
            </c:dLbl>
            <c:dLbl>
              <c:idx val="6"/>
              <c:tx>
                <c:rich>
                  <a:bodyPr/>
                  <a:lstStyle/>
                  <a:p>
                    <a:r>
                      <a:rPr sz="1200" b="1">
                        <a:solidFill>
                          <a:srgbClr val="161D26"/>
                        </a:solidFill>
                        <a:latin typeface="Ember Modern Display Standard"/>
                      </a:rPr>
                      <a:t>7.5%</a:t>
                    </a:r>
                  </a:p>
                </c:rich>
              </c:tx>
              <c:dLblPos val="outEnd"/>
              <c:showLegendKey val="0"/>
              <c:showVal val="1"/>
              <c:showCatName val="0"/>
              <c:showSerName val="0"/>
              <c:showPercent val="0"/>
              <c:showBubbleSize val="0"/>
            </c:dLbl>
            <c:dLbl>
              <c:idx val="7"/>
              <c:tx>
                <c:rich>
                  <a:bodyPr/>
                  <a:lstStyle/>
                  <a:p>
                    <a:r>
                      <a:rPr sz="1200" b="1">
                        <a:solidFill>
                          <a:srgbClr val="161D26"/>
                        </a:solidFill>
                        <a:latin typeface="Ember Modern Display Standard"/>
                      </a:rPr>
                      <a:t>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0</c:v>
                </c:pt>
                <c:pt idx="1">
                  <c:v>1</c:v>
                </c:pt>
                <c:pt idx="2">
                  <c:v>2</c:v>
                </c:pt>
                <c:pt idx="3">
                  <c:v>3</c:v>
                </c:pt>
                <c:pt idx="4">
                  <c:v>4</c:v>
                </c:pt>
                <c:pt idx="5">
                  <c:v>5</c:v>
                </c:pt>
                <c:pt idx="6">
                  <c:v>6</c:v>
                </c:pt>
                <c:pt idx="7">
                  <c:v>7+</c:v>
                </c:pt>
              </c:strCache>
            </c:strRef>
          </c:cat>
          <c:val>
            <c:numRef>
              <c:f>Sheet1!$B$2:$B$9</c:f>
              <c:numCache>
                <c:formatCode>General</c:formatCode>
                <c:ptCount val="8"/>
                <c:pt idx="0">
                  <c:v>5.6</c:v>
                </c:pt>
                <c:pt idx="1">
                  <c:v>5.4</c:v>
                </c:pt>
                <c:pt idx="2">
                  <c:v>17</c:v>
                </c:pt>
                <c:pt idx="3">
                  <c:v>24</c:v>
                </c:pt>
                <c:pt idx="4">
                  <c:v>22</c:v>
                </c:pt>
                <c:pt idx="5">
                  <c:v>14.6</c:v>
                </c:pt>
                <c:pt idx="6">
                  <c:v>7.5</c:v>
                </c:pt>
                <c:pt idx="7">
                  <c:v>4.0</c:v>
                </c:pt>
              </c:numCache>
            </c:numRef>
          </c:val>
        </c:ser>
        <c:gapWidth val="35"/>
        <c:axId val="-2068027336"/>
        <c:axId val="-2113994440"/>
      </c:barChart>
      <c:catAx>
        <c:axId val="-2068027336"/>
        <c:scaling>
          <c:orientation val="minMax"/>
        </c:scaling>
        <c:delete val="0"/>
        <c:axPos val="b"/>
        <c:majorTickMark val="out"/>
        <c:minorTickMark val="none"/>
        <c:tickLblPos val="nextTo"/>
        <c:spPr>
          <a:ln>
            <a:solidFill>
              <a:srgbClr val="B8C0CC"/>
            </a:solidFill>
          </a:ln>
        </c:spPr>
        <c:crossAx val="-2113994440"/>
        <c:crosses val="autoZero"/>
        <c:auto val="1"/>
        <c:lblAlgn val="ctr"/>
        <c:lblOffset val="100"/>
        <c:noMultiLvlLbl val="0"/>
      </c:catAx>
      <c:valAx>
        <c:axId val="-2113994440"/>
        <c:scaling>
          <c:max val="28.0"/>
          <c:min val="0.0"/>
        </c:scaling>
        <c:delete/>
        <c:axPos val="l"/>
        <c:majorTickMark val="out"/>
        <c:minorTickMark val="none"/>
        <c:tickLblPos val="nextTo"/>
        <c:crossAx val="-2068027336"/>
        <c:crosses val="autoZero"/>
      </c:valAx>
    </c:plotArea>
    <c:dispBlanksAs val="gap"/>
  </c:chart>
  <c:txPr>
    <a:bodyPr/>
    <a:lstStyle/>
    <a:p>
      <a:pPr>
        <a:defRPr sz="1100">
          <a:solidFill>
            <a:srgbClr val="161D26"/>
          </a:solidFill>
          <a:latin typeface="Ember Modern Display Standard"/>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spPr>
              <a:solidFill>
                <a:srgbClr val="D6DCE7"/>
              </a:solidFill>
            </c:spPr>
          </c:dPt>
          <c:dPt>
            <c:idx val="1"/>
            <c:spPr>
              <a:solidFill>
                <a:srgbClr val="D6DCE7"/>
              </a:solidFill>
            </c:spPr>
          </c:dPt>
          <c:dPt>
            <c:idx val="2"/>
            <c:spPr>
              <a:solidFill>
                <a:srgbClr val="FF6200"/>
              </a:solidFill>
            </c:spPr>
          </c:dPt>
          <c:dLbls>
            <c:dLbl>
              <c:idx val="0"/>
              <c:tx>
                <c:rich>
                  <a:bodyPr/>
                  <a:lstStyle/>
                  <a:p>
                    <a:r>
                      <a:rPr sz="1300" b="1">
                        <a:solidFill>
                          <a:srgbClr val="161D26"/>
                        </a:solidFill>
                        <a:latin typeface="Ember Modern Display Standard"/>
                      </a:rPr>
                      <a:t>15.9%</a:t>
                    </a:r>
                  </a:p>
                </c:rich>
              </c:tx>
              <c:dLblPos val="outEnd"/>
              <c:showLegendKey val="0"/>
              <c:showVal val="1"/>
              <c:showCatName val="0"/>
              <c:showSerName val="0"/>
              <c:showPercent val="0"/>
              <c:showBubbleSize val="0"/>
            </c:dLbl>
            <c:dLbl>
              <c:idx val="1"/>
              <c:tx>
                <c:rich>
                  <a:bodyPr/>
                  <a:lstStyle/>
                  <a:p>
                    <a:r>
                      <a:rPr sz="1300" b="1">
                        <a:solidFill>
                          <a:srgbClr val="161D26"/>
                        </a:solidFill>
                        <a:latin typeface="Ember Modern Display Standard"/>
                      </a:rPr>
                      <a:t>4.7%</a:t>
                    </a:r>
                  </a:p>
                </c:rich>
              </c:tx>
              <c:dLblPos val="outEnd"/>
              <c:showLegendKey val="0"/>
              <c:showVal val="1"/>
              <c:showCatName val="0"/>
              <c:showSerName val="0"/>
              <c:showPercent val="0"/>
              <c:showBubbleSize val="0"/>
            </c:dLbl>
            <c:dLbl>
              <c:idx val="2"/>
              <c:tx>
                <c:rich>
                  <a:bodyPr/>
                  <a:lstStyle/>
                  <a:p>
                    <a:r>
                      <a:rPr sz="1300" b="1">
                        <a:solidFill>
                          <a:srgbClr val="161D26"/>
                        </a:solidFill>
                        <a:latin typeface="Ember Modern Display Standard"/>
                      </a:rPr>
                      <a:t>0.09%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Weak name</c:v>
                </c:pt>
                <c:pt idx="1">
                  <c:v>Weak address</c:v>
                </c:pt>
                <c:pt idx="2">
                  <c:v>Both weak</c:v>
                </c:pt>
              </c:strCache>
            </c:strRef>
          </c:cat>
          <c:val>
            <c:numRef>
              <c:f>Sheet1!$B$2:$B$4</c:f>
              <c:numCache>
                <c:formatCode>General</c:formatCode>
                <c:ptCount val="3"/>
                <c:pt idx="0">
                  <c:v>15.9</c:v>
                </c:pt>
                <c:pt idx="1">
                  <c:v>4.7</c:v>
                </c:pt>
                <c:pt idx="2">
                  <c:v>0.09</c:v>
                </c:pt>
              </c:numCache>
            </c:numRef>
          </c:val>
        </c:ser>
        <c:gapWidth val="55"/>
        <c:axId val="-2068027336"/>
        <c:axId val="-2113994440"/>
      </c:barChart>
      <c:catAx>
        <c:axId val="-2068027336"/>
        <c:scaling>
          <c:orientation val="minMax"/>
        </c:scaling>
        <c:delete val="0"/>
        <c:axPos val="b"/>
        <c:majorTickMark val="out"/>
        <c:minorTickMark val="none"/>
        <c:tickLblPos val="nextTo"/>
        <c:spPr>
          <a:ln>
            <a:solidFill>
              <a:srgbClr val="B8C0CC"/>
            </a:solidFill>
          </a:ln>
        </c:spPr>
        <c:crossAx val="-2113994440"/>
        <c:crosses val="autoZero"/>
        <c:auto val="1"/>
        <c:lblAlgn val="ctr"/>
        <c:lblOffset val="100"/>
        <c:noMultiLvlLbl val="0"/>
      </c:catAx>
      <c:valAx>
        <c:axId val="-2113994440"/>
        <c:scaling>
          <c:max val="19.0"/>
          <c:min val="0.0"/>
        </c:scaling>
        <c:delete/>
        <c:axPos val="l"/>
        <c:majorTickMark val="out"/>
        <c:minorTickMark val="none"/>
        <c:tickLblPos val="nextTo"/>
        <c:crossAx val="-2068027336"/>
        <c:crosses val="autoZero"/>
      </c:valAx>
    </c:plotArea>
    <c:dispBlanksAs val="gap"/>
  </c:chart>
  <c:txPr>
    <a:bodyPr/>
    <a:lstStyle/>
    <a:p>
      <a:pPr>
        <a:defRPr sz="1200">
          <a:solidFill>
            <a:srgbClr val="161D26"/>
          </a:solidFill>
          <a:latin typeface="Ember Modern Display Standard"/>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True copies</c:v>
                </c:pt>
              </c:strCache>
            </c:strRef>
          </c:tx>
          <c:spPr>
            <a:solidFill>
              <a:srgbClr val="161D26"/>
            </a:solidFill>
          </c:spPr>
          <c:dLbls>
            <c:dLbl>
              <c:idx val="0"/>
              <c:tx>
                <c:rich>
                  <a:bodyPr/>
                  <a:lstStyle/>
                  <a:p>
                    <a:r>
                      <a:rPr sz="1200" b="1">
                        <a:solidFill>
                          <a:srgbClr val="161D26"/>
                        </a:solidFill>
                        <a:latin typeface="Ember Modern Display Standard"/>
                      </a:rPr>
                      <a:t>85%</a:t>
                    </a:r>
                  </a:p>
                </c:rich>
              </c:tx>
              <c:dLblPos val="outEnd"/>
              <c:showLegendKey val="0"/>
              <c:showVal val="1"/>
              <c:showCatName val="0"/>
              <c:showSerName val="0"/>
              <c:showPercent val="0"/>
              <c:showBubbleSize val="0"/>
            </c:dLbl>
            <c:dLbl>
              <c:idx val="1"/>
              <c:tx>
                <c:rich>
                  <a:bodyPr/>
                  <a:lstStyle/>
                  <a:p>
                    <a:r>
                      <a:rPr sz="1200" b="1">
                        <a:solidFill>
                          <a:srgbClr val="161D26"/>
                        </a:solidFill>
                        <a:latin typeface="Ember Modern Display Standard"/>
                      </a:rPr>
                      <a:t>23%</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Keeps the house number</c:v>
                </c:pt>
                <c:pt idx="1">
                  <c:v>Adds a name word</c:v>
                </c:pt>
              </c:strCache>
            </c:strRef>
          </c:cat>
          <c:val>
            <c:numRef>
              <c:f>Sheet1!$B$2:$B$3</c:f>
              <c:numCache>
                <c:formatCode>General</c:formatCode>
                <c:ptCount val="2"/>
                <c:pt idx="0">
                  <c:v>84.8</c:v>
                </c:pt>
                <c:pt idx="1">
                  <c:v>23.3</c:v>
                </c:pt>
              </c:numCache>
            </c:numRef>
          </c:val>
        </c:ser>
        <c:ser>
          <c:idx val="1"/>
          <c:order val="1"/>
          <c:tx>
            <c:strRef>
              <c:f>Sheet1!$C$1</c:f>
              <c:strCache>
                <c:ptCount val="1"/>
                <c:pt idx="0">
                  <c:v>Look-alikes</c:v>
                </c:pt>
              </c:strCache>
            </c:strRef>
          </c:tx>
          <c:spPr>
            <a:solidFill>
              <a:srgbClr val="FF6200"/>
            </a:solidFill>
          </c:spPr>
          <c:dLbls>
            <c:dLbl>
              <c:idx val="0"/>
              <c:tx>
                <c:rich>
                  <a:bodyPr/>
                  <a:lstStyle/>
                  <a:p>
                    <a:r>
                      <a:rPr sz="1200" b="1">
                        <a:solidFill>
                          <a:srgbClr val="161D26"/>
                        </a:solidFill>
                        <a:latin typeface="Ember Modern Display Standard"/>
                      </a:rPr>
                      <a:t>12%</a:t>
                    </a:r>
                  </a:p>
                </c:rich>
              </c:tx>
              <c:dLblPos val="outEnd"/>
              <c:showLegendKey val="0"/>
              <c:showVal val="1"/>
              <c:showCatName val="0"/>
              <c:showSerName val="0"/>
              <c:showPercent val="0"/>
              <c:showBubbleSize val="0"/>
            </c:dLbl>
            <c:dLbl>
              <c:idx val="1"/>
              <c:tx>
                <c:rich>
                  <a:bodyPr/>
                  <a:lstStyle/>
                  <a:p>
                    <a:r>
                      <a:rPr sz="1200" b="1">
                        <a:solidFill>
                          <a:srgbClr val="161D26"/>
                        </a:solidFill>
                        <a:latin typeface="Ember Modern Display Standard"/>
                      </a:rPr>
                      <a:t>77%</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Keeps the house number</c:v>
                </c:pt>
                <c:pt idx="1">
                  <c:v>Adds a name word</c:v>
                </c:pt>
              </c:strCache>
            </c:strRef>
          </c:cat>
          <c:val>
            <c:numRef>
              <c:f>Sheet1!$C$2:$C$3</c:f>
              <c:numCache>
                <c:formatCode>General</c:formatCode>
                <c:ptCount val="2"/>
                <c:pt idx="0">
                  <c:v>12.4</c:v>
                </c:pt>
                <c:pt idx="1">
                  <c:v>76.5</c:v>
                </c:pt>
              </c:numCache>
            </c:numRef>
          </c:val>
        </c:ser>
        <c:gapWidth val="70"/>
        <c:overlap val="-10"/>
        <c:axId val="-2068027336"/>
        <c:axId val="-2113994440"/>
      </c:barChart>
      <c:catAx>
        <c:axId val="-2068027336"/>
        <c:scaling>
          <c:orientation val="minMax"/>
        </c:scaling>
        <c:delete val="0"/>
        <c:axPos val="b"/>
        <c:majorTickMark val="out"/>
        <c:minorTickMark val="none"/>
        <c:tickLblPos val="nextTo"/>
        <c:spPr>
          <a:ln>
            <a:solidFill>
              <a:srgbClr val="B8C0CC"/>
            </a:solidFill>
          </a:ln>
        </c:spPr>
        <c:crossAx val="-2113994440"/>
        <c:crosses val="autoZero"/>
        <c:auto val="1"/>
        <c:lblAlgn val="ctr"/>
        <c:lblOffset val="100"/>
        <c:noMultiLvlLbl val="0"/>
      </c:catAx>
      <c:valAx>
        <c:axId val="-2113994440"/>
        <c:scaling>
          <c:max val="100.0"/>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D26"/>
          </a:solidFill>
          <a:latin typeface="Ember Modern Display Standard"/>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c:v>
                </c:pt>
              </c:strCache>
            </c:strRef>
          </c:tx>
          <c:dPt>
            <c:idx val="0"/>
            <c:spPr>
              <a:solidFill>
                <a:srgbClr val="FF6200"/>
              </a:solidFill>
              <a:ln>
                <a:noFill/>
              </a:ln>
            </c:spPr>
          </c:dPt>
          <c:dPt>
            <c:idx val="1"/>
            <c:spPr>
              <a:solidFill>
                <a:srgbClr val="3A4555"/>
              </a:solidFill>
              <a:ln>
                <a:noFill/>
              </a:ln>
            </c:spPr>
          </c:dPt>
          <c:cat>
            <c:strRef>
              <c:f>Sheet1!$A$2:$A$3</c:f>
              <c:strCache>
                <c:ptCount val="2"/>
                <c:pt idx="0">
                  <c:v>0</c:v>
                </c:pt>
                <c:pt idx="1">
                  <c:v>1</c:v>
                </c:pt>
              </c:strCache>
            </c:strRef>
          </c:cat>
          <c:val>
            <c:numRef>
              <c:f>Sheet1!$B$2:$B$3</c:f>
              <c:numCache>
                <c:formatCode>General</c:formatCode>
                <c:ptCount val="2"/>
                <c:pt idx="0">
                  <c:v>2.6</c:v>
                </c:pt>
                <c:pt idx="1">
                  <c:v>97.4</c:v>
                </c:pt>
              </c:numCache>
            </c:numRef>
          </c:val>
        </c:ser>
        <c:dLbls>
          <c:showLegendKey val="0"/>
          <c:showVal val="0"/>
          <c:showCatName val="0"/>
          <c:showSerName val="0"/>
          <c:showPercent val="0"/>
          <c:showBubbleSize val="0"/>
          <c:showLeaderLines val="1"/>
        </c:dLbls>
        <c:firstSliceAng val="0"/>
        <c:holeSize val="68"/>
      </c:doughnutChart>
    </c:plotArea>
    <c:plotVisOnly val="1"/>
    <c:dispBlanksAs val="gap"/>
    <c:showDLblsOverMax val="0"/>
  </c:chart>
  <c:txPr>
    <a:bodyPr/>
    <a:lstStyle/>
    <a:p>
      <a:pPr>
        <a:defRPr sz="1100">
          <a:solidFill>
            <a:srgbClr val="161D26"/>
          </a:solidFill>
          <a:latin typeface="Ember Modern Display Standard"/>
        </a:defRPr>
      </a:pPr>
      <a:endParaR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spPr>
              <a:solidFill>
                <a:srgbClr val="D6DCE7"/>
              </a:solidFill>
            </c:spPr>
          </c:dPt>
          <c:dPt>
            <c:idx val="1"/>
            <c:spPr>
              <a:solidFill>
                <a:srgbClr val="D6DCE7"/>
              </a:solidFill>
            </c:spPr>
          </c:dPt>
          <c:dPt>
            <c:idx val="2"/>
            <c:spPr>
              <a:solidFill>
                <a:srgbClr val="FF6200"/>
              </a:solidFill>
            </c:spPr>
          </c:dPt>
          <c:dPt>
            <c:idx val="3"/>
            <c:spPr>
              <a:solidFill>
                <a:srgbClr val="161D26"/>
              </a:solidFill>
            </c:spPr>
          </c:dPt>
          <c:dLbls>
            <c:dLbl>
              <c:idx val="0"/>
              <c:tx>
                <c:rich>
                  <a:bodyPr/>
                  <a:lstStyle/>
                  <a:p>
                    <a:r>
                      <a:rPr sz="1300" b="1">
                        <a:solidFill>
                          <a:srgbClr val="161D26"/>
                        </a:solidFill>
                        <a:latin typeface="Ember Modern Display Standard"/>
                      </a:rPr>
                      <a:t>33.7</a:t>
                    </a:r>
                  </a:p>
                </c:rich>
              </c:tx>
              <c:dLblPos val="outEnd"/>
              <c:showLegendKey val="0"/>
              <c:showVal val="1"/>
              <c:showCatName val="0"/>
              <c:showSerName val="0"/>
              <c:showPercent val="0"/>
              <c:showBubbleSize val="0"/>
            </c:dLbl>
            <c:dLbl>
              <c:idx val="1"/>
              <c:tx>
                <c:rich>
                  <a:bodyPr/>
                  <a:lstStyle/>
                  <a:p>
                    <a:r>
                      <a:rPr sz="1300" b="1">
                        <a:solidFill>
                          <a:srgbClr val="161D26"/>
                        </a:solidFill>
                        <a:latin typeface="Ember Modern Display Standard"/>
                      </a:rPr>
                      <a:t>4.8</a:t>
                    </a:r>
                  </a:p>
                </c:rich>
              </c:tx>
              <c:dLblPos val="outEnd"/>
              <c:showLegendKey val="0"/>
              <c:showVal val="1"/>
              <c:showCatName val="0"/>
              <c:showSerName val="0"/>
              <c:showPercent val="0"/>
              <c:showBubbleSize val="0"/>
            </c:dLbl>
            <c:dLbl>
              <c:idx val="2"/>
              <c:tx>
                <c:rich>
                  <a:bodyPr/>
                  <a:lstStyle/>
                  <a:p>
                    <a:r>
                      <a:rPr sz="1300" b="1">
                        <a:solidFill>
                          <a:srgbClr val="161D26"/>
                        </a:solidFill>
                        <a:latin typeface="Ember Modern Display Standard"/>
                      </a:rPr>
                      <a:t>3.70</a:t>
                    </a:r>
                  </a:p>
                </c:rich>
              </c:tx>
              <c:dLblPos val="outEnd"/>
              <c:showLegendKey val="0"/>
              <c:showVal val="1"/>
              <c:showCatName val="0"/>
              <c:showSerName val="0"/>
              <c:showPercent val="0"/>
              <c:showBubbleSize val="0"/>
            </c:dLbl>
            <c:dLbl>
              <c:idx val="3"/>
              <c:tx>
                <c:rich>
                  <a:bodyPr/>
                  <a:lstStyle/>
                  <a:p>
                    <a:r>
                      <a:rPr sz="1300" b="1">
                        <a:solidFill>
                          <a:srgbClr val="161D26"/>
                        </a:solidFill>
                        <a:latin typeface="Ember Modern Display Standard"/>
                      </a:rPr>
                      <a:t>3.38</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Retrieved</c:v>
                </c:pt>
                <c:pt idx="1">
                  <c:v>After a cheap filter</c:v>
                </c:pt>
                <c:pt idx="2">
                  <c:v>Candidates</c:v>
                </c:pt>
                <c:pt idx="3">
                  <c:v>Final matches</c:v>
                </c:pt>
              </c:strCache>
            </c:strRef>
          </c:cat>
          <c:val>
            <c:numRef>
              <c:f>Sheet1!$B$2:$B$5</c:f>
              <c:numCache>
                <c:formatCode>General</c:formatCode>
                <c:ptCount val="4"/>
                <c:pt idx="0">
                  <c:v>33.73</c:v>
                </c:pt>
                <c:pt idx="1">
                  <c:v>4.77</c:v>
                </c:pt>
                <c:pt idx="2">
                  <c:v>3.7</c:v>
                </c:pt>
                <c:pt idx="3">
                  <c:v>3.38</c:v>
                </c:pt>
              </c:numCache>
            </c:numRef>
          </c:val>
        </c:ser>
        <c:gapWidth val="45"/>
        <c:axId val="-2068027336"/>
        <c:axId val="-2113994440"/>
      </c:barChart>
      <c:catAx>
        <c:axId val="-2068027336"/>
        <c:scaling>
          <c:orientation val="minMax"/>
        </c:scaling>
        <c:delete val="0"/>
        <c:axPos val="b"/>
        <c:majorTickMark val="out"/>
        <c:minorTickMark val="none"/>
        <c:tickLblPos val="nextTo"/>
        <c:spPr>
          <a:ln>
            <a:solidFill>
              <a:srgbClr val="B8C0CC"/>
            </a:solidFill>
          </a:ln>
        </c:spPr>
        <c:crossAx val="-2113994440"/>
        <c:crosses val="autoZero"/>
        <c:auto val="1"/>
        <c:lblAlgn val="ctr"/>
        <c:lblOffset val="100"/>
        <c:noMultiLvlLbl val="0"/>
      </c:catAx>
      <c:valAx>
        <c:axId val="-2113994440"/>
        <c:scaling>
          <c:max val="39.0"/>
          <c:min val="0.0"/>
        </c:scaling>
        <c:delete/>
        <c:axPos val="l"/>
        <c:majorTickMark val="out"/>
        <c:minorTickMark val="none"/>
        <c:tickLblPos val="nextTo"/>
        <c:crossAx val="-2068027336"/>
        <c:crosses val="autoZero"/>
      </c:valAx>
    </c:plotArea>
    <c:dispBlanksAs val="gap"/>
  </c:chart>
  <c:txPr>
    <a:bodyPr/>
    <a:lstStyle/>
    <a:p>
      <a:pPr>
        <a:defRPr sz="1200">
          <a:solidFill>
            <a:srgbClr val="161D26"/>
          </a:solidFill>
          <a:latin typeface="Ember Modern Display Standard"/>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spPr>
              <a:solidFill>
                <a:srgbClr val="D6DCE7"/>
              </a:solidFill>
            </c:spPr>
          </c:dPt>
          <c:dPt>
            <c:idx val="1"/>
            <c:spPr>
              <a:solidFill>
                <a:srgbClr val="FF6200"/>
              </a:solidFill>
            </c:spPr>
          </c:dPt>
          <c:dLbls>
            <c:dLbl>
              <c:idx val="0"/>
              <c:tx>
                <c:rich>
                  <a:bodyPr/>
                  <a:lstStyle/>
                  <a:p>
                    <a:r>
                      <a:rPr sz="1300" b="1">
                        <a:solidFill>
                          <a:srgbClr val="161D26"/>
                        </a:solidFill>
                        <a:latin typeface="Ember Modern Display Standard"/>
                      </a:rPr>
                      <a:t>0.9888</a:t>
                    </a:r>
                  </a:p>
                </c:rich>
              </c:tx>
              <c:dLblPos val="outEnd"/>
              <c:showLegendKey val="0"/>
              <c:showVal val="1"/>
              <c:showCatName val="0"/>
              <c:showSerName val="0"/>
              <c:showPercent val="0"/>
              <c:showBubbleSize val="0"/>
            </c:dLbl>
            <c:dLbl>
              <c:idx val="1"/>
              <c:tx>
                <c:rich>
                  <a:bodyPr/>
                  <a:lstStyle/>
                  <a:p>
                    <a:r>
                      <a:rPr sz="1300" b="1">
                        <a:solidFill>
                          <a:srgbClr val="161D26"/>
                        </a:solidFill>
                        <a:latin typeface="Ember Modern Display Standard"/>
                      </a:rPr>
                      <a:t>0.9796</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Our validation</c:v>
                </c:pt>
                <c:pt idx="1">
                  <c:v>Leaderboard</c:v>
                </c:pt>
              </c:strCache>
            </c:strRef>
          </c:cat>
          <c:val>
            <c:numRef>
              <c:f>Sheet1!$B$2:$B$3</c:f>
              <c:numCache>
                <c:formatCode>General</c:formatCode>
                <c:ptCount val="2"/>
                <c:pt idx="0">
                  <c:v>0.9888</c:v>
                </c:pt>
                <c:pt idx="1">
                  <c:v>0.9796</c:v>
                </c:pt>
              </c:numCache>
            </c:numRef>
          </c:val>
        </c:ser>
        <c:gapWidth val="70"/>
        <c:axId val="-2068027336"/>
        <c:axId val="-2113994440"/>
      </c:barChart>
      <c:catAx>
        <c:axId val="-2068027336"/>
        <c:scaling>
          <c:orientation val="minMax"/>
        </c:scaling>
        <c:delete val="0"/>
        <c:axPos val="b"/>
        <c:majorTickMark val="out"/>
        <c:minorTickMark val="none"/>
        <c:tickLblPos val="nextTo"/>
        <c:spPr>
          <a:ln>
            <a:solidFill>
              <a:srgbClr val="B8C0CC"/>
            </a:solidFill>
          </a:ln>
        </c:spPr>
        <c:crossAx val="-2113994440"/>
        <c:crosses val="autoZero"/>
        <c:auto val="1"/>
        <c:lblAlgn val="ctr"/>
        <c:lblOffset val="100"/>
        <c:noMultiLvlLbl val="0"/>
      </c:catAx>
      <c:valAx>
        <c:axId val="-2113994440"/>
        <c:scaling>
          <c:max val="0.993"/>
          <c:min val="0.965"/>
        </c:scaling>
        <c:delete/>
        <c:axPos val="l"/>
        <c:majorTickMark val="out"/>
        <c:minorTickMark val="none"/>
        <c:tickLblPos val="nextTo"/>
        <c:crossAx val="-2068027336"/>
        <c:crosses val="autoZero"/>
      </c:valAx>
    </c:plotArea>
    <c:dispBlanksAs val="gap"/>
  </c:chart>
  <c:txPr>
    <a:bodyPr/>
    <a:lstStyle/>
    <a:p>
      <a:pPr>
        <a:defRPr sz="1200">
          <a:solidFill>
            <a:srgbClr val="161D26"/>
          </a:solidFill>
          <a:latin typeface="Ember Modern Display Standard"/>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spPr>
              <a:solidFill>
                <a:srgbClr val="161D26"/>
              </a:solidFill>
            </c:spPr>
          </c:dPt>
          <c:dPt>
            <c:idx val="1"/>
            <c:spPr>
              <a:solidFill>
                <a:srgbClr val="161D26"/>
              </a:solidFill>
            </c:spPr>
          </c:dPt>
          <c:dPt>
            <c:idx val="2"/>
            <c:spPr>
              <a:solidFill>
                <a:srgbClr val="FFB28B"/>
              </a:solidFill>
            </c:spPr>
          </c:dPt>
          <c:dLbls>
            <c:dLbl>
              <c:idx val="0"/>
              <c:tx>
                <c:rich>
                  <a:bodyPr/>
                  <a:lstStyle/>
                  <a:p>
                    <a:r>
                      <a:rPr sz="1300" b="1">
                        <a:solidFill>
                          <a:srgbClr val="161D26"/>
                        </a:solidFill>
                        <a:latin typeface="Ember Modern Display Standard"/>
                      </a:rPr>
                      <a:t>≈ 0.99</a:t>
                    </a:r>
                  </a:p>
                </c:rich>
              </c:tx>
              <c:dLblPos val="outEnd"/>
              <c:showLegendKey val="0"/>
              <c:showVal val="1"/>
              <c:showCatName val="0"/>
              <c:showSerName val="0"/>
              <c:showPercent val="0"/>
              <c:showBubbleSize val="0"/>
            </c:dLbl>
            <c:dLbl>
              <c:idx val="1"/>
              <c:tx>
                <c:rich>
                  <a:bodyPr/>
                  <a:lstStyle/>
                  <a:p>
                    <a:r>
                      <a:rPr sz="1300" b="1">
                        <a:solidFill>
                          <a:srgbClr val="161D26"/>
                        </a:solidFill>
                        <a:latin typeface="Ember Modern Display Standard"/>
                      </a:rPr>
                      <a:t>≈ 0.99</a:t>
                    </a:r>
                  </a:p>
                </c:rich>
              </c:tx>
              <c:dLblPos val="outEnd"/>
              <c:showLegendKey val="0"/>
              <c:showVal val="1"/>
              <c:showCatName val="0"/>
              <c:showSerName val="0"/>
              <c:showPercent val="0"/>
              <c:showBubbleSize val="0"/>
            </c:dLbl>
            <c:dLbl>
              <c:idx val="2"/>
              <c:tx>
                <c:rich>
                  <a:bodyPr/>
                  <a:lstStyle/>
                  <a:p>
                    <a:r>
                      <a:rPr sz="1300" b="1">
                        <a:solidFill>
                          <a:srgbClr val="161D26"/>
                        </a:solidFill>
                        <a:latin typeface="Ember Modern Display Standard"/>
                      </a:rPr>
                      <a:t>≈ 0.93</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US</c:v>
                </c:pt>
                <c:pt idx="1">
                  <c:v>India</c:v>
                </c:pt>
                <c:pt idx="2">
                  <c:v>France</c:v>
                </c:pt>
              </c:strCache>
            </c:strRef>
          </c:cat>
          <c:val>
            <c:numRef>
              <c:f>Sheet1!$B$2:$B$4</c:f>
              <c:numCache>
                <c:formatCode>General</c:formatCode>
                <c:ptCount val="3"/>
                <c:pt idx="0">
                  <c:v>0.99</c:v>
                </c:pt>
                <c:pt idx="1">
                  <c:v>0.99</c:v>
                </c:pt>
                <c:pt idx="2">
                  <c:v>0.93</c:v>
                </c:pt>
              </c:numCache>
            </c:numRef>
          </c:val>
        </c:ser>
        <c:gapWidth val="70"/>
        <c:axId val="-2068027336"/>
        <c:axId val="-2113994440"/>
      </c:barChart>
      <c:catAx>
        <c:axId val="-2068027336"/>
        <c:scaling>
          <c:orientation val="minMax"/>
        </c:scaling>
        <c:delete val="0"/>
        <c:axPos val="b"/>
        <c:majorTickMark val="out"/>
        <c:minorTickMark val="none"/>
        <c:tickLblPos val="nextTo"/>
        <c:spPr>
          <a:ln>
            <a:solidFill>
              <a:srgbClr val="B8C0CC"/>
            </a:solidFill>
          </a:ln>
        </c:spPr>
        <c:crossAx val="-2113994440"/>
        <c:crosses val="autoZero"/>
        <c:auto val="1"/>
        <c:lblAlgn val="ctr"/>
        <c:lblOffset val="100"/>
        <c:noMultiLvlLbl val="0"/>
      </c:catAx>
      <c:valAx>
        <c:axId val="-2113994440"/>
        <c:scaling>
          <c:max val="1.005"/>
          <c:min val="0.88"/>
        </c:scaling>
        <c:delete/>
        <c:axPos val="l"/>
        <c:majorTickMark val="out"/>
        <c:minorTickMark val="none"/>
        <c:tickLblPos val="nextTo"/>
        <c:crossAx val="-2068027336"/>
        <c:crosses val="autoZero"/>
      </c:valAx>
    </c:plotArea>
    <c:dispBlanksAs val="gap"/>
  </c:chart>
  <c:txPr>
    <a:bodyPr/>
    <a:lstStyle/>
    <a:p>
      <a:pPr>
        <a:defRPr sz="1200">
          <a:solidFill>
            <a:srgbClr val="161D26"/>
          </a:solidFill>
          <a:latin typeface="Ember Modern Display Standard"/>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spPr>
              <a:solidFill>
                <a:srgbClr val="FFB28B"/>
              </a:solidFill>
            </c:spPr>
          </c:dPt>
          <c:dPt>
            <c:idx val="1"/>
            <c:spPr>
              <a:solidFill>
                <a:srgbClr val="FF6200"/>
              </a:solidFill>
            </c:spPr>
          </c:dPt>
          <c:dLbls>
            <c:dLbl>
              <c:idx val="0"/>
              <c:tx>
                <c:rich>
                  <a:bodyPr/>
                  <a:lstStyle/>
                  <a:p>
                    <a:r>
                      <a:rPr sz="1300" b="1">
                        <a:solidFill>
                          <a:srgbClr val="161D26"/>
                        </a:solidFill>
                        <a:latin typeface="Ember Modern Display Standard"/>
                      </a:rPr>
                      <a:t>≈ 0.93</a:t>
                    </a:r>
                  </a:p>
                </c:rich>
              </c:tx>
              <c:dLblPos val="outEnd"/>
              <c:showLegendKey val="0"/>
              <c:showVal val="1"/>
              <c:showCatName val="0"/>
              <c:showSerName val="0"/>
              <c:showPercent val="0"/>
              <c:showBubbleSize val="0"/>
            </c:dLbl>
            <c:dLbl>
              <c:idx val="1"/>
              <c:tx>
                <c:rich>
                  <a:bodyPr/>
                  <a:lstStyle/>
                  <a:p>
                    <a:r>
                      <a:rPr sz="1300" b="1">
                        <a:solidFill>
                          <a:srgbClr val="161D26"/>
                        </a:solidFill>
                        <a:latin typeface="Ember Modern Display Standard"/>
                      </a:rPr>
                      <a:t>≈ 0.98</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Before</c:v>
                </c:pt>
                <c:pt idx="1">
                  <c:v>After</c:v>
                </c:pt>
              </c:strCache>
            </c:strRef>
          </c:cat>
          <c:val>
            <c:numRef>
              <c:f>Sheet1!$B$2:$B$3</c:f>
              <c:numCache>
                <c:formatCode>General</c:formatCode>
                <c:ptCount val="2"/>
                <c:pt idx="0">
                  <c:v>0.93</c:v>
                </c:pt>
                <c:pt idx="1">
                  <c:v>0.98</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B8C0CC"/>
            </a:solidFill>
          </a:ln>
        </c:spPr>
        <c:crossAx val="-2113994440"/>
        <c:crosses val="autoZero"/>
        <c:auto val="1"/>
        <c:lblAlgn val="ctr"/>
        <c:lblOffset val="100"/>
        <c:noMultiLvlLbl val="0"/>
      </c:catAx>
      <c:valAx>
        <c:axId val="-2113994440"/>
        <c:scaling>
          <c:max val="1.0"/>
          <c:min val="0.88"/>
        </c:scaling>
        <c:delete/>
        <c:axPos val="l"/>
        <c:majorTickMark val="out"/>
        <c:minorTickMark val="none"/>
        <c:tickLblPos val="nextTo"/>
        <c:crossAx val="-2068027336"/>
        <c:crosses val="autoZero"/>
      </c:valAx>
    </c:plotArea>
    <c:dispBlanksAs val="gap"/>
  </c:chart>
  <c:txPr>
    <a:bodyPr/>
    <a:lstStyle/>
    <a:p>
      <a:pPr>
        <a:defRPr sz="1200">
          <a:solidFill>
            <a:srgbClr val="161D26"/>
          </a:solidFill>
          <a:latin typeface="Ember Modern Display Standard"/>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c:v>
                </c:pt>
              </c:strCache>
            </c:strRef>
          </c:tx>
          <c:dPt>
            <c:idx val="0"/>
            <c:spPr>
              <a:solidFill>
                <a:srgbClr val="FF6200"/>
              </a:solidFill>
              <a:ln>
                <a:noFill/>
              </a:ln>
            </c:spPr>
          </c:dPt>
          <c:dPt>
            <c:idx val="1"/>
            <c:spPr>
              <a:solidFill>
                <a:srgbClr val="161D26"/>
              </a:solidFill>
              <a:ln>
                <a:noFill/>
              </a:ln>
            </c:spPr>
          </c:dPt>
          <c:dPt>
            <c:idx val="2"/>
            <c:spPr>
              <a:solidFill>
                <a:srgbClr val="D6DCE7"/>
              </a:solidFill>
              <a:ln>
                <a:noFill/>
              </a:ln>
            </c:spPr>
          </c:dPt>
          <c:cat>
            <c:strRef>
              <c:f>Sheet1!$A$2:$A$4</c:f>
              <c:strCache>
                <c:ptCount val="3"/>
                <c:pt idx="0">
                  <c:v>0</c:v>
                </c:pt>
                <c:pt idx="1">
                  <c:v>1</c:v>
                </c:pt>
                <c:pt idx="2">
                  <c:v>2</c:v>
                </c:pt>
              </c:strCache>
            </c:strRef>
          </c:cat>
          <c:val>
            <c:numRef>
              <c:f>Sheet1!$B$2:$B$4</c:f>
              <c:numCache>
                <c:formatCode>General</c:formatCode>
                <c:ptCount val="3"/>
                <c:pt idx="0">
                  <c:v>177</c:v>
                </c:pt>
                <c:pt idx="1">
                  <c:v>126</c:v>
                </c:pt>
                <c:pt idx="2">
                  <c:v>26</c:v>
                </c:pt>
              </c:numCache>
            </c:numRef>
          </c:val>
        </c:ser>
        <c:dLbls>
          <c:showLegendKey val="0"/>
          <c:showVal val="0"/>
          <c:showCatName val="0"/>
          <c:showSerName val="0"/>
          <c:showPercent val="0"/>
          <c:showBubbleSize val="0"/>
          <c:showLeaderLines val="1"/>
        </c:dLbls>
        <c:firstSliceAng val="0"/>
        <c:holeSize val="66"/>
      </c:doughnutChart>
    </c:plotArea>
    <c:plotVisOnly val="1"/>
    <c:dispBlanksAs val="gap"/>
    <c:showDLblsOverMax val="0"/>
  </c:chart>
  <c:txPr>
    <a:bodyPr/>
    <a:lstStyle/>
    <a:p>
      <a:pPr>
        <a:defRPr sz="1100">
          <a:solidFill>
            <a:srgbClr val="161D26"/>
          </a:solidFill>
          <a:latin typeface="Ember Modern Display Standard"/>
        </a:defRPr>
      </a:pPr>
      <a:endParaRPr/>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public leaderboard</c:v>
                </c:pt>
              </c:strCache>
            </c:strRef>
          </c:tx>
          <c:spPr>
            <a:ln w="34925">
              <a:solidFill>
                <a:srgbClr val="FF6200"/>
              </a:solidFill>
            </a:ln>
          </c:spPr>
          <c:marker>
            <c:symbol val="circle"/>
            <c:size val="7"/>
            <c:spPr>
              <a:solidFill>
                <a:srgbClr val="161D26"/>
              </a:solidFill>
              <a:ln>
                <a:noFill/>
              </a:ln>
            </c:spPr>
          </c:marker>
          <c:dLbls>
            <c:dLbl>
              <c:idx val="0"/>
              <c:tx>
                <c:rich>
                  <a:bodyPr/>
                  <a:lstStyle/>
                  <a:p>
                    <a:r>
                      <a:rPr sz="1100" b="1">
                        <a:solidFill>
                          <a:srgbClr val="161D26"/>
                        </a:solidFill>
                        <a:latin typeface="Ember Modern Display Standard"/>
                      </a:rPr>
                      <a:t>0.976</a:t>
                    </a:r>
                  </a:p>
                </c:rich>
              </c:tx>
              <c:dLblPos val="t"/>
              <c:showLegendKey val="0"/>
              <c:showVal val="1"/>
              <c:showCatName val="0"/>
              <c:showSerName val="0"/>
              <c:showPercent val="0"/>
              <c:showBubbleSize val="0"/>
            </c:dLbl>
            <c:dLbl>
              <c:idx val="2"/>
              <c:tx>
                <c:rich>
                  <a:bodyPr/>
                  <a:lstStyle/>
                  <a:p>
                    <a:r>
                      <a:rPr sz="1100" b="1">
                        <a:solidFill>
                          <a:srgbClr val="161D26"/>
                        </a:solidFill>
                        <a:latin typeface="Ember Modern Display Standard"/>
                      </a:rPr>
                      <a:t>0.988</a:t>
                    </a:r>
                  </a:p>
                </c:rich>
              </c:tx>
              <c:dLblPos val="t"/>
              <c:showLegendKey val="0"/>
              <c:showVal val="1"/>
              <c:showCatName val="0"/>
              <c:showSerName val="0"/>
              <c:showPercent val="0"/>
              <c:showBubbleSize val="0"/>
            </c:dLbl>
            <c:dLbl>
              <c:idx val="4"/>
              <c:tx>
                <c:rich>
                  <a:bodyPr/>
                  <a:lstStyle/>
                  <a:p>
                    <a:r>
                      <a:rPr sz="1100" b="1">
                        <a:solidFill>
                          <a:srgbClr val="161D26"/>
                        </a:solidFill>
                        <a:latin typeface="Ember Modern Display Standard"/>
                      </a:rPr>
                      <a:t>0.990</a:t>
                    </a:r>
                  </a:p>
                </c:rich>
              </c:tx>
              <c:dLblPos val="t"/>
              <c:showLegendKey val="0"/>
              <c:showVal val="1"/>
              <c:showCatName val="0"/>
              <c:showSerName val="0"/>
              <c:showPercent val="0"/>
              <c:showBubbleSize val="0"/>
            </c:dLbl>
            <c:dLbl>
              <c:idx val="9"/>
              <c:tx>
                <c:rich>
                  <a:bodyPr/>
                  <a:lstStyle/>
                  <a:p>
                    <a:r>
                      <a:rPr sz="1100" b="1">
                        <a:solidFill>
                          <a:srgbClr val="161D26"/>
                        </a:solidFill>
                        <a:latin typeface="Ember Modern Display Standard"/>
                      </a:rPr>
                      <a:t>0.991</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first
model</c:v>
                </c:pt>
                <c:pt idx="1">
                  <c:v>+ legal
forms</c:v>
                </c:pt>
                <c:pt idx="2">
                  <c:v>+ France
rules</c:v>
                </c:pt>
                <c:pt idx="3">
                  <c:v>+ stage 3,
repairs</c:v>
                </c:pt>
                <c:pt idx="4">
                  <c:v>+ trans-
formers</c:v>
                </c:pt>
                <c:pt idx="5">
                  <c:v>+ self-
training</c:v>
                </c:pt>
                <c:pt idx="6">
                  <c:v>+ decision
layer</c:v>
                </c:pt>
                <c:pt idx="7">
                  <c:v>+ French
models</c:v>
                </c:pt>
                <c:pt idx="8">
                  <c:v>+ France
layer</c:v>
                </c:pt>
                <c:pt idx="9">
                  <c:v>+ 7B</c:v>
                </c:pt>
              </c:strCache>
            </c:strRef>
          </c:cat>
          <c:val>
            <c:numRef>
              <c:f>Sheet1!$B$2:$B$11</c:f>
              <c:numCache>
                <c:formatCode>General</c:formatCode>
                <c:ptCount val="10"/>
                <c:pt idx="0">
                  <c:v>0.97608</c:v>
                </c:pt>
                <c:pt idx="1">
                  <c:v>0.97961</c:v>
                </c:pt>
                <c:pt idx="2">
                  <c:v>0.98781</c:v>
                </c:pt>
                <c:pt idx="3">
                  <c:v>0.988609</c:v>
                </c:pt>
                <c:pt idx="4">
                  <c:v>0.989721</c:v>
                </c:pt>
                <c:pt idx="5">
                  <c:v>0.990179</c:v>
                </c:pt>
                <c:pt idx="6">
                  <c:v>0.990264</c:v>
                </c:pt>
                <c:pt idx="7">
                  <c:v>0.990545</c:v>
                </c:pt>
                <c:pt idx="8">
                  <c:v>0.990699</c:v>
                </c:pt>
                <c:pt idx="9">
                  <c:v>0.990879</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8C0CC"/>
            </a:solidFill>
          </a:ln>
        </c:spPr>
        <c:crossAx val="2140495176"/>
        <c:crosses val="autoZero"/>
        <c:auto val="1"/>
        <c:lblAlgn val="ctr"/>
        <c:lblOffset val="100"/>
        <c:noMultiLvlLbl val="0"/>
      </c:catAx>
      <c:valAx>
        <c:axId val="2140495176"/>
        <c:scaling>
          <c:max val="0.992"/>
          <c:min val="0.975"/>
        </c:scaling>
        <c:delete val="0"/>
        <c:axPos val="l"/>
        <c:majorGridlines>
          <c:spPr>
            <a:ln>
              <a:solidFill>
                <a:srgbClr val="E3E6EB"/>
              </a:solidFill>
            </a:ln>
          </c:spPr>
        </c:majorGridlines>
        <c:numFmt formatCode="0.000" sourceLinked="0"/>
        <c:majorTickMark val="out"/>
        <c:minorTickMark val="none"/>
        <c:tickLblPos val="nextTo"/>
        <c:spPr>
          <a:ln>
            <a:noFill/>
          </a:ln>
        </c:spPr>
        <c:crossAx val="2118791784"/>
        <c:crosses val="autoZero"/>
        <c:majorUnit val="0.005"/>
      </c:valAx>
    </c:plotArea>
    <c:plotVisOnly val="1"/>
    <c:dispBlanksAs val="gap"/>
    <c:showDLblsOverMax val="0"/>
  </c:chart>
  <c:txPr>
    <a:bodyPr/>
    <a:lstStyle/>
    <a:p>
      <a:pPr>
        <a:defRPr sz="900">
          <a:solidFill>
            <a:srgbClr val="6B7280"/>
          </a:solidFill>
          <a:latin typeface="Ember Modern Display Standar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3ae4afcfa35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3ae4afcfa35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(15 seconds) Hi, we are team Grenuke: Ameya, Aarush and Sachi. Three students, about 72 hours, one laptop and a few rented GPUs. This is the story of how we turned 24 million business records into a solution that finished second among more than 32,000 teams, and what we learned on the way.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3a4273c6775_0_3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4" name="Google Shape;264;g3a4273c6775_0_3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(35 seconds) We began where every ML project should begin: with the data. There were 24.2 million records from three sources. The training set covers only the US and India. The test set adds France, 15 percent of it, with no labels at all. And the US part of the test is half the size of training, which quietly changes any feature built on counts. We wrote all of this down before building anything.</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8DDBAE79-5551-27A9-A762-591EA6DD9A2F}"/>
            </a:ext>
          </a:extLst>
        </p:cNvPr>
        <p:cNvGrpSpPr/>
        <p:nvPr/>
      </p:nvGrpSpPr>
      <p:grpSpPr>
        <a:xfrm>
          <a:off x="0" y="0"/>
          <a:ext cx="0" cy="0"/>
          <a:chOff x="0" y="0"/>
          <a:chExt cx="0" cy="0"/>
        </a:xfrm>
      </p:grpSpPr>
      <p:sp>
        <p:nvSpPr>
          <p:cNvPr id="122" name="Google Shape;122;g3ae4afcfa35_0_222:notes">
            <a:extLst>
              <a:ext uri="{FF2B5EF4-FFF2-40B4-BE49-F238E27FC236}">
                <a16:creationId xmlns:a16="http://schemas.microsoft.com/office/drawing/2014/main" id="{1ADA5E14-48EE-1348-1869-2ED73EC4F1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ae4afcfa35_0_222:notes">
            <a:extLst>
              <a:ext uri="{FF2B5EF4-FFF2-40B4-BE49-F238E27FC236}">
                <a16:creationId xmlns:a16="http://schemas.microsoft.com/office/drawing/2014/main" id="{FAB588EA-0C48-4CD3-973F-7335AD8C7D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(5 seconds) It all started with the data.</a:t>
            </a:r>
          </a:p>
        </p:txBody>
      </p:sp>
    </p:spTree>
    <p:extLst>
      <p:ext uri="{BB962C8B-B14F-4D97-AF65-F5344CB8AC3E}">
        <p14:creationId xmlns:p14="http://schemas.microsoft.com/office/powerpoint/2010/main" val="164226886"/>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(35 seconds) Next, what a match looks like. An entity has about three and a half copies on average, and up to eleven. But 5.6 percent have no copy at all, and for them the right answer is empty, which scores full marks. We also checked ownership: across 7.6 million true pairs, not one record belongs to two entities. That became a rule in our design: one owner per record.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(35 seconds) How do true copies differ? They are noisy. About 16 percent have a weak name match, mostly in India, where names are transliterated. About 5 percent have a weak or empty address. But both weak at once happens in less than a tenth of a percent, so the name and the address rescue each other. 83 percent keep the same house number, which makes it strong evidence. And there are almost no postcodes.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(40 seconds) Then we found the decoys. The test set has 23 percent more records per entity, but the same number of true matches, so the extra records are look-alikes, built to trick us. They leave fingerprints. A true copy keeps the house number 85 percent of the time; a look-alike only 12 percent. And look-alikes add a business word, like holdings or group, three times as often. One word swapped at the same address is a real copy only 0.6 percent of the time.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(30 seconds) From all this, we set two rules. First, decide like the metric: one wrong merge costs as much as four missed copies, and merging two different businesses is the mistake that hurts a real customer. So, precision first. Second, spend compute where the model is unsure: a cheap model reads every pair, and only 2.6 percent of pairs reach our expensive models.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(5 seconds) Then we built the solution.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(40 seconds) Comparing every entity with every record would mean about 17 trillion pairs. So first, we search for likely candidates: each country separately, using the words in the name and the address, plus a name-only search when the address is empty. Before searching, we repair spellings. Retrieval keeps 99.1 percent of true matches, and a learned cut leaves just 3.7 candidates per entity while keeping 98.4 percent. We chose this soft matching over hard city or state keys, because many true copies have an empty or landmark-only address.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(45 seconds) Here is our architecture in seven steps. Blue is data, navy is our models, and orange is where we decide. We clean the records and retrieve candidates. XGBoost, a fast tree model, scores every pair using name, address, house-number and rival features. The pairs it is unsure about are re-read by transformer models: e5, bge and Qwen. A second XGBoost combines their votes into a calibrated probability. Then we decide per entity. Finally, rules catch known decoys, and a 7B model re-checks the answers we were most sure of.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(40 seconds) Here is how one decision works. Each candidate gets a calibrated probability. We sort them and keep adding matches while the expected F0.5 for this entity goes up. The two real copies are kept. The look-alike with a similar name, and the bakery at the same address, are dropped. And every record belongs to only one entity, so two entities can never claim the same record. These probabilities are illustrative.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(40 seconds) We kept performance in mind at every step. Each stage shrinks the work for the next: about 34 candidates per entity from retrieval, under 5 after a cheap first filter, 3.7 into the main models. The core pipeline ran on a laptop-sized machine, one 12 gigabyte GPU and 31 gigabytes of memory: blocking in about 13 minutes, with memory peaking at 19 gigabytes. Everything is vectorised; we never loop over pairs in Python. Only the transformers needed rented GPUs, and they read under 3 percent of pairs.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(5 seconds) Then the leaderboard started teaching us.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(40 seconds) Our first uploads were humbling. Our validation said 0.989; the leaderboard said 0.980. We treated that gap like a bug report. We ruled out bugs in our files, then split the gap by country. The US and India matched our validation, so the whole gap was France, at about 0.93. Then we read the French mistakes by hand, and found the decoys our model was accepting: one word swapped, same address.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(45 seconds) France had no labels, so we let the data teach us, carefully. First, we learned which French words signal a look-alike, without labels. Second, the model learned from its own most confident French answers, with checks so no pair ever grades itself. Honestly, this failed twice before it worked. Third, a second opinion: different model families vote, and a 7B model re-checks confident answers. We estimate France rose from about 0.93 to 0.98; it is an estimate, because France was never measured directly.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(5 seconds) Here is how we worked, and where we landed.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(35 seconds) We were three people, so we tried everything we could. We ran 329 measured experiments, kept 177 and dropped 126, and every upload tested one change. Ameya led the data work, blocking and France. Aarush trained the 7B model and built the final submission. Sachi built our testing gates, a Qwen model and synthetic French data. One rule kept us honest: when two ideas tie, keep the simpler one.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(35 seconds) This is our climb on the public leaderboard, from 0.976 to 0.991. Each point is one upload, and each one changed one thing we understood. Behind this line are long nights, a laptop that froze at 3:35 in the morning, and a rented GPU we lost mid-run. Our final score was 0.990879, and we finished second of the top ten, among more than 32,000 teams.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(30 seconds) Three lessons. Data first: every good decision we made traced back to reading the data. Doubt your own estimates: ours were built on our own model, so they shared its blind spots, and the leaderboard corrected us. And diversity wins: different models together beat one strong model, most of all in a country you have never seen.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(5 seconds) And this is where it could go next.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(40 seconds) How would this scale to billions of records? First, scale out: shard the work by country and region, so a new record only searches its own shard and we never re-run everything. Second, run lighter: distil our transformer ensemble into one small model, quantise it, and cache scores. Third, at the edge: when a business signs up, XGBoost and a small model can check for duplicates instantly on an ordinary CPU, while the 7B model stays in the cloud for batch re-checks. The cost driver is candidates per entity, which is why we kept it at 3.7.</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(40 seconds) With more time, we would label a few hundred pairs in each new country, chosen where our models disagree; use city and state as soft keys; match empty addresses better, since they are most of what we miss; and send unsure pairs to human review. And this matters well beyond a leaderboard: de-duplicating business sign-ups, cleaning seller and supplier records, catching duplicate or fake accounts, and launching new marketplaces, which is exactly the problem France gave us.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(10 seconds) Thank you for listening. Read the data, decide the way the metric scores, and spend compute where it matters. We are happy to take your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4"/>
        <p:cNvGrpSpPr/>
        <p:nvPr/>
      </p:nvGrpSpPr>
      <p:grpSpPr>
        <a:xfrm>
          <a:off x="0" y="0"/>
          <a:ext cx="0" cy="0"/>
          <a:chOff x="0" y="0"/>
          <a:chExt cx="0" cy="0"/>
        </a:xfrm>
      </p:grpSpPr>
      <p:sp>
        <p:nvSpPr>
          <p:cNvPr id="55" name="Google Shape;55;p14"/>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56" name="Google Shape;56;p14"/>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7" name="Google Shape;57;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60" name="Google Shape;60;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1"/>
        <p:cNvGrpSpPr/>
        <p:nvPr/>
      </p:nvGrpSpPr>
      <p:grpSpPr>
        <a:xfrm>
          <a:off x="0" y="0"/>
          <a:ext cx="0" cy="0"/>
          <a:chOff x="0" y="0"/>
          <a:chExt cx="0" cy="0"/>
        </a:xfrm>
      </p:grpSpPr>
      <p:sp>
        <p:nvSpPr>
          <p:cNvPr id="62" name="Google Shape;62;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63" name="Google Shape;63;p16"/>
          <p:cNvSpPr txBox="1">
            <a:spLocks noGrp="1"/>
          </p:cNvSpPr>
          <p:nvPr>
            <p:ph type="body" idx="1"/>
          </p:nvPr>
        </p:nvSpPr>
        <p:spPr>
          <a:xfrm>
            <a:off x="373175" y="11322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64" name="Google Shape;64;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5"/>
        <p:cNvGrpSpPr/>
        <p:nvPr/>
      </p:nvGrpSpPr>
      <p:grpSpPr>
        <a:xfrm>
          <a:off x="0" y="0"/>
          <a:ext cx="0" cy="0"/>
          <a:chOff x="0" y="0"/>
          <a:chExt cx="0" cy="0"/>
        </a:xfrm>
      </p:grpSpPr>
      <p:sp>
        <p:nvSpPr>
          <p:cNvPr id="66" name="Google Shape;66;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67" name="Google Shape;67;p17"/>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68" name="Google Shape;68;p17"/>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69" name="Google Shape;6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72" name="Google Shape;7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3"/>
        <p:cNvGrpSpPr/>
        <p:nvPr/>
      </p:nvGrpSpPr>
      <p:grpSpPr>
        <a:xfrm>
          <a:off x="0" y="0"/>
          <a:ext cx="0" cy="0"/>
          <a:chOff x="0" y="0"/>
          <a:chExt cx="0" cy="0"/>
        </a:xfrm>
      </p:grpSpPr>
      <p:sp>
        <p:nvSpPr>
          <p:cNvPr id="74" name="Google Shape;74;p19"/>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75" name="Google Shape;75;p19"/>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76" name="Google Shape;76;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7"/>
        <p:cNvGrpSpPr/>
        <p:nvPr/>
      </p:nvGrpSpPr>
      <p:grpSpPr>
        <a:xfrm>
          <a:off x="0" y="0"/>
          <a:ext cx="0" cy="0"/>
          <a:chOff x="0" y="0"/>
          <a:chExt cx="0" cy="0"/>
        </a:xfrm>
      </p:grpSpPr>
      <p:sp>
        <p:nvSpPr>
          <p:cNvPr id="78" name="Google Shape;78;p20"/>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79" name="Google Shape;79;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0"/>
        <p:cNvGrpSpPr/>
        <p:nvPr/>
      </p:nvGrpSpPr>
      <p:grpSpPr>
        <a:xfrm>
          <a:off x="0" y="0"/>
          <a:ext cx="0" cy="0"/>
          <a:chOff x="0" y="0"/>
          <a:chExt cx="0" cy="0"/>
        </a:xfrm>
      </p:grpSpPr>
      <p:sp>
        <p:nvSpPr>
          <p:cNvPr id="81" name="Google Shape;81;p2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1"/>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83" name="Google Shape;83;p21"/>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84" name="Google Shape;84;p21"/>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85" name="Google Shape;85;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22"/>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88" name="Google Shape;88;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9"/>
        <p:cNvGrpSpPr/>
        <p:nvPr/>
      </p:nvGrpSpPr>
      <p:grpSpPr>
        <a:xfrm>
          <a:off x="0" y="0"/>
          <a:ext cx="0" cy="0"/>
          <a:chOff x="0" y="0"/>
          <a:chExt cx="0" cy="0"/>
        </a:xfrm>
      </p:grpSpPr>
      <p:sp>
        <p:nvSpPr>
          <p:cNvPr id="90" name="Google Shape;90;p23"/>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91" name="Google Shape;91;p23"/>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92" name="Google Shape;92;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Wiser Purple">
  <p:cSld name="TITLE_ONLY_1">
    <p:spTree>
      <p:nvGrpSpPr>
        <p:cNvPr id="1" name="Shape 95"/>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Title and Content" type="obj">
  <p:cSld name="OBJECT">
    <p:bg>
      <p:bgPr>
        <a:solidFill>
          <a:srgbClr val="FF6200"/>
        </a:solidFill>
        <a:effectLst/>
      </p:bgPr>
    </p:bg>
    <p:spTree>
      <p:nvGrpSpPr>
        <p:cNvPr id="1" name="Shape 96"/>
        <p:cNvGrpSpPr/>
        <p:nvPr/>
      </p:nvGrpSpPr>
      <p:grpSpPr>
        <a:xfrm>
          <a:off x="0" y="0"/>
          <a:ext cx="0" cy="0"/>
          <a:chOff x="0" y="0"/>
          <a:chExt cx="0" cy="0"/>
        </a:xfrm>
      </p:grpSpPr>
      <p:sp>
        <p:nvSpPr>
          <p:cNvPr id="97" name="Google Shape;97;p26"/>
          <p:cNvSpPr/>
          <p:nvPr/>
        </p:nvSpPr>
        <p:spPr>
          <a:xfrm>
            <a:off x="0" y="0"/>
            <a:ext cx="9147366" cy="5145465"/>
          </a:xfrm>
          <a:custGeom>
            <a:avLst/>
            <a:gdLst/>
            <a:ahLst/>
            <a:cxnLst/>
            <a:rect l="l" t="t" r="r" b="b"/>
            <a:pathLst>
              <a:path w="20104100" h="11308715" extrusionOk="0">
                <a:moveTo>
                  <a:pt x="20104099" y="0"/>
                </a:moveTo>
                <a:lnTo>
                  <a:pt x="0" y="0"/>
                </a:lnTo>
                <a:lnTo>
                  <a:pt x="0" y="11308556"/>
                </a:lnTo>
                <a:lnTo>
                  <a:pt x="20104099" y="11308556"/>
                </a:lnTo>
                <a:lnTo>
                  <a:pt x="20104099" y="0"/>
                </a:lnTo>
                <a:close/>
              </a:path>
            </a:pathLst>
          </a:custGeom>
          <a:solidFill>
            <a:srgbClr val="FF6200"/>
          </a:solidFill>
          <a:ln>
            <a:noFill/>
          </a:ln>
        </p:spPr>
        <p:txBody>
          <a:bodyPr spcFirstLastPara="1" wrap="square" lIns="0" tIns="0" rIns="0" bIns="0" anchor="t" anchorCtr="0">
            <a:noAutofit/>
          </a:bodyPr>
          <a:lstStyle/>
          <a:p>
            <a:pPr marL="0" lvl="0" indent="0" algn="l" rtl="0">
              <a:spcBef>
                <a:spcPts val="0"/>
              </a:spcBef>
              <a:spcAft>
                <a:spcPts val="0"/>
              </a:spcAft>
              <a:buNone/>
            </a:pPr>
            <a:endParaRPr sz="800"/>
          </a:p>
        </p:txBody>
      </p:sp>
      <p:sp>
        <p:nvSpPr>
          <p:cNvPr id="98" name="Google Shape;98;p26"/>
          <p:cNvSpPr txBox="1">
            <a:spLocks noGrp="1"/>
          </p:cNvSpPr>
          <p:nvPr>
            <p:ph type="title"/>
          </p:nvPr>
        </p:nvSpPr>
        <p:spPr>
          <a:xfrm>
            <a:off x="351411" y="268461"/>
            <a:ext cx="4280400" cy="6117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2800"/>
              <a:buNone/>
              <a:defRPr sz="2300" b="1" i="0">
                <a:solidFill>
                  <a:srgbClr val="FF6200"/>
                </a:solidFill>
                <a:latin typeface="Play"/>
                <a:ea typeface="Play"/>
                <a:cs typeface="Play"/>
                <a:sym typeface="Play"/>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99" name="Google Shape;99;p26"/>
          <p:cNvSpPr txBox="1">
            <a:spLocks noGrp="1"/>
          </p:cNvSpPr>
          <p:nvPr>
            <p:ph type="body" idx="1"/>
          </p:nvPr>
        </p:nvSpPr>
        <p:spPr>
          <a:xfrm>
            <a:off x="4701119" y="2487711"/>
            <a:ext cx="3905700" cy="216390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800"/>
              <a:buNone/>
              <a:defRPr sz="2300" b="1" i="0">
                <a:solidFill>
                  <a:srgbClr val="161D26"/>
                </a:solidFill>
                <a:latin typeface="Play"/>
                <a:ea typeface="Play"/>
                <a:cs typeface="Play"/>
                <a:sym typeface="Play"/>
              </a:defRPr>
            </a:lvl1pPr>
            <a:lvl2pPr marL="914400" lvl="1" indent="-228600" algn="l">
              <a:spcBef>
                <a:spcPts val="1200"/>
              </a:spcBef>
              <a:spcAft>
                <a:spcPts val="0"/>
              </a:spcAft>
              <a:buSzPts val="1400"/>
              <a:buNone/>
              <a:defRPr/>
            </a:lvl2pPr>
            <a:lvl3pPr marL="1371600" lvl="2" indent="-228600" algn="l">
              <a:spcBef>
                <a:spcPts val="1200"/>
              </a:spcBef>
              <a:spcAft>
                <a:spcPts val="0"/>
              </a:spcAft>
              <a:buSzPts val="1400"/>
              <a:buNone/>
              <a:defRPr/>
            </a:lvl3pPr>
            <a:lvl4pPr marL="1828800" lvl="3" indent="-228600" algn="l">
              <a:spcBef>
                <a:spcPts val="1200"/>
              </a:spcBef>
              <a:spcAft>
                <a:spcPts val="0"/>
              </a:spcAft>
              <a:buSzPts val="1400"/>
              <a:buNone/>
              <a:defRPr/>
            </a:lvl4pPr>
            <a:lvl5pPr marL="2286000" lvl="4" indent="-228600" algn="l">
              <a:spcBef>
                <a:spcPts val="1200"/>
              </a:spcBef>
              <a:spcAft>
                <a:spcPts val="0"/>
              </a:spcAft>
              <a:buSzPts val="1400"/>
              <a:buNone/>
              <a:defRPr/>
            </a:lvl5pPr>
            <a:lvl6pPr marL="2743200" lvl="5" indent="-228600" algn="l">
              <a:spcBef>
                <a:spcPts val="1200"/>
              </a:spcBef>
              <a:spcAft>
                <a:spcPts val="0"/>
              </a:spcAft>
              <a:buSzPts val="1400"/>
              <a:buNone/>
              <a:defRPr/>
            </a:lvl6pPr>
            <a:lvl7pPr marL="3200400" lvl="6" indent="-228600" algn="l">
              <a:spcBef>
                <a:spcPts val="1200"/>
              </a:spcBef>
              <a:spcAft>
                <a:spcPts val="0"/>
              </a:spcAft>
              <a:buSzPts val="1400"/>
              <a:buNone/>
              <a:defRPr/>
            </a:lvl7pPr>
            <a:lvl8pPr marL="3657600" lvl="7" indent="-228600" algn="l">
              <a:spcBef>
                <a:spcPts val="1200"/>
              </a:spcBef>
              <a:spcAft>
                <a:spcPts val="0"/>
              </a:spcAft>
              <a:buSzPts val="1400"/>
              <a:buNone/>
              <a:defRPr/>
            </a:lvl8pPr>
            <a:lvl9pPr marL="4114800" lvl="8" indent="-228600" algn="l">
              <a:spcBef>
                <a:spcPts val="1200"/>
              </a:spcBef>
              <a:spcAft>
                <a:spcPts val="1200"/>
              </a:spcAft>
              <a:buSzPts val="1400"/>
              <a:buNone/>
              <a:defRPr/>
            </a:lvl9pPr>
          </a:lstStyle>
          <a:p>
            <a:endParaRPr/>
          </a:p>
        </p:txBody>
      </p:sp>
      <p:sp>
        <p:nvSpPr>
          <p:cNvPr id="100" name="Google Shape;100;p26"/>
          <p:cNvSpPr txBox="1">
            <a:spLocks noGrp="1"/>
          </p:cNvSpPr>
          <p:nvPr>
            <p:ph type="ftr" idx="11"/>
          </p:nvPr>
        </p:nvSpPr>
        <p:spPr>
          <a:xfrm>
            <a:off x="3108960" y="4783455"/>
            <a:ext cx="2925900" cy="2571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600"/>
              <a:buNone/>
              <a:defRPr sz="600">
                <a:solidFill>
                  <a:srgbClr val="888888"/>
                </a:solidFill>
              </a:defRPr>
            </a:lvl1pPr>
            <a:lvl2pPr lvl="1">
              <a:spcBef>
                <a:spcPts val="0"/>
              </a:spcBef>
              <a:spcAft>
                <a:spcPts val="0"/>
              </a:spcAft>
              <a:buSzPts val="600"/>
              <a:buNone/>
              <a:defRPr sz="600"/>
            </a:lvl2pPr>
            <a:lvl3pPr lvl="2">
              <a:spcBef>
                <a:spcPts val="0"/>
              </a:spcBef>
              <a:spcAft>
                <a:spcPts val="0"/>
              </a:spcAft>
              <a:buSzPts val="600"/>
              <a:buNone/>
              <a:defRPr sz="600"/>
            </a:lvl3pPr>
            <a:lvl4pPr lvl="3">
              <a:spcBef>
                <a:spcPts val="0"/>
              </a:spcBef>
              <a:spcAft>
                <a:spcPts val="0"/>
              </a:spcAft>
              <a:buSzPts val="600"/>
              <a:buNone/>
              <a:defRPr sz="600"/>
            </a:lvl4pPr>
            <a:lvl5pPr lvl="4">
              <a:spcBef>
                <a:spcPts val="0"/>
              </a:spcBef>
              <a:spcAft>
                <a:spcPts val="0"/>
              </a:spcAft>
              <a:buSzPts val="600"/>
              <a:buNone/>
              <a:defRPr sz="600"/>
            </a:lvl5pPr>
            <a:lvl6pPr lvl="5">
              <a:spcBef>
                <a:spcPts val="0"/>
              </a:spcBef>
              <a:spcAft>
                <a:spcPts val="0"/>
              </a:spcAft>
              <a:buSzPts val="600"/>
              <a:buNone/>
              <a:defRPr sz="600"/>
            </a:lvl6pPr>
            <a:lvl7pPr lvl="6">
              <a:spcBef>
                <a:spcPts val="0"/>
              </a:spcBef>
              <a:spcAft>
                <a:spcPts val="0"/>
              </a:spcAft>
              <a:buSzPts val="600"/>
              <a:buNone/>
              <a:defRPr sz="600"/>
            </a:lvl7pPr>
            <a:lvl8pPr lvl="7">
              <a:spcBef>
                <a:spcPts val="0"/>
              </a:spcBef>
              <a:spcAft>
                <a:spcPts val="0"/>
              </a:spcAft>
              <a:buSzPts val="600"/>
              <a:buNone/>
              <a:defRPr sz="600"/>
            </a:lvl8pPr>
            <a:lvl9pPr lvl="8">
              <a:spcBef>
                <a:spcPts val="0"/>
              </a:spcBef>
              <a:spcAft>
                <a:spcPts val="0"/>
              </a:spcAft>
              <a:buSzPts val="600"/>
              <a:buNone/>
              <a:defRPr sz="600"/>
            </a:lvl9pPr>
          </a:lstStyle>
          <a:p>
            <a:endParaRPr/>
          </a:p>
        </p:txBody>
      </p:sp>
      <p:sp>
        <p:nvSpPr>
          <p:cNvPr id="101" name="Google Shape;101;p26"/>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600"/>
              <a:buNone/>
              <a:defRPr sz="600">
                <a:solidFill>
                  <a:srgbClr val="888888"/>
                </a:solidFill>
              </a:defRPr>
            </a:lvl1pPr>
            <a:lvl2pPr lvl="1">
              <a:spcBef>
                <a:spcPts val="0"/>
              </a:spcBef>
              <a:spcAft>
                <a:spcPts val="0"/>
              </a:spcAft>
              <a:buSzPts val="600"/>
              <a:buNone/>
              <a:defRPr sz="600"/>
            </a:lvl2pPr>
            <a:lvl3pPr lvl="2">
              <a:spcBef>
                <a:spcPts val="0"/>
              </a:spcBef>
              <a:spcAft>
                <a:spcPts val="0"/>
              </a:spcAft>
              <a:buSzPts val="600"/>
              <a:buNone/>
              <a:defRPr sz="600"/>
            </a:lvl3pPr>
            <a:lvl4pPr lvl="3">
              <a:spcBef>
                <a:spcPts val="0"/>
              </a:spcBef>
              <a:spcAft>
                <a:spcPts val="0"/>
              </a:spcAft>
              <a:buSzPts val="600"/>
              <a:buNone/>
              <a:defRPr sz="600"/>
            </a:lvl4pPr>
            <a:lvl5pPr lvl="4">
              <a:spcBef>
                <a:spcPts val="0"/>
              </a:spcBef>
              <a:spcAft>
                <a:spcPts val="0"/>
              </a:spcAft>
              <a:buSzPts val="600"/>
              <a:buNone/>
              <a:defRPr sz="600"/>
            </a:lvl5pPr>
            <a:lvl6pPr lvl="5">
              <a:spcBef>
                <a:spcPts val="0"/>
              </a:spcBef>
              <a:spcAft>
                <a:spcPts val="0"/>
              </a:spcAft>
              <a:buSzPts val="600"/>
              <a:buNone/>
              <a:defRPr sz="600"/>
            </a:lvl6pPr>
            <a:lvl7pPr lvl="6">
              <a:spcBef>
                <a:spcPts val="0"/>
              </a:spcBef>
              <a:spcAft>
                <a:spcPts val="0"/>
              </a:spcAft>
              <a:buSzPts val="600"/>
              <a:buNone/>
              <a:defRPr sz="600"/>
            </a:lvl7pPr>
            <a:lvl8pPr lvl="7">
              <a:spcBef>
                <a:spcPts val="0"/>
              </a:spcBef>
              <a:spcAft>
                <a:spcPts val="0"/>
              </a:spcAft>
              <a:buSzPts val="600"/>
              <a:buNone/>
              <a:defRPr sz="600"/>
            </a:lvl8pPr>
            <a:lvl9pPr lvl="8">
              <a:spcBef>
                <a:spcPts val="0"/>
              </a:spcBef>
              <a:spcAft>
                <a:spcPts val="0"/>
              </a:spcAft>
              <a:buSzPts val="600"/>
              <a:buNone/>
              <a:defRPr sz="600"/>
            </a:lvl9pPr>
          </a:lstStyle>
          <a:p>
            <a:endParaRPr/>
          </a:p>
        </p:txBody>
      </p:sp>
      <p:sp>
        <p:nvSpPr>
          <p:cNvPr id="102" name="Google Shape;102;p26"/>
          <p:cNvSpPr txBox="1">
            <a:spLocks noGrp="1"/>
          </p:cNvSpPr>
          <p:nvPr>
            <p:ph type="sldNum" idx="12"/>
          </p:nvPr>
        </p:nvSpPr>
        <p:spPr>
          <a:xfrm>
            <a:off x="6583680" y="4783455"/>
            <a:ext cx="2103000" cy="15390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Wiser Plum" userDrawn="1">
  <p:cSld name="TITLE_AND_TWO_COLUMNS_1">
    <p:spTree>
      <p:nvGrpSpPr>
        <p:cNvPr id="1" name="Shape 105"/>
        <p:cNvGrpSpPr/>
        <p:nvPr/>
      </p:nvGrpSpPr>
      <p:grpSpPr>
        <a:xfrm>
          <a:off x="0" y="0"/>
          <a:ext cx="0" cy="0"/>
          <a:chOff x="0" y="0"/>
          <a:chExt cx="0" cy="0"/>
        </a:xfrm>
      </p:grpSpPr>
      <p:sp>
        <p:nvSpPr>
          <p:cNvPr id="7" name="Picture Placeholder 6">
            <a:extLst>
              <a:ext uri="{FF2B5EF4-FFF2-40B4-BE49-F238E27FC236}">
                <a16:creationId xmlns:a16="http://schemas.microsoft.com/office/drawing/2014/main" id="{8443B5F7-EF56-1F15-49A3-569995F7184C}"/>
              </a:ext>
            </a:extLst>
          </p:cNvPr>
          <p:cNvSpPr>
            <a:spLocks noGrp="1"/>
          </p:cNvSpPr>
          <p:nvPr>
            <p:ph type="pic" sz="quarter" idx="13"/>
          </p:nvPr>
        </p:nvSpPr>
        <p:spPr>
          <a:xfrm>
            <a:off x="779463" y="1866864"/>
            <a:ext cx="1773237" cy="2024100"/>
          </a:xfrm>
          <a:prstGeom prst="roundRect">
            <a:avLst>
              <a:gd name="adj" fmla="val 12434"/>
            </a:avLst>
          </a:prstGeom>
          <a:solidFill>
            <a:schemeClr val="bg1">
              <a:lumMod val="95000"/>
            </a:schemeClr>
          </a:solidFill>
        </p:spPr>
        <p:txBody>
          <a:bodyPr/>
          <a:lstStyle/>
          <a:p>
            <a:endParaRPr lang="en-US"/>
          </a:p>
        </p:txBody>
      </p:sp>
      <p:sp>
        <p:nvSpPr>
          <p:cNvPr id="8" name="Picture Placeholder 6">
            <a:extLst>
              <a:ext uri="{FF2B5EF4-FFF2-40B4-BE49-F238E27FC236}">
                <a16:creationId xmlns:a16="http://schemas.microsoft.com/office/drawing/2014/main" id="{454DC439-9F8D-9427-12C5-06A07E1271E1}"/>
              </a:ext>
            </a:extLst>
          </p:cNvPr>
          <p:cNvSpPr>
            <a:spLocks noGrp="1"/>
          </p:cNvSpPr>
          <p:nvPr>
            <p:ph type="pic" sz="quarter" idx="14"/>
          </p:nvPr>
        </p:nvSpPr>
        <p:spPr>
          <a:xfrm>
            <a:off x="2717445" y="1866864"/>
            <a:ext cx="1773237" cy="2024100"/>
          </a:xfrm>
          <a:prstGeom prst="roundRect">
            <a:avLst>
              <a:gd name="adj" fmla="val 12434"/>
            </a:avLst>
          </a:prstGeom>
          <a:solidFill>
            <a:schemeClr val="bg1">
              <a:lumMod val="95000"/>
            </a:schemeClr>
          </a:solidFill>
        </p:spPr>
        <p:txBody>
          <a:bodyPr/>
          <a:lstStyle/>
          <a:p>
            <a:endParaRPr lang="en-US"/>
          </a:p>
        </p:txBody>
      </p:sp>
      <p:sp>
        <p:nvSpPr>
          <p:cNvPr id="9" name="Picture Placeholder 6">
            <a:extLst>
              <a:ext uri="{FF2B5EF4-FFF2-40B4-BE49-F238E27FC236}">
                <a16:creationId xmlns:a16="http://schemas.microsoft.com/office/drawing/2014/main" id="{5A368EE7-3E3B-2F44-2596-2B5B8D64F892}"/>
              </a:ext>
            </a:extLst>
          </p:cNvPr>
          <p:cNvSpPr>
            <a:spLocks noGrp="1"/>
          </p:cNvSpPr>
          <p:nvPr>
            <p:ph type="pic" sz="quarter" idx="15"/>
          </p:nvPr>
        </p:nvSpPr>
        <p:spPr>
          <a:xfrm>
            <a:off x="4648603" y="1866864"/>
            <a:ext cx="1773237" cy="2024100"/>
          </a:xfrm>
          <a:prstGeom prst="roundRect">
            <a:avLst>
              <a:gd name="adj" fmla="val 12434"/>
            </a:avLst>
          </a:prstGeom>
          <a:solidFill>
            <a:schemeClr val="bg1">
              <a:lumMod val="95000"/>
            </a:schemeClr>
          </a:solidFill>
        </p:spPr>
        <p:txBody>
          <a:bodyPr/>
          <a:lstStyle/>
          <a:p>
            <a:endParaRPr lang="en-US"/>
          </a:p>
        </p:txBody>
      </p:sp>
      <p:sp>
        <p:nvSpPr>
          <p:cNvPr id="10" name="Picture Placeholder 6">
            <a:extLst>
              <a:ext uri="{FF2B5EF4-FFF2-40B4-BE49-F238E27FC236}">
                <a16:creationId xmlns:a16="http://schemas.microsoft.com/office/drawing/2014/main" id="{8BA25F23-E8C1-8698-C67D-C52C2F761A8A}"/>
              </a:ext>
            </a:extLst>
          </p:cNvPr>
          <p:cNvSpPr>
            <a:spLocks noGrp="1"/>
          </p:cNvSpPr>
          <p:nvPr>
            <p:ph type="pic" sz="quarter" idx="16"/>
          </p:nvPr>
        </p:nvSpPr>
        <p:spPr>
          <a:xfrm>
            <a:off x="6586585" y="1866864"/>
            <a:ext cx="1773237" cy="2024100"/>
          </a:xfrm>
          <a:prstGeom prst="roundRect">
            <a:avLst>
              <a:gd name="adj" fmla="val 12434"/>
            </a:avLst>
          </a:prstGeom>
          <a:solidFill>
            <a:schemeClr val="bg1">
              <a:lumMod val="95000"/>
            </a:schemeClr>
          </a:solidFill>
        </p:spPr>
        <p:txBody>
          <a:bodyPr/>
          <a:lstStyle/>
          <a:p>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Wiser Plum" preserve="1" userDrawn="1">
  <p:cSld name="1_Wiser Plum">
    <p:spTree>
      <p:nvGrpSpPr>
        <p:cNvPr id="1" name="Shape 105"/>
        <p:cNvGrpSpPr/>
        <p:nvPr/>
      </p:nvGrpSpPr>
      <p:grpSpPr>
        <a:xfrm>
          <a:off x="0" y="0"/>
          <a:ext cx="0" cy="0"/>
          <a:chOff x="0" y="0"/>
          <a:chExt cx="0" cy="0"/>
        </a:xfrm>
      </p:grpSpPr>
      <p:sp>
        <p:nvSpPr>
          <p:cNvPr id="6" name="Picture Placeholder 6">
            <a:extLst>
              <a:ext uri="{FF2B5EF4-FFF2-40B4-BE49-F238E27FC236}">
                <a16:creationId xmlns:a16="http://schemas.microsoft.com/office/drawing/2014/main" id="{D637DBAA-E392-5870-4249-46419E9FE035}"/>
              </a:ext>
            </a:extLst>
          </p:cNvPr>
          <p:cNvSpPr>
            <a:spLocks noGrp="1"/>
          </p:cNvSpPr>
          <p:nvPr>
            <p:ph type="pic" sz="quarter" idx="13"/>
          </p:nvPr>
        </p:nvSpPr>
        <p:spPr>
          <a:xfrm>
            <a:off x="739876" y="1559700"/>
            <a:ext cx="1692771" cy="1932250"/>
          </a:xfrm>
          <a:prstGeom prst="roundRect">
            <a:avLst>
              <a:gd name="adj" fmla="val 12434"/>
            </a:avLst>
          </a:prstGeom>
          <a:solidFill>
            <a:schemeClr val="bg1">
              <a:lumMod val="95000"/>
            </a:schemeClr>
          </a:solidFill>
        </p:spPr>
        <p:txBody>
          <a:bodyPr/>
          <a:lstStyle/>
          <a:p>
            <a:endParaRPr lang="en-US"/>
          </a:p>
        </p:txBody>
      </p:sp>
      <p:sp>
        <p:nvSpPr>
          <p:cNvPr id="11" name="Picture Placeholder 6">
            <a:extLst>
              <a:ext uri="{FF2B5EF4-FFF2-40B4-BE49-F238E27FC236}">
                <a16:creationId xmlns:a16="http://schemas.microsoft.com/office/drawing/2014/main" id="{0F1E19A5-6345-E0C3-F089-1BC3F23E186E}"/>
              </a:ext>
            </a:extLst>
          </p:cNvPr>
          <p:cNvSpPr>
            <a:spLocks noGrp="1"/>
          </p:cNvSpPr>
          <p:nvPr>
            <p:ph type="pic" sz="quarter" idx="14"/>
          </p:nvPr>
        </p:nvSpPr>
        <p:spPr>
          <a:xfrm>
            <a:off x="2834807" y="1559700"/>
            <a:ext cx="1692771" cy="1932250"/>
          </a:xfrm>
          <a:prstGeom prst="roundRect">
            <a:avLst>
              <a:gd name="adj" fmla="val 12434"/>
            </a:avLst>
          </a:prstGeom>
          <a:solidFill>
            <a:schemeClr val="bg1">
              <a:lumMod val="95000"/>
            </a:schemeClr>
          </a:solidFill>
        </p:spPr>
        <p:txBody>
          <a:bodyPr/>
          <a:lstStyle/>
          <a:p>
            <a:endParaRPr lang="en-US"/>
          </a:p>
        </p:txBody>
      </p:sp>
      <p:sp>
        <p:nvSpPr>
          <p:cNvPr id="12" name="Picture Placeholder 6">
            <a:extLst>
              <a:ext uri="{FF2B5EF4-FFF2-40B4-BE49-F238E27FC236}">
                <a16:creationId xmlns:a16="http://schemas.microsoft.com/office/drawing/2014/main" id="{D7EEFAC9-5F28-4633-D474-BAB20FB1B427}"/>
              </a:ext>
            </a:extLst>
          </p:cNvPr>
          <p:cNvSpPr>
            <a:spLocks noGrp="1"/>
          </p:cNvSpPr>
          <p:nvPr>
            <p:ph type="pic" sz="quarter" idx="15"/>
          </p:nvPr>
        </p:nvSpPr>
        <p:spPr>
          <a:xfrm>
            <a:off x="4916091" y="1559700"/>
            <a:ext cx="1692771" cy="1932250"/>
          </a:xfrm>
          <a:prstGeom prst="roundRect">
            <a:avLst>
              <a:gd name="adj" fmla="val 12434"/>
            </a:avLst>
          </a:prstGeom>
          <a:solidFill>
            <a:schemeClr val="bg1">
              <a:lumMod val="95000"/>
            </a:schemeClr>
          </a:solidFill>
        </p:spPr>
        <p:txBody>
          <a:bodyPr/>
          <a:lstStyle/>
          <a:p>
            <a:endParaRPr lang="en-US"/>
          </a:p>
        </p:txBody>
      </p:sp>
      <p:sp>
        <p:nvSpPr>
          <p:cNvPr id="13" name="Picture Placeholder 6">
            <a:extLst>
              <a:ext uri="{FF2B5EF4-FFF2-40B4-BE49-F238E27FC236}">
                <a16:creationId xmlns:a16="http://schemas.microsoft.com/office/drawing/2014/main" id="{B7913989-BE66-F651-DF45-ABC524911DEB}"/>
              </a:ext>
            </a:extLst>
          </p:cNvPr>
          <p:cNvSpPr>
            <a:spLocks noGrp="1"/>
          </p:cNvSpPr>
          <p:nvPr>
            <p:ph type="pic" sz="quarter" idx="16"/>
          </p:nvPr>
        </p:nvSpPr>
        <p:spPr>
          <a:xfrm>
            <a:off x="7011022" y="1559700"/>
            <a:ext cx="1692771" cy="1932250"/>
          </a:xfrm>
          <a:prstGeom prst="roundRect">
            <a:avLst>
              <a:gd name="adj" fmla="val 12434"/>
            </a:avLst>
          </a:prstGeom>
          <a:solidFill>
            <a:schemeClr val="bg1">
              <a:lumMod val="95000"/>
            </a:schemeClr>
          </a:solidFill>
        </p:spPr>
        <p:txBody>
          <a:bodyPr/>
          <a:lstStyle/>
          <a:p>
            <a:endParaRPr lang="en-US"/>
          </a:p>
        </p:txBody>
      </p:sp>
    </p:spTree>
    <p:extLst>
      <p:ext uri="{BB962C8B-B14F-4D97-AF65-F5344CB8AC3E}">
        <p14:creationId xmlns:p14="http://schemas.microsoft.com/office/powerpoint/2010/main" val="34338586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Wiser Purple 1">
  <p:cSld name="TITLE_ONLY_2">
    <p:spTree>
      <p:nvGrpSpPr>
        <p:cNvPr id="1" name="Shape 107"/>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Wiser Plum 4">
  <p:cSld name="TITLE_AND_TWO_COLUMNS_5">
    <p:spTree>
      <p:nvGrpSpPr>
        <p:cNvPr id="1" name="Shape 108"/>
        <p:cNvGrpSpPr/>
        <p:nvPr/>
      </p:nvGrpSpPr>
      <p:grpSpPr>
        <a:xfrm>
          <a:off x="0" y="0"/>
          <a:ext cx="0" cy="0"/>
          <a:chOff x="0" y="0"/>
          <a:chExt cx="0" cy="0"/>
        </a:xfrm>
      </p:grpSpPr>
      <p:sp>
        <p:nvSpPr>
          <p:cNvPr id="109" name="Google Shape;109;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6">
    <p:spTree>
      <p:nvGrpSpPr>
        <p:cNvPr id="1" name="Shape 110"/>
        <p:cNvGrpSpPr/>
        <p:nvPr/>
      </p:nvGrpSpPr>
      <p:grpSpPr>
        <a:xfrm>
          <a:off x="0" y="0"/>
          <a:ext cx="0" cy="0"/>
          <a:chOff x="0" y="0"/>
          <a:chExt cx="0" cy="0"/>
        </a:xfrm>
      </p:grpSpPr>
      <p:sp>
        <p:nvSpPr>
          <p:cNvPr id="111" name="Google Shape;111;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12" name="Google Shape;112;p31"/>
          <p:cNvSpPr/>
          <p:nvPr/>
        </p:nvSpPr>
        <p:spPr>
          <a:xfrm>
            <a:off x="3200525" y="0"/>
            <a:ext cx="5943600" cy="51435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ustom Layout 1 1 1 1 1">
  <p:cSld name="CUSTOM_2_1_1_1">
    <p:spTree>
      <p:nvGrpSpPr>
        <p:cNvPr id="1" name="Shape 115"/>
        <p:cNvGrpSpPr/>
        <p:nvPr/>
      </p:nvGrpSpPr>
      <p:grpSpPr>
        <a:xfrm>
          <a:off x="0" y="0"/>
          <a:ext cx="0" cy="0"/>
          <a:chOff x="0" y="0"/>
          <a:chExt cx="0" cy="0"/>
        </a:xfrm>
      </p:grpSpPr>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_HEADER_1_1">
  <p:cSld name="SECTION_HEADER_1_1">
    <p:spTree>
      <p:nvGrpSpPr>
        <p:cNvPr id="1" name="Shape 116"/>
        <p:cNvGrpSpPr/>
        <p:nvPr/>
      </p:nvGrpSpPr>
      <p:grpSpPr>
        <a:xfrm>
          <a:off x="0" y="0"/>
          <a:ext cx="0" cy="0"/>
          <a:chOff x="0" y="0"/>
          <a:chExt cx="0" cy="0"/>
        </a:xfrm>
      </p:grpSpPr>
      <p:sp>
        <p:nvSpPr>
          <p:cNvPr id="117" name="Google Shape;117;p3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18" name="Google Shape;118;p34"/>
          <p:cNvSpPr txBox="1">
            <a:spLocks noGrp="1"/>
          </p:cNvSpPr>
          <p:nvPr>
            <p:ph type="sldNum" idx="12"/>
          </p:nvPr>
        </p:nvSpPr>
        <p:spPr>
          <a:xfrm>
            <a:off x="8472458" y="4663217"/>
            <a:ext cx="548700" cy="123000"/>
          </a:xfrm>
          <a:prstGeom prst="rect">
            <a:avLst/>
          </a:prstGeom>
        </p:spPr>
        <p:txBody>
          <a:bodyPr spcFirstLastPara="1" wrap="square" lIns="91425" tIns="91425" rIns="91425" bIns="91425" anchor="ctr" anchorCtr="0">
            <a:normAutofit fontScale="250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ARCLAYS–LIGHT 1 1">
  <p:cSld name="TITLE_ONLY_1_1_2">
    <p:bg>
      <p:bgPr>
        <a:solidFill>
          <a:srgbClr val="00AEEF"/>
        </a:solidFill>
        <a:effectLst/>
      </p:bgPr>
    </p:bg>
    <p:spTree>
      <p:nvGrpSpPr>
        <p:cNvPr id="1" name="Shape 119"/>
        <p:cNvGrpSpPr/>
        <p:nvPr/>
      </p:nvGrpSpPr>
      <p:grpSpPr>
        <a:xfrm>
          <a:off x="0" y="0"/>
          <a:ext cx="0" cy="0"/>
          <a:chOff x="0" y="0"/>
          <a:chExt cx="0" cy="0"/>
        </a:xfrm>
      </p:grpSpPr>
      <p:sp>
        <p:nvSpPr>
          <p:cNvPr id="120" name="Google Shape;120;p3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FF6200"/>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373175" y="11322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70" r:id="rId11"/>
    <p:sldLayoutId id="2147483671" r:id="rId12"/>
    <p:sldLayoutId id="2147483673" r:id="rId13"/>
    <p:sldLayoutId id="2147483681" r:id="rId14"/>
    <p:sldLayoutId id="2147483674" r:id="rId15"/>
    <p:sldLayoutId id="2147483675" r:id="rId16"/>
    <p:sldLayoutId id="2147483676" r:id="rId17"/>
    <p:sldLayoutId id="2147483678" r:id="rId18"/>
    <p:sldLayoutId id="2147483679" r:id="rId19"/>
    <p:sldLayoutId id="2147483680" r:id="rId2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3.xml"/><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4.xml"/><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5.xml"/><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6.xml"/><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7.xml"/><Relationship Id="rId3" Type="http://schemas.openxmlformats.org/officeDocument/2006/relationships/image" Target="../media/image2.png"/><Relationship Id="rId4" Type="http://schemas.openxmlformats.org/officeDocument/2006/relationships/chart" Target="../charts/chart8.xml"/><Relationship Id="rId5"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9.xml"/><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0.xml"/><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1.xml"/><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1C27"/>
        </a:solidFill>
        <a:effectLst/>
      </p:bgPr>
    </p:bg>
    <p:spTree>
      <p:nvGrpSpPr>
        <p:cNvPr id="1" name="Shape 156"/>
        <p:cNvGrpSpPr/>
        <p:nvPr/>
      </p:nvGrpSpPr>
      <p:grpSpPr>
        <a:xfrm>
          <a:off x="0" y="0"/>
          <a:ext cx="0" cy="0"/>
          <a:chOff x="0" y="0"/>
          <a:chExt cx="0" cy="0"/>
        </a:xfrm>
      </p:grpSpPr>
      <p:sp>
        <p:nvSpPr>
          <p:cNvPr id="157" name="Google Shape;157;p37"/>
          <p:cNvSpPr txBox="1"/>
          <p:nvPr/>
        </p:nvSpPr>
        <p:spPr>
          <a:xfrm>
            <a:off x="3712464" y="4084778"/>
            <a:ext cx="1716900" cy="365700"/>
          </a:xfrm>
          <a:prstGeom prst="rect">
            <a:avLst/>
          </a:prstGeom>
          <a:noFill/>
          <a:ln>
            <a:noFill/>
          </a:ln>
        </p:spPr>
        <p:txBody>
          <a:bodyPr spcFirstLastPara="1" wrap="square" lIns="0" tIns="0" rIns="0" bIns="0" anchor="t" anchorCtr="0">
            <a:noAutofit/>
          </a:bodyPr>
          <a:lstStyle/>
          <a:p>
            <a:pPr marL="0" lvl="0" indent="0" algn="ctr" rtl="0">
              <a:lnSpc>
                <a:spcPct val="70000"/>
              </a:lnSpc>
              <a:spcBef>
                <a:spcPts val="0"/>
              </a:spcBef>
              <a:spcAft>
                <a:spcPts val="0"/>
              </a:spcAft>
              <a:buClr>
                <a:schemeClr val="dk1"/>
              </a:buClr>
              <a:buSzPts val="1100"/>
              <a:buFont typeface="Arial"/>
              <a:buNone/>
            </a:pPr>
            <a:r>
              <a:rPr lang="en" sz="1063" b="1" dirty="0">
                <a:solidFill>
                  <a:schemeClr val="lt1"/>
                </a:solidFill>
                <a:latin typeface="Ember Modern Display Standard" panose="020B0503020204020204" pitchFamily="34" charset="0"/>
                <a:ea typeface="Special Gothic"/>
                <a:cs typeface="Special Gothic"/>
                <a:sym typeface="Special Gothic"/>
              </a:rPr>
              <a:t>AARUSH BAKSHI</a:t>
            </a:r>
            <a:endParaRPr sz="1063" b="1" dirty="0">
              <a:solidFill>
                <a:schemeClr val="lt1"/>
              </a:solidFill>
              <a:latin typeface="Ember Modern Display Standard" panose="020B0503020204020204" pitchFamily="34" charset="0"/>
              <a:ea typeface="Special Gothic"/>
              <a:cs typeface="Special Gothic"/>
              <a:sym typeface="Special Gothic"/>
            </a:endParaRPr>
          </a:p>
          <a:p>
            <a:pPr marL="0" lvl="0" indent="0" algn="ctr" rtl="0">
              <a:spcBef>
                <a:spcPts val="0"/>
              </a:spcBef>
              <a:spcAft>
                <a:spcPts val="0"/>
              </a:spcAft>
              <a:buClr>
                <a:schemeClr val="dk1"/>
              </a:buClr>
              <a:buSzPts val="1100"/>
              <a:buFont typeface="Arial"/>
              <a:buNone/>
            </a:pPr>
            <a:endParaRPr sz="1063" b="1" dirty="0">
              <a:solidFill>
                <a:srgbClr val="FFFFFF"/>
              </a:solidFill>
              <a:latin typeface="Ember Modern Display Standard" panose="020B0503020204020204" pitchFamily="34" charset="0"/>
              <a:ea typeface="Special Gothic"/>
              <a:cs typeface="Special Gothic"/>
              <a:sym typeface="Special Gothic"/>
            </a:endParaRPr>
          </a:p>
        </p:txBody>
      </p:sp>
      <p:sp>
        <p:nvSpPr>
          <p:cNvPr id="158" name="Google Shape;158;p37"/>
          <p:cNvSpPr txBox="1"/>
          <p:nvPr/>
        </p:nvSpPr>
        <p:spPr>
          <a:xfrm>
            <a:off x="1664208" y="4084837"/>
            <a:ext cx="1716900" cy="365700"/>
          </a:xfrm>
          <a:prstGeom prst="rect">
            <a:avLst/>
          </a:prstGeom>
          <a:noFill/>
          <a:ln>
            <a:noFill/>
          </a:ln>
        </p:spPr>
        <p:txBody>
          <a:bodyPr spcFirstLastPara="1" wrap="square" lIns="0" tIns="0" rIns="0" bIns="0" anchor="t" anchorCtr="0">
            <a:noAutofit/>
          </a:bodyPr>
          <a:lstStyle/>
          <a:p>
            <a:pPr marL="0" lvl="0" indent="0" algn="ctr" rtl="0">
              <a:lnSpc>
                <a:spcPct val="70000"/>
              </a:lnSpc>
              <a:spcBef>
                <a:spcPts val="0"/>
              </a:spcBef>
              <a:spcAft>
                <a:spcPts val="0"/>
              </a:spcAft>
              <a:buNone/>
            </a:pPr>
            <a:r>
              <a:rPr lang="en" sz="1063" b="1" dirty="0">
                <a:solidFill>
                  <a:srgbClr val="FFFFFF"/>
                </a:solidFill>
                <a:latin typeface="Ember Modern Display Standard" panose="020B0503020204020204" pitchFamily="34" charset="0"/>
                <a:ea typeface="Special Gothic"/>
                <a:cs typeface="Special Gothic"/>
                <a:sym typeface="Special Gothic"/>
              </a:rPr>
              <a:t>AMEYA BORKAR</a:t>
            </a:r>
            <a:endParaRPr sz="1063" b="1" dirty="0">
              <a:solidFill>
                <a:srgbClr val="FFFFFF"/>
              </a:solidFill>
              <a:latin typeface="Ember Modern Display Standard" panose="020B0503020204020204" pitchFamily="34" charset="0"/>
              <a:ea typeface="Special Gothic"/>
              <a:cs typeface="Special Gothic"/>
              <a:sym typeface="Special Gothic"/>
            </a:endParaRPr>
          </a:p>
          <a:p>
            <a:pPr marL="0" lvl="0" indent="0" algn="ctr" rtl="0">
              <a:spcBef>
                <a:spcPts val="0"/>
              </a:spcBef>
              <a:spcAft>
                <a:spcPts val="0"/>
              </a:spcAft>
              <a:buNone/>
            </a:pPr>
            <a:endParaRPr sz="1299" b="1" dirty="0">
              <a:solidFill>
                <a:srgbClr val="FFFFFF"/>
              </a:solidFill>
              <a:latin typeface="Ember Modern Display Standard" panose="020B0503020204020204" pitchFamily="34" charset="0"/>
              <a:ea typeface="Special Gothic"/>
              <a:cs typeface="Special Gothic"/>
              <a:sym typeface="Special Gothic"/>
            </a:endParaRPr>
          </a:p>
        </p:txBody>
      </p:sp>
      <p:sp>
        <p:nvSpPr>
          <p:cNvPr id="159" name="Google Shape;159;p37"/>
          <p:cNvSpPr txBox="1"/>
          <p:nvPr/>
        </p:nvSpPr>
        <p:spPr>
          <a:xfrm>
            <a:off x="779287" y="663396"/>
            <a:ext cx="7585425" cy="861900"/>
          </a:xfrm>
          <a:prstGeom prst="rect">
            <a:avLst/>
          </a:prstGeom>
          <a:noFill/>
          <a:ln>
            <a:noFill/>
          </a:ln>
        </p:spPr>
        <p:txBody>
          <a:bodyPr spcFirstLastPara="1" wrap="square" lIns="91425" tIns="91425" rIns="91425" bIns="91425" anchor="t" anchorCtr="0">
            <a:spAutoFit/>
          </a:bodyPr>
          <a:lstStyle/>
          <a:p>
            <a:pPr marL="0" lvl="0" indent="0" algn="ctr" rtl="0">
              <a:lnSpc>
                <a:spcPct val="80000"/>
              </a:lnSpc>
              <a:spcBef>
                <a:spcPts val="0"/>
              </a:spcBef>
              <a:spcAft>
                <a:spcPts val="0"/>
              </a:spcAft>
              <a:buNone/>
            </a:pPr>
            <a:r>
              <a:rPr lang="en" sz="5500" b="1" dirty="0">
                <a:solidFill>
                  <a:schemeClr val="lt2"/>
                </a:solidFill>
                <a:latin typeface="Ember Modern Display Standard" panose="020B0503020204020204" pitchFamily="34" charset="0"/>
                <a:ea typeface="Special Gothic"/>
                <a:cs typeface="Special Gothic"/>
                <a:sym typeface="Special Gothic"/>
              </a:rPr>
              <a:t>Team </a:t>
            </a:r>
            <a:r>
              <a:rPr lang="en" sz="5500" b="1" dirty="0">
                <a:solidFill>
                  <a:srgbClr val="FF6101"/>
                </a:solidFill>
                <a:latin typeface="Ember Modern Display Standard" panose="020B0503020204020204" pitchFamily="34" charset="0"/>
                <a:ea typeface="Special Gothic"/>
                <a:cs typeface="Special Gothic"/>
                <a:sym typeface="Special Gothic"/>
              </a:rPr>
              <a:t>Grenuke</a:t>
            </a:r>
            <a:endParaRPr sz="2000" b="1" dirty="0">
              <a:solidFill>
                <a:schemeClr val="lt1"/>
              </a:solidFill>
              <a:latin typeface="Ember Modern Display Standard" panose="020B0503020204020204" pitchFamily="34" charset="0"/>
              <a:ea typeface="Special Gothic"/>
              <a:cs typeface="Special Gothic"/>
              <a:sym typeface="Special Gothic"/>
            </a:endParaRPr>
          </a:p>
        </p:txBody>
      </p:sp>
      <p:sp>
        <p:nvSpPr>
          <p:cNvPr id="161" name="Google Shape;161;p37"/>
          <p:cNvSpPr txBox="1"/>
          <p:nvPr/>
        </p:nvSpPr>
        <p:spPr>
          <a:xfrm>
            <a:off x="5760720" y="4084808"/>
            <a:ext cx="1716900" cy="365700"/>
          </a:xfrm>
          <a:prstGeom prst="rect">
            <a:avLst/>
          </a:prstGeom>
          <a:noFill/>
          <a:ln>
            <a:noFill/>
          </a:ln>
        </p:spPr>
        <p:txBody>
          <a:bodyPr spcFirstLastPara="1" wrap="square" lIns="0" tIns="0" rIns="0" bIns="0" anchor="t" anchorCtr="0">
            <a:noAutofit/>
          </a:bodyPr>
          <a:lstStyle/>
          <a:p>
            <a:pPr marL="0" lvl="0" indent="0" algn="ctr" rtl="0">
              <a:lnSpc>
                <a:spcPct val="70000"/>
              </a:lnSpc>
              <a:spcBef>
                <a:spcPts val="0"/>
              </a:spcBef>
              <a:spcAft>
                <a:spcPts val="0"/>
              </a:spcAft>
              <a:buClr>
                <a:schemeClr val="dk1"/>
              </a:buClr>
              <a:buSzPts val="1100"/>
              <a:buFont typeface="Arial"/>
              <a:buNone/>
            </a:pPr>
            <a:r>
              <a:rPr lang="en" sz="1063" b="1" dirty="0">
                <a:solidFill>
                  <a:schemeClr val="lt1"/>
                </a:solidFill>
                <a:latin typeface="Ember Modern Display Standard" panose="020B0503020204020204" pitchFamily="34" charset="0"/>
                <a:ea typeface="Special Gothic"/>
                <a:cs typeface="Special Gothic"/>
                <a:sym typeface="Special Gothic"/>
              </a:rPr>
              <a:t>SACHI DHOKA</a:t>
            </a:r>
            <a:endParaRPr sz="1063" b="1" dirty="0">
              <a:solidFill>
                <a:schemeClr val="lt1"/>
              </a:solidFill>
              <a:latin typeface="Ember Modern Display Standard" panose="020B0503020204020204" pitchFamily="34" charset="0"/>
              <a:ea typeface="Special Gothic"/>
              <a:cs typeface="Special Gothic"/>
              <a:sym typeface="Special Gothic"/>
            </a:endParaRPr>
          </a:p>
          <a:p>
            <a:pPr marL="0" lvl="0" indent="0" algn="ctr" rtl="0">
              <a:spcBef>
                <a:spcPts val="0"/>
              </a:spcBef>
              <a:spcAft>
                <a:spcPts val="0"/>
              </a:spcAft>
              <a:buClr>
                <a:schemeClr val="dk1"/>
              </a:buClr>
              <a:buSzPts val="1100"/>
              <a:buFont typeface="Arial"/>
              <a:buNone/>
            </a:pPr>
            <a:endParaRPr sz="1063" b="1" dirty="0">
              <a:solidFill>
                <a:srgbClr val="FFFFFF"/>
              </a:solidFill>
              <a:latin typeface="Ember Modern Display Standard" panose="020B0503020204020204" pitchFamily="34" charset="0"/>
              <a:ea typeface="Special Gothic"/>
              <a:cs typeface="Special Gothic"/>
              <a:sym typeface="Special Gothic"/>
            </a:endParaRPr>
          </a:p>
        </p:txBody>
      </p:sp>
      <p:pic>
        <p:nvPicPr>
          <p:cNvPr id="13" name="Picture 12" descr="A logo of a company&#10;&#10;AI-generated content may be incorrect.">
            <a:extLst>
              <a:ext uri="{FF2B5EF4-FFF2-40B4-BE49-F238E27FC236}">
                <a16:creationId xmlns:a16="http://schemas.microsoft.com/office/drawing/2014/main" id="{54E96A6D-C6EA-9D61-ED22-340732ADB5AA}"/>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tretch>
            <a:fillRect/>
          </a:stretch>
        </p:blipFill>
        <p:spPr>
          <a:xfrm>
            <a:off x="4294907" y="4731974"/>
            <a:ext cx="554186" cy="185801"/>
          </a:xfrm>
          <a:prstGeom prst="rect">
            <a:avLst/>
          </a:prstGeom>
        </p:spPr>
      </p:pic>
      <p:sp>
        <p:nvSpPr>
          <p:cNvPr id="18" name="Picture Placeholder 17">
            <a:extLst>
              <a:ext uri="{FF2B5EF4-FFF2-40B4-BE49-F238E27FC236}">
                <a16:creationId xmlns:a16="http://schemas.microsoft.com/office/drawing/2014/main" id="{B6EBC231-E852-2F1A-C156-0432CEF758F5}"/>
              </a:ext>
            </a:extLst>
          </p:cNvPr>
          <p:cNvSpPr>
            <a:spLocks noGrp="1"/>
          </p:cNvSpPr>
          <p:nvPr>
            <p:ph type="pic" sz="quarter" idx="13"/>
          </p:nvPr>
        </p:nvSpPr>
        <p:spPr>
          <a:xfrm>
            <a:off x="1636776" y="1865376"/>
            <a:ext cx="1773936" cy="2020824"/>
          </a:xfrm>
        </p:spPr>
        <p:txBody>
          <a:bodyPr/>
          <a:lstStyle/>
          <a:p>
            <a:endParaRPr lang="en-US"/>
          </a:p>
        </p:txBody>
      </p:sp>
      <p:sp>
        <p:nvSpPr>
          <p:cNvPr id="19" name="Picture Placeholder 18">
            <a:extLst>
              <a:ext uri="{FF2B5EF4-FFF2-40B4-BE49-F238E27FC236}">
                <a16:creationId xmlns:a16="http://schemas.microsoft.com/office/drawing/2014/main" id="{3AB9B1BB-405A-843D-39F8-98C2FD91D459}"/>
              </a:ext>
            </a:extLst>
          </p:cNvPr>
          <p:cNvSpPr>
            <a:spLocks noGrp="1"/>
          </p:cNvSpPr>
          <p:nvPr>
            <p:ph type="pic" sz="quarter" idx="14"/>
          </p:nvPr>
        </p:nvSpPr>
        <p:spPr>
          <a:xfrm>
            <a:off x="3685032" y="1865376"/>
            <a:ext cx="1773936" cy="2020824"/>
          </a:xfrm>
        </p:spPr>
        <p:txBody>
          <a:bodyPr/>
          <a:lstStyle/>
          <a:p>
            <a:endParaRPr lang="en-US"/>
          </a:p>
        </p:txBody>
      </p:sp>
      <p:sp>
        <p:nvSpPr>
          <p:cNvPr id="20" name="Picture Placeholder 19">
            <a:extLst>
              <a:ext uri="{FF2B5EF4-FFF2-40B4-BE49-F238E27FC236}">
                <a16:creationId xmlns:a16="http://schemas.microsoft.com/office/drawing/2014/main" id="{AB42942B-65ED-01F3-97B1-DDAE12BA2B07}"/>
              </a:ext>
            </a:extLst>
          </p:cNvPr>
          <p:cNvSpPr>
            <a:spLocks noGrp="1"/>
          </p:cNvSpPr>
          <p:nvPr>
            <p:ph type="pic" sz="quarter" idx="15"/>
          </p:nvPr>
        </p:nvSpPr>
        <p:spPr>
          <a:xfrm>
            <a:off x="5733288" y="1865376"/>
            <a:ext cx="1773936" cy="2020824"/>
          </a:xfrm>
        </p:spPr>
        <p:txBody>
          <a:bodyPr/>
          <a:lstStyle/>
          <a:p>
            <a:endParaRPr lang="en-US"/>
          </a:p>
        </p:txBody>
      </p:sp>
      <p:sp>
        <p:nvSpPr>
          <p:cNvPr id="162" name="TextBox 161"/>
          <p:cNvSpPr txBox="1"/>
          <p:nvPr/>
        </p:nvSpPr>
        <p:spPr>
          <a:xfrm>
            <a:off x="777240" y="1481328"/>
            <a:ext cx="7589520" cy="274320"/>
          </a:xfrm>
          <a:prstGeom prst="rect">
            <a:avLst/>
          </a:prstGeom>
          <a:noFill/>
        </p:spPr>
        <p:txBody>
          <a:bodyPr wrap="square" lIns="0" rIns="0" tIns="0" bIns="0" anchor="t">
            <a:spAutoFit/>
          </a:bodyPr>
          <a:lstStyle/>
          <a:p>
            <a:pPr algn="ctr"/>
            <a:r>
              <a:rPr sz="1300" b="0">
                <a:solidFill>
                  <a:srgbClr val="D6DCE7"/>
                </a:solidFill>
                <a:latin typeface="Ember Modern Display Standard"/>
              </a:rPr>
              <a:t>Business Entity Resolution   ·   Amazon ML Challenge 2026 Grand Finale</a:t>
            </a:r>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The Data at a</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Glance</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24.2 million records, three sources, and one country we had never seen.</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1">
                <a:solidFill>
                  <a:srgbClr val="FF6200"/>
                </a:solidFill>
                <a:latin typeface="Ember Modern Display Standard"/>
              </a:rPr>
              <a:t>01 Understanding</a:t>
            </a:r>
            <a:r>
              <a:rPr sz="850" b="0">
                <a:solidFill>
                  <a:srgbClr val="161D26"/>
                </a:solidFill>
                <a:latin typeface="Ember Modern Display Standard"/>
              </a:rPr>
              <a:t>    </a:t>
            </a:r>
            <a:r>
              <a:rPr sz="850" b="0">
                <a:solidFill>
                  <a:srgbClr val="B8C0CC"/>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r>
              <a:rPr sz="850" b="0">
                <a:solidFill>
                  <a:srgbClr val="161D26"/>
                </a:solidFill>
                <a:latin typeface="Ember Modern Display Standard"/>
              </a:rPr>
              <a:t>    </a:t>
            </a:r>
            <a:r>
              <a:rPr sz="850" b="0">
                <a:solidFill>
                  <a:srgbClr val="B8C0CC"/>
                </a:solidFill>
                <a:latin typeface="Ember Modern Display Standard"/>
              </a:rPr>
              <a:t>05 Ahead</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Dive Deep</a:t>
            </a:r>
          </a:p>
        </p:txBody>
      </p:sp>
      <p:graphicFrame>
        <p:nvGraphicFramePr>
          <p:cNvPr id="269" name="Chart 268"/>
          <p:cNvGraphicFramePr>
            <a:graphicFrameLocks noGrp="1"/>
          </p:cNvGraphicFramePr>
          <p:nvPr/>
        </p:nvGraphicFramePr>
        <p:xfrm>
          <a:off x="411480" y="1280160"/>
          <a:ext cx="5303520" cy="3108960"/>
        </p:xfrm>
        <a:graphic>
          <a:graphicData uri="http://schemas.openxmlformats.org/drawingml/2006/chart">
            <c:chart xmlns:c="http://schemas.openxmlformats.org/drawingml/2006/chart" r:id="rId4"/>
          </a:graphicData>
        </a:graphic>
      </p:graphicFrame>
      <p:sp>
        <p:nvSpPr>
          <p:cNvPr id="270" name="TextBox 269"/>
          <p:cNvSpPr txBox="1"/>
          <p:nvPr/>
        </p:nvSpPr>
        <p:spPr>
          <a:xfrm>
            <a:off x="502920" y="4315968"/>
            <a:ext cx="5120640" cy="228600"/>
          </a:xfrm>
          <a:prstGeom prst="rect">
            <a:avLst/>
          </a:prstGeom>
          <a:noFill/>
        </p:spPr>
        <p:txBody>
          <a:bodyPr wrap="square" lIns="0" rIns="0" tIns="0" bIns="0" anchor="t">
            <a:spAutoFit/>
          </a:bodyPr>
          <a:lstStyle/>
          <a:p>
            <a:pPr algn="l"/>
            <a:r>
              <a:rPr sz="1050" b="0">
                <a:solidFill>
                  <a:srgbClr val="6B7280"/>
                </a:solidFill>
                <a:latin typeface="Ember Modern Display Standard"/>
              </a:rPr>
              <a:t>entities (Source 1) by country</a:t>
            </a:r>
          </a:p>
        </p:txBody>
      </p:sp>
      <p:sp>
        <p:nvSpPr>
          <p:cNvPr id="271" name="TextBox 270"/>
          <p:cNvSpPr txBox="1"/>
          <p:nvPr/>
        </p:nvSpPr>
        <p:spPr>
          <a:xfrm>
            <a:off x="5989320" y="1371600"/>
            <a:ext cx="2651760" cy="274320"/>
          </a:xfrm>
          <a:prstGeom prst="rect">
            <a:avLst/>
          </a:prstGeom>
          <a:noFill/>
        </p:spPr>
        <p:txBody>
          <a:bodyPr wrap="square" lIns="0" rIns="0" tIns="0" bIns="0" anchor="t">
            <a:spAutoFit/>
          </a:bodyPr>
          <a:lstStyle/>
          <a:p>
            <a:pPr algn="l"/>
            <a:r>
              <a:rPr sz="1000" b="1">
                <a:solidFill>
                  <a:srgbClr val="FF6200"/>
                </a:solidFill>
                <a:latin typeface="Ember Modern Display Standard"/>
              </a:rPr>
              <a:t>WHAT IT TELLS US</a:t>
            </a:r>
          </a:p>
        </p:txBody>
      </p:sp>
      <p:sp>
        <p:nvSpPr>
          <p:cNvPr id="272" name="Oval 271"/>
          <p:cNvSpPr/>
          <p:nvPr/>
        </p:nvSpPr>
        <p:spPr>
          <a:xfrm>
            <a:off x="5989320" y="1783080"/>
            <a:ext cx="329184" cy="329184"/>
          </a:xfrm>
          <a:prstGeom prst="ellipse">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1</a:t>
            </a:r>
          </a:p>
        </p:txBody>
      </p:sp>
      <p:sp>
        <p:nvSpPr>
          <p:cNvPr id="273" name="TextBox 272"/>
          <p:cNvSpPr txBox="1"/>
          <p:nvPr/>
        </p:nvSpPr>
        <p:spPr>
          <a:xfrm>
            <a:off x="6446520" y="1764792"/>
            <a:ext cx="2194560" cy="841248"/>
          </a:xfrm>
          <a:prstGeom prst="rect">
            <a:avLst/>
          </a:prstGeom>
          <a:noFill/>
        </p:spPr>
        <p:txBody>
          <a:bodyPr wrap="square" lIns="0" rIns="0" tIns="0" bIns="0" anchor="t">
            <a:spAutoFit/>
          </a:bodyPr>
          <a:lstStyle/>
          <a:p>
            <a:pPr algn="l"/>
            <a:r>
              <a:rPr sz="1300" b="0">
                <a:solidFill>
                  <a:srgbClr val="161D26"/>
                </a:solidFill>
                <a:latin typeface="Ember Modern Display Standard"/>
              </a:rPr>
              <a:t>Training has only the US and India</a:t>
            </a:r>
          </a:p>
        </p:txBody>
      </p:sp>
      <p:sp>
        <p:nvSpPr>
          <p:cNvPr id="274" name="Oval 273"/>
          <p:cNvSpPr/>
          <p:nvPr/>
        </p:nvSpPr>
        <p:spPr>
          <a:xfrm>
            <a:off x="5989320" y="2715768"/>
            <a:ext cx="329184" cy="329184"/>
          </a:xfrm>
          <a:prstGeom prst="ellipse">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2</a:t>
            </a:r>
          </a:p>
        </p:txBody>
      </p:sp>
      <p:sp>
        <p:nvSpPr>
          <p:cNvPr id="275" name="TextBox 274"/>
          <p:cNvSpPr txBox="1"/>
          <p:nvPr/>
        </p:nvSpPr>
        <p:spPr>
          <a:xfrm>
            <a:off x="6446520" y="2697479"/>
            <a:ext cx="2194560" cy="841248"/>
          </a:xfrm>
          <a:prstGeom prst="rect">
            <a:avLst/>
          </a:prstGeom>
          <a:noFill/>
        </p:spPr>
        <p:txBody>
          <a:bodyPr wrap="square" lIns="0" rIns="0" tIns="0" bIns="0" anchor="t">
            <a:spAutoFit/>
          </a:bodyPr>
          <a:lstStyle/>
          <a:p>
            <a:pPr algn="l"/>
            <a:r>
              <a:rPr sz="1300" b="0">
                <a:solidFill>
                  <a:srgbClr val="161D26"/>
                </a:solidFill>
                <a:latin typeface="Ember Modern Display Standard"/>
              </a:rPr>
              <a:t>The test adds France: 15%, with no labels</a:t>
            </a:r>
          </a:p>
        </p:txBody>
      </p:sp>
      <p:sp>
        <p:nvSpPr>
          <p:cNvPr id="276" name="Oval 275"/>
          <p:cNvSpPr/>
          <p:nvPr/>
        </p:nvSpPr>
        <p:spPr>
          <a:xfrm>
            <a:off x="5989320" y="3648456"/>
            <a:ext cx="329184" cy="329184"/>
          </a:xfrm>
          <a:prstGeom prst="ellipse">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3</a:t>
            </a:r>
          </a:p>
        </p:txBody>
      </p:sp>
      <p:sp>
        <p:nvSpPr>
          <p:cNvPr id="277" name="TextBox 276"/>
          <p:cNvSpPr txBox="1"/>
          <p:nvPr/>
        </p:nvSpPr>
        <p:spPr>
          <a:xfrm>
            <a:off x="6446520" y="3630168"/>
            <a:ext cx="2194560" cy="841248"/>
          </a:xfrm>
          <a:prstGeom prst="rect">
            <a:avLst/>
          </a:prstGeom>
          <a:noFill/>
        </p:spPr>
        <p:txBody>
          <a:bodyPr wrap="square" lIns="0" rIns="0" tIns="0" bIns="0" anchor="t">
            <a:spAutoFit/>
          </a:bodyPr>
          <a:lstStyle/>
          <a:p>
            <a:pPr algn="l"/>
            <a:r>
              <a:rPr sz="1300" b="0">
                <a:solidFill>
                  <a:srgbClr val="161D26"/>
                </a:solidFill>
                <a:latin typeface="Ember Modern Display Standard"/>
              </a:rPr>
              <a:t>The US half of the test is half the size, so counts shift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fade">
                                      <p:cBhvr>
                                        <p:cTn id="6" dur="45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childTnLst>
                          </p:cTn>
                        </p:par>
                        <p:par>
                          <p:cTn id="14" fill="hold">
                            <p:stCondLst>
                              <p:cond delay="450"/>
                            </p:stCondLst>
                            <p:childTnLst>
                              <p:par>
                                <p:cTn id="11" presetID="10" presetClass="entr" presetSubtype="0" fill="hold" grpId="0" nodeType="afterEffect">
                                  <p:stCondLst>
                                    <p:cond delay="0"/>
                                  </p:stCondLst>
                                  <p:childTnLst>
                                    <p:set>
                                      <p:cBhvr>
                                        <p:cTn id="12" dur="1" fill="hold">
                                          <p:stCondLst>
                                            <p:cond delay="0"/>
                                          </p:stCondLst>
                                        </p:cTn>
                                        <p:tgtEl>
                                          <p:spTgt spid="271"/>
                                        </p:tgtEl>
                                        <p:attrNameLst>
                                          <p:attrName>style.visibility</p:attrName>
                                        </p:attrNameLst>
                                      </p:cBhvr>
                                      <p:to>
                                        <p:strVal val="visible"/>
                                      </p:to>
                                    </p:set>
                                    <p:animEffect transition="in" filter="fade">
                                      <p:cBhvr>
                                        <p:cTn id="13" dur="450"/>
                                        <p:tgtEl>
                                          <p:spTgt spid="271"/>
                                        </p:tgtEl>
                                      </p:cBhvr>
                                    </p:animEffect>
                                  </p:childTnLst>
                                </p:cTn>
                              </p:par>
                            </p:childTnLst>
                          </p:cTn>
                        </p:par>
                        <p:par>
                          <p:cTn id="21" fill="hold">
                            <p:stCondLst>
                              <p:cond delay="900"/>
                            </p:stCondLst>
                            <p:childTnLst>
                              <p:par>
                                <p:cTn id="15" presetID="10" presetClass="entr" presetSubtype="0" fill="hold" grpId="0" nodeType="afterEffect">
                                  <p:stCondLst>
                                    <p:cond delay="0"/>
                                  </p:stCondLst>
                                  <p:childTnLst>
                                    <p:set>
                                      <p:cBhvr>
                                        <p:cTn id="16" dur="1" fill="hold">
                                          <p:stCondLst>
                                            <p:cond delay="0"/>
                                          </p:stCondLst>
                                        </p:cTn>
                                        <p:tgtEl>
                                          <p:spTgt spid="272"/>
                                        </p:tgtEl>
                                        <p:attrNameLst>
                                          <p:attrName>style.visibility</p:attrName>
                                        </p:attrNameLst>
                                      </p:cBhvr>
                                      <p:to>
                                        <p:strVal val="visible"/>
                                      </p:to>
                                    </p:set>
                                    <p:animEffect transition="in" filter="fade">
                                      <p:cBhvr>
                                        <p:cTn id="17" dur="450"/>
                                        <p:tgtEl>
                                          <p:spTgt spid="27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3"/>
                                        </p:tgtEl>
                                        <p:attrNameLst>
                                          <p:attrName>style.visibility</p:attrName>
                                        </p:attrNameLst>
                                      </p:cBhvr>
                                      <p:to>
                                        <p:strVal val="visible"/>
                                      </p:to>
                                    </p:set>
                                    <p:animEffect transition="in" filter="fade">
                                      <p:cBhvr>
                                        <p:cTn id="20" dur="450"/>
                                        <p:tgtEl>
                                          <p:spTgt spid="273"/>
                                        </p:tgtEl>
                                      </p:cBhvr>
                                    </p:animEffect>
                                  </p:childTnLst>
                                </p:cTn>
                              </p:par>
                            </p:childTnLst>
                          </p:cTn>
                        </p:par>
                        <p:par>
                          <p:cTn id="28" fill="hold">
                            <p:stCondLst>
                              <p:cond delay="1350"/>
                            </p:stCondLst>
                            <p:childTnLst>
                              <p:par>
                                <p:cTn id="22" presetID="10" presetClass="entr" presetSubtype="0" fill="hold" grpId="0" nodeType="afterEffect">
                                  <p:stCondLst>
                                    <p:cond delay="0"/>
                                  </p:stCondLst>
                                  <p:childTnLst>
                                    <p:set>
                                      <p:cBhvr>
                                        <p:cTn id="23" dur="1" fill="hold">
                                          <p:stCondLst>
                                            <p:cond delay="0"/>
                                          </p:stCondLst>
                                        </p:cTn>
                                        <p:tgtEl>
                                          <p:spTgt spid="274"/>
                                        </p:tgtEl>
                                        <p:attrNameLst>
                                          <p:attrName>style.visibility</p:attrName>
                                        </p:attrNameLst>
                                      </p:cBhvr>
                                      <p:to>
                                        <p:strVal val="visible"/>
                                      </p:to>
                                    </p:set>
                                    <p:animEffect transition="in" filter="fade">
                                      <p:cBhvr>
                                        <p:cTn id="24" dur="450"/>
                                        <p:tgtEl>
                                          <p:spTgt spid="27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75"/>
                                        </p:tgtEl>
                                        <p:attrNameLst>
                                          <p:attrName>style.visibility</p:attrName>
                                        </p:attrNameLst>
                                      </p:cBhvr>
                                      <p:to>
                                        <p:strVal val="visible"/>
                                      </p:to>
                                    </p:set>
                                    <p:animEffect transition="in" filter="fade">
                                      <p:cBhvr>
                                        <p:cTn id="27" dur="450"/>
                                        <p:tgtEl>
                                          <p:spTgt spid="275"/>
                                        </p:tgtEl>
                                      </p:cBhvr>
                                    </p:animEffect>
                                  </p:childTnLst>
                                </p:cTn>
                              </p:par>
                            </p:childTnLst>
                          </p:cTn>
                        </p:par>
                        <p:par>
                          <p:cTn id="35" fill="hold">
                            <p:stCondLst>
                              <p:cond delay="1800"/>
                            </p:stCondLst>
                            <p:childTnLst>
                              <p:par>
                                <p:cTn id="29" presetID="10" presetClass="entr" presetSubtype="0" fill="hold" grpId="0" nodeType="afterEffect">
                                  <p:stCondLst>
                                    <p:cond delay="0"/>
                                  </p:stCondLst>
                                  <p:childTnLst>
                                    <p:set>
                                      <p:cBhvr>
                                        <p:cTn id="30" dur="1" fill="hold">
                                          <p:stCondLst>
                                            <p:cond delay="0"/>
                                          </p:stCondLst>
                                        </p:cTn>
                                        <p:tgtEl>
                                          <p:spTgt spid="276"/>
                                        </p:tgtEl>
                                        <p:attrNameLst>
                                          <p:attrName>style.visibility</p:attrName>
                                        </p:attrNameLst>
                                      </p:cBhvr>
                                      <p:to>
                                        <p:strVal val="visible"/>
                                      </p:to>
                                    </p:set>
                                    <p:animEffect transition="in" filter="fade">
                                      <p:cBhvr>
                                        <p:cTn id="31" dur="450"/>
                                        <p:tgtEl>
                                          <p:spTgt spid="27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7"/>
                                        </p:tgtEl>
                                        <p:attrNameLst>
                                          <p:attrName>style.visibility</p:attrName>
                                        </p:attrNameLst>
                                      </p:cBhvr>
                                      <p:to>
                                        <p:strVal val="visible"/>
                                      </p:to>
                                    </p:set>
                                    <p:animEffect transition="in" filter="fade">
                                      <p:cBhvr>
                                        <p:cTn id="34" dur="450"/>
                                        <p:tgtEl>
                                          <p:spTgt spid="2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69" grpId="0">
        <p:bldAsOne/>
      </p:bldGraphic>
      <p:bldP spid="270" grpId="0" animBg="1"/>
      <p:bldP spid="271" grpId="0" animBg="1"/>
      <p:bldP spid="272" grpId="0" animBg="1"/>
      <p:bldP spid="273" grpId="0" animBg="1"/>
      <p:bldP spid="274" grpId="0" animBg="1"/>
      <p:bldP spid="275" grpId="0" animBg="1"/>
      <p:bldP spid="276" grpId="0" animBg="1"/>
      <p:bldP spid="27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What a Match</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Looks Like</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Most entities have two to five copies, and some have none.</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1">
                <a:solidFill>
                  <a:srgbClr val="FF6200"/>
                </a:solidFill>
                <a:latin typeface="Ember Modern Display Standard"/>
              </a:rPr>
              <a:t>01 Understanding</a:t>
            </a:r>
            <a:r>
              <a:rPr sz="850" b="0">
                <a:solidFill>
                  <a:srgbClr val="161D26"/>
                </a:solidFill>
                <a:latin typeface="Ember Modern Display Standard"/>
              </a:rPr>
              <a:t>    </a:t>
            </a:r>
            <a:r>
              <a:rPr sz="850" b="0">
                <a:solidFill>
                  <a:srgbClr val="B8C0CC"/>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r>
              <a:rPr sz="850" b="0">
                <a:solidFill>
                  <a:srgbClr val="161D26"/>
                </a:solidFill>
                <a:latin typeface="Ember Modern Display Standard"/>
              </a:rPr>
              <a:t>    </a:t>
            </a:r>
            <a:r>
              <a:rPr sz="850" b="0">
                <a:solidFill>
                  <a:srgbClr val="B8C0CC"/>
                </a:solidFill>
                <a:latin typeface="Ember Modern Display Standard"/>
              </a:rPr>
              <a:t>05 Ahead</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Learn and Be Curious</a:t>
            </a:r>
          </a:p>
        </p:txBody>
      </p:sp>
      <p:graphicFrame>
        <p:nvGraphicFramePr>
          <p:cNvPr id="269" name="Chart 268"/>
          <p:cNvGraphicFramePr>
            <a:graphicFrameLocks noGrp="1"/>
          </p:cNvGraphicFramePr>
          <p:nvPr/>
        </p:nvGraphicFramePr>
        <p:xfrm>
          <a:off x="411480" y="1280160"/>
          <a:ext cx="5303520" cy="2971800"/>
        </p:xfrm>
        <a:graphic>
          <a:graphicData uri="http://schemas.openxmlformats.org/drawingml/2006/chart">
            <c:chart xmlns:c="http://schemas.openxmlformats.org/drawingml/2006/chart" r:id="rId2"/>
          </a:graphicData>
        </a:graphic>
      </p:graphicFrame>
      <p:sp>
        <p:nvSpPr>
          <p:cNvPr id="270" name="TextBox 269"/>
          <p:cNvSpPr txBox="1"/>
          <p:nvPr/>
        </p:nvSpPr>
        <p:spPr>
          <a:xfrm>
            <a:off x="502920" y="4270248"/>
            <a:ext cx="5120640" cy="274320"/>
          </a:xfrm>
          <a:prstGeom prst="rect">
            <a:avLst/>
          </a:prstGeom>
          <a:noFill/>
        </p:spPr>
        <p:txBody>
          <a:bodyPr wrap="square" lIns="0" rIns="0" tIns="0" bIns="0" anchor="t">
            <a:spAutoFit/>
          </a:bodyPr>
          <a:lstStyle/>
          <a:p>
            <a:pPr algn="l"/>
            <a:r>
              <a:rPr sz="1050" b="0">
                <a:solidFill>
                  <a:srgbClr val="6B7280"/>
                </a:solidFill>
                <a:latin typeface="Ember Modern Display Standard"/>
              </a:rPr>
              <a:t>copies per entity, share of entities (training)</a:t>
            </a:r>
          </a:p>
        </p:txBody>
      </p:sp>
      <p:sp>
        <p:nvSpPr>
          <p:cNvPr id="271" name="TextBox 270"/>
          <p:cNvSpPr txBox="1"/>
          <p:nvPr/>
        </p:nvSpPr>
        <p:spPr>
          <a:xfrm>
            <a:off x="5989320" y="1371600"/>
            <a:ext cx="2651760" cy="274320"/>
          </a:xfrm>
          <a:prstGeom prst="rect">
            <a:avLst/>
          </a:prstGeom>
          <a:noFill/>
        </p:spPr>
        <p:txBody>
          <a:bodyPr wrap="square" lIns="0" rIns="0" tIns="0" bIns="0" anchor="t">
            <a:spAutoFit/>
          </a:bodyPr>
          <a:lstStyle/>
          <a:p>
            <a:pPr algn="l"/>
            <a:r>
              <a:rPr sz="1000" b="1">
                <a:solidFill>
                  <a:srgbClr val="FF6200"/>
                </a:solidFill>
                <a:latin typeface="Ember Modern Display Standard"/>
              </a:rPr>
              <a:t>WHAT IT TELLS US</a:t>
            </a:r>
          </a:p>
        </p:txBody>
      </p:sp>
      <p:sp>
        <p:nvSpPr>
          <p:cNvPr id="272" name="Oval 271"/>
          <p:cNvSpPr/>
          <p:nvPr/>
        </p:nvSpPr>
        <p:spPr>
          <a:xfrm>
            <a:off x="5989320" y="1783080"/>
            <a:ext cx="329184" cy="329184"/>
          </a:xfrm>
          <a:prstGeom prst="ellipse">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1</a:t>
            </a:r>
          </a:p>
        </p:txBody>
      </p:sp>
      <p:sp>
        <p:nvSpPr>
          <p:cNvPr id="273" name="TextBox 272"/>
          <p:cNvSpPr txBox="1"/>
          <p:nvPr/>
        </p:nvSpPr>
        <p:spPr>
          <a:xfrm>
            <a:off x="6446520" y="1764792"/>
            <a:ext cx="2194560" cy="841248"/>
          </a:xfrm>
          <a:prstGeom prst="rect">
            <a:avLst/>
          </a:prstGeom>
          <a:noFill/>
        </p:spPr>
        <p:txBody>
          <a:bodyPr wrap="square" lIns="0" rIns="0" tIns="0" bIns="0" anchor="t">
            <a:spAutoFit/>
          </a:bodyPr>
          <a:lstStyle/>
          <a:p>
            <a:pPr algn="l"/>
            <a:r>
              <a:rPr sz="1300" b="0">
                <a:solidFill>
                  <a:srgbClr val="161D26"/>
                </a:solidFill>
                <a:latin typeface="Ember Modern Display Standard"/>
              </a:rPr>
              <a:t>Average 3.46 copies, at most 11</a:t>
            </a:r>
          </a:p>
        </p:txBody>
      </p:sp>
      <p:sp>
        <p:nvSpPr>
          <p:cNvPr id="274" name="Oval 273"/>
          <p:cNvSpPr/>
          <p:nvPr/>
        </p:nvSpPr>
        <p:spPr>
          <a:xfrm>
            <a:off x="5989320" y="2715768"/>
            <a:ext cx="329184" cy="329184"/>
          </a:xfrm>
          <a:prstGeom prst="ellipse">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2</a:t>
            </a:r>
          </a:p>
        </p:txBody>
      </p:sp>
      <p:sp>
        <p:nvSpPr>
          <p:cNvPr id="275" name="TextBox 274"/>
          <p:cNvSpPr txBox="1"/>
          <p:nvPr/>
        </p:nvSpPr>
        <p:spPr>
          <a:xfrm>
            <a:off x="6446520" y="2697479"/>
            <a:ext cx="2194560" cy="841248"/>
          </a:xfrm>
          <a:prstGeom prst="rect">
            <a:avLst/>
          </a:prstGeom>
          <a:noFill/>
        </p:spPr>
        <p:txBody>
          <a:bodyPr wrap="square" lIns="0" rIns="0" tIns="0" bIns="0" anchor="t">
            <a:spAutoFit/>
          </a:bodyPr>
          <a:lstStyle/>
          <a:p>
            <a:pPr algn="l"/>
            <a:r>
              <a:rPr sz="1300" b="0">
                <a:solidFill>
                  <a:srgbClr val="161D26"/>
                </a:solidFill>
                <a:latin typeface="Ember Modern Display Standard"/>
              </a:rPr>
              <a:t>5.6% have none: an empty answer is right</a:t>
            </a:r>
          </a:p>
        </p:txBody>
      </p:sp>
      <p:sp>
        <p:nvSpPr>
          <p:cNvPr id="276" name="Oval 275"/>
          <p:cNvSpPr/>
          <p:nvPr/>
        </p:nvSpPr>
        <p:spPr>
          <a:xfrm>
            <a:off x="5989320" y="3648456"/>
            <a:ext cx="329184" cy="329184"/>
          </a:xfrm>
          <a:prstGeom prst="ellipse">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3</a:t>
            </a:r>
          </a:p>
        </p:txBody>
      </p:sp>
      <p:sp>
        <p:nvSpPr>
          <p:cNvPr id="277" name="TextBox 276"/>
          <p:cNvSpPr txBox="1"/>
          <p:nvPr/>
        </p:nvSpPr>
        <p:spPr>
          <a:xfrm>
            <a:off x="6446520" y="3630168"/>
            <a:ext cx="2194560" cy="841248"/>
          </a:xfrm>
          <a:prstGeom prst="rect">
            <a:avLst/>
          </a:prstGeom>
          <a:noFill/>
        </p:spPr>
        <p:txBody>
          <a:bodyPr wrap="square" lIns="0" rIns="0" tIns="0" bIns="0" anchor="t">
            <a:spAutoFit/>
          </a:bodyPr>
          <a:lstStyle/>
          <a:p>
            <a:pPr algn="l"/>
            <a:r>
              <a:rPr sz="1300" b="0">
                <a:solidFill>
                  <a:srgbClr val="161D26"/>
                </a:solidFill>
                <a:latin typeface="Ember Modern Display Standard"/>
              </a:rPr>
              <a:t>No record ever has two owners (0 in 7.6M)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wipe(left)">
                                      <p:cBhvr>
                                        <p:cTn id="6" dur="50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childTnLst>
                          </p:cTn>
                        </p:par>
                        <p:par>
                          <p:cTn id="14" fill="hold">
                            <p:stCondLst>
                              <p:cond delay="500"/>
                            </p:stCondLst>
                            <p:childTnLst>
                              <p:par>
                                <p:cTn id="11" presetID="10" presetClass="entr" presetSubtype="0" fill="hold" grpId="0" nodeType="afterEffect">
                                  <p:stCondLst>
                                    <p:cond delay="0"/>
                                  </p:stCondLst>
                                  <p:childTnLst>
                                    <p:set>
                                      <p:cBhvr>
                                        <p:cTn id="12" dur="1" fill="hold">
                                          <p:stCondLst>
                                            <p:cond delay="0"/>
                                          </p:stCondLst>
                                        </p:cTn>
                                        <p:tgtEl>
                                          <p:spTgt spid="271"/>
                                        </p:tgtEl>
                                        <p:attrNameLst>
                                          <p:attrName>style.visibility</p:attrName>
                                        </p:attrNameLst>
                                      </p:cBhvr>
                                      <p:to>
                                        <p:strVal val="visible"/>
                                      </p:to>
                                    </p:set>
                                    <p:animEffect transition="in" filter="fade">
                                      <p:cBhvr>
                                        <p:cTn id="13" dur="450"/>
                                        <p:tgtEl>
                                          <p:spTgt spid="271"/>
                                        </p:tgtEl>
                                      </p:cBhvr>
                                    </p:animEffect>
                                  </p:childTnLst>
                                </p:cTn>
                              </p:par>
                            </p:childTnLst>
                          </p:cTn>
                        </p:par>
                        <p:par>
                          <p:cTn id="21" fill="hold">
                            <p:stCondLst>
                              <p:cond delay="950"/>
                            </p:stCondLst>
                            <p:childTnLst>
                              <p:par>
                                <p:cTn id="15" presetID="10" presetClass="entr" presetSubtype="0" fill="hold" grpId="0" nodeType="afterEffect">
                                  <p:stCondLst>
                                    <p:cond delay="0"/>
                                  </p:stCondLst>
                                  <p:childTnLst>
                                    <p:set>
                                      <p:cBhvr>
                                        <p:cTn id="16" dur="1" fill="hold">
                                          <p:stCondLst>
                                            <p:cond delay="0"/>
                                          </p:stCondLst>
                                        </p:cTn>
                                        <p:tgtEl>
                                          <p:spTgt spid="272"/>
                                        </p:tgtEl>
                                        <p:attrNameLst>
                                          <p:attrName>style.visibility</p:attrName>
                                        </p:attrNameLst>
                                      </p:cBhvr>
                                      <p:to>
                                        <p:strVal val="visible"/>
                                      </p:to>
                                    </p:set>
                                    <p:animEffect transition="in" filter="fade">
                                      <p:cBhvr>
                                        <p:cTn id="17" dur="450"/>
                                        <p:tgtEl>
                                          <p:spTgt spid="27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3"/>
                                        </p:tgtEl>
                                        <p:attrNameLst>
                                          <p:attrName>style.visibility</p:attrName>
                                        </p:attrNameLst>
                                      </p:cBhvr>
                                      <p:to>
                                        <p:strVal val="visible"/>
                                      </p:to>
                                    </p:set>
                                    <p:animEffect transition="in" filter="fade">
                                      <p:cBhvr>
                                        <p:cTn id="20" dur="450"/>
                                        <p:tgtEl>
                                          <p:spTgt spid="273"/>
                                        </p:tgtEl>
                                      </p:cBhvr>
                                    </p:animEffect>
                                  </p:childTnLst>
                                </p:cTn>
                              </p:par>
                            </p:childTnLst>
                          </p:cTn>
                        </p:par>
                        <p:par>
                          <p:cTn id="28" fill="hold">
                            <p:stCondLst>
                              <p:cond delay="1400"/>
                            </p:stCondLst>
                            <p:childTnLst>
                              <p:par>
                                <p:cTn id="22" presetID="10" presetClass="entr" presetSubtype="0" fill="hold" grpId="0" nodeType="afterEffect">
                                  <p:stCondLst>
                                    <p:cond delay="0"/>
                                  </p:stCondLst>
                                  <p:childTnLst>
                                    <p:set>
                                      <p:cBhvr>
                                        <p:cTn id="23" dur="1" fill="hold">
                                          <p:stCondLst>
                                            <p:cond delay="0"/>
                                          </p:stCondLst>
                                        </p:cTn>
                                        <p:tgtEl>
                                          <p:spTgt spid="274"/>
                                        </p:tgtEl>
                                        <p:attrNameLst>
                                          <p:attrName>style.visibility</p:attrName>
                                        </p:attrNameLst>
                                      </p:cBhvr>
                                      <p:to>
                                        <p:strVal val="visible"/>
                                      </p:to>
                                    </p:set>
                                    <p:animEffect transition="in" filter="fade">
                                      <p:cBhvr>
                                        <p:cTn id="24" dur="450"/>
                                        <p:tgtEl>
                                          <p:spTgt spid="27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75"/>
                                        </p:tgtEl>
                                        <p:attrNameLst>
                                          <p:attrName>style.visibility</p:attrName>
                                        </p:attrNameLst>
                                      </p:cBhvr>
                                      <p:to>
                                        <p:strVal val="visible"/>
                                      </p:to>
                                    </p:set>
                                    <p:animEffect transition="in" filter="fade">
                                      <p:cBhvr>
                                        <p:cTn id="27" dur="450"/>
                                        <p:tgtEl>
                                          <p:spTgt spid="275"/>
                                        </p:tgtEl>
                                      </p:cBhvr>
                                    </p:animEffect>
                                  </p:childTnLst>
                                </p:cTn>
                              </p:par>
                            </p:childTnLst>
                          </p:cTn>
                        </p:par>
                        <p:par>
                          <p:cTn id="35" fill="hold">
                            <p:stCondLst>
                              <p:cond delay="1850"/>
                            </p:stCondLst>
                            <p:childTnLst>
                              <p:par>
                                <p:cTn id="29" presetID="10" presetClass="entr" presetSubtype="0" fill="hold" grpId="0" nodeType="afterEffect">
                                  <p:stCondLst>
                                    <p:cond delay="0"/>
                                  </p:stCondLst>
                                  <p:childTnLst>
                                    <p:set>
                                      <p:cBhvr>
                                        <p:cTn id="30" dur="1" fill="hold">
                                          <p:stCondLst>
                                            <p:cond delay="0"/>
                                          </p:stCondLst>
                                        </p:cTn>
                                        <p:tgtEl>
                                          <p:spTgt spid="276"/>
                                        </p:tgtEl>
                                        <p:attrNameLst>
                                          <p:attrName>style.visibility</p:attrName>
                                        </p:attrNameLst>
                                      </p:cBhvr>
                                      <p:to>
                                        <p:strVal val="visible"/>
                                      </p:to>
                                    </p:set>
                                    <p:animEffect transition="in" filter="fade">
                                      <p:cBhvr>
                                        <p:cTn id="31" dur="450"/>
                                        <p:tgtEl>
                                          <p:spTgt spid="27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7"/>
                                        </p:tgtEl>
                                        <p:attrNameLst>
                                          <p:attrName>style.visibility</p:attrName>
                                        </p:attrNameLst>
                                      </p:cBhvr>
                                      <p:to>
                                        <p:strVal val="visible"/>
                                      </p:to>
                                    </p:set>
                                    <p:animEffect transition="in" filter="fade">
                                      <p:cBhvr>
                                        <p:cTn id="34" dur="450"/>
                                        <p:tgtEl>
                                          <p:spTgt spid="2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69" grpId="0">
        <p:bldAsOne/>
      </p:bldGraphic>
      <p:bldP spid="270" grpId="0" animBg="1"/>
      <p:bldP spid="271" grpId="0" animBg="1"/>
      <p:bldP spid="272" grpId="0" animBg="1"/>
      <p:bldP spid="273" grpId="0" animBg="1"/>
      <p:bldP spid="274" grpId="0" animBg="1"/>
      <p:bldP spid="275" grpId="0" animBg="1"/>
      <p:bldP spid="276" grpId="0" animBg="1"/>
      <p:bldP spid="27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How True Copies</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Differ</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Copies are noisy, but almost never in both the name and the address.</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1">
                <a:solidFill>
                  <a:srgbClr val="FF6200"/>
                </a:solidFill>
                <a:latin typeface="Ember Modern Display Standard"/>
              </a:rPr>
              <a:t>01 Understanding</a:t>
            </a:r>
            <a:r>
              <a:rPr sz="850" b="0">
                <a:solidFill>
                  <a:srgbClr val="161D26"/>
                </a:solidFill>
                <a:latin typeface="Ember Modern Display Standard"/>
              </a:rPr>
              <a:t>    </a:t>
            </a:r>
            <a:r>
              <a:rPr sz="850" b="0">
                <a:solidFill>
                  <a:srgbClr val="B8C0CC"/>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r>
              <a:rPr sz="850" b="0">
                <a:solidFill>
                  <a:srgbClr val="161D26"/>
                </a:solidFill>
                <a:latin typeface="Ember Modern Display Standard"/>
              </a:rPr>
              <a:t>    </a:t>
            </a:r>
            <a:r>
              <a:rPr sz="850" b="0">
                <a:solidFill>
                  <a:srgbClr val="B8C0CC"/>
                </a:solidFill>
                <a:latin typeface="Ember Modern Display Standard"/>
              </a:rPr>
              <a:t>05 Ahead</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Dive Deep</a:t>
            </a:r>
          </a:p>
        </p:txBody>
      </p:sp>
      <p:graphicFrame>
        <p:nvGraphicFramePr>
          <p:cNvPr id="269" name="Chart 268"/>
          <p:cNvGraphicFramePr>
            <a:graphicFrameLocks noGrp="1"/>
          </p:cNvGraphicFramePr>
          <p:nvPr/>
        </p:nvGraphicFramePr>
        <p:xfrm>
          <a:off x="411480" y="1280160"/>
          <a:ext cx="5303520" cy="2514600"/>
        </p:xfrm>
        <a:graphic>
          <a:graphicData uri="http://schemas.openxmlformats.org/drawingml/2006/chart">
            <c:chart xmlns:c="http://schemas.openxmlformats.org/drawingml/2006/chart" r:id="rId2"/>
          </a:graphicData>
        </a:graphic>
      </p:graphicFrame>
      <p:sp>
        <p:nvSpPr>
          <p:cNvPr id="270" name="TextBox 269"/>
          <p:cNvSpPr txBox="1"/>
          <p:nvPr/>
        </p:nvSpPr>
        <p:spPr>
          <a:xfrm>
            <a:off x="502920" y="3840480"/>
            <a:ext cx="5120640" cy="228600"/>
          </a:xfrm>
          <a:prstGeom prst="rect">
            <a:avLst/>
          </a:prstGeom>
          <a:noFill/>
        </p:spPr>
        <p:txBody>
          <a:bodyPr wrap="square" lIns="0" rIns="0" tIns="0" bIns="0" anchor="t">
            <a:spAutoFit/>
          </a:bodyPr>
          <a:lstStyle/>
          <a:p>
            <a:pPr algn="l"/>
            <a:r>
              <a:rPr sz="1050" b="0">
                <a:solidFill>
                  <a:srgbClr val="6B7280"/>
                </a:solidFill>
                <a:latin typeface="Ember Modern Display Standard"/>
              </a:rPr>
              <a:t>share of true copies (training)</a:t>
            </a:r>
          </a:p>
        </p:txBody>
      </p:sp>
      <p:sp>
        <p:nvSpPr>
          <p:cNvPr id="271" name="TextBox 270"/>
          <p:cNvSpPr txBox="1"/>
          <p:nvPr/>
        </p:nvSpPr>
        <p:spPr>
          <a:xfrm>
            <a:off x="502920" y="4096512"/>
            <a:ext cx="5212080" cy="320040"/>
          </a:xfrm>
          <a:prstGeom prst="rect">
            <a:avLst/>
          </a:prstGeom>
          <a:noFill/>
        </p:spPr>
        <p:txBody>
          <a:bodyPr wrap="square" lIns="0" rIns="0" tIns="0" bIns="0" anchor="t">
            <a:spAutoFit/>
          </a:bodyPr>
          <a:lstStyle/>
          <a:p>
            <a:pPr algn="l"/>
            <a:r>
              <a:rPr sz="1250" b="1">
                <a:solidFill>
                  <a:srgbClr val="FF6200"/>
                </a:solidFill>
                <a:latin typeface="Ember Modern Display Standard"/>
              </a:rPr>
              <a:t>83%</a:t>
            </a:r>
            <a:r>
              <a:rPr sz="1250" b="0">
                <a:solidFill>
                  <a:srgbClr val="161D26"/>
                </a:solidFill>
                <a:latin typeface="Ember Modern Display Standard"/>
              </a:rPr>
              <a:t> keep the same house number   ·   </a:t>
            </a:r>
            <a:r>
              <a:rPr sz="1250" b="1">
                <a:solidFill>
                  <a:srgbClr val="FF6200"/>
                </a:solidFill>
                <a:latin typeface="Ember Modern Display Standard"/>
              </a:rPr>
              <a:t>≤0.5%</a:t>
            </a:r>
            <a:r>
              <a:rPr sz="1250" b="0">
                <a:solidFill>
                  <a:srgbClr val="161D26"/>
                </a:solidFill>
                <a:latin typeface="Ember Modern Display Standard"/>
              </a:rPr>
              <a:t> of addresses have a postcode</a:t>
            </a:r>
          </a:p>
        </p:txBody>
      </p:sp>
      <p:sp>
        <p:nvSpPr>
          <p:cNvPr id="272" name="TextBox 271"/>
          <p:cNvSpPr txBox="1"/>
          <p:nvPr/>
        </p:nvSpPr>
        <p:spPr>
          <a:xfrm>
            <a:off x="5989320" y="1371600"/>
            <a:ext cx="2651760" cy="274320"/>
          </a:xfrm>
          <a:prstGeom prst="rect">
            <a:avLst/>
          </a:prstGeom>
          <a:noFill/>
        </p:spPr>
        <p:txBody>
          <a:bodyPr wrap="square" lIns="0" rIns="0" tIns="0" bIns="0" anchor="t">
            <a:spAutoFit/>
          </a:bodyPr>
          <a:lstStyle/>
          <a:p>
            <a:pPr algn="l"/>
            <a:r>
              <a:rPr sz="1000" b="1">
                <a:solidFill>
                  <a:srgbClr val="FF6200"/>
                </a:solidFill>
                <a:latin typeface="Ember Modern Display Standard"/>
              </a:rPr>
              <a:t>WHAT IT TELLS US</a:t>
            </a:r>
          </a:p>
        </p:txBody>
      </p:sp>
      <p:sp>
        <p:nvSpPr>
          <p:cNvPr id="273" name="Oval 272"/>
          <p:cNvSpPr/>
          <p:nvPr/>
        </p:nvSpPr>
        <p:spPr>
          <a:xfrm>
            <a:off x="5989320" y="1783080"/>
            <a:ext cx="329184" cy="329184"/>
          </a:xfrm>
          <a:prstGeom prst="ellipse">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1</a:t>
            </a:r>
          </a:p>
        </p:txBody>
      </p:sp>
      <p:sp>
        <p:nvSpPr>
          <p:cNvPr id="274" name="TextBox 273"/>
          <p:cNvSpPr txBox="1"/>
          <p:nvPr/>
        </p:nvSpPr>
        <p:spPr>
          <a:xfrm>
            <a:off x="6446520" y="1764792"/>
            <a:ext cx="2194560" cy="841248"/>
          </a:xfrm>
          <a:prstGeom prst="rect">
            <a:avLst/>
          </a:prstGeom>
          <a:noFill/>
        </p:spPr>
        <p:txBody>
          <a:bodyPr wrap="square" lIns="0" rIns="0" tIns="0" bIns="0" anchor="t">
            <a:spAutoFit/>
          </a:bodyPr>
          <a:lstStyle/>
          <a:p>
            <a:pPr algn="l"/>
            <a:r>
              <a:rPr sz="1300" b="0">
                <a:solidFill>
                  <a:srgbClr val="161D26"/>
                </a:solidFill>
                <a:latin typeface="Ember Modern Display Standard"/>
              </a:rPr>
              <a:t>Name and address rescue each other</a:t>
            </a:r>
          </a:p>
        </p:txBody>
      </p:sp>
      <p:sp>
        <p:nvSpPr>
          <p:cNvPr id="275" name="Oval 274"/>
          <p:cNvSpPr/>
          <p:nvPr/>
        </p:nvSpPr>
        <p:spPr>
          <a:xfrm>
            <a:off x="5989320" y="2715768"/>
            <a:ext cx="329184" cy="329184"/>
          </a:xfrm>
          <a:prstGeom prst="ellipse">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2</a:t>
            </a:r>
          </a:p>
        </p:txBody>
      </p:sp>
      <p:sp>
        <p:nvSpPr>
          <p:cNvPr id="276" name="TextBox 275"/>
          <p:cNvSpPr txBox="1"/>
          <p:nvPr/>
        </p:nvSpPr>
        <p:spPr>
          <a:xfrm>
            <a:off x="6446520" y="2697479"/>
            <a:ext cx="2194560" cy="841248"/>
          </a:xfrm>
          <a:prstGeom prst="rect">
            <a:avLst/>
          </a:prstGeom>
          <a:noFill/>
        </p:spPr>
        <p:txBody>
          <a:bodyPr wrap="square" lIns="0" rIns="0" tIns="0" bIns="0" anchor="t">
            <a:spAutoFit/>
          </a:bodyPr>
          <a:lstStyle/>
          <a:p>
            <a:pPr algn="l"/>
            <a:r>
              <a:rPr sz="1300" b="0">
                <a:solidFill>
                  <a:srgbClr val="161D26"/>
                </a:solidFill>
                <a:latin typeface="Ember Modern Display Standard"/>
              </a:rPr>
              <a:t>House numbers are strong evidence</a:t>
            </a:r>
          </a:p>
        </p:txBody>
      </p:sp>
      <p:sp>
        <p:nvSpPr>
          <p:cNvPr id="277" name="Oval 276"/>
          <p:cNvSpPr/>
          <p:nvPr/>
        </p:nvSpPr>
        <p:spPr>
          <a:xfrm>
            <a:off x="5989320" y="3648456"/>
            <a:ext cx="329184" cy="329184"/>
          </a:xfrm>
          <a:prstGeom prst="ellipse">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3</a:t>
            </a:r>
          </a:p>
        </p:txBody>
      </p:sp>
      <p:sp>
        <p:nvSpPr>
          <p:cNvPr id="278" name="TextBox 277"/>
          <p:cNvSpPr txBox="1"/>
          <p:nvPr/>
        </p:nvSpPr>
        <p:spPr>
          <a:xfrm>
            <a:off x="6446520" y="3630168"/>
            <a:ext cx="2194560" cy="841248"/>
          </a:xfrm>
          <a:prstGeom prst="rect">
            <a:avLst/>
          </a:prstGeom>
          <a:noFill/>
        </p:spPr>
        <p:txBody>
          <a:bodyPr wrap="square" lIns="0" rIns="0" tIns="0" bIns="0" anchor="t">
            <a:spAutoFit/>
          </a:bodyPr>
          <a:lstStyle/>
          <a:p>
            <a:pPr algn="l"/>
            <a:r>
              <a:rPr sz="1300" b="0">
                <a:solidFill>
                  <a:srgbClr val="161D26"/>
                </a:solidFill>
                <a:latin typeface="Ember Modern Display Standard"/>
              </a:rPr>
              <a:t>There is no postcode to lean 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fade">
                                      <p:cBhvr>
                                        <p:cTn id="6" dur="45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childTnLst>
                          </p:cTn>
                        </p:par>
                        <p:par>
                          <p:cTn id="14" fill="hold">
                            <p:stCondLst>
                              <p:cond delay="450"/>
                            </p:stCondLst>
                            <p:childTnLst>
                              <p:par>
                                <p:cTn id="11" presetID="10" presetClass="entr" presetSubtype="0" fill="hold" grpId="0" nodeType="afterEffect">
                                  <p:stCondLst>
                                    <p:cond delay="0"/>
                                  </p:stCondLst>
                                  <p:childTnLst>
                                    <p:set>
                                      <p:cBhvr>
                                        <p:cTn id="12" dur="1" fill="hold">
                                          <p:stCondLst>
                                            <p:cond delay="0"/>
                                          </p:stCondLst>
                                        </p:cTn>
                                        <p:tgtEl>
                                          <p:spTgt spid="271"/>
                                        </p:tgtEl>
                                        <p:attrNameLst>
                                          <p:attrName>style.visibility</p:attrName>
                                        </p:attrNameLst>
                                      </p:cBhvr>
                                      <p:to>
                                        <p:strVal val="visible"/>
                                      </p:to>
                                    </p:set>
                                    <p:animEffect transition="in" filter="fade">
                                      <p:cBhvr>
                                        <p:cTn id="13" dur="450"/>
                                        <p:tgtEl>
                                          <p:spTgt spid="271"/>
                                        </p:tgtEl>
                                      </p:cBhvr>
                                    </p:animEffect>
                                  </p:childTnLst>
                                </p:cTn>
                              </p:par>
                            </p:childTnLst>
                          </p:cTn>
                        </p:par>
                        <p:par>
                          <p:cTn id="18" fill="hold">
                            <p:stCondLst>
                              <p:cond delay="900"/>
                            </p:stCondLst>
                            <p:childTnLst>
                              <p:par>
                                <p:cTn id="15" presetID="10" presetClass="entr" presetSubtype="0" fill="hold" grpId="0" nodeType="afterEffect">
                                  <p:stCondLst>
                                    <p:cond delay="0"/>
                                  </p:stCondLst>
                                  <p:childTnLst>
                                    <p:set>
                                      <p:cBhvr>
                                        <p:cTn id="16" dur="1" fill="hold">
                                          <p:stCondLst>
                                            <p:cond delay="0"/>
                                          </p:stCondLst>
                                        </p:cTn>
                                        <p:tgtEl>
                                          <p:spTgt spid="272"/>
                                        </p:tgtEl>
                                        <p:attrNameLst>
                                          <p:attrName>style.visibility</p:attrName>
                                        </p:attrNameLst>
                                      </p:cBhvr>
                                      <p:to>
                                        <p:strVal val="visible"/>
                                      </p:to>
                                    </p:set>
                                    <p:animEffect transition="in" filter="fade">
                                      <p:cBhvr>
                                        <p:cTn id="17" dur="450"/>
                                        <p:tgtEl>
                                          <p:spTgt spid="272"/>
                                        </p:tgtEl>
                                      </p:cBhvr>
                                    </p:animEffect>
                                  </p:childTnLst>
                                </p:cTn>
                              </p:par>
                            </p:childTnLst>
                          </p:cTn>
                        </p:par>
                        <p:par>
                          <p:cTn id="25" fill="hold">
                            <p:stCondLst>
                              <p:cond delay="1350"/>
                            </p:stCondLst>
                            <p:childTnLst>
                              <p:par>
                                <p:cTn id="19" presetID="10" presetClass="entr" presetSubtype="0" fill="hold" grpId="0" nodeType="afterEffect">
                                  <p:stCondLst>
                                    <p:cond delay="0"/>
                                  </p:stCondLst>
                                  <p:childTnLst>
                                    <p:set>
                                      <p:cBhvr>
                                        <p:cTn id="20" dur="1" fill="hold">
                                          <p:stCondLst>
                                            <p:cond delay="0"/>
                                          </p:stCondLst>
                                        </p:cTn>
                                        <p:tgtEl>
                                          <p:spTgt spid="273"/>
                                        </p:tgtEl>
                                        <p:attrNameLst>
                                          <p:attrName>style.visibility</p:attrName>
                                        </p:attrNameLst>
                                      </p:cBhvr>
                                      <p:to>
                                        <p:strVal val="visible"/>
                                      </p:to>
                                    </p:set>
                                    <p:animEffect transition="in" filter="fade">
                                      <p:cBhvr>
                                        <p:cTn id="21" dur="450"/>
                                        <p:tgtEl>
                                          <p:spTgt spid="27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74"/>
                                        </p:tgtEl>
                                        <p:attrNameLst>
                                          <p:attrName>style.visibility</p:attrName>
                                        </p:attrNameLst>
                                      </p:cBhvr>
                                      <p:to>
                                        <p:strVal val="visible"/>
                                      </p:to>
                                    </p:set>
                                    <p:animEffect transition="in" filter="fade">
                                      <p:cBhvr>
                                        <p:cTn id="24" dur="450"/>
                                        <p:tgtEl>
                                          <p:spTgt spid="274"/>
                                        </p:tgtEl>
                                      </p:cBhvr>
                                    </p:animEffect>
                                  </p:childTnLst>
                                </p:cTn>
                              </p:par>
                            </p:childTnLst>
                          </p:cTn>
                        </p:par>
                        <p:par>
                          <p:cTn id="32" fill="hold">
                            <p:stCondLst>
                              <p:cond delay="1800"/>
                            </p:stCondLst>
                            <p:childTnLst>
                              <p:par>
                                <p:cTn id="26" presetID="10" presetClass="entr" presetSubtype="0" fill="hold" grpId="0" nodeType="afterEffect">
                                  <p:stCondLst>
                                    <p:cond delay="0"/>
                                  </p:stCondLst>
                                  <p:childTnLst>
                                    <p:set>
                                      <p:cBhvr>
                                        <p:cTn id="27" dur="1" fill="hold">
                                          <p:stCondLst>
                                            <p:cond delay="0"/>
                                          </p:stCondLst>
                                        </p:cTn>
                                        <p:tgtEl>
                                          <p:spTgt spid="275"/>
                                        </p:tgtEl>
                                        <p:attrNameLst>
                                          <p:attrName>style.visibility</p:attrName>
                                        </p:attrNameLst>
                                      </p:cBhvr>
                                      <p:to>
                                        <p:strVal val="visible"/>
                                      </p:to>
                                    </p:set>
                                    <p:animEffect transition="in" filter="fade">
                                      <p:cBhvr>
                                        <p:cTn id="28" dur="450"/>
                                        <p:tgtEl>
                                          <p:spTgt spid="27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6"/>
                                        </p:tgtEl>
                                        <p:attrNameLst>
                                          <p:attrName>style.visibility</p:attrName>
                                        </p:attrNameLst>
                                      </p:cBhvr>
                                      <p:to>
                                        <p:strVal val="visible"/>
                                      </p:to>
                                    </p:set>
                                    <p:animEffect transition="in" filter="fade">
                                      <p:cBhvr>
                                        <p:cTn id="31" dur="450"/>
                                        <p:tgtEl>
                                          <p:spTgt spid="276"/>
                                        </p:tgtEl>
                                      </p:cBhvr>
                                    </p:animEffect>
                                  </p:childTnLst>
                                </p:cTn>
                              </p:par>
                            </p:childTnLst>
                          </p:cTn>
                        </p:par>
                        <p:par>
                          <p:cTn id="39" fill="hold">
                            <p:stCondLst>
                              <p:cond delay="2250"/>
                            </p:stCondLst>
                            <p:childTnLst>
                              <p:par>
                                <p:cTn id="33" presetID="10" presetClass="entr" presetSubtype="0" fill="hold" grpId="0" nodeType="afterEffect">
                                  <p:stCondLst>
                                    <p:cond delay="0"/>
                                  </p:stCondLst>
                                  <p:childTnLst>
                                    <p:set>
                                      <p:cBhvr>
                                        <p:cTn id="34" dur="1" fill="hold">
                                          <p:stCondLst>
                                            <p:cond delay="0"/>
                                          </p:stCondLst>
                                        </p:cTn>
                                        <p:tgtEl>
                                          <p:spTgt spid="277"/>
                                        </p:tgtEl>
                                        <p:attrNameLst>
                                          <p:attrName>style.visibility</p:attrName>
                                        </p:attrNameLst>
                                      </p:cBhvr>
                                      <p:to>
                                        <p:strVal val="visible"/>
                                      </p:to>
                                    </p:set>
                                    <p:animEffect transition="in" filter="fade">
                                      <p:cBhvr>
                                        <p:cTn id="35" dur="450"/>
                                        <p:tgtEl>
                                          <p:spTgt spid="27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78"/>
                                        </p:tgtEl>
                                        <p:attrNameLst>
                                          <p:attrName>style.visibility</p:attrName>
                                        </p:attrNameLst>
                                      </p:cBhvr>
                                      <p:to>
                                        <p:strVal val="visible"/>
                                      </p:to>
                                    </p:set>
                                    <p:animEffect transition="in" filter="fade">
                                      <p:cBhvr>
                                        <p:cTn id="38" dur="450"/>
                                        <p:tgtEl>
                                          <p:spTgt spid="2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69" grpId="0">
        <p:bldAsOne/>
      </p:bldGraphic>
      <p:bldP spid="270" grpId="0" animBg="1"/>
      <p:bldP spid="271" grpId="0" animBg="1"/>
      <p:bldP spid="272" grpId="0" animBg="1"/>
      <p:bldP spid="273" grpId="0" animBg="1"/>
      <p:bldP spid="274" grpId="0" animBg="1"/>
      <p:bldP spid="275" grpId="0" animBg="1"/>
      <p:bldP spid="276" grpId="0" animBg="1"/>
      <p:bldP spid="277" grpId="0" animBg="1"/>
      <p:bldP spid="27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The</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Decoys</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The extra test records were look-alikes, and they left fingerprints.</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1">
                <a:solidFill>
                  <a:srgbClr val="FF6200"/>
                </a:solidFill>
                <a:latin typeface="Ember Modern Display Standard"/>
              </a:rPr>
              <a:t>01 Understanding</a:t>
            </a:r>
            <a:r>
              <a:rPr sz="850" b="0">
                <a:solidFill>
                  <a:srgbClr val="161D26"/>
                </a:solidFill>
                <a:latin typeface="Ember Modern Display Standard"/>
              </a:rPr>
              <a:t>    </a:t>
            </a:r>
            <a:r>
              <a:rPr sz="850" b="0">
                <a:solidFill>
                  <a:srgbClr val="B8C0CC"/>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r>
              <a:rPr sz="850" b="0">
                <a:solidFill>
                  <a:srgbClr val="161D26"/>
                </a:solidFill>
                <a:latin typeface="Ember Modern Display Standard"/>
              </a:rPr>
              <a:t>    </a:t>
            </a:r>
            <a:r>
              <a:rPr sz="850" b="0">
                <a:solidFill>
                  <a:srgbClr val="B8C0CC"/>
                </a:solidFill>
                <a:latin typeface="Ember Modern Display Standard"/>
              </a:rPr>
              <a:t>05 Ahead</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Are Right, A Lot</a:t>
            </a:r>
          </a:p>
        </p:txBody>
      </p:sp>
      <p:graphicFrame>
        <p:nvGraphicFramePr>
          <p:cNvPr id="269" name="Chart 268"/>
          <p:cNvGraphicFramePr>
            <a:graphicFrameLocks noGrp="1"/>
          </p:cNvGraphicFramePr>
          <p:nvPr/>
        </p:nvGraphicFramePr>
        <p:xfrm>
          <a:off x="411480" y="1280160"/>
          <a:ext cx="5303520" cy="3108960"/>
        </p:xfrm>
        <a:graphic>
          <a:graphicData uri="http://schemas.openxmlformats.org/drawingml/2006/chart">
            <c:chart xmlns:c="http://schemas.openxmlformats.org/drawingml/2006/chart" r:id="rId2"/>
          </a:graphicData>
        </a:graphic>
      </p:graphicFrame>
      <p:sp>
        <p:nvSpPr>
          <p:cNvPr id="270" name="TextBox 269"/>
          <p:cNvSpPr txBox="1"/>
          <p:nvPr/>
        </p:nvSpPr>
        <p:spPr>
          <a:xfrm>
            <a:off x="5989320" y="1371600"/>
            <a:ext cx="2651760" cy="274320"/>
          </a:xfrm>
          <a:prstGeom prst="rect">
            <a:avLst/>
          </a:prstGeom>
          <a:noFill/>
        </p:spPr>
        <p:txBody>
          <a:bodyPr wrap="square" lIns="0" rIns="0" tIns="0" bIns="0" anchor="t">
            <a:spAutoFit/>
          </a:bodyPr>
          <a:lstStyle/>
          <a:p>
            <a:pPr algn="l"/>
            <a:r>
              <a:rPr sz="1000" b="1">
                <a:solidFill>
                  <a:srgbClr val="FF6200"/>
                </a:solidFill>
                <a:latin typeface="Ember Modern Display Standard"/>
              </a:rPr>
              <a:t>WHAT IT TELLS US</a:t>
            </a:r>
          </a:p>
        </p:txBody>
      </p:sp>
      <p:sp>
        <p:nvSpPr>
          <p:cNvPr id="271" name="Oval 270"/>
          <p:cNvSpPr/>
          <p:nvPr/>
        </p:nvSpPr>
        <p:spPr>
          <a:xfrm>
            <a:off x="5989320" y="1783080"/>
            <a:ext cx="329184" cy="329184"/>
          </a:xfrm>
          <a:prstGeom prst="ellipse">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1</a:t>
            </a:r>
          </a:p>
        </p:txBody>
      </p:sp>
      <p:sp>
        <p:nvSpPr>
          <p:cNvPr id="272" name="TextBox 271"/>
          <p:cNvSpPr txBox="1"/>
          <p:nvPr/>
        </p:nvSpPr>
        <p:spPr>
          <a:xfrm>
            <a:off x="6446520" y="1764792"/>
            <a:ext cx="2194560" cy="841248"/>
          </a:xfrm>
          <a:prstGeom prst="rect">
            <a:avLst/>
          </a:prstGeom>
          <a:noFill/>
        </p:spPr>
        <p:txBody>
          <a:bodyPr wrap="square" lIns="0" rIns="0" tIns="0" bIns="0" anchor="t">
            <a:spAutoFit/>
          </a:bodyPr>
          <a:lstStyle/>
          <a:p>
            <a:pPr algn="l"/>
            <a:r>
              <a:rPr sz="1300" b="0">
                <a:solidFill>
                  <a:srgbClr val="161D26"/>
                </a:solidFill>
                <a:latin typeface="Ember Modern Display Standard"/>
              </a:rPr>
              <a:t>The test has 23% more records, but the same matches</a:t>
            </a:r>
          </a:p>
        </p:txBody>
      </p:sp>
      <p:sp>
        <p:nvSpPr>
          <p:cNvPr id="273" name="Oval 272"/>
          <p:cNvSpPr/>
          <p:nvPr/>
        </p:nvSpPr>
        <p:spPr>
          <a:xfrm>
            <a:off x="5989320" y="2715768"/>
            <a:ext cx="329184" cy="329184"/>
          </a:xfrm>
          <a:prstGeom prst="ellipse">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2</a:t>
            </a:r>
          </a:p>
        </p:txBody>
      </p:sp>
      <p:sp>
        <p:nvSpPr>
          <p:cNvPr id="274" name="TextBox 273"/>
          <p:cNvSpPr txBox="1"/>
          <p:nvPr/>
        </p:nvSpPr>
        <p:spPr>
          <a:xfrm>
            <a:off x="6446520" y="2697479"/>
            <a:ext cx="2194560" cy="841248"/>
          </a:xfrm>
          <a:prstGeom prst="rect">
            <a:avLst/>
          </a:prstGeom>
          <a:noFill/>
        </p:spPr>
        <p:txBody>
          <a:bodyPr wrap="square" lIns="0" rIns="0" tIns="0" bIns="0" anchor="t">
            <a:spAutoFit/>
          </a:bodyPr>
          <a:lstStyle/>
          <a:p>
            <a:pPr algn="l"/>
            <a:r>
              <a:rPr sz="1300" b="0">
                <a:solidFill>
                  <a:srgbClr val="161D26"/>
                </a:solidFill>
                <a:latin typeface="Ember Modern Display Standard"/>
              </a:rPr>
              <a:t>Decoys move the number and add a word</a:t>
            </a:r>
          </a:p>
        </p:txBody>
      </p:sp>
      <p:sp>
        <p:nvSpPr>
          <p:cNvPr id="275" name="Oval 274"/>
          <p:cNvSpPr/>
          <p:nvPr/>
        </p:nvSpPr>
        <p:spPr>
          <a:xfrm>
            <a:off x="5989320" y="3648456"/>
            <a:ext cx="329184" cy="329184"/>
          </a:xfrm>
          <a:prstGeom prst="ellipse">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3</a:t>
            </a:r>
          </a:p>
        </p:txBody>
      </p:sp>
      <p:sp>
        <p:nvSpPr>
          <p:cNvPr id="276" name="TextBox 275"/>
          <p:cNvSpPr txBox="1"/>
          <p:nvPr/>
        </p:nvSpPr>
        <p:spPr>
          <a:xfrm>
            <a:off x="6446520" y="3630168"/>
            <a:ext cx="2194560" cy="841248"/>
          </a:xfrm>
          <a:prstGeom prst="rect">
            <a:avLst/>
          </a:prstGeom>
          <a:noFill/>
        </p:spPr>
        <p:txBody>
          <a:bodyPr wrap="square" lIns="0" rIns="0" tIns="0" bIns="0" anchor="t">
            <a:spAutoFit/>
          </a:bodyPr>
          <a:lstStyle/>
          <a:p>
            <a:pPr algn="l"/>
            <a:r>
              <a:rPr sz="1300" b="0">
                <a:solidFill>
                  <a:srgbClr val="161D26"/>
                </a:solidFill>
                <a:latin typeface="Ember Modern Display Standard"/>
              </a:rPr>
              <a:t>One word swapped, same address: 0.6% real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fade">
                                      <p:cBhvr>
                                        <p:cTn id="6" dur="450"/>
                                        <p:tgtEl>
                                          <p:spTgt spid="269"/>
                                        </p:tgtEl>
                                      </p:cBhvr>
                                    </p:animEffect>
                                  </p:childTnLst>
                                </p:cTn>
                              </p:par>
                            </p:childTnLst>
                          </p:cTn>
                        </p:par>
                        <p:par>
                          <p:cTn id="11" fill="hold">
                            <p:stCondLst>
                              <p:cond delay="450"/>
                            </p:stCondLst>
                            <p:childTnLst>
                              <p:par>
                                <p:cTn id="8" presetID="10" presetClass="entr" presetSubtype="0" fill="hold" grpId="0" nodeType="afterEffect">
                                  <p:stCondLst>
                                    <p:cond delay="0"/>
                                  </p:stCondLst>
                                  <p:childTnLst>
                                    <p:set>
                                      <p:cBhvr>
                                        <p:cTn id="9" dur="1" fill="hold">
                                          <p:stCondLst>
                                            <p:cond delay="0"/>
                                          </p:stCondLst>
                                        </p:cTn>
                                        <p:tgtEl>
                                          <p:spTgt spid="270"/>
                                        </p:tgtEl>
                                        <p:attrNameLst>
                                          <p:attrName>style.visibility</p:attrName>
                                        </p:attrNameLst>
                                      </p:cBhvr>
                                      <p:to>
                                        <p:strVal val="visible"/>
                                      </p:to>
                                    </p:set>
                                    <p:animEffect transition="in" filter="fade">
                                      <p:cBhvr>
                                        <p:cTn id="10" dur="450"/>
                                        <p:tgtEl>
                                          <p:spTgt spid="270"/>
                                        </p:tgtEl>
                                      </p:cBhvr>
                                    </p:animEffect>
                                  </p:childTnLst>
                                </p:cTn>
                              </p:par>
                            </p:childTnLst>
                          </p:cTn>
                        </p:par>
                        <p:par>
                          <p:cTn id="18" fill="hold">
                            <p:stCondLst>
                              <p:cond delay="900"/>
                            </p:stCondLst>
                            <p:childTnLst>
                              <p:par>
                                <p:cTn id="12" presetID="10" presetClass="entr" presetSubtype="0" fill="hold" grpId="0" nodeType="afterEffect">
                                  <p:stCondLst>
                                    <p:cond delay="0"/>
                                  </p:stCondLst>
                                  <p:childTnLst>
                                    <p:set>
                                      <p:cBhvr>
                                        <p:cTn id="13" dur="1" fill="hold">
                                          <p:stCondLst>
                                            <p:cond delay="0"/>
                                          </p:stCondLst>
                                        </p:cTn>
                                        <p:tgtEl>
                                          <p:spTgt spid="271"/>
                                        </p:tgtEl>
                                        <p:attrNameLst>
                                          <p:attrName>style.visibility</p:attrName>
                                        </p:attrNameLst>
                                      </p:cBhvr>
                                      <p:to>
                                        <p:strVal val="visible"/>
                                      </p:to>
                                    </p:set>
                                    <p:animEffect transition="in" filter="fade">
                                      <p:cBhvr>
                                        <p:cTn id="14" dur="450"/>
                                        <p:tgtEl>
                                          <p:spTgt spid="27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72"/>
                                        </p:tgtEl>
                                        <p:attrNameLst>
                                          <p:attrName>style.visibility</p:attrName>
                                        </p:attrNameLst>
                                      </p:cBhvr>
                                      <p:to>
                                        <p:strVal val="visible"/>
                                      </p:to>
                                    </p:set>
                                    <p:animEffect transition="in" filter="fade">
                                      <p:cBhvr>
                                        <p:cTn id="17" dur="450"/>
                                        <p:tgtEl>
                                          <p:spTgt spid="272"/>
                                        </p:tgtEl>
                                      </p:cBhvr>
                                    </p:animEffect>
                                  </p:childTnLst>
                                </p:cTn>
                              </p:par>
                            </p:childTnLst>
                          </p:cTn>
                        </p:par>
                        <p:par>
                          <p:cTn id="25" fill="hold">
                            <p:stCondLst>
                              <p:cond delay="1350"/>
                            </p:stCondLst>
                            <p:childTnLst>
                              <p:par>
                                <p:cTn id="19" presetID="10" presetClass="entr" presetSubtype="0" fill="hold" grpId="0" nodeType="afterEffect">
                                  <p:stCondLst>
                                    <p:cond delay="0"/>
                                  </p:stCondLst>
                                  <p:childTnLst>
                                    <p:set>
                                      <p:cBhvr>
                                        <p:cTn id="20" dur="1" fill="hold">
                                          <p:stCondLst>
                                            <p:cond delay="0"/>
                                          </p:stCondLst>
                                        </p:cTn>
                                        <p:tgtEl>
                                          <p:spTgt spid="273"/>
                                        </p:tgtEl>
                                        <p:attrNameLst>
                                          <p:attrName>style.visibility</p:attrName>
                                        </p:attrNameLst>
                                      </p:cBhvr>
                                      <p:to>
                                        <p:strVal val="visible"/>
                                      </p:to>
                                    </p:set>
                                    <p:animEffect transition="in" filter="fade">
                                      <p:cBhvr>
                                        <p:cTn id="21" dur="450"/>
                                        <p:tgtEl>
                                          <p:spTgt spid="27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74"/>
                                        </p:tgtEl>
                                        <p:attrNameLst>
                                          <p:attrName>style.visibility</p:attrName>
                                        </p:attrNameLst>
                                      </p:cBhvr>
                                      <p:to>
                                        <p:strVal val="visible"/>
                                      </p:to>
                                    </p:set>
                                    <p:animEffect transition="in" filter="fade">
                                      <p:cBhvr>
                                        <p:cTn id="24" dur="450"/>
                                        <p:tgtEl>
                                          <p:spTgt spid="274"/>
                                        </p:tgtEl>
                                      </p:cBhvr>
                                    </p:animEffect>
                                  </p:childTnLst>
                                </p:cTn>
                              </p:par>
                            </p:childTnLst>
                          </p:cTn>
                        </p:par>
                        <p:par>
                          <p:cTn id="32" fill="hold">
                            <p:stCondLst>
                              <p:cond delay="1800"/>
                            </p:stCondLst>
                            <p:childTnLst>
                              <p:par>
                                <p:cTn id="26" presetID="10" presetClass="entr" presetSubtype="0" fill="hold" grpId="0" nodeType="afterEffect">
                                  <p:stCondLst>
                                    <p:cond delay="0"/>
                                  </p:stCondLst>
                                  <p:childTnLst>
                                    <p:set>
                                      <p:cBhvr>
                                        <p:cTn id="27" dur="1" fill="hold">
                                          <p:stCondLst>
                                            <p:cond delay="0"/>
                                          </p:stCondLst>
                                        </p:cTn>
                                        <p:tgtEl>
                                          <p:spTgt spid="275"/>
                                        </p:tgtEl>
                                        <p:attrNameLst>
                                          <p:attrName>style.visibility</p:attrName>
                                        </p:attrNameLst>
                                      </p:cBhvr>
                                      <p:to>
                                        <p:strVal val="visible"/>
                                      </p:to>
                                    </p:set>
                                    <p:animEffect transition="in" filter="fade">
                                      <p:cBhvr>
                                        <p:cTn id="28" dur="450"/>
                                        <p:tgtEl>
                                          <p:spTgt spid="27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6"/>
                                        </p:tgtEl>
                                        <p:attrNameLst>
                                          <p:attrName>style.visibility</p:attrName>
                                        </p:attrNameLst>
                                      </p:cBhvr>
                                      <p:to>
                                        <p:strVal val="visible"/>
                                      </p:to>
                                    </p:set>
                                    <p:animEffect transition="in" filter="fade">
                                      <p:cBhvr>
                                        <p:cTn id="31" dur="450"/>
                                        <p:tgtEl>
                                          <p:spTgt spid="2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69" grpId="0">
        <p:bldAsOne/>
      </p:bldGraphic>
      <p:bldP spid="270" grpId="0" animBg="1"/>
      <p:bldP spid="271" grpId="0" animBg="1"/>
      <p:bldP spid="272" grpId="0" animBg="1"/>
      <p:bldP spid="273" grpId="0" animBg="1"/>
      <p:bldP spid="274" grpId="0" animBg="1"/>
      <p:bldP spid="275" grpId="0" animBg="1"/>
      <p:bldP spid="27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Two</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Principles</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Two rules we set before building anything.</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1">
                <a:solidFill>
                  <a:srgbClr val="FF6200"/>
                </a:solidFill>
                <a:latin typeface="Ember Modern Display Standard"/>
              </a:rPr>
              <a:t>01 Understanding</a:t>
            </a:r>
            <a:r>
              <a:rPr sz="850" b="0">
                <a:solidFill>
                  <a:srgbClr val="161D26"/>
                </a:solidFill>
                <a:latin typeface="Ember Modern Display Standard"/>
              </a:rPr>
              <a:t>    </a:t>
            </a:r>
            <a:r>
              <a:rPr sz="850" b="0">
                <a:solidFill>
                  <a:srgbClr val="B8C0CC"/>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r>
              <a:rPr sz="850" b="0">
                <a:solidFill>
                  <a:srgbClr val="161D26"/>
                </a:solidFill>
                <a:latin typeface="Ember Modern Display Standard"/>
              </a:rPr>
              <a:t>    </a:t>
            </a:r>
            <a:r>
              <a:rPr sz="850" b="0">
                <a:solidFill>
                  <a:srgbClr val="B8C0CC"/>
                </a:solidFill>
                <a:latin typeface="Ember Modern Display Standard"/>
              </a:rPr>
              <a:t>05 Ahead</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Customer Obsession  ·  Frugality</a:t>
            </a:r>
          </a:p>
        </p:txBody>
      </p:sp>
      <p:sp>
        <p:nvSpPr>
          <p:cNvPr id="269" name="Rounded Rectangle 268"/>
          <p:cNvSpPr/>
          <p:nvPr/>
        </p:nvSpPr>
        <p:spPr>
          <a:xfrm>
            <a:off x="502920" y="1371600"/>
            <a:ext cx="3931920" cy="3008376"/>
          </a:xfrm>
          <a:prstGeom prst="roundRect">
            <a:avLst>
              <a:gd name="adj" fmla="val 1823"/>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731520" y="1554480"/>
            <a:ext cx="3566160" cy="365760"/>
          </a:xfrm>
          <a:prstGeom prst="rect">
            <a:avLst/>
          </a:prstGeom>
          <a:noFill/>
        </p:spPr>
        <p:txBody>
          <a:bodyPr wrap="square" lIns="0" rIns="0" tIns="0" bIns="0" anchor="t">
            <a:spAutoFit/>
          </a:bodyPr>
          <a:lstStyle/>
          <a:p>
            <a:pPr algn="l"/>
            <a:r>
              <a:rPr sz="1800" b="1">
                <a:solidFill>
                  <a:srgbClr val="FF6200"/>
                </a:solidFill>
                <a:latin typeface="Ember Modern Display Standard"/>
              </a:rPr>
              <a:t>1  </a:t>
            </a:r>
            <a:r>
              <a:rPr sz="1800" b="1">
                <a:solidFill>
                  <a:srgbClr val="161D26"/>
                </a:solidFill>
                <a:latin typeface="Ember Modern Display Standard"/>
              </a:rPr>
              <a:t>Decide like the metric</a:t>
            </a:r>
          </a:p>
        </p:txBody>
      </p:sp>
      <p:sp>
        <p:nvSpPr>
          <p:cNvPr id="271" name="Rounded Rectangle 270"/>
          <p:cNvSpPr/>
          <p:nvPr/>
        </p:nvSpPr>
        <p:spPr>
          <a:xfrm>
            <a:off x="914400" y="2286000"/>
            <a:ext cx="566928" cy="566928"/>
          </a:xfrm>
          <a:prstGeom prst="roundRect">
            <a:avLst>
              <a:gd name="adj" fmla="val 12903"/>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TextBox 271"/>
          <p:cNvSpPr txBox="1"/>
          <p:nvPr/>
        </p:nvSpPr>
        <p:spPr>
          <a:xfrm>
            <a:off x="1572768" y="2304288"/>
            <a:ext cx="365760" cy="502920"/>
          </a:xfrm>
          <a:prstGeom prst="rect">
            <a:avLst/>
          </a:prstGeom>
          <a:noFill/>
        </p:spPr>
        <p:txBody>
          <a:bodyPr wrap="square" lIns="0" rIns="0" tIns="0" bIns="0" anchor="t">
            <a:spAutoFit/>
          </a:bodyPr>
          <a:lstStyle/>
          <a:p>
            <a:pPr algn="ctr"/>
            <a:r>
              <a:rPr sz="2600" b="1">
                <a:solidFill>
                  <a:srgbClr val="161D26"/>
                </a:solidFill>
                <a:latin typeface="Ember Modern Display Standard"/>
              </a:rPr>
              <a:t>=</a:t>
            </a:r>
          </a:p>
        </p:txBody>
      </p:sp>
      <p:sp>
        <p:nvSpPr>
          <p:cNvPr id="273" name="Rounded Rectangle 272"/>
          <p:cNvSpPr/>
          <p:nvPr/>
        </p:nvSpPr>
        <p:spPr>
          <a:xfrm>
            <a:off x="2029968" y="2395728"/>
            <a:ext cx="457200" cy="457200"/>
          </a:xfrm>
          <a:prstGeom prst="roundRect">
            <a:avLst>
              <a:gd name="adj" fmla="val 12000"/>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ounded Rectangle 273"/>
          <p:cNvSpPr/>
          <p:nvPr/>
        </p:nvSpPr>
        <p:spPr>
          <a:xfrm>
            <a:off x="2596896" y="2395728"/>
            <a:ext cx="457200" cy="457200"/>
          </a:xfrm>
          <a:prstGeom prst="roundRect">
            <a:avLst>
              <a:gd name="adj" fmla="val 12000"/>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Rounded Rectangle 274"/>
          <p:cNvSpPr/>
          <p:nvPr/>
        </p:nvSpPr>
        <p:spPr>
          <a:xfrm>
            <a:off x="3163824" y="2395728"/>
            <a:ext cx="457200" cy="457200"/>
          </a:xfrm>
          <a:prstGeom prst="roundRect">
            <a:avLst>
              <a:gd name="adj" fmla="val 12000"/>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Rounded Rectangle 275"/>
          <p:cNvSpPr/>
          <p:nvPr/>
        </p:nvSpPr>
        <p:spPr>
          <a:xfrm>
            <a:off x="3730752" y="2395728"/>
            <a:ext cx="457200" cy="457200"/>
          </a:xfrm>
          <a:prstGeom prst="roundRect">
            <a:avLst>
              <a:gd name="adj" fmla="val 12000"/>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TextBox 276"/>
          <p:cNvSpPr txBox="1"/>
          <p:nvPr/>
        </p:nvSpPr>
        <p:spPr>
          <a:xfrm>
            <a:off x="731520" y="3108960"/>
            <a:ext cx="3566160" cy="822960"/>
          </a:xfrm>
          <a:prstGeom prst="rect">
            <a:avLst/>
          </a:prstGeom>
          <a:noFill/>
        </p:spPr>
        <p:txBody>
          <a:bodyPr wrap="square" lIns="0" rIns="0" tIns="0" bIns="0" anchor="t">
            <a:spAutoFit/>
          </a:bodyPr>
          <a:lstStyle/>
          <a:p>
            <a:pPr algn="l"/>
            <a:r>
              <a:rPr sz="1300" b="0">
                <a:solidFill>
                  <a:srgbClr val="161D26"/>
                </a:solidFill>
                <a:latin typeface="Ember Modern Display Standard"/>
              </a:rPr>
              <a:t>1 wrong merge costs as much as 4 missed copies.</a:t>
            </a:r>
          </a:p>
          <a:p>
            <a:pPr algn="l">
              <a:spcBef>
                <a:spcPts val="600"/>
              </a:spcBef>
            </a:pPr>
            <a:r>
              <a:rPr sz="1300" b="0">
                <a:solidFill>
                  <a:srgbClr val="6B7280"/>
                </a:solidFill>
                <a:latin typeface="Ember Modern Display Standard"/>
              </a:rPr>
              <a:t>So: precision first.</a:t>
            </a:r>
          </a:p>
        </p:txBody>
      </p:sp>
      <p:sp>
        <p:nvSpPr>
          <p:cNvPr id="278" name="Rounded Rectangle 277"/>
          <p:cNvSpPr/>
          <p:nvPr/>
        </p:nvSpPr>
        <p:spPr>
          <a:xfrm>
            <a:off x="4709160" y="1371600"/>
            <a:ext cx="3931920" cy="3008376"/>
          </a:xfrm>
          <a:prstGeom prst="roundRect">
            <a:avLst>
              <a:gd name="adj" fmla="val 1823"/>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TextBox 278"/>
          <p:cNvSpPr txBox="1"/>
          <p:nvPr/>
        </p:nvSpPr>
        <p:spPr>
          <a:xfrm>
            <a:off x="4937760" y="1554480"/>
            <a:ext cx="3566160" cy="365760"/>
          </a:xfrm>
          <a:prstGeom prst="rect">
            <a:avLst/>
          </a:prstGeom>
          <a:noFill/>
        </p:spPr>
        <p:txBody>
          <a:bodyPr wrap="square" lIns="0" rIns="0" tIns="0" bIns="0" anchor="t">
            <a:spAutoFit/>
          </a:bodyPr>
          <a:lstStyle/>
          <a:p>
            <a:pPr algn="l"/>
            <a:r>
              <a:rPr sz="1800" b="1">
                <a:solidFill>
                  <a:srgbClr val="FF6200"/>
                </a:solidFill>
                <a:latin typeface="Ember Modern Display Standard"/>
              </a:rPr>
              <a:t>2  </a:t>
            </a:r>
            <a:r>
              <a:rPr sz="1800" b="1">
                <a:solidFill>
                  <a:srgbClr val="FFFFFF"/>
                </a:solidFill>
                <a:latin typeface="Ember Modern Display Standard"/>
              </a:rPr>
              <a:t>Compute where it's unsure</a:t>
            </a:r>
          </a:p>
        </p:txBody>
      </p:sp>
      <p:graphicFrame>
        <p:nvGraphicFramePr>
          <p:cNvPr id="280" name="Chart 279"/>
          <p:cNvGraphicFramePr>
            <a:graphicFrameLocks noGrp="1"/>
          </p:cNvGraphicFramePr>
          <p:nvPr/>
        </p:nvGraphicFramePr>
        <p:xfrm>
          <a:off x="4892040" y="2011680"/>
          <a:ext cx="1691640" cy="1691640"/>
        </p:xfrm>
        <a:graphic>
          <a:graphicData uri="http://schemas.openxmlformats.org/drawingml/2006/chart">
            <c:chart xmlns:c="http://schemas.openxmlformats.org/drawingml/2006/chart" r:id="rId2"/>
          </a:graphicData>
        </a:graphic>
      </p:graphicFrame>
      <p:sp>
        <p:nvSpPr>
          <p:cNvPr id="281" name="TextBox 280"/>
          <p:cNvSpPr txBox="1"/>
          <p:nvPr/>
        </p:nvSpPr>
        <p:spPr>
          <a:xfrm>
            <a:off x="4892040" y="2633472"/>
            <a:ext cx="1691640" cy="457200"/>
          </a:xfrm>
          <a:prstGeom prst="rect">
            <a:avLst/>
          </a:prstGeom>
          <a:noFill/>
        </p:spPr>
        <p:txBody>
          <a:bodyPr wrap="square" lIns="0" rIns="0" tIns="0" bIns="0" anchor="t">
            <a:spAutoFit/>
          </a:bodyPr>
          <a:lstStyle/>
          <a:p>
            <a:pPr algn="ctr"/>
            <a:r>
              <a:rPr sz="2000" b="1">
                <a:solidFill>
                  <a:srgbClr val="FF6200"/>
                </a:solidFill>
                <a:latin typeface="Ember Modern Display Standard"/>
              </a:rPr>
              <a:t>2.6%</a:t>
            </a:r>
          </a:p>
        </p:txBody>
      </p:sp>
      <p:sp>
        <p:nvSpPr>
          <p:cNvPr id="282" name="TextBox 281"/>
          <p:cNvSpPr txBox="1"/>
          <p:nvPr/>
        </p:nvSpPr>
        <p:spPr>
          <a:xfrm>
            <a:off x="6720840" y="2377440"/>
            <a:ext cx="1783080" cy="1280160"/>
          </a:xfrm>
          <a:prstGeom prst="rect">
            <a:avLst/>
          </a:prstGeom>
          <a:noFill/>
        </p:spPr>
        <p:txBody>
          <a:bodyPr wrap="square" lIns="0" rIns="0" tIns="0" bIns="0" anchor="t">
            <a:spAutoFit/>
          </a:bodyPr>
          <a:lstStyle/>
          <a:p>
            <a:pPr algn="l"/>
            <a:r>
              <a:rPr sz="1300" b="0">
                <a:solidFill>
                  <a:srgbClr val="FFFFFF"/>
                </a:solidFill>
                <a:latin typeface="Ember Modern Display Standard"/>
              </a:rPr>
              <a:t>of pairs reach our expensive models.</a:t>
            </a:r>
          </a:p>
          <a:p>
            <a:pPr algn="l">
              <a:spcBef>
                <a:spcPts val="600"/>
              </a:spcBef>
            </a:pPr>
            <a:r>
              <a:rPr sz="1300" b="0">
                <a:solidFill>
                  <a:srgbClr val="B8C0CC"/>
                </a:solidFill>
                <a:latin typeface="Ember Modern Display Standard"/>
              </a:rPr>
              <a:t>A cheap model reads every pair first.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fade">
                                      <p:cBhvr>
                                        <p:cTn id="6" dur="45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childTnLst>
                          </p:cTn>
                        </p:par>
                        <p:par>
                          <p:cTn id="29" fill="hold">
                            <p:stCondLst>
                              <p:cond delay="450"/>
                            </p:stCondLst>
                            <p:childTnLst>
                              <p:par>
                                <p:cTn id="11" presetID="10" presetClass="entr" presetSubtype="0" fill="hold" grpId="0" nodeType="afterEffect">
                                  <p:stCondLst>
                                    <p:cond delay="0"/>
                                  </p:stCondLst>
                                  <p:childTnLst>
                                    <p:set>
                                      <p:cBhvr>
                                        <p:cTn id="12" dur="1" fill="hold">
                                          <p:stCondLst>
                                            <p:cond delay="0"/>
                                          </p:stCondLst>
                                        </p:cTn>
                                        <p:tgtEl>
                                          <p:spTgt spid="271"/>
                                        </p:tgtEl>
                                        <p:attrNameLst>
                                          <p:attrName>style.visibility</p:attrName>
                                        </p:attrNameLst>
                                      </p:cBhvr>
                                      <p:to>
                                        <p:strVal val="visible"/>
                                      </p:to>
                                    </p:set>
                                    <p:animEffect transition="in" filter="fade">
                                      <p:cBhvr>
                                        <p:cTn id="13" dur="450"/>
                                        <p:tgtEl>
                                          <p:spTgt spid="27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3"/>
                                        </p:tgtEl>
                                        <p:attrNameLst>
                                          <p:attrName>style.visibility</p:attrName>
                                        </p:attrNameLst>
                                      </p:cBhvr>
                                      <p:to>
                                        <p:strVal val="visible"/>
                                      </p:to>
                                    </p:set>
                                    <p:animEffect transition="in" filter="fade">
                                      <p:cBhvr>
                                        <p:cTn id="16" dur="450"/>
                                        <p:tgtEl>
                                          <p:spTgt spid="27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74"/>
                                        </p:tgtEl>
                                        <p:attrNameLst>
                                          <p:attrName>style.visibility</p:attrName>
                                        </p:attrNameLst>
                                      </p:cBhvr>
                                      <p:to>
                                        <p:strVal val="visible"/>
                                      </p:to>
                                    </p:set>
                                    <p:animEffect transition="in" filter="fade">
                                      <p:cBhvr>
                                        <p:cTn id="19" dur="450"/>
                                        <p:tgtEl>
                                          <p:spTgt spid="27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5"/>
                                        </p:tgtEl>
                                        <p:attrNameLst>
                                          <p:attrName>style.visibility</p:attrName>
                                        </p:attrNameLst>
                                      </p:cBhvr>
                                      <p:to>
                                        <p:strVal val="visible"/>
                                      </p:to>
                                    </p:set>
                                    <p:animEffect transition="in" filter="fade">
                                      <p:cBhvr>
                                        <p:cTn id="22" dur="450"/>
                                        <p:tgtEl>
                                          <p:spTgt spid="27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76"/>
                                        </p:tgtEl>
                                        <p:attrNameLst>
                                          <p:attrName>style.visibility</p:attrName>
                                        </p:attrNameLst>
                                      </p:cBhvr>
                                      <p:to>
                                        <p:strVal val="visible"/>
                                      </p:to>
                                    </p:set>
                                    <p:animEffect transition="in" filter="fade">
                                      <p:cBhvr>
                                        <p:cTn id="25" dur="450"/>
                                        <p:tgtEl>
                                          <p:spTgt spid="27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72"/>
                                        </p:tgtEl>
                                        <p:attrNameLst>
                                          <p:attrName>style.visibility</p:attrName>
                                        </p:attrNameLst>
                                      </p:cBhvr>
                                      <p:to>
                                        <p:strVal val="visible"/>
                                      </p:to>
                                    </p:set>
                                    <p:animEffect transition="in" filter="fade">
                                      <p:cBhvr>
                                        <p:cTn id="28" dur="450"/>
                                        <p:tgtEl>
                                          <p:spTgt spid="272"/>
                                        </p:tgtEl>
                                      </p:cBhvr>
                                    </p:animEffect>
                                  </p:childTnLst>
                                </p:cTn>
                              </p:par>
                            </p:childTnLst>
                          </p:cTn>
                        </p:par>
                        <p:par>
                          <p:cTn id="33" fill="hold">
                            <p:stCondLst>
                              <p:cond delay="900"/>
                            </p:stCondLst>
                            <p:childTnLst>
                              <p:par>
                                <p:cTn id="30" presetID="10" presetClass="entr" presetSubtype="0" fill="hold" grpId="0" nodeType="afterEffect">
                                  <p:stCondLst>
                                    <p:cond delay="0"/>
                                  </p:stCondLst>
                                  <p:childTnLst>
                                    <p:set>
                                      <p:cBhvr>
                                        <p:cTn id="31" dur="1" fill="hold">
                                          <p:stCondLst>
                                            <p:cond delay="0"/>
                                          </p:stCondLst>
                                        </p:cTn>
                                        <p:tgtEl>
                                          <p:spTgt spid="277"/>
                                        </p:tgtEl>
                                        <p:attrNameLst>
                                          <p:attrName>style.visibility</p:attrName>
                                        </p:attrNameLst>
                                      </p:cBhvr>
                                      <p:to>
                                        <p:strVal val="visible"/>
                                      </p:to>
                                    </p:set>
                                    <p:animEffect transition="in" filter="fade">
                                      <p:cBhvr>
                                        <p:cTn id="32" dur="450"/>
                                        <p:tgtEl>
                                          <p:spTgt spid="277"/>
                                        </p:tgtEl>
                                      </p:cBhvr>
                                    </p:animEffect>
                                  </p:childTnLst>
                                </p:cTn>
                              </p:par>
                            </p:childTnLst>
                          </p:cTn>
                        </p:par>
                        <p:par>
                          <p:cTn id="40" fill="hold">
                            <p:stCondLst>
                              <p:cond delay="1350"/>
                            </p:stCondLst>
                            <p:childTnLst>
                              <p:par>
                                <p:cTn id="34" presetID="10" presetClass="entr" presetSubtype="0" fill="hold" grpId="0" nodeType="afterEffect">
                                  <p:stCondLst>
                                    <p:cond delay="0"/>
                                  </p:stCondLst>
                                  <p:childTnLst>
                                    <p:set>
                                      <p:cBhvr>
                                        <p:cTn id="35" dur="1" fill="hold">
                                          <p:stCondLst>
                                            <p:cond delay="0"/>
                                          </p:stCondLst>
                                        </p:cTn>
                                        <p:tgtEl>
                                          <p:spTgt spid="278"/>
                                        </p:tgtEl>
                                        <p:attrNameLst>
                                          <p:attrName>style.visibility</p:attrName>
                                        </p:attrNameLst>
                                      </p:cBhvr>
                                      <p:to>
                                        <p:strVal val="visible"/>
                                      </p:to>
                                    </p:set>
                                    <p:animEffect transition="in" filter="fade">
                                      <p:cBhvr>
                                        <p:cTn id="36" dur="450"/>
                                        <p:tgtEl>
                                          <p:spTgt spid="27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79"/>
                                        </p:tgtEl>
                                        <p:attrNameLst>
                                          <p:attrName>style.visibility</p:attrName>
                                        </p:attrNameLst>
                                      </p:cBhvr>
                                      <p:to>
                                        <p:strVal val="visible"/>
                                      </p:to>
                                    </p:set>
                                    <p:animEffect transition="in" filter="fade">
                                      <p:cBhvr>
                                        <p:cTn id="39" dur="450"/>
                                        <p:tgtEl>
                                          <p:spTgt spid="279"/>
                                        </p:tgtEl>
                                      </p:cBhvr>
                                    </p:animEffect>
                                  </p:childTnLst>
                                </p:cTn>
                              </p:par>
                            </p:childTnLst>
                          </p:cTn>
                        </p:par>
                        <p:par>
                          <p:cTn id="47" fill="hold">
                            <p:stCondLst>
                              <p:cond delay="1800"/>
                            </p:stCondLst>
                            <p:childTnLst>
                              <p:par>
                                <p:cTn id="41" presetID="10" presetClass="entr" presetSubtype="0" fill="hold" grpId="0" nodeType="afterEffect">
                                  <p:stCondLst>
                                    <p:cond delay="0"/>
                                  </p:stCondLst>
                                  <p:childTnLst>
                                    <p:set>
                                      <p:cBhvr>
                                        <p:cTn id="42" dur="1" fill="hold">
                                          <p:stCondLst>
                                            <p:cond delay="0"/>
                                          </p:stCondLst>
                                        </p:cTn>
                                        <p:tgtEl>
                                          <p:spTgt spid="280"/>
                                        </p:tgtEl>
                                        <p:attrNameLst>
                                          <p:attrName>style.visibility</p:attrName>
                                        </p:attrNameLst>
                                      </p:cBhvr>
                                      <p:to>
                                        <p:strVal val="visible"/>
                                      </p:to>
                                    </p:set>
                                    <p:animEffect transition="in" filter="fade">
                                      <p:cBhvr>
                                        <p:cTn id="43" dur="450"/>
                                        <p:tgtEl>
                                          <p:spTgt spid="28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81"/>
                                        </p:tgtEl>
                                        <p:attrNameLst>
                                          <p:attrName>style.visibility</p:attrName>
                                        </p:attrNameLst>
                                      </p:cBhvr>
                                      <p:to>
                                        <p:strVal val="visible"/>
                                      </p:to>
                                    </p:set>
                                    <p:animEffect transition="in" filter="fade">
                                      <p:cBhvr>
                                        <p:cTn id="46" dur="450"/>
                                        <p:tgtEl>
                                          <p:spTgt spid="281"/>
                                        </p:tgtEl>
                                      </p:cBhvr>
                                    </p:animEffect>
                                  </p:childTnLst>
                                </p:cTn>
                              </p:par>
                            </p:childTnLst>
                          </p:cTn>
                        </p:par>
                        <p:par>
                          <p:cTn id="51" fill="hold">
                            <p:stCondLst>
                              <p:cond delay="2250"/>
                            </p:stCondLst>
                            <p:childTnLst>
                              <p:par>
                                <p:cTn id="48" presetID="10" presetClass="entr" presetSubtype="0" fill="hold" grpId="0" nodeType="afterEffect">
                                  <p:stCondLst>
                                    <p:cond delay="0"/>
                                  </p:stCondLst>
                                  <p:childTnLst>
                                    <p:set>
                                      <p:cBhvr>
                                        <p:cTn id="49" dur="1" fill="hold">
                                          <p:stCondLst>
                                            <p:cond delay="0"/>
                                          </p:stCondLst>
                                        </p:cTn>
                                        <p:tgtEl>
                                          <p:spTgt spid="282"/>
                                        </p:tgtEl>
                                        <p:attrNameLst>
                                          <p:attrName>style.visibility</p:attrName>
                                        </p:attrNameLst>
                                      </p:cBhvr>
                                      <p:to>
                                        <p:strVal val="visible"/>
                                      </p:to>
                                    </p:set>
                                    <p:animEffect transition="in" filter="fade">
                                      <p:cBhvr>
                                        <p:cTn id="50" dur="450"/>
                                        <p:tgtEl>
                                          <p:spTgt spid="2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9" grpId="0" animBg="1"/>
      <p:bldP spid="270" grpId="0" animBg="1"/>
      <p:bldP spid="271" grpId="0" animBg="1"/>
      <p:bldP spid="273" grpId="0" animBg="1"/>
      <p:bldP spid="274" grpId="0" animBg="1"/>
      <p:bldP spid="275" grpId="0" animBg="1"/>
      <p:bldP spid="276" grpId="0" animBg="1"/>
      <p:bldP spid="272" grpId="0" animBg="1"/>
      <p:bldP spid="277" grpId="0" animBg="1"/>
      <p:bldP spid="278" grpId="0" animBg="1"/>
      <p:bldP spid="279" grpId="0" animBg="1"/>
      <p:bldGraphic spid="280" grpId="0">
        <p:bldAsOne/>
      </p:bldGraphic>
      <p:bldP spid="281" grpId="0" animBg="1"/>
      <p:bldP spid="28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Smart</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Blocking</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From 17 trillion possible pairs to 3.7 candidates per entity.</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0">
                <a:solidFill>
                  <a:srgbClr val="B8C0CC"/>
                </a:solidFill>
                <a:latin typeface="Ember Modern Display Standard"/>
              </a:rPr>
              <a:t>01 Understanding</a:t>
            </a:r>
            <a:r>
              <a:rPr sz="850" b="0">
                <a:solidFill>
                  <a:srgbClr val="161D26"/>
                </a:solidFill>
                <a:latin typeface="Ember Modern Display Standard"/>
              </a:rPr>
              <a:t>    </a:t>
            </a:r>
            <a:r>
              <a:rPr sz="850" b="1">
                <a:solidFill>
                  <a:srgbClr val="FF6200"/>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r>
              <a:rPr sz="850" b="0">
                <a:solidFill>
                  <a:srgbClr val="161D26"/>
                </a:solidFill>
                <a:latin typeface="Ember Modern Display Standard"/>
              </a:rPr>
              <a:t>    </a:t>
            </a:r>
            <a:r>
              <a:rPr sz="850" b="0">
                <a:solidFill>
                  <a:srgbClr val="B8C0CC"/>
                </a:solidFill>
                <a:latin typeface="Ember Modern Display Standard"/>
              </a:rPr>
              <a:t>05 Ahead</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Invent and Simplify</a:t>
            </a:r>
          </a:p>
        </p:txBody>
      </p:sp>
      <p:sp>
        <p:nvSpPr>
          <p:cNvPr id="269" name="Rounded Rectangle 268"/>
          <p:cNvSpPr/>
          <p:nvPr/>
        </p:nvSpPr>
        <p:spPr>
          <a:xfrm>
            <a:off x="640080" y="1371600"/>
            <a:ext cx="7863840" cy="585216"/>
          </a:xfrm>
          <a:prstGeom prst="roundRect">
            <a:avLst>
              <a:gd name="adj" fmla="val 15625"/>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640080" y="1371600"/>
            <a:ext cx="7863840" cy="585216"/>
          </a:xfrm>
          <a:prstGeom prst="rect">
            <a:avLst/>
          </a:prstGeom>
          <a:noFill/>
        </p:spPr>
        <p:txBody>
          <a:bodyPr wrap="square" lIns="0" rIns="0" tIns="0" bIns="0" anchor="ctr">
            <a:spAutoFit/>
          </a:bodyPr>
          <a:lstStyle/>
          <a:p>
            <a:pPr algn="ctr"/>
            <a:r>
              <a:rPr sz="1400" b="0">
                <a:solidFill>
                  <a:srgbClr val="161D26"/>
                </a:solidFill>
                <a:latin typeface="Ember Modern Display Standard"/>
              </a:rPr>
              <a:t>Every possible pair  ·  </a:t>
            </a:r>
            <a:r>
              <a:rPr sz="1400" b="1">
                <a:solidFill>
                  <a:srgbClr val="161D26"/>
                </a:solidFill>
                <a:latin typeface="Ember Modern Display Standard"/>
              </a:rPr>
              <a:t>17 trillion</a:t>
            </a:r>
          </a:p>
        </p:txBody>
      </p:sp>
      <p:sp>
        <p:nvSpPr>
          <p:cNvPr id="271" name="Rounded Rectangle 270"/>
          <p:cNvSpPr/>
          <p:nvPr/>
        </p:nvSpPr>
        <p:spPr>
          <a:xfrm>
            <a:off x="2011680" y="2103120"/>
            <a:ext cx="5120640" cy="585216"/>
          </a:xfrm>
          <a:prstGeom prst="roundRect">
            <a:avLst>
              <a:gd name="adj" fmla="val 15625"/>
            </a:avLst>
          </a:prstGeom>
          <a:solidFill>
            <a:srgbClr val="C2C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TextBox 271"/>
          <p:cNvSpPr txBox="1"/>
          <p:nvPr/>
        </p:nvSpPr>
        <p:spPr>
          <a:xfrm>
            <a:off x="2011680" y="2103120"/>
            <a:ext cx="5120640" cy="585216"/>
          </a:xfrm>
          <a:prstGeom prst="rect">
            <a:avLst/>
          </a:prstGeom>
          <a:noFill/>
        </p:spPr>
        <p:txBody>
          <a:bodyPr wrap="square" lIns="0" rIns="0" tIns="0" bIns="0" anchor="ctr">
            <a:spAutoFit/>
          </a:bodyPr>
          <a:lstStyle/>
          <a:p>
            <a:pPr algn="ctr"/>
            <a:r>
              <a:rPr sz="1400" b="0">
                <a:solidFill>
                  <a:srgbClr val="161D26"/>
                </a:solidFill>
                <a:latin typeface="Ember Modern Display Standard"/>
              </a:rPr>
              <a:t>Retrieval  ·  </a:t>
            </a:r>
            <a:r>
              <a:rPr sz="1400" b="1">
                <a:solidFill>
                  <a:srgbClr val="161D26"/>
                </a:solidFill>
                <a:latin typeface="Ember Modern Display Standard"/>
              </a:rPr>
              <a:t>58.4M pairs</a:t>
            </a:r>
            <a:r>
              <a:rPr sz="1400" b="0">
                <a:solidFill>
                  <a:srgbClr val="161D26"/>
                </a:solidFill>
                <a:latin typeface="Ember Modern Display Standard"/>
              </a:rPr>
              <a:t>  ·  99.1% of matches kept</a:t>
            </a:r>
          </a:p>
        </p:txBody>
      </p:sp>
      <p:sp>
        <p:nvSpPr>
          <p:cNvPr id="273" name="Rounded Rectangle 272"/>
          <p:cNvSpPr/>
          <p:nvPr/>
        </p:nvSpPr>
        <p:spPr>
          <a:xfrm>
            <a:off x="3337560" y="2834640"/>
            <a:ext cx="2468880" cy="585216"/>
          </a:xfrm>
          <a:prstGeom prst="roundRect">
            <a:avLst>
              <a:gd name="adj" fmla="val 15625"/>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TextBox 273"/>
          <p:cNvSpPr txBox="1"/>
          <p:nvPr/>
        </p:nvSpPr>
        <p:spPr>
          <a:xfrm>
            <a:off x="3337560" y="2834640"/>
            <a:ext cx="2468880" cy="585216"/>
          </a:xfrm>
          <a:prstGeom prst="rect">
            <a:avLst/>
          </a:prstGeom>
          <a:noFill/>
        </p:spPr>
        <p:txBody>
          <a:bodyPr wrap="square" lIns="0" rIns="0" tIns="0" bIns="0" anchor="ctr">
            <a:spAutoFit/>
          </a:bodyPr>
          <a:lstStyle/>
          <a:p>
            <a:pPr algn="ctr"/>
            <a:r>
              <a:rPr sz="2000" b="1">
                <a:solidFill>
                  <a:srgbClr val="FF6200"/>
                </a:solidFill>
                <a:latin typeface="Ember Modern Display Standard"/>
              </a:rPr>
              <a:t>3.7</a:t>
            </a:r>
            <a:r>
              <a:rPr sz="1400" b="1">
                <a:solidFill>
                  <a:srgbClr val="FFFFFF"/>
                </a:solidFill>
                <a:latin typeface="Ember Modern Display Standard"/>
              </a:rPr>
              <a:t>  per entity</a:t>
            </a:r>
          </a:p>
        </p:txBody>
      </p:sp>
      <p:sp>
        <p:nvSpPr>
          <p:cNvPr id="275" name="TextBox 274"/>
          <p:cNvSpPr txBox="1"/>
          <p:nvPr/>
        </p:nvSpPr>
        <p:spPr>
          <a:xfrm>
            <a:off x="5943600" y="2926080"/>
            <a:ext cx="2743200" cy="457200"/>
          </a:xfrm>
          <a:prstGeom prst="rect">
            <a:avLst/>
          </a:prstGeom>
          <a:noFill/>
        </p:spPr>
        <p:txBody>
          <a:bodyPr wrap="square" lIns="0" rIns="0" tIns="0" bIns="0" anchor="t">
            <a:spAutoFit/>
          </a:bodyPr>
          <a:lstStyle/>
          <a:p>
            <a:pPr algn="l"/>
            <a:r>
              <a:rPr sz="1300" b="0">
                <a:solidFill>
                  <a:srgbClr val="161D26"/>
                </a:solidFill>
                <a:latin typeface="Ember Modern Display Standard"/>
              </a:rPr>
              <a:t>6.4M pairs  ·  </a:t>
            </a:r>
            <a:r>
              <a:rPr sz="1300" b="1">
                <a:solidFill>
                  <a:srgbClr val="161D26"/>
                </a:solidFill>
                <a:latin typeface="Ember Modern Display Standard"/>
              </a:rPr>
              <a:t>98.4% kept</a:t>
            </a:r>
          </a:p>
        </p:txBody>
      </p:sp>
      <p:sp>
        <p:nvSpPr>
          <p:cNvPr id="276" name="TextBox 275"/>
          <p:cNvSpPr txBox="1"/>
          <p:nvPr/>
        </p:nvSpPr>
        <p:spPr>
          <a:xfrm>
            <a:off x="502920" y="3639312"/>
            <a:ext cx="2743200" cy="274320"/>
          </a:xfrm>
          <a:prstGeom prst="rect">
            <a:avLst/>
          </a:prstGeom>
          <a:noFill/>
        </p:spPr>
        <p:txBody>
          <a:bodyPr wrap="square" lIns="0" rIns="0" tIns="0" bIns="0" anchor="t">
            <a:spAutoFit/>
          </a:bodyPr>
          <a:lstStyle/>
          <a:p>
            <a:pPr algn="l"/>
            <a:r>
              <a:rPr sz="1000" b="1">
                <a:solidFill>
                  <a:srgbClr val="FF6200"/>
                </a:solidFill>
                <a:latin typeface="Ember Modern Display Standard"/>
              </a:rPr>
              <a:t>HOW WE SEARCH</a:t>
            </a:r>
          </a:p>
        </p:txBody>
      </p:sp>
      <p:sp>
        <p:nvSpPr>
          <p:cNvPr id="277" name="Rounded Rectangle 276"/>
          <p:cNvSpPr/>
          <p:nvPr/>
        </p:nvSpPr>
        <p:spPr>
          <a:xfrm>
            <a:off x="502920" y="3913632"/>
            <a:ext cx="1965960" cy="402336"/>
          </a:xfrm>
          <a:prstGeom prst="roundRect">
            <a:avLst>
              <a:gd name="adj" fmla="val 50000"/>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0">
                <a:solidFill>
                  <a:srgbClr val="161D26"/>
                </a:solidFill>
                <a:latin typeface="Ember Modern Display Standard"/>
              </a:rPr>
              <a:t>Each country separately</a:t>
            </a:r>
          </a:p>
        </p:txBody>
      </p:sp>
      <p:sp>
        <p:nvSpPr>
          <p:cNvPr id="278" name="Rounded Rectangle 277"/>
          <p:cNvSpPr/>
          <p:nvPr/>
        </p:nvSpPr>
        <p:spPr>
          <a:xfrm>
            <a:off x="2560320" y="3913632"/>
            <a:ext cx="1965960" cy="402336"/>
          </a:xfrm>
          <a:prstGeom prst="roundRect">
            <a:avLst>
              <a:gd name="adj" fmla="val 50000"/>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0">
                <a:solidFill>
                  <a:srgbClr val="161D26"/>
                </a:solidFill>
                <a:latin typeface="Ember Modern Display Standard"/>
              </a:rPr>
              <a:t>Name + address words</a:t>
            </a:r>
          </a:p>
        </p:txBody>
      </p:sp>
      <p:sp>
        <p:nvSpPr>
          <p:cNvPr id="279" name="Rounded Rectangle 278"/>
          <p:cNvSpPr/>
          <p:nvPr/>
        </p:nvSpPr>
        <p:spPr>
          <a:xfrm>
            <a:off x="4617720" y="3913632"/>
            <a:ext cx="1965960" cy="402336"/>
          </a:xfrm>
          <a:prstGeom prst="roundRect">
            <a:avLst>
              <a:gd name="adj" fmla="val 50000"/>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0">
                <a:solidFill>
                  <a:srgbClr val="161D26"/>
                </a:solidFill>
                <a:latin typeface="Ember Modern Display Standard"/>
              </a:rPr>
              <a:t>Name only, if no address</a:t>
            </a:r>
          </a:p>
        </p:txBody>
      </p:sp>
      <p:sp>
        <p:nvSpPr>
          <p:cNvPr id="280" name="Rounded Rectangle 279"/>
          <p:cNvSpPr/>
          <p:nvPr/>
        </p:nvSpPr>
        <p:spPr>
          <a:xfrm>
            <a:off x="6675120" y="3913632"/>
            <a:ext cx="1965960" cy="402336"/>
          </a:xfrm>
          <a:prstGeom prst="roundRect">
            <a:avLst>
              <a:gd name="adj" fmla="val 50000"/>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0">
                <a:solidFill>
                  <a:srgbClr val="161D26"/>
                </a:solidFill>
                <a:latin typeface="Ember Modern Display Standard"/>
              </a:rPr>
              <a:t>Repair spellings first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fade">
                                      <p:cBhvr>
                                        <p:cTn id="6" dur="45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childTnLst>
                          </p:cTn>
                        </p:par>
                        <p:par>
                          <p:cTn id="17" fill="hold">
                            <p:stCondLst>
                              <p:cond delay="450"/>
                            </p:stCondLst>
                            <p:childTnLst>
                              <p:par>
                                <p:cTn id="11" presetID="10" presetClass="entr" presetSubtype="0" fill="hold" grpId="0" nodeType="afterEffect">
                                  <p:stCondLst>
                                    <p:cond delay="0"/>
                                  </p:stCondLst>
                                  <p:childTnLst>
                                    <p:set>
                                      <p:cBhvr>
                                        <p:cTn id="12" dur="1" fill="hold">
                                          <p:stCondLst>
                                            <p:cond delay="0"/>
                                          </p:stCondLst>
                                        </p:cTn>
                                        <p:tgtEl>
                                          <p:spTgt spid="271"/>
                                        </p:tgtEl>
                                        <p:attrNameLst>
                                          <p:attrName>style.visibility</p:attrName>
                                        </p:attrNameLst>
                                      </p:cBhvr>
                                      <p:to>
                                        <p:strVal val="visible"/>
                                      </p:to>
                                    </p:set>
                                    <p:animEffect transition="in" filter="fade">
                                      <p:cBhvr>
                                        <p:cTn id="13" dur="450"/>
                                        <p:tgtEl>
                                          <p:spTgt spid="27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2"/>
                                        </p:tgtEl>
                                        <p:attrNameLst>
                                          <p:attrName>style.visibility</p:attrName>
                                        </p:attrNameLst>
                                      </p:cBhvr>
                                      <p:to>
                                        <p:strVal val="visible"/>
                                      </p:to>
                                    </p:set>
                                    <p:animEffect transition="in" filter="fade">
                                      <p:cBhvr>
                                        <p:cTn id="16" dur="450"/>
                                        <p:tgtEl>
                                          <p:spTgt spid="272"/>
                                        </p:tgtEl>
                                      </p:cBhvr>
                                    </p:animEffect>
                                  </p:childTnLst>
                                </p:cTn>
                              </p:par>
                            </p:childTnLst>
                          </p:cTn>
                        </p:par>
                        <p:par>
                          <p:cTn id="27" fill="hold">
                            <p:stCondLst>
                              <p:cond delay="900"/>
                            </p:stCondLst>
                            <p:childTnLst>
                              <p:par>
                                <p:cTn id="18" presetID="10" presetClass="entr" presetSubtype="0" fill="hold" grpId="0" nodeType="afterEffect">
                                  <p:stCondLst>
                                    <p:cond delay="0"/>
                                  </p:stCondLst>
                                  <p:childTnLst>
                                    <p:set>
                                      <p:cBhvr>
                                        <p:cTn id="19" dur="1" fill="hold">
                                          <p:stCondLst>
                                            <p:cond delay="0"/>
                                          </p:stCondLst>
                                        </p:cTn>
                                        <p:tgtEl>
                                          <p:spTgt spid="273"/>
                                        </p:tgtEl>
                                        <p:attrNameLst>
                                          <p:attrName>style.visibility</p:attrName>
                                        </p:attrNameLst>
                                      </p:cBhvr>
                                      <p:to>
                                        <p:strVal val="visible"/>
                                      </p:to>
                                    </p:set>
                                    <p:animEffect transition="in" filter="fade">
                                      <p:cBhvr>
                                        <p:cTn id="20" dur="450"/>
                                        <p:tgtEl>
                                          <p:spTgt spid="27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4"/>
                                        </p:tgtEl>
                                        <p:attrNameLst>
                                          <p:attrName>style.visibility</p:attrName>
                                        </p:attrNameLst>
                                      </p:cBhvr>
                                      <p:to>
                                        <p:strVal val="visible"/>
                                      </p:to>
                                    </p:set>
                                    <p:animEffect transition="in" filter="fade">
                                      <p:cBhvr>
                                        <p:cTn id="23" dur="450"/>
                                        <p:tgtEl>
                                          <p:spTgt spid="27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5"/>
                                        </p:tgtEl>
                                        <p:attrNameLst>
                                          <p:attrName>style.visibility</p:attrName>
                                        </p:attrNameLst>
                                      </p:cBhvr>
                                      <p:to>
                                        <p:strVal val="visible"/>
                                      </p:to>
                                    </p:set>
                                    <p:animEffect transition="in" filter="fade">
                                      <p:cBhvr>
                                        <p:cTn id="26" dur="450"/>
                                        <p:tgtEl>
                                          <p:spTgt spid="275"/>
                                        </p:tgtEl>
                                      </p:cBhvr>
                                    </p:animEffect>
                                  </p:childTnLst>
                                </p:cTn>
                              </p:par>
                            </p:childTnLst>
                          </p:cTn>
                        </p:par>
                        <p:par>
                          <p:cTn id="43" fill="hold">
                            <p:stCondLst>
                              <p:cond delay="1350"/>
                            </p:stCondLst>
                            <p:childTnLst>
                              <p:par>
                                <p:cTn id="28" presetID="10" presetClass="entr" presetSubtype="0" fill="hold" grpId="0" nodeType="afterEffect">
                                  <p:stCondLst>
                                    <p:cond delay="0"/>
                                  </p:stCondLst>
                                  <p:childTnLst>
                                    <p:set>
                                      <p:cBhvr>
                                        <p:cTn id="29" dur="1" fill="hold">
                                          <p:stCondLst>
                                            <p:cond delay="0"/>
                                          </p:stCondLst>
                                        </p:cTn>
                                        <p:tgtEl>
                                          <p:spTgt spid="276"/>
                                        </p:tgtEl>
                                        <p:attrNameLst>
                                          <p:attrName>style.visibility</p:attrName>
                                        </p:attrNameLst>
                                      </p:cBhvr>
                                      <p:to>
                                        <p:strVal val="visible"/>
                                      </p:to>
                                    </p:set>
                                    <p:animEffect transition="in" filter="fade">
                                      <p:cBhvr>
                                        <p:cTn id="30" dur="450"/>
                                        <p:tgtEl>
                                          <p:spTgt spid="27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77"/>
                                        </p:tgtEl>
                                        <p:attrNameLst>
                                          <p:attrName>style.visibility</p:attrName>
                                        </p:attrNameLst>
                                      </p:cBhvr>
                                      <p:to>
                                        <p:strVal val="visible"/>
                                      </p:to>
                                    </p:set>
                                    <p:animEffect transition="in" filter="fade">
                                      <p:cBhvr>
                                        <p:cTn id="33" dur="450"/>
                                        <p:tgtEl>
                                          <p:spTgt spid="27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78"/>
                                        </p:tgtEl>
                                        <p:attrNameLst>
                                          <p:attrName>style.visibility</p:attrName>
                                        </p:attrNameLst>
                                      </p:cBhvr>
                                      <p:to>
                                        <p:strVal val="visible"/>
                                      </p:to>
                                    </p:set>
                                    <p:animEffect transition="in" filter="fade">
                                      <p:cBhvr>
                                        <p:cTn id="36" dur="450"/>
                                        <p:tgtEl>
                                          <p:spTgt spid="27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79"/>
                                        </p:tgtEl>
                                        <p:attrNameLst>
                                          <p:attrName>style.visibility</p:attrName>
                                        </p:attrNameLst>
                                      </p:cBhvr>
                                      <p:to>
                                        <p:strVal val="visible"/>
                                      </p:to>
                                    </p:set>
                                    <p:animEffect transition="in" filter="fade">
                                      <p:cBhvr>
                                        <p:cTn id="39" dur="450"/>
                                        <p:tgtEl>
                                          <p:spTgt spid="27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80"/>
                                        </p:tgtEl>
                                        <p:attrNameLst>
                                          <p:attrName>style.visibility</p:attrName>
                                        </p:attrNameLst>
                                      </p:cBhvr>
                                      <p:to>
                                        <p:strVal val="visible"/>
                                      </p:to>
                                    </p:set>
                                    <p:animEffect transition="in" filter="fade">
                                      <p:cBhvr>
                                        <p:cTn id="42" dur="450"/>
                                        <p:tgtEl>
                                          <p:spTgt spid="2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9" grpId="0" animBg="1"/>
      <p:bldP spid="270" grpId="0" animBg="1"/>
      <p:bldP spid="271" grpId="0" animBg="1"/>
      <p:bldP spid="272" grpId="0" animBg="1"/>
      <p:bldP spid="273" grpId="0" animBg="1"/>
      <p:bldP spid="274" grpId="0" animBg="1"/>
      <p:bldP spid="275" grpId="0" animBg="1"/>
      <p:bldP spid="276" grpId="0" animBg="1"/>
      <p:bldP spid="277" grpId="0" animBg="1"/>
      <p:bldP spid="278" grpId="0" animBg="1"/>
      <p:bldP spid="279" grpId="0" animBg="1"/>
      <p:bldP spid="28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Our</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Architecture</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Seven steps, from raw records to final matches.</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0">
                <a:solidFill>
                  <a:srgbClr val="B8C0CC"/>
                </a:solidFill>
                <a:latin typeface="Ember Modern Display Standard"/>
              </a:rPr>
              <a:t>01 Understanding</a:t>
            </a:r>
            <a:r>
              <a:rPr sz="850" b="0">
                <a:solidFill>
                  <a:srgbClr val="161D26"/>
                </a:solidFill>
                <a:latin typeface="Ember Modern Display Standard"/>
              </a:rPr>
              <a:t>    </a:t>
            </a:r>
            <a:r>
              <a:rPr sz="850" b="1">
                <a:solidFill>
                  <a:srgbClr val="FF6200"/>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r>
              <a:rPr sz="850" b="0">
                <a:solidFill>
                  <a:srgbClr val="161D26"/>
                </a:solidFill>
                <a:latin typeface="Ember Modern Display Standard"/>
              </a:rPr>
              <a:t>    </a:t>
            </a:r>
            <a:r>
              <a:rPr sz="850" b="0">
                <a:solidFill>
                  <a:srgbClr val="B8C0CC"/>
                </a:solidFill>
                <a:latin typeface="Ember Modern Display Standard"/>
              </a:rPr>
              <a:t>05 Ahead</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Think Big</a:t>
            </a:r>
          </a:p>
        </p:txBody>
      </p:sp>
      <p:sp>
        <p:nvSpPr>
          <p:cNvPr id="269" name="Rounded Rectangle 268"/>
          <p:cNvSpPr/>
          <p:nvPr/>
        </p:nvSpPr>
        <p:spPr>
          <a:xfrm>
            <a:off x="502920" y="1508760"/>
            <a:ext cx="1024128" cy="822960"/>
          </a:xfrm>
          <a:prstGeom prst="roundRect">
            <a:avLst>
              <a:gd name="adj" fmla="val 8888"/>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161D26"/>
                </a:solidFill>
                <a:latin typeface="Ember Modern Display Standard"/>
              </a:rPr>
              <a:t>Clean</a:t>
            </a:r>
          </a:p>
        </p:txBody>
      </p:sp>
      <p:sp>
        <p:nvSpPr>
          <p:cNvPr id="270" name="TextBox 269"/>
          <p:cNvSpPr txBox="1"/>
          <p:nvPr/>
        </p:nvSpPr>
        <p:spPr>
          <a:xfrm>
            <a:off x="466344" y="2487168"/>
            <a:ext cx="1097280" cy="1188720"/>
          </a:xfrm>
          <a:prstGeom prst="rect">
            <a:avLst/>
          </a:prstGeom>
          <a:noFill/>
        </p:spPr>
        <p:txBody>
          <a:bodyPr wrap="square" lIns="0" rIns="0" tIns="0" bIns="0" anchor="t">
            <a:spAutoFit/>
          </a:bodyPr>
          <a:lstStyle/>
          <a:p>
            <a:pPr algn="ctr"/>
            <a:r>
              <a:rPr sz="1200" b="0">
                <a:solidFill>
                  <a:srgbClr val="161D26"/>
                </a:solidFill>
                <a:latin typeface="Ember Modern Display Standard"/>
              </a:rPr>
              <a:t>fix spellings, OCR digits and web names</a:t>
            </a:r>
          </a:p>
        </p:txBody>
      </p:sp>
      <p:sp>
        <p:nvSpPr>
          <p:cNvPr id="271" name="Chevron 270"/>
          <p:cNvSpPr/>
          <p:nvPr/>
        </p:nvSpPr>
        <p:spPr>
          <a:xfrm>
            <a:off x="1540764" y="1856231"/>
            <a:ext cx="128016" cy="128016"/>
          </a:xfrm>
          <a:prstGeom prst="chevron">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ounded Rectangle 271"/>
          <p:cNvSpPr/>
          <p:nvPr/>
        </p:nvSpPr>
        <p:spPr>
          <a:xfrm>
            <a:off x="1682496" y="1508760"/>
            <a:ext cx="1024128" cy="822960"/>
          </a:xfrm>
          <a:prstGeom prst="roundRect">
            <a:avLst>
              <a:gd name="adj" fmla="val 8888"/>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161D26"/>
                </a:solidFill>
                <a:latin typeface="Ember Modern Display Standard"/>
              </a:rPr>
              <a:t>Retrieve</a:t>
            </a:r>
          </a:p>
        </p:txBody>
      </p:sp>
      <p:sp>
        <p:nvSpPr>
          <p:cNvPr id="273" name="TextBox 272"/>
          <p:cNvSpPr txBox="1"/>
          <p:nvPr/>
        </p:nvSpPr>
        <p:spPr>
          <a:xfrm>
            <a:off x="1645920" y="2487168"/>
            <a:ext cx="1097280" cy="1188720"/>
          </a:xfrm>
          <a:prstGeom prst="rect">
            <a:avLst/>
          </a:prstGeom>
          <a:noFill/>
        </p:spPr>
        <p:txBody>
          <a:bodyPr wrap="square" lIns="0" rIns="0" tIns="0" bIns="0" anchor="t">
            <a:spAutoFit/>
          </a:bodyPr>
          <a:lstStyle/>
          <a:p>
            <a:pPr algn="ctr"/>
            <a:r>
              <a:rPr sz="1200" b="0">
                <a:solidFill>
                  <a:srgbClr val="161D26"/>
                </a:solidFill>
                <a:latin typeface="Ember Modern Display Standard"/>
              </a:rPr>
              <a:t>search name and address words, per country</a:t>
            </a:r>
          </a:p>
        </p:txBody>
      </p:sp>
      <p:sp>
        <p:nvSpPr>
          <p:cNvPr id="274" name="Chevron 273"/>
          <p:cNvSpPr/>
          <p:nvPr/>
        </p:nvSpPr>
        <p:spPr>
          <a:xfrm>
            <a:off x="2720340" y="1856231"/>
            <a:ext cx="128016" cy="128016"/>
          </a:xfrm>
          <a:prstGeom prst="chevron">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Rounded Rectangle 274"/>
          <p:cNvSpPr/>
          <p:nvPr/>
        </p:nvSpPr>
        <p:spPr>
          <a:xfrm>
            <a:off x="2862072" y="1508760"/>
            <a:ext cx="1024128" cy="822960"/>
          </a:xfrm>
          <a:prstGeom prst="roundRect">
            <a:avLst>
              <a:gd name="adj" fmla="val 8888"/>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FFFFFF"/>
                </a:solidFill>
                <a:latin typeface="Ember Modern Display Standard"/>
              </a:rPr>
              <a:t>Score</a:t>
            </a:r>
          </a:p>
        </p:txBody>
      </p:sp>
      <p:sp>
        <p:nvSpPr>
          <p:cNvPr id="276" name="TextBox 275"/>
          <p:cNvSpPr txBox="1"/>
          <p:nvPr/>
        </p:nvSpPr>
        <p:spPr>
          <a:xfrm>
            <a:off x="2825496" y="2487168"/>
            <a:ext cx="1097280" cy="1188720"/>
          </a:xfrm>
          <a:prstGeom prst="rect">
            <a:avLst/>
          </a:prstGeom>
          <a:noFill/>
        </p:spPr>
        <p:txBody>
          <a:bodyPr wrap="square" lIns="0" rIns="0" tIns="0" bIns="0" anchor="t">
            <a:spAutoFit/>
          </a:bodyPr>
          <a:lstStyle/>
          <a:p>
            <a:pPr algn="ctr"/>
            <a:r>
              <a:rPr sz="1200" b="0">
                <a:solidFill>
                  <a:srgbClr val="161D26"/>
                </a:solidFill>
                <a:latin typeface="Ember Modern Display Standard"/>
              </a:rPr>
              <a:t>XGBoost on name, address, number and rival features</a:t>
            </a:r>
          </a:p>
        </p:txBody>
      </p:sp>
      <p:sp>
        <p:nvSpPr>
          <p:cNvPr id="277" name="Chevron 276"/>
          <p:cNvSpPr/>
          <p:nvPr/>
        </p:nvSpPr>
        <p:spPr>
          <a:xfrm>
            <a:off x="3899915" y="1856231"/>
            <a:ext cx="128016" cy="128016"/>
          </a:xfrm>
          <a:prstGeom prst="chevron">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Rounded Rectangle 277"/>
          <p:cNvSpPr/>
          <p:nvPr/>
        </p:nvSpPr>
        <p:spPr>
          <a:xfrm>
            <a:off x="4041648" y="1508760"/>
            <a:ext cx="1024128" cy="822960"/>
          </a:xfrm>
          <a:prstGeom prst="roundRect">
            <a:avLst>
              <a:gd name="adj" fmla="val 8888"/>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FFFFFF"/>
                </a:solidFill>
                <a:latin typeface="Ember Modern Display Standard"/>
              </a:rPr>
              <a:t>Re-read</a:t>
            </a:r>
          </a:p>
        </p:txBody>
      </p:sp>
      <p:sp>
        <p:nvSpPr>
          <p:cNvPr id="279" name="TextBox 278"/>
          <p:cNvSpPr txBox="1"/>
          <p:nvPr/>
        </p:nvSpPr>
        <p:spPr>
          <a:xfrm>
            <a:off x="4005072" y="2487168"/>
            <a:ext cx="1097280" cy="1188720"/>
          </a:xfrm>
          <a:prstGeom prst="rect">
            <a:avLst/>
          </a:prstGeom>
          <a:noFill/>
        </p:spPr>
        <p:txBody>
          <a:bodyPr wrap="square" lIns="0" rIns="0" tIns="0" bIns="0" anchor="t">
            <a:spAutoFit/>
          </a:bodyPr>
          <a:lstStyle/>
          <a:p>
            <a:pPr algn="ctr"/>
            <a:r>
              <a:rPr sz="1200" b="0">
                <a:solidFill>
                  <a:srgbClr val="161D26"/>
                </a:solidFill>
                <a:latin typeface="Ember Modern Display Standard"/>
              </a:rPr>
              <a:t>transformers read the unsure 2.6%</a:t>
            </a:r>
          </a:p>
        </p:txBody>
      </p:sp>
      <p:sp>
        <p:nvSpPr>
          <p:cNvPr id="280" name="Chevron 279"/>
          <p:cNvSpPr/>
          <p:nvPr/>
        </p:nvSpPr>
        <p:spPr>
          <a:xfrm>
            <a:off x="5079492" y="1856231"/>
            <a:ext cx="128016" cy="128016"/>
          </a:xfrm>
          <a:prstGeom prst="chevron">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Rounded Rectangle 280"/>
          <p:cNvSpPr/>
          <p:nvPr/>
        </p:nvSpPr>
        <p:spPr>
          <a:xfrm>
            <a:off x="5221224" y="1508760"/>
            <a:ext cx="1024128" cy="822960"/>
          </a:xfrm>
          <a:prstGeom prst="roundRect">
            <a:avLst>
              <a:gd name="adj" fmla="val 8888"/>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FFFFFF"/>
                </a:solidFill>
                <a:latin typeface="Ember Modern Display Standard"/>
              </a:rPr>
              <a:t>Rescore</a:t>
            </a:r>
          </a:p>
        </p:txBody>
      </p:sp>
      <p:sp>
        <p:nvSpPr>
          <p:cNvPr id="282" name="TextBox 281"/>
          <p:cNvSpPr txBox="1"/>
          <p:nvPr/>
        </p:nvSpPr>
        <p:spPr>
          <a:xfrm>
            <a:off x="5184648" y="2487168"/>
            <a:ext cx="1097280" cy="1188720"/>
          </a:xfrm>
          <a:prstGeom prst="rect">
            <a:avLst/>
          </a:prstGeom>
          <a:noFill/>
        </p:spPr>
        <p:txBody>
          <a:bodyPr wrap="square" lIns="0" rIns="0" tIns="0" bIns="0" anchor="t">
            <a:spAutoFit/>
          </a:bodyPr>
          <a:lstStyle/>
          <a:p>
            <a:pPr algn="ctr"/>
            <a:r>
              <a:rPr sz="1200" b="0">
                <a:solidFill>
                  <a:srgbClr val="161D26"/>
                </a:solidFill>
                <a:latin typeface="Ember Modern Display Standard"/>
              </a:rPr>
              <a:t>XGBoost adds their votes; calibrated</a:t>
            </a:r>
          </a:p>
        </p:txBody>
      </p:sp>
      <p:sp>
        <p:nvSpPr>
          <p:cNvPr id="283" name="Chevron 282"/>
          <p:cNvSpPr/>
          <p:nvPr/>
        </p:nvSpPr>
        <p:spPr>
          <a:xfrm>
            <a:off x="6259068" y="1856231"/>
            <a:ext cx="128016" cy="128016"/>
          </a:xfrm>
          <a:prstGeom prst="chevron">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Rounded Rectangle 283"/>
          <p:cNvSpPr/>
          <p:nvPr/>
        </p:nvSpPr>
        <p:spPr>
          <a:xfrm>
            <a:off x="6400800" y="1508760"/>
            <a:ext cx="1024128" cy="822960"/>
          </a:xfrm>
          <a:prstGeom prst="roundRect">
            <a:avLst>
              <a:gd name="adj" fmla="val 8888"/>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FFFFFF"/>
                </a:solidFill>
                <a:latin typeface="Ember Modern Display Standard"/>
              </a:rPr>
              <a:t>Decide</a:t>
            </a:r>
          </a:p>
        </p:txBody>
      </p:sp>
      <p:sp>
        <p:nvSpPr>
          <p:cNvPr id="285" name="TextBox 284"/>
          <p:cNvSpPr txBox="1"/>
          <p:nvPr/>
        </p:nvSpPr>
        <p:spPr>
          <a:xfrm>
            <a:off x="6364224" y="2487168"/>
            <a:ext cx="1097280" cy="1188720"/>
          </a:xfrm>
          <a:prstGeom prst="rect">
            <a:avLst/>
          </a:prstGeom>
          <a:noFill/>
        </p:spPr>
        <p:txBody>
          <a:bodyPr wrap="square" lIns="0" rIns="0" tIns="0" bIns="0" anchor="t">
            <a:spAutoFit/>
          </a:bodyPr>
          <a:lstStyle/>
          <a:p>
            <a:pPr algn="ctr"/>
            <a:r>
              <a:rPr sz="1200" b="0">
                <a:solidFill>
                  <a:srgbClr val="161D26"/>
                </a:solidFill>
                <a:latin typeface="Ember Modern Display Standard"/>
              </a:rPr>
              <a:t>best set per entity; one owner per record</a:t>
            </a:r>
          </a:p>
        </p:txBody>
      </p:sp>
      <p:sp>
        <p:nvSpPr>
          <p:cNvPr id="286" name="Chevron 285"/>
          <p:cNvSpPr/>
          <p:nvPr/>
        </p:nvSpPr>
        <p:spPr>
          <a:xfrm>
            <a:off x="7438644" y="1856231"/>
            <a:ext cx="128016" cy="128016"/>
          </a:xfrm>
          <a:prstGeom prst="chevron">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Rounded Rectangle 286"/>
          <p:cNvSpPr/>
          <p:nvPr/>
        </p:nvSpPr>
        <p:spPr>
          <a:xfrm>
            <a:off x="7580376" y="1508760"/>
            <a:ext cx="1024128" cy="822960"/>
          </a:xfrm>
          <a:prstGeom prst="roundRect">
            <a:avLst>
              <a:gd name="adj" fmla="val 8888"/>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FFFFFF"/>
                </a:solidFill>
                <a:latin typeface="Ember Modern Display Standard"/>
              </a:rPr>
              <a:t>Check</a:t>
            </a:r>
          </a:p>
        </p:txBody>
      </p:sp>
      <p:sp>
        <p:nvSpPr>
          <p:cNvPr id="288" name="TextBox 287"/>
          <p:cNvSpPr txBox="1"/>
          <p:nvPr/>
        </p:nvSpPr>
        <p:spPr>
          <a:xfrm>
            <a:off x="7543800" y="2487168"/>
            <a:ext cx="1097280" cy="1188720"/>
          </a:xfrm>
          <a:prstGeom prst="rect">
            <a:avLst/>
          </a:prstGeom>
          <a:noFill/>
        </p:spPr>
        <p:txBody>
          <a:bodyPr wrap="square" lIns="0" rIns="0" tIns="0" bIns="0" anchor="t">
            <a:spAutoFit/>
          </a:bodyPr>
          <a:lstStyle/>
          <a:p>
            <a:pPr algn="ctr"/>
            <a:r>
              <a:rPr sz="1200" b="0">
                <a:solidFill>
                  <a:srgbClr val="161D26"/>
                </a:solidFill>
                <a:latin typeface="Ember Modern Display Standard"/>
              </a:rPr>
              <a:t>rules for known decoys; a 7B model re-checks</a:t>
            </a:r>
          </a:p>
        </p:txBody>
      </p:sp>
      <p:sp>
        <p:nvSpPr>
          <p:cNvPr id="289" name="Rounded Rectangle 288"/>
          <p:cNvSpPr/>
          <p:nvPr/>
        </p:nvSpPr>
        <p:spPr>
          <a:xfrm>
            <a:off x="502920" y="4005072"/>
            <a:ext cx="201168" cy="201168"/>
          </a:xfrm>
          <a:prstGeom prst="roundRect">
            <a:avLst>
              <a:gd name="adj" fmla="val 18181"/>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TextBox 289"/>
          <p:cNvSpPr txBox="1"/>
          <p:nvPr/>
        </p:nvSpPr>
        <p:spPr>
          <a:xfrm>
            <a:off x="795528" y="3968496"/>
            <a:ext cx="1005840" cy="274320"/>
          </a:xfrm>
          <a:prstGeom prst="rect">
            <a:avLst/>
          </a:prstGeom>
          <a:noFill/>
        </p:spPr>
        <p:txBody>
          <a:bodyPr wrap="square" lIns="0" rIns="0" tIns="0" bIns="0" anchor="t">
            <a:spAutoFit/>
          </a:bodyPr>
          <a:lstStyle/>
          <a:p>
            <a:pPr algn="l"/>
            <a:r>
              <a:rPr sz="1200" b="0">
                <a:solidFill>
                  <a:srgbClr val="6B7280"/>
                </a:solidFill>
                <a:latin typeface="Ember Modern Display Standard"/>
              </a:rPr>
              <a:t>data</a:t>
            </a:r>
          </a:p>
        </p:txBody>
      </p:sp>
      <p:sp>
        <p:nvSpPr>
          <p:cNvPr id="291" name="Rounded Rectangle 290"/>
          <p:cNvSpPr/>
          <p:nvPr/>
        </p:nvSpPr>
        <p:spPr>
          <a:xfrm>
            <a:off x="1874519" y="4005072"/>
            <a:ext cx="201168" cy="201168"/>
          </a:xfrm>
          <a:prstGeom prst="roundRect">
            <a:avLst>
              <a:gd name="adj" fmla="val 18181"/>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2167127" y="3968496"/>
            <a:ext cx="1005840" cy="274320"/>
          </a:xfrm>
          <a:prstGeom prst="rect">
            <a:avLst/>
          </a:prstGeom>
          <a:noFill/>
        </p:spPr>
        <p:txBody>
          <a:bodyPr wrap="square" lIns="0" rIns="0" tIns="0" bIns="0" anchor="t">
            <a:spAutoFit/>
          </a:bodyPr>
          <a:lstStyle/>
          <a:p>
            <a:pPr algn="l"/>
            <a:r>
              <a:rPr sz="1200" b="0">
                <a:solidFill>
                  <a:srgbClr val="6B7280"/>
                </a:solidFill>
                <a:latin typeface="Ember Modern Display Standard"/>
              </a:rPr>
              <a:t>models</a:t>
            </a:r>
          </a:p>
        </p:txBody>
      </p:sp>
      <p:sp>
        <p:nvSpPr>
          <p:cNvPr id="293" name="Rounded Rectangle 292"/>
          <p:cNvSpPr/>
          <p:nvPr/>
        </p:nvSpPr>
        <p:spPr>
          <a:xfrm>
            <a:off x="3246120" y="4005072"/>
            <a:ext cx="201168" cy="201168"/>
          </a:xfrm>
          <a:prstGeom prst="roundRect">
            <a:avLst>
              <a:gd name="adj" fmla="val 18181"/>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TextBox 293"/>
          <p:cNvSpPr txBox="1"/>
          <p:nvPr/>
        </p:nvSpPr>
        <p:spPr>
          <a:xfrm>
            <a:off x="3538727" y="3968496"/>
            <a:ext cx="1005840" cy="274320"/>
          </a:xfrm>
          <a:prstGeom prst="rect">
            <a:avLst/>
          </a:prstGeom>
          <a:noFill/>
        </p:spPr>
        <p:txBody>
          <a:bodyPr wrap="square" lIns="0" rIns="0" tIns="0" bIns="0" anchor="t">
            <a:spAutoFit/>
          </a:bodyPr>
          <a:lstStyle/>
          <a:p>
            <a:pPr algn="l"/>
            <a:r>
              <a:rPr sz="1200" b="0">
                <a:solidFill>
                  <a:srgbClr val="6B7280"/>
                </a:solidFill>
                <a:latin typeface="Ember Modern Display Standard"/>
              </a:rPr>
              <a:t>decisions</a:t>
            </a:r>
          </a:p>
        </p:txBody>
      </p:sp>
      <p:sp>
        <p:nvSpPr>
          <p:cNvPr id="295" name="TextBox 294"/>
          <p:cNvSpPr txBox="1"/>
          <p:nvPr/>
        </p:nvSpPr>
        <p:spPr>
          <a:xfrm>
            <a:off x="4572000" y="3931920"/>
            <a:ext cx="4069080" cy="365760"/>
          </a:xfrm>
          <a:prstGeom prst="rect">
            <a:avLst/>
          </a:prstGeom>
          <a:noFill/>
        </p:spPr>
        <p:txBody>
          <a:bodyPr wrap="square" lIns="0" rIns="0" tIns="0" bIns="0" anchor="t">
            <a:spAutoFit/>
          </a:bodyPr>
          <a:lstStyle/>
          <a:p>
            <a:pPr algn="r"/>
            <a:r>
              <a:rPr sz="1200" b="0">
                <a:solidFill>
                  <a:srgbClr val="161D26"/>
                </a:solidFill>
                <a:latin typeface="Ember Modern Display Standard"/>
              </a:rPr>
              <a:t>Cheap steps read everything; </a:t>
            </a:r>
            <a:r>
              <a:rPr sz="1200" b="1">
                <a:solidFill>
                  <a:srgbClr val="161D26"/>
                </a:solidFill>
                <a:latin typeface="Ember Modern Display Standard"/>
              </a:rPr>
              <a:t>expensive ones only what they must.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wipe(left)">
                                      <p:cBhvr>
                                        <p:cTn id="6" dur="50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271"/>
                                        </p:tgtEl>
                                        <p:attrNameLst>
                                          <p:attrName>style.visibility</p:attrName>
                                        </p:attrNameLst>
                                      </p:cBhvr>
                                      <p:to>
                                        <p:strVal val="visible"/>
                                      </p:to>
                                    </p:set>
                                    <p:animEffect transition="in" filter="fade">
                                      <p:cBhvr>
                                        <p:cTn id="12" dur="450"/>
                                        <p:tgtEl>
                                          <p:spTgt spid="271"/>
                                        </p:tgtEl>
                                      </p:cBhvr>
                                    </p:animEffect>
                                  </p:childTnLst>
                                </p:cTn>
                              </p:par>
                            </p:childTnLst>
                          </p:cTn>
                        </p:par>
                        <p:par>
                          <p:cTn id="23" fill="hold">
                            <p:stCondLst>
                              <p:cond delay="500"/>
                            </p:stCondLst>
                            <p:childTnLst>
                              <p:par>
                                <p:cTn id="14" presetID="22" presetClass="entr" presetSubtype="8" fill="hold" grpId="0" nodeType="afterEffect">
                                  <p:stCondLst>
                                    <p:cond delay="0"/>
                                  </p:stCondLst>
                                  <p:childTnLst>
                                    <p:set>
                                      <p:cBhvr>
                                        <p:cTn id="15" dur="1" fill="hold">
                                          <p:stCondLst>
                                            <p:cond delay="0"/>
                                          </p:stCondLst>
                                        </p:cTn>
                                        <p:tgtEl>
                                          <p:spTgt spid="272"/>
                                        </p:tgtEl>
                                        <p:attrNameLst>
                                          <p:attrName>style.visibility</p:attrName>
                                        </p:attrNameLst>
                                      </p:cBhvr>
                                      <p:to>
                                        <p:strVal val="visible"/>
                                      </p:to>
                                    </p:set>
                                    <p:animEffect transition="in" filter="wipe(left)">
                                      <p:cBhvr>
                                        <p:cTn id="16" dur="500"/>
                                        <p:tgtEl>
                                          <p:spTgt spid="27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73"/>
                                        </p:tgtEl>
                                        <p:attrNameLst>
                                          <p:attrName>style.visibility</p:attrName>
                                        </p:attrNameLst>
                                      </p:cBhvr>
                                      <p:to>
                                        <p:strVal val="visible"/>
                                      </p:to>
                                    </p:set>
                                    <p:animEffect transition="in" filter="fade">
                                      <p:cBhvr>
                                        <p:cTn id="19" dur="450"/>
                                        <p:tgtEl>
                                          <p:spTgt spid="27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4"/>
                                        </p:tgtEl>
                                        <p:attrNameLst>
                                          <p:attrName>style.visibility</p:attrName>
                                        </p:attrNameLst>
                                      </p:cBhvr>
                                      <p:to>
                                        <p:strVal val="visible"/>
                                      </p:to>
                                    </p:set>
                                    <p:animEffect transition="in" filter="fade">
                                      <p:cBhvr>
                                        <p:cTn id="22" dur="450"/>
                                        <p:tgtEl>
                                          <p:spTgt spid="274"/>
                                        </p:tgtEl>
                                      </p:cBhvr>
                                    </p:animEffect>
                                  </p:childTnLst>
                                </p:cTn>
                              </p:par>
                            </p:childTnLst>
                          </p:cTn>
                        </p:par>
                        <p:par>
                          <p:cTn id="33" fill="hold">
                            <p:stCondLst>
                              <p:cond delay="1000"/>
                            </p:stCondLst>
                            <p:childTnLst>
                              <p:par>
                                <p:cTn id="24" presetID="22" presetClass="entr" presetSubtype="8" fill="hold" grpId="0" nodeType="afterEffect">
                                  <p:stCondLst>
                                    <p:cond delay="0"/>
                                  </p:stCondLst>
                                  <p:childTnLst>
                                    <p:set>
                                      <p:cBhvr>
                                        <p:cTn id="25" dur="1" fill="hold">
                                          <p:stCondLst>
                                            <p:cond delay="0"/>
                                          </p:stCondLst>
                                        </p:cTn>
                                        <p:tgtEl>
                                          <p:spTgt spid="275"/>
                                        </p:tgtEl>
                                        <p:attrNameLst>
                                          <p:attrName>style.visibility</p:attrName>
                                        </p:attrNameLst>
                                      </p:cBhvr>
                                      <p:to>
                                        <p:strVal val="visible"/>
                                      </p:to>
                                    </p:set>
                                    <p:animEffect transition="in" filter="wipe(left)">
                                      <p:cBhvr>
                                        <p:cTn id="26" dur="500"/>
                                        <p:tgtEl>
                                          <p:spTgt spid="27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6"/>
                                        </p:tgtEl>
                                        <p:attrNameLst>
                                          <p:attrName>style.visibility</p:attrName>
                                        </p:attrNameLst>
                                      </p:cBhvr>
                                      <p:to>
                                        <p:strVal val="visible"/>
                                      </p:to>
                                    </p:set>
                                    <p:animEffect transition="in" filter="fade">
                                      <p:cBhvr>
                                        <p:cTn id="29" dur="450"/>
                                        <p:tgtEl>
                                          <p:spTgt spid="27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77"/>
                                        </p:tgtEl>
                                        <p:attrNameLst>
                                          <p:attrName>style.visibility</p:attrName>
                                        </p:attrNameLst>
                                      </p:cBhvr>
                                      <p:to>
                                        <p:strVal val="visible"/>
                                      </p:to>
                                    </p:set>
                                    <p:animEffect transition="in" filter="fade">
                                      <p:cBhvr>
                                        <p:cTn id="32" dur="450"/>
                                        <p:tgtEl>
                                          <p:spTgt spid="277"/>
                                        </p:tgtEl>
                                      </p:cBhvr>
                                    </p:animEffect>
                                  </p:childTnLst>
                                </p:cTn>
                              </p:par>
                            </p:childTnLst>
                          </p:cTn>
                        </p:par>
                        <p:par>
                          <p:cTn id="43" fill="hold">
                            <p:stCondLst>
                              <p:cond delay="1500"/>
                            </p:stCondLst>
                            <p:childTnLst>
                              <p:par>
                                <p:cTn id="34" presetID="22" presetClass="entr" presetSubtype="8" fill="hold" grpId="0" nodeType="afterEffect">
                                  <p:stCondLst>
                                    <p:cond delay="0"/>
                                  </p:stCondLst>
                                  <p:childTnLst>
                                    <p:set>
                                      <p:cBhvr>
                                        <p:cTn id="35" dur="1" fill="hold">
                                          <p:stCondLst>
                                            <p:cond delay="0"/>
                                          </p:stCondLst>
                                        </p:cTn>
                                        <p:tgtEl>
                                          <p:spTgt spid="278"/>
                                        </p:tgtEl>
                                        <p:attrNameLst>
                                          <p:attrName>style.visibility</p:attrName>
                                        </p:attrNameLst>
                                      </p:cBhvr>
                                      <p:to>
                                        <p:strVal val="visible"/>
                                      </p:to>
                                    </p:set>
                                    <p:animEffect transition="in" filter="wipe(left)">
                                      <p:cBhvr>
                                        <p:cTn id="36" dur="500"/>
                                        <p:tgtEl>
                                          <p:spTgt spid="27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79"/>
                                        </p:tgtEl>
                                        <p:attrNameLst>
                                          <p:attrName>style.visibility</p:attrName>
                                        </p:attrNameLst>
                                      </p:cBhvr>
                                      <p:to>
                                        <p:strVal val="visible"/>
                                      </p:to>
                                    </p:set>
                                    <p:animEffect transition="in" filter="fade">
                                      <p:cBhvr>
                                        <p:cTn id="39" dur="450"/>
                                        <p:tgtEl>
                                          <p:spTgt spid="27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80"/>
                                        </p:tgtEl>
                                        <p:attrNameLst>
                                          <p:attrName>style.visibility</p:attrName>
                                        </p:attrNameLst>
                                      </p:cBhvr>
                                      <p:to>
                                        <p:strVal val="visible"/>
                                      </p:to>
                                    </p:set>
                                    <p:animEffect transition="in" filter="fade">
                                      <p:cBhvr>
                                        <p:cTn id="42" dur="450"/>
                                        <p:tgtEl>
                                          <p:spTgt spid="280"/>
                                        </p:tgtEl>
                                      </p:cBhvr>
                                    </p:animEffect>
                                  </p:childTnLst>
                                </p:cTn>
                              </p:par>
                            </p:childTnLst>
                          </p:cTn>
                        </p:par>
                        <p:par>
                          <p:cTn id="53" fill="hold">
                            <p:stCondLst>
                              <p:cond delay="2000"/>
                            </p:stCondLst>
                            <p:childTnLst>
                              <p:par>
                                <p:cTn id="44" presetID="22" presetClass="entr" presetSubtype="8" fill="hold" grpId="0" nodeType="afterEffect">
                                  <p:stCondLst>
                                    <p:cond delay="0"/>
                                  </p:stCondLst>
                                  <p:childTnLst>
                                    <p:set>
                                      <p:cBhvr>
                                        <p:cTn id="45" dur="1" fill="hold">
                                          <p:stCondLst>
                                            <p:cond delay="0"/>
                                          </p:stCondLst>
                                        </p:cTn>
                                        <p:tgtEl>
                                          <p:spTgt spid="281"/>
                                        </p:tgtEl>
                                        <p:attrNameLst>
                                          <p:attrName>style.visibility</p:attrName>
                                        </p:attrNameLst>
                                      </p:cBhvr>
                                      <p:to>
                                        <p:strVal val="visible"/>
                                      </p:to>
                                    </p:set>
                                    <p:animEffect transition="in" filter="wipe(left)">
                                      <p:cBhvr>
                                        <p:cTn id="46" dur="500"/>
                                        <p:tgtEl>
                                          <p:spTgt spid="28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82"/>
                                        </p:tgtEl>
                                        <p:attrNameLst>
                                          <p:attrName>style.visibility</p:attrName>
                                        </p:attrNameLst>
                                      </p:cBhvr>
                                      <p:to>
                                        <p:strVal val="visible"/>
                                      </p:to>
                                    </p:set>
                                    <p:animEffect transition="in" filter="fade">
                                      <p:cBhvr>
                                        <p:cTn id="49" dur="450"/>
                                        <p:tgtEl>
                                          <p:spTgt spid="28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83"/>
                                        </p:tgtEl>
                                        <p:attrNameLst>
                                          <p:attrName>style.visibility</p:attrName>
                                        </p:attrNameLst>
                                      </p:cBhvr>
                                      <p:to>
                                        <p:strVal val="visible"/>
                                      </p:to>
                                    </p:set>
                                    <p:animEffect transition="in" filter="fade">
                                      <p:cBhvr>
                                        <p:cTn id="52" dur="450"/>
                                        <p:tgtEl>
                                          <p:spTgt spid="283"/>
                                        </p:tgtEl>
                                      </p:cBhvr>
                                    </p:animEffect>
                                  </p:childTnLst>
                                </p:cTn>
                              </p:par>
                            </p:childTnLst>
                          </p:cTn>
                        </p:par>
                        <p:par>
                          <p:cTn id="63" fill="hold">
                            <p:stCondLst>
                              <p:cond delay="2500"/>
                            </p:stCondLst>
                            <p:childTnLst>
                              <p:par>
                                <p:cTn id="54" presetID="22" presetClass="entr" presetSubtype="8" fill="hold" grpId="0" nodeType="afterEffect">
                                  <p:stCondLst>
                                    <p:cond delay="0"/>
                                  </p:stCondLst>
                                  <p:childTnLst>
                                    <p:set>
                                      <p:cBhvr>
                                        <p:cTn id="55" dur="1" fill="hold">
                                          <p:stCondLst>
                                            <p:cond delay="0"/>
                                          </p:stCondLst>
                                        </p:cTn>
                                        <p:tgtEl>
                                          <p:spTgt spid="284"/>
                                        </p:tgtEl>
                                        <p:attrNameLst>
                                          <p:attrName>style.visibility</p:attrName>
                                        </p:attrNameLst>
                                      </p:cBhvr>
                                      <p:to>
                                        <p:strVal val="visible"/>
                                      </p:to>
                                    </p:set>
                                    <p:animEffect transition="in" filter="wipe(left)">
                                      <p:cBhvr>
                                        <p:cTn id="56" dur="500"/>
                                        <p:tgtEl>
                                          <p:spTgt spid="28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85"/>
                                        </p:tgtEl>
                                        <p:attrNameLst>
                                          <p:attrName>style.visibility</p:attrName>
                                        </p:attrNameLst>
                                      </p:cBhvr>
                                      <p:to>
                                        <p:strVal val="visible"/>
                                      </p:to>
                                    </p:set>
                                    <p:animEffect transition="in" filter="fade">
                                      <p:cBhvr>
                                        <p:cTn id="59" dur="450"/>
                                        <p:tgtEl>
                                          <p:spTgt spid="28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6"/>
                                        </p:tgtEl>
                                        <p:attrNameLst>
                                          <p:attrName>style.visibility</p:attrName>
                                        </p:attrNameLst>
                                      </p:cBhvr>
                                      <p:to>
                                        <p:strVal val="visible"/>
                                      </p:to>
                                    </p:set>
                                    <p:animEffect transition="in" filter="fade">
                                      <p:cBhvr>
                                        <p:cTn id="62" dur="450"/>
                                        <p:tgtEl>
                                          <p:spTgt spid="286"/>
                                        </p:tgtEl>
                                      </p:cBhvr>
                                    </p:animEffect>
                                  </p:childTnLst>
                                </p:cTn>
                              </p:par>
                            </p:childTnLst>
                          </p:cTn>
                        </p:par>
                        <p:par>
                          <p:cTn id="70" fill="hold">
                            <p:stCondLst>
                              <p:cond delay="3000"/>
                            </p:stCondLst>
                            <p:childTnLst>
                              <p:par>
                                <p:cTn id="64" presetID="22" presetClass="entr" presetSubtype="8" fill="hold" grpId="0" nodeType="afterEffect">
                                  <p:stCondLst>
                                    <p:cond delay="0"/>
                                  </p:stCondLst>
                                  <p:childTnLst>
                                    <p:set>
                                      <p:cBhvr>
                                        <p:cTn id="65" dur="1" fill="hold">
                                          <p:stCondLst>
                                            <p:cond delay="0"/>
                                          </p:stCondLst>
                                        </p:cTn>
                                        <p:tgtEl>
                                          <p:spTgt spid="287"/>
                                        </p:tgtEl>
                                        <p:attrNameLst>
                                          <p:attrName>style.visibility</p:attrName>
                                        </p:attrNameLst>
                                      </p:cBhvr>
                                      <p:to>
                                        <p:strVal val="visible"/>
                                      </p:to>
                                    </p:set>
                                    <p:animEffect transition="in" filter="wipe(left)">
                                      <p:cBhvr>
                                        <p:cTn id="66" dur="500"/>
                                        <p:tgtEl>
                                          <p:spTgt spid="287"/>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88"/>
                                        </p:tgtEl>
                                        <p:attrNameLst>
                                          <p:attrName>style.visibility</p:attrName>
                                        </p:attrNameLst>
                                      </p:cBhvr>
                                      <p:to>
                                        <p:strVal val="visible"/>
                                      </p:to>
                                    </p:set>
                                    <p:animEffect transition="in" filter="fade">
                                      <p:cBhvr>
                                        <p:cTn id="69" dur="450"/>
                                        <p:tgtEl>
                                          <p:spTgt spid="288"/>
                                        </p:tgtEl>
                                      </p:cBhvr>
                                    </p:animEffect>
                                  </p:childTnLst>
                                </p:cTn>
                              </p:par>
                            </p:childTnLst>
                          </p:cTn>
                        </p:par>
                        <p:par>
                          <p:cTn id="92" fill="hold">
                            <p:stCondLst>
                              <p:cond delay="3500"/>
                            </p:stCondLst>
                            <p:childTnLst>
                              <p:par>
                                <p:cTn id="71" presetID="10" presetClass="entr" presetSubtype="0" fill="hold" grpId="0" nodeType="afterEffect">
                                  <p:stCondLst>
                                    <p:cond delay="0"/>
                                  </p:stCondLst>
                                  <p:childTnLst>
                                    <p:set>
                                      <p:cBhvr>
                                        <p:cTn id="72" dur="1" fill="hold">
                                          <p:stCondLst>
                                            <p:cond delay="0"/>
                                          </p:stCondLst>
                                        </p:cTn>
                                        <p:tgtEl>
                                          <p:spTgt spid="289"/>
                                        </p:tgtEl>
                                        <p:attrNameLst>
                                          <p:attrName>style.visibility</p:attrName>
                                        </p:attrNameLst>
                                      </p:cBhvr>
                                      <p:to>
                                        <p:strVal val="visible"/>
                                      </p:to>
                                    </p:set>
                                    <p:animEffect transition="in" filter="fade">
                                      <p:cBhvr>
                                        <p:cTn id="73" dur="450"/>
                                        <p:tgtEl>
                                          <p:spTgt spid="289"/>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90"/>
                                        </p:tgtEl>
                                        <p:attrNameLst>
                                          <p:attrName>style.visibility</p:attrName>
                                        </p:attrNameLst>
                                      </p:cBhvr>
                                      <p:to>
                                        <p:strVal val="visible"/>
                                      </p:to>
                                    </p:set>
                                    <p:animEffect transition="in" filter="fade">
                                      <p:cBhvr>
                                        <p:cTn id="76" dur="450"/>
                                        <p:tgtEl>
                                          <p:spTgt spid="290"/>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91"/>
                                        </p:tgtEl>
                                        <p:attrNameLst>
                                          <p:attrName>style.visibility</p:attrName>
                                        </p:attrNameLst>
                                      </p:cBhvr>
                                      <p:to>
                                        <p:strVal val="visible"/>
                                      </p:to>
                                    </p:set>
                                    <p:animEffect transition="in" filter="fade">
                                      <p:cBhvr>
                                        <p:cTn id="79" dur="450"/>
                                        <p:tgtEl>
                                          <p:spTgt spid="291"/>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92"/>
                                        </p:tgtEl>
                                        <p:attrNameLst>
                                          <p:attrName>style.visibility</p:attrName>
                                        </p:attrNameLst>
                                      </p:cBhvr>
                                      <p:to>
                                        <p:strVal val="visible"/>
                                      </p:to>
                                    </p:set>
                                    <p:animEffect transition="in" filter="fade">
                                      <p:cBhvr>
                                        <p:cTn id="82" dur="450"/>
                                        <p:tgtEl>
                                          <p:spTgt spid="292"/>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93"/>
                                        </p:tgtEl>
                                        <p:attrNameLst>
                                          <p:attrName>style.visibility</p:attrName>
                                        </p:attrNameLst>
                                      </p:cBhvr>
                                      <p:to>
                                        <p:strVal val="visible"/>
                                      </p:to>
                                    </p:set>
                                    <p:animEffect transition="in" filter="fade">
                                      <p:cBhvr>
                                        <p:cTn id="85" dur="450"/>
                                        <p:tgtEl>
                                          <p:spTgt spid="29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94"/>
                                        </p:tgtEl>
                                        <p:attrNameLst>
                                          <p:attrName>style.visibility</p:attrName>
                                        </p:attrNameLst>
                                      </p:cBhvr>
                                      <p:to>
                                        <p:strVal val="visible"/>
                                      </p:to>
                                    </p:set>
                                    <p:animEffect transition="in" filter="fade">
                                      <p:cBhvr>
                                        <p:cTn id="88" dur="450"/>
                                        <p:tgtEl>
                                          <p:spTgt spid="29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5"/>
                                        </p:tgtEl>
                                        <p:attrNameLst>
                                          <p:attrName>style.visibility</p:attrName>
                                        </p:attrNameLst>
                                      </p:cBhvr>
                                      <p:to>
                                        <p:strVal val="visible"/>
                                      </p:to>
                                    </p:set>
                                    <p:animEffect transition="in" filter="fade">
                                      <p:cBhvr>
                                        <p:cTn id="91" dur="450"/>
                                        <p:tgtEl>
                                          <p:spTgt spid="2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9" grpId="0" animBg="1"/>
      <p:bldP spid="270" grpId="0" animBg="1"/>
      <p:bldP spid="271" grpId="0" animBg="1"/>
      <p:bldP spid="272" grpId="0" animBg="1"/>
      <p:bldP spid="273" grpId="0" animBg="1"/>
      <p:bldP spid="274" grpId="0" animBg="1"/>
      <p:bldP spid="275" grpId="0" animBg="1"/>
      <p:bldP spid="276" grpId="0" animBg="1"/>
      <p:bldP spid="277" grpId="0" animBg="1"/>
      <p:bldP spid="278" grpId="0" animBg="1"/>
      <p:bldP spid="279" grpId="0" animBg="1"/>
      <p:bldP spid="280" grpId="0" animBg="1"/>
      <p:bldP spid="281" grpId="0" animBg="1"/>
      <p:bldP spid="282" grpId="0" animBg="1"/>
      <p:bldP spid="283" grpId="0" animBg="1"/>
      <p:bldP spid="284" grpId="0" animBg="1"/>
      <p:bldP spid="285" grpId="0" animBg="1"/>
      <p:bldP spid="286" grpId="0" animBg="1"/>
      <p:bldP spid="287" grpId="0" animBg="1"/>
      <p:bldP spid="288" grpId="0" animBg="1"/>
      <p:bldP spid="289" grpId="0" animBg="1"/>
      <p:bldP spid="290" grpId="0" animBg="1"/>
      <p:bldP spid="291" grpId="0" animBg="1"/>
      <p:bldP spid="292" grpId="0" animBg="1"/>
      <p:bldP spid="293" grpId="0" animBg="1"/>
      <p:bldP spid="294" grpId="0" animBg="1"/>
      <p:bldP spid="29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How a Match Is</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Decided</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One entity, four candidates: a simple example.</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0">
                <a:solidFill>
                  <a:srgbClr val="B8C0CC"/>
                </a:solidFill>
                <a:latin typeface="Ember Modern Display Standard"/>
              </a:rPr>
              <a:t>01 Understanding</a:t>
            </a:r>
            <a:r>
              <a:rPr sz="850" b="0">
                <a:solidFill>
                  <a:srgbClr val="161D26"/>
                </a:solidFill>
                <a:latin typeface="Ember Modern Display Standard"/>
              </a:rPr>
              <a:t>    </a:t>
            </a:r>
            <a:r>
              <a:rPr sz="850" b="1">
                <a:solidFill>
                  <a:srgbClr val="FF6200"/>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r>
              <a:rPr sz="850" b="0">
                <a:solidFill>
                  <a:srgbClr val="161D26"/>
                </a:solidFill>
                <a:latin typeface="Ember Modern Display Standard"/>
              </a:rPr>
              <a:t>    </a:t>
            </a:r>
            <a:r>
              <a:rPr sz="850" b="0">
                <a:solidFill>
                  <a:srgbClr val="B8C0CC"/>
                </a:solidFill>
                <a:latin typeface="Ember Modern Display Standard"/>
              </a:rPr>
              <a:t>05 Ahead</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Customer Obsession</a:t>
            </a:r>
          </a:p>
        </p:txBody>
      </p:sp>
      <p:sp>
        <p:nvSpPr>
          <p:cNvPr id="269" name="Rounded Rectangle 268"/>
          <p:cNvSpPr/>
          <p:nvPr/>
        </p:nvSpPr>
        <p:spPr>
          <a:xfrm>
            <a:off x="502920" y="1325880"/>
            <a:ext cx="5577840" cy="566928"/>
          </a:xfrm>
          <a:prstGeom prst="roundRect">
            <a:avLst>
              <a:gd name="adj" fmla="val 12903"/>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685800" y="1325880"/>
            <a:ext cx="5303520" cy="566928"/>
          </a:xfrm>
          <a:prstGeom prst="rect">
            <a:avLst/>
          </a:prstGeom>
          <a:noFill/>
        </p:spPr>
        <p:txBody>
          <a:bodyPr wrap="square" lIns="0" rIns="0" tIns="0" bIns="0" anchor="ctr">
            <a:spAutoFit/>
          </a:bodyPr>
          <a:lstStyle/>
          <a:p>
            <a:pPr algn="l"/>
            <a:r>
              <a:rPr sz="1000" b="0">
                <a:solidFill>
                  <a:srgbClr val="6B7280"/>
                </a:solidFill>
                <a:latin typeface="Ember Modern Display Standard"/>
              </a:rPr>
              <a:t>ENTITY   </a:t>
            </a:r>
            <a:r>
              <a:rPr sz="1350" b="1">
                <a:solidFill>
                  <a:srgbClr val="161D26"/>
                </a:solidFill>
                <a:latin typeface="Ember Modern Display Standard"/>
              </a:rPr>
              <a:t>Acme Robotics Inc  ·  500 Market St, San Jose</a:t>
            </a:r>
          </a:p>
        </p:txBody>
      </p:sp>
      <p:sp>
        <p:nvSpPr>
          <p:cNvPr id="271" name="TextBox 270"/>
          <p:cNvSpPr txBox="1"/>
          <p:nvPr/>
        </p:nvSpPr>
        <p:spPr>
          <a:xfrm>
            <a:off x="502920" y="2103120"/>
            <a:ext cx="2880360" cy="411480"/>
          </a:xfrm>
          <a:prstGeom prst="rect">
            <a:avLst/>
          </a:prstGeom>
          <a:noFill/>
        </p:spPr>
        <p:txBody>
          <a:bodyPr wrap="square" lIns="0" rIns="0" tIns="0" bIns="0" anchor="ctr">
            <a:spAutoFit/>
          </a:bodyPr>
          <a:lstStyle/>
          <a:p>
            <a:pPr algn="l"/>
            <a:r>
              <a:rPr sz="1200" b="0">
                <a:solidFill>
                  <a:srgbClr val="161D26"/>
                </a:solidFill>
                <a:latin typeface="Ember Modern Display Standard"/>
              </a:rPr>
              <a:t>Acme Robotics Incorporated · 500 Market Street</a:t>
            </a:r>
          </a:p>
        </p:txBody>
      </p:sp>
      <p:sp>
        <p:nvSpPr>
          <p:cNvPr id="272" name="Rounded Rectangle 271"/>
          <p:cNvSpPr/>
          <p:nvPr/>
        </p:nvSpPr>
        <p:spPr>
          <a:xfrm>
            <a:off x="3474720" y="2212848"/>
            <a:ext cx="1920240" cy="201168"/>
          </a:xfrm>
          <a:prstGeom prst="roundRect">
            <a:avLst>
              <a:gd name="adj" fmla="val 50000"/>
            </a:avLst>
          </a:prstGeom>
          <a:solidFill>
            <a:srgbClr val="E3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ounded Rectangle 272"/>
          <p:cNvSpPr/>
          <p:nvPr/>
        </p:nvSpPr>
        <p:spPr>
          <a:xfrm>
            <a:off x="3474720" y="2212848"/>
            <a:ext cx="1881835" cy="201168"/>
          </a:xfrm>
          <a:prstGeom prst="roundRect">
            <a:avLst>
              <a:gd name="adj" fmla="val 50000"/>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TextBox 273"/>
          <p:cNvSpPr txBox="1"/>
          <p:nvPr/>
        </p:nvSpPr>
        <p:spPr>
          <a:xfrm>
            <a:off x="5468112" y="2103120"/>
            <a:ext cx="411480" cy="411480"/>
          </a:xfrm>
          <a:prstGeom prst="rect">
            <a:avLst/>
          </a:prstGeom>
          <a:noFill/>
        </p:spPr>
        <p:txBody>
          <a:bodyPr wrap="square" lIns="0" rIns="0" tIns="0" bIns="0" anchor="ctr">
            <a:spAutoFit/>
          </a:bodyPr>
          <a:lstStyle/>
          <a:p>
            <a:pPr algn="l"/>
            <a:r>
              <a:rPr sz="1200" b="1">
                <a:solidFill>
                  <a:srgbClr val="161D26"/>
                </a:solidFill>
                <a:latin typeface="Ember Modern Display Standard"/>
              </a:rPr>
              <a:t>0.98</a:t>
            </a:r>
          </a:p>
        </p:txBody>
      </p:sp>
      <p:sp>
        <p:nvSpPr>
          <p:cNvPr id="275" name="TextBox 274"/>
          <p:cNvSpPr txBox="1"/>
          <p:nvPr/>
        </p:nvSpPr>
        <p:spPr>
          <a:xfrm>
            <a:off x="5870448" y="2103120"/>
            <a:ext cx="274320" cy="411480"/>
          </a:xfrm>
          <a:prstGeom prst="rect">
            <a:avLst/>
          </a:prstGeom>
          <a:noFill/>
        </p:spPr>
        <p:txBody>
          <a:bodyPr wrap="square" lIns="0" rIns="0" tIns="0" bIns="0" anchor="ctr">
            <a:spAutoFit/>
          </a:bodyPr>
          <a:lstStyle/>
          <a:p>
            <a:pPr algn="l"/>
            <a:r>
              <a:rPr sz="1600" b="1">
                <a:solidFill>
                  <a:srgbClr val="FF6200"/>
                </a:solidFill>
                <a:latin typeface="Ember Modern Display Standard"/>
              </a:rPr>
              <a:t>✓</a:t>
            </a:r>
          </a:p>
        </p:txBody>
      </p:sp>
      <p:sp>
        <p:nvSpPr>
          <p:cNvPr id="276" name="TextBox 275"/>
          <p:cNvSpPr txBox="1"/>
          <p:nvPr/>
        </p:nvSpPr>
        <p:spPr>
          <a:xfrm>
            <a:off x="502920" y="2651760"/>
            <a:ext cx="2880360" cy="411480"/>
          </a:xfrm>
          <a:prstGeom prst="rect">
            <a:avLst/>
          </a:prstGeom>
          <a:noFill/>
        </p:spPr>
        <p:txBody>
          <a:bodyPr wrap="square" lIns="0" rIns="0" tIns="0" bIns="0" anchor="ctr">
            <a:spAutoFit/>
          </a:bodyPr>
          <a:lstStyle/>
          <a:p>
            <a:pPr algn="l"/>
            <a:r>
              <a:rPr sz="1200" b="0">
                <a:solidFill>
                  <a:srgbClr val="161D26"/>
                </a:solidFill>
                <a:latin typeface="Ember Modern Display Standard"/>
              </a:rPr>
              <a:t>Acme Robotics · Nr. City Hall, San Jose</a:t>
            </a:r>
          </a:p>
        </p:txBody>
      </p:sp>
      <p:sp>
        <p:nvSpPr>
          <p:cNvPr id="277" name="Rounded Rectangle 276"/>
          <p:cNvSpPr/>
          <p:nvPr/>
        </p:nvSpPr>
        <p:spPr>
          <a:xfrm>
            <a:off x="3474720" y="2761488"/>
            <a:ext cx="1920240" cy="201168"/>
          </a:xfrm>
          <a:prstGeom prst="roundRect">
            <a:avLst>
              <a:gd name="adj" fmla="val 50000"/>
            </a:avLst>
          </a:prstGeom>
          <a:solidFill>
            <a:srgbClr val="E3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Rounded Rectangle 277"/>
          <p:cNvSpPr/>
          <p:nvPr/>
        </p:nvSpPr>
        <p:spPr>
          <a:xfrm>
            <a:off x="3474720" y="2761488"/>
            <a:ext cx="1555394" cy="201168"/>
          </a:xfrm>
          <a:prstGeom prst="roundRect">
            <a:avLst>
              <a:gd name="adj" fmla="val 50000"/>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TextBox 278"/>
          <p:cNvSpPr txBox="1"/>
          <p:nvPr/>
        </p:nvSpPr>
        <p:spPr>
          <a:xfrm>
            <a:off x="5468112" y="2651760"/>
            <a:ext cx="411480" cy="411480"/>
          </a:xfrm>
          <a:prstGeom prst="rect">
            <a:avLst/>
          </a:prstGeom>
          <a:noFill/>
        </p:spPr>
        <p:txBody>
          <a:bodyPr wrap="square" lIns="0" rIns="0" tIns="0" bIns="0" anchor="ctr">
            <a:spAutoFit/>
          </a:bodyPr>
          <a:lstStyle/>
          <a:p>
            <a:pPr algn="l"/>
            <a:r>
              <a:rPr sz="1200" b="1">
                <a:solidFill>
                  <a:srgbClr val="161D26"/>
                </a:solidFill>
                <a:latin typeface="Ember Modern Display Standard"/>
              </a:rPr>
              <a:t>0.81</a:t>
            </a:r>
          </a:p>
        </p:txBody>
      </p:sp>
      <p:sp>
        <p:nvSpPr>
          <p:cNvPr id="280" name="TextBox 279"/>
          <p:cNvSpPr txBox="1"/>
          <p:nvPr/>
        </p:nvSpPr>
        <p:spPr>
          <a:xfrm>
            <a:off x="5870448" y="2651760"/>
            <a:ext cx="274320" cy="411480"/>
          </a:xfrm>
          <a:prstGeom prst="rect">
            <a:avLst/>
          </a:prstGeom>
          <a:noFill/>
        </p:spPr>
        <p:txBody>
          <a:bodyPr wrap="square" lIns="0" rIns="0" tIns="0" bIns="0" anchor="ctr">
            <a:spAutoFit/>
          </a:bodyPr>
          <a:lstStyle/>
          <a:p>
            <a:pPr algn="l"/>
            <a:r>
              <a:rPr sz="1600" b="1">
                <a:solidFill>
                  <a:srgbClr val="FF6200"/>
                </a:solidFill>
                <a:latin typeface="Ember Modern Display Standard"/>
              </a:rPr>
              <a:t>✓</a:t>
            </a:r>
          </a:p>
        </p:txBody>
      </p:sp>
      <p:sp>
        <p:nvSpPr>
          <p:cNvPr id="281" name="TextBox 280"/>
          <p:cNvSpPr txBox="1"/>
          <p:nvPr/>
        </p:nvSpPr>
        <p:spPr>
          <a:xfrm>
            <a:off x="502920" y="3200400"/>
            <a:ext cx="2880360" cy="411480"/>
          </a:xfrm>
          <a:prstGeom prst="rect">
            <a:avLst/>
          </a:prstGeom>
          <a:noFill/>
        </p:spPr>
        <p:txBody>
          <a:bodyPr wrap="square" lIns="0" rIns="0" tIns="0" bIns="0" anchor="ctr">
            <a:spAutoFit/>
          </a:bodyPr>
          <a:lstStyle/>
          <a:p>
            <a:pPr algn="l"/>
            <a:r>
              <a:rPr sz="1200" b="0">
                <a:solidFill>
                  <a:srgbClr val="161D26"/>
                </a:solidFill>
                <a:latin typeface="Ember Modern Display Standard"/>
              </a:rPr>
              <a:t>Acme Robotix · 12 Elm Rd</a:t>
            </a:r>
          </a:p>
        </p:txBody>
      </p:sp>
      <p:sp>
        <p:nvSpPr>
          <p:cNvPr id="282" name="Rounded Rectangle 281"/>
          <p:cNvSpPr/>
          <p:nvPr/>
        </p:nvSpPr>
        <p:spPr>
          <a:xfrm>
            <a:off x="3474720" y="3310128"/>
            <a:ext cx="1920240" cy="201168"/>
          </a:xfrm>
          <a:prstGeom prst="roundRect">
            <a:avLst>
              <a:gd name="adj" fmla="val 50000"/>
            </a:avLst>
          </a:prstGeom>
          <a:solidFill>
            <a:srgbClr val="E3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Rounded Rectangle 282"/>
          <p:cNvSpPr/>
          <p:nvPr/>
        </p:nvSpPr>
        <p:spPr>
          <a:xfrm>
            <a:off x="3474720" y="3310128"/>
            <a:ext cx="230428" cy="201168"/>
          </a:xfrm>
          <a:prstGeom prst="roundRect">
            <a:avLst>
              <a:gd name="adj" fmla="val 50000"/>
            </a:avLst>
          </a:prstGeom>
          <a:solidFill>
            <a:srgbClr val="B8C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TextBox 283"/>
          <p:cNvSpPr txBox="1"/>
          <p:nvPr/>
        </p:nvSpPr>
        <p:spPr>
          <a:xfrm>
            <a:off x="5468112" y="3200400"/>
            <a:ext cx="411480" cy="411480"/>
          </a:xfrm>
          <a:prstGeom prst="rect">
            <a:avLst/>
          </a:prstGeom>
          <a:noFill/>
        </p:spPr>
        <p:txBody>
          <a:bodyPr wrap="square" lIns="0" rIns="0" tIns="0" bIns="0" anchor="ctr">
            <a:spAutoFit/>
          </a:bodyPr>
          <a:lstStyle/>
          <a:p>
            <a:pPr algn="l"/>
            <a:r>
              <a:rPr sz="1200" b="1">
                <a:solidFill>
                  <a:srgbClr val="161D26"/>
                </a:solidFill>
                <a:latin typeface="Ember Modern Display Standard"/>
              </a:rPr>
              <a:t>0.12</a:t>
            </a:r>
          </a:p>
        </p:txBody>
      </p:sp>
      <p:sp>
        <p:nvSpPr>
          <p:cNvPr id="285" name="TextBox 284"/>
          <p:cNvSpPr txBox="1"/>
          <p:nvPr/>
        </p:nvSpPr>
        <p:spPr>
          <a:xfrm>
            <a:off x="5870448" y="3200400"/>
            <a:ext cx="274320" cy="411480"/>
          </a:xfrm>
          <a:prstGeom prst="rect">
            <a:avLst/>
          </a:prstGeom>
          <a:noFill/>
        </p:spPr>
        <p:txBody>
          <a:bodyPr wrap="square" lIns="0" rIns="0" tIns="0" bIns="0" anchor="ctr">
            <a:spAutoFit/>
          </a:bodyPr>
          <a:lstStyle/>
          <a:p>
            <a:pPr algn="l"/>
            <a:r>
              <a:rPr sz="1600" b="1">
                <a:solidFill>
                  <a:srgbClr val="6B7280"/>
                </a:solidFill>
                <a:latin typeface="Ember Modern Display Standard"/>
              </a:rPr>
              <a:t>✗</a:t>
            </a:r>
          </a:p>
        </p:txBody>
      </p:sp>
      <p:sp>
        <p:nvSpPr>
          <p:cNvPr id="286" name="TextBox 285"/>
          <p:cNvSpPr txBox="1"/>
          <p:nvPr/>
        </p:nvSpPr>
        <p:spPr>
          <a:xfrm>
            <a:off x="502920" y="3749039"/>
            <a:ext cx="2880360" cy="411480"/>
          </a:xfrm>
          <a:prstGeom prst="rect">
            <a:avLst/>
          </a:prstGeom>
          <a:noFill/>
        </p:spPr>
        <p:txBody>
          <a:bodyPr wrap="square" lIns="0" rIns="0" tIns="0" bIns="0" anchor="ctr">
            <a:spAutoFit/>
          </a:bodyPr>
          <a:lstStyle/>
          <a:p>
            <a:pPr algn="l"/>
            <a:r>
              <a:rPr sz="1200" b="0">
                <a:solidFill>
                  <a:srgbClr val="161D26"/>
                </a:solidFill>
                <a:latin typeface="Ember Modern Display Standard"/>
              </a:rPr>
              <a:t>Acme Bakery · 500 Market St</a:t>
            </a:r>
          </a:p>
        </p:txBody>
      </p:sp>
      <p:sp>
        <p:nvSpPr>
          <p:cNvPr id="287" name="Rounded Rectangle 286"/>
          <p:cNvSpPr/>
          <p:nvPr/>
        </p:nvSpPr>
        <p:spPr>
          <a:xfrm>
            <a:off x="3474720" y="3858768"/>
            <a:ext cx="1920240" cy="201168"/>
          </a:xfrm>
          <a:prstGeom prst="roundRect">
            <a:avLst>
              <a:gd name="adj" fmla="val 50000"/>
            </a:avLst>
          </a:prstGeom>
          <a:solidFill>
            <a:srgbClr val="E3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Rounded Rectangle 287"/>
          <p:cNvSpPr/>
          <p:nvPr/>
        </p:nvSpPr>
        <p:spPr>
          <a:xfrm>
            <a:off x="3474720" y="3858768"/>
            <a:ext cx="109728" cy="201168"/>
          </a:xfrm>
          <a:prstGeom prst="roundRect">
            <a:avLst>
              <a:gd name="adj" fmla="val 50000"/>
            </a:avLst>
          </a:prstGeom>
          <a:solidFill>
            <a:srgbClr val="B8C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TextBox 288"/>
          <p:cNvSpPr txBox="1"/>
          <p:nvPr/>
        </p:nvSpPr>
        <p:spPr>
          <a:xfrm>
            <a:off x="5468112" y="3749039"/>
            <a:ext cx="411480" cy="411480"/>
          </a:xfrm>
          <a:prstGeom prst="rect">
            <a:avLst/>
          </a:prstGeom>
          <a:noFill/>
        </p:spPr>
        <p:txBody>
          <a:bodyPr wrap="square" lIns="0" rIns="0" tIns="0" bIns="0" anchor="ctr">
            <a:spAutoFit/>
          </a:bodyPr>
          <a:lstStyle/>
          <a:p>
            <a:pPr algn="l"/>
            <a:r>
              <a:rPr sz="1200" b="1">
                <a:solidFill>
                  <a:srgbClr val="161D26"/>
                </a:solidFill>
                <a:latin typeface="Ember Modern Display Standard"/>
              </a:rPr>
              <a:t>0.03</a:t>
            </a:r>
          </a:p>
        </p:txBody>
      </p:sp>
      <p:sp>
        <p:nvSpPr>
          <p:cNvPr id="290" name="TextBox 289"/>
          <p:cNvSpPr txBox="1"/>
          <p:nvPr/>
        </p:nvSpPr>
        <p:spPr>
          <a:xfrm>
            <a:off x="5870448" y="3749039"/>
            <a:ext cx="274320" cy="411480"/>
          </a:xfrm>
          <a:prstGeom prst="rect">
            <a:avLst/>
          </a:prstGeom>
          <a:noFill/>
        </p:spPr>
        <p:txBody>
          <a:bodyPr wrap="square" lIns="0" rIns="0" tIns="0" bIns="0" anchor="ctr">
            <a:spAutoFit/>
          </a:bodyPr>
          <a:lstStyle/>
          <a:p>
            <a:pPr algn="l"/>
            <a:r>
              <a:rPr sz="1600" b="1">
                <a:solidFill>
                  <a:srgbClr val="6B7280"/>
                </a:solidFill>
                <a:latin typeface="Ember Modern Display Standard"/>
              </a:rPr>
              <a:t>✗</a:t>
            </a:r>
          </a:p>
        </p:txBody>
      </p:sp>
      <p:sp>
        <p:nvSpPr>
          <p:cNvPr id="291" name="TextBox 290"/>
          <p:cNvSpPr txBox="1"/>
          <p:nvPr/>
        </p:nvSpPr>
        <p:spPr>
          <a:xfrm>
            <a:off x="502920" y="4315968"/>
            <a:ext cx="5577840" cy="228600"/>
          </a:xfrm>
          <a:prstGeom prst="rect">
            <a:avLst/>
          </a:prstGeom>
          <a:noFill/>
        </p:spPr>
        <p:txBody>
          <a:bodyPr wrap="square" lIns="0" rIns="0" tIns="0" bIns="0" anchor="t">
            <a:spAutoFit/>
          </a:bodyPr>
          <a:lstStyle/>
          <a:p>
            <a:pPr algn="l"/>
            <a:r>
              <a:rPr sz="1000" b="0">
                <a:solidFill>
                  <a:srgbClr val="6B7280"/>
                </a:solidFill>
                <a:latin typeface="Ember Modern Display Standard"/>
              </a:rPr>
              <a:t>Illustrative probabilities</a:t>
            </a:r>
          </a:p>
        </p:txBody>
      </p:sp>
      <p:sp>
        <p:nvSpPr>
          <p:cNvPr id="292" name="Rounded Rectangle 291"/>
          <p:cNvSpPr/>
          <p:nvPr/>
        </p:nvSpPr>
        <p:spPr>
          <a:xfrm>
            <a:off x="6400800" y="1325880"/>
            <a:ext cx="2240280" cy="3054096"/>
          </a:xfrm>
          <a:prstGeom prst="roundRect">
            <a:avLst>
              <a:gd name="adj" fmla="val 2448"/>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Oval 292"/>
          <p:cNvSpPr/>
          <p:nvPr/>
        </p:nvSpPr>
        <p:spPr>
          <a:xfrm>
            <a:off x="6583680" y="1554480"/>
            <a:ext cx="329184" cy="329184"/>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1</a:t>
            </a:r>
          </a:p>
        </p:txBody>
      </p:sp>
      <p:sp>
        <p:nvSpPr>
          <p:cNvPr id="294" name="TextBox 293"/>
          <p:cNvSpPr txBox="1"/>
          <p:nvPr/>
        </p:nvSpPr>
        <p:spPr>
          <a:xfrm>
            <a:off x="7040880" y="1536192"/>
            <a:ext cx="1463040" cy="822960"/>
          </a:xfrm>
          <a:prstGeom prst="rect">
            <a:avLst/>
          </a:prstGeom>
          <a:noFill/>
        </p:spPr>
        <p:txBody>
          <a:bodyPr wrap="square" lIns="0" rIns="0" tIns="0" bIns="0" anchor="t">
            <a:spAutoFit/>
          </a:bodyPr>
          <a:lstStyle/>
          <a:p>
            <a:pPr algn="l"/>
            <a:r>
              <a:rPr sz="1200" b="0">
                <a:solidFill>
                  <a:srgbClr val="FFFFFF"/>
                </a:solidFill>
                <a:latin typeface="Ember Modern Display Standard"/>
              </a:rPr>
              <a:t>Score each pair: a calibrated probability</a:t>
            </a:r>
          </a:p>
        </p:txBody>
      </p:sp>
      <p:sp>
        <p:nvSpPr>
          <p:cNvPr id="295" name="Oval 294"/>
          <p:cNvSpPr/>
          <p:nvPr/>
        </p:nvSpPr>
        <p:spPr>
          <a:xfrm>
            <a:off x="6583680" y="2468880"/>
            <a:ext cx="329184" cy="329184"/>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2</a:t>
            </a:r>
          </a:p>
        </p:txBody>
      </p:sp>
      <p:sp>
        <p:nvSpPr>
          <p:cNvPr id="296" name="TextBox 295"/>
          <p:cNvSpPr txBox="1"/>
          <p:nvPr/>
        </p:nvSpPr>
        <p:spPr>
          <a:xfrm>
            <a:off x="7040880" y="2450592"/>
            <a:ext cx="1463040" cy="822960"/>
          </a:xfrm>
          <a:prstGeom prst="rect">
            <a:avLst/>
          </a:prstGeom>
          <a:noFill/>
        </p:spPr>
        <p:txBody>
          <a:bodyPr wrap="square" lIns="0" rIns="0" tIns="0" bIns="0" anchor="t">
            <a:spAutoFit/>
          </a:bodyPr>
          <a:lstStyle/>
          <a:p>
            <a:pPr algn="l"/>
            <a:r>
              <a:rPr sz="1200" b="0">
                <a:solidFill>
                  <a:srgbClr val="FFFFFF"/>
                </a:solidFill>
                <a:latin typeface="Ember Modern Display Standard"/>
              </a:rPr>
              <a:t>Add matches while the expected F0.5 rises</a:t>
            </a:r>
          </a:p>
        </p:txBody>
      </p:sp>
      <p:sp>
        <p:nvSpPr>
          <p:cNvPr id="297" name="Oval 296"/>
          <p:cNvSpPr/>
          <p:nvPr/>
        </p:nvSpPr>
        <p:spPr>
          <a:xfrm>
            <a:off x="6583680" y="3383280"/>
            <a:ext cx="329184" cy="329184"/>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3</a:t>
            </a:r>
          </a:p>
        </p:txBody>
      </p:sp>
      <p:sp>
        <p:nvSpPr>
          <p:cNvPr id="298" name="TextBox 297"/>
          <p:cNvSpPr txBox="1"/>
          <p:nvPr/>
        </p:nvSpPr>
        <p:spPr>
          <a:xfrm>
            <a:off x="7040880" y="3364992"/>
            <a:ext cx="1463040" cy="822960"/>
          </a:xfrm>
          <a:prstGeom prst="rect">
            <a:avLst/>
          </a:prstGeom>
          <a:noFill/>
        </p:spPr>
        <p:txBody>
          <a:bodyPr wrap="square" lIns="0" rIns="0" tIns="0" bIns="0" anchor="t">
            <a:spAutoFit/>
          </a:bodyPr>
          <a:lstStyle/>
          <a:p>
            <a:pPr algn="l"/>
            <a:r>
              <a:rPr sz="1200" b="0">
                <a:solidFill>
                  <a:srgbClr val="FFFFFF"/>
                </a:solidFill>
                <a:latin typeface="Ember Modern Display Standard"/>
              </a:rPr>
              <a:t>Each record goes to one entity only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fade">
                                      <p:cBhvr>
                                        <p:cTn id="6" dur="45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childTnLst>
                          </p:cTn>
                        </p:par>
                        <p:par>
                          <p:cTn id="26" fill="hold">
                            <p:stCondLst>
                              <p:cond delay="450"/>
                            </p:stCondLst>
                            <p:childTnLst>
                              <p:par>
                                <p:cTn id="11" presetID="10" presetClass="entr" presetSubtype="0" fill="hold" grpId="0" nodeType="afterEffect">
                                  <p:stCondLst>
                                    <p:cond delay="0"/>
                                  </p:stCondLst>
                                  <p:childTnLst>
                                    <p:set>
                                      <p:cBhvr>
                                        <p:cTn id="12" dur="1" fill="hold">
                                          <p:stCondLst>
                                            <p:cond delay="0"/>
                                          </p:stCondLst>
                                        </p:cTn>
                                        <p:tgtEl>
                                          <p:spTgt spid="271"/>
                                        </p:tgtEl>
                                        <p:attrNameLst>
                                          <p:attrName>style.visibility</p:attrName>
                                        </p:attrNameLst>
                                      </p:cBhvr>
                                      <p:to>
                                        <p:strVal val="visible"/>
                                      </p:to>
                                    </p:set>
                                    <p:animEffect transition="in" filter="fade">
                                      <p:cBhvr>
                                        <p:cTn id="13" dur="450"/>
                                        <p:tgtEl>
                                          <p:spTgt spid="27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2"/>
                                        </p:tgtEl>
                                        <p:attrNameLst>
                                          <p:attrName>style.visibility</p:attrName>
                                        </p:attrNameLst>
                                      </p:cBhvr>
                                      <p:to>
                                        <p:strVal val="visible"/>
                                      </p:to>
                                    </p:set>
                                    <p:animEffect transition="in" filter="fade">
                                      <p:cBhvr>
                                        <p:cTn id="16" dur="450"/>
                                        <p:tgtEl>
                                          <p:spTgt spid="272"/>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273"/>
                                        </p:tgtEl>
                                        <p:attrNameLst>
                                          <p:attrName>style.visibility</p:attrName>
                                        </p:attrNameLst>
                                      </p:cBhvr>
                                      <p:to>
                                        <p:strVal val="visible"/>
                                      </p:to>
                                    </p:set>
                                    <p:animEffect transition="in" filter="wipe(left)">
                                      <p:cBhvr>
                                        <p:cTn id="19" dur="500"/>
                                        <p:tgtEl>
                                          <p:spTgt spid="27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4"/>
                                        </p:tgtEl>
                                        <p:attrNameLst>
                                          <p:attrName>style.visibility</p:attrName>
                                        </p:attrNameLst>
                                      </p:cBhvr>
                                      <p:to>
                                        <p:strVal val="visible"/>
                                      </p:to>
                                    </p:set>
                                    <p:animEffect transition="in" filter="fade">
                                      <p:cBhvr>
                                        <p:cTn id="22" dur="450"/>
                                        <p:tgtEl>
                                          <p:spTgt spid="27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75"/>
                                        </p:tgtEl>
                                        <p:attrNameLst>
                                          <p:attrName>style.visibility</p:attrName>
                                        </p:attrNameLst>
                                      </p:cBhvr>
                                      <p:to>
                                        <p:strVal val="visible"/>
                                      </p:to>
                                    </p:set>
                                    <p:animEffect transition="in" filter="fade">
                                      <p:cBhvr>
                                        <p:cTn id="25" dur="450"/>
                                        <p:tgtEl>
                                          <p:spTgt spid="275"/>
                                        </p:tgtEl>
                                      </p:cBhvr>
                                    </p:animEffect>
                                  </p:childTnLst>
                                </p:cTn>
                              </p:par>
                            </p:childTnLst>
                          </p:cTn>
                        </p:par>
                        <p:par>
                          <p:cTn id="42" fill="hold">
                            <p:stCondLst>
                              <p:cond delay="950"/>
                            </p:stCondLst>
                            <p:childTnLst>
                              <p:par>
                                <p:cTn id="27" presetID="10" presetClass="entr" presetSubtype="0" fill="hold" grpId="0" nodeType="afterEffect">
                                  <p:stCondLst>
                                    <p:cond delay="0"/>
                                  </p:stCondLst>
                                  <p:childTnLst>
                                    <p:set>
                                      <p:cBhvr>
                                        <p:cTn id="28" dur="1" fill="hold">
                                          <p:stCondLst>
                                            <p:cond delay="0"/>
                                          </p:stCondLst>
                                        </p:cTn>
                                        <p:tgtEl>
                                          <p:spTgt spid="276"/>
                                        </p:tgtEl>
                                        <p:attrNameLst>
                                          <p:attrName>style.visibility</p:attrName>
                                        </p:attrNameLst>
                                      </p:cBhvr>
                                      <p:to>
                                        <p:strVal val="visible"/>
                                      </p:to>
                                    </p:set>
                                    <p:animEffect transition="in" filter="fade">
                                      <p:cBhvr>
                                        <p:cTn id="29" dur="450"/>
                                        <p:tgtEl>
                                          <p:spTgt spid="27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77"/>
                                        </p:tgtEl>
                                        <p:attrNameLst>
                                          <p:attrName>style.visibility</p:attrName>
                                        </p:attrNameLst>
                                      </p:cBhvr>
                                      <p:to>
                                        <p:strVal val="visible"/>
                                      </p:to>
                                    </p:set>
                                    <p:animEffect transition="in" filter="fade">
                                      <p:cBhvr>
                                        <p:cTn id="32" dur="450"/>
                                        <p:tgtEl>
                                          <p:spTgt spid="277"/>
                                        </p:tgtEl>
                                      </p:cBhvr>
                                    </p:animEffect>
                                  </p:childTnLst>
                                </p:cTn>
                              </p:par>
                              <p:par>
                                <p:cTn id="33" presetID="22" presetClass="entr" presetSubtype="8" fill="hold" grpId="0" nodeType="withEffect">
                                  <p:stCondLst>
                                    <p:cond delay="0"/>
                                  </p:stCondLst>
                                  <p:childTnLst>
                                    <p:set>
                                      <p:cBhvr>
                                        <p:cTn id="34" dur="1" fill="hold">
                                          <p:stCondLst>
                                            <p:cond delay="0"/>
                                          </p:stCondLst>
                                        </p:cTn>
                                        <p:tgtEl>
                                          <p:spTgt spid="278"/>
                                        </p:tgtEl>
                                        <p:attrNameLst>
                                          <p:attrName>style.visibility</p:attrName>
                                        </p:attrNameLst>
                                      </p:cBhvr>
                                      <p:to>
                                        <p:strVal val="visible"/>
                                      </p:to>
                                    </p:set>
                                    <p:animEffect transition="in" filter="wipe(left)">
                                      <p:cBhvr>
                                        <p:cTn id="35" dur="500"/>
                                        <p:tgtEl>
                                          <p:spTgt spid="27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79"/>
                                        </p:tgtEl>
                                        <p:attrNameLst>
                                          <p:attrName>style.visibility</p:attrName>
                                        </p:attrNameLst>
                                      </p:cBhvr>
                                      <p:to>
                                        <p:strVal val="visible"/>
                                      </p:to>
                                    </p:set>
                                    <p:animEffect transition="in" filter="fade">
                                      <p:cBhvr>
                                        <p:cTn id="38" dur="450"/>
                                        <p:tgtEl>
                                          <p:spTgt spid="27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80"/>
                                        </p:tgtEl>
                                        <p:attrNameLst>
                                          <p:attrName>style.visibility</p:attrName>
                                        </p:attrNameLst>
                                      </p:cBhvr>
                                      <p:to>
                                        <p:strVal val="visible"/>
                                      </p:to>
                                    </p:set>
                                    <p:animEffect transition="in" filter="fade">
                                      <p:cBhvr>
                                        <p:cTn id="41" dur="450"/>
                                        <p:tgtEl>
                                          <p:spTgt spid="280"/>
                                        </p:tgtEl>
                                      </p:cBhvr>
                                    </p:animEffect>
                                  </p:childTnLst>
                                </p:cTn>
                              </p:par>
                            </p:childTnLst>
                          </p:cTn>
                        </p:par>
                        <p:par>
                          <p:cTn id="58" fill="hold">
                            <p:stCondLst>
                              <p:cond delay="1450"/>
                            </p:stCondLst>
                            <p:childTnLst>
                              <p:par>
                                <p:cTn id="43" presetID="10" presetClass="entr" presetSubtype="0" fill="hold" grpId="0" nodeType="afterEffect">
                                  <p:stCondLst>
                                    <p:cond delay="0"/>
                                  </p:stCondLst>
                                  <p:childTnLst>
                                    <p:set>
                                      <p:cBhvr>
                                        <p:cTn id="44" dur="1" fill="hold">
                                          <p:stCondLst>
                                            <p:cond delay="0"/>
                                          </p:stCondLst>
                                        </p:cTn>
                                        <p:tgtEl>
                                          <p:spTgt spid="281"/>
                                        </p:tgtEl>
                                        <p:attrNameLst>
                                          <p:attrName>style.visibility</p:attrName>
                                        </p:attrNameLst>
                                      </p:cBhvr>
                                      <p:to>
                                        <p:strVal val="visible"/>
                                      </p:to>
                                    </p:set>
                                    <p:animEffect transition="in" filter="fade">
                                      <p:cBhvr>
                                        <p:cTn id="45" dur="450"/>
                                        <p:tgtEl>
                                          <p:spTgt spid="28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82"/>
                                        </p:tgtEl>
                                        <p:attrNameLst>
                                          <p:attrName>style.visibility</p:attrName>
                                        </p:attrNameLst>
                                      </p:cBhvr>
                                      <p:to>
                                        <p:strVal val="visible"/>
                                      </p:to>
                                    </p:set>
                                    <p:animEffect transition="in" filter="fade">
                                      <p:cBhvr>
                                        <p:cTn id="48" dur="450"/>
                                        <p:tgtEl>
                                          <p:spTgt spid="282"/>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83"/>
                                        </p:tgtEl>
                                        <p:attrNameLst>
                                          <p:attrName>style.visibility</p:attrName>
                                        </p:attrNameLst>
                                      </p:cBhvr>
                                      <p:to>
                                        <p:strVal val="visible"/>
                                      </p:to>
                                    </p:set>
                                    <p:animEffect transition="in" filter="wipe(left)">
                                      <p:cBhvr>
                                        <p:cTn id="51" dur="500"/>
                                        <p:tgtEl>
                                          <p:spTgt spid="28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84"/>
                                        </p:tgtEl>
                                        <p:attrNameLst>
                                          <p:attrName>style.visibility</p:attrName>
                                        </p:attrNameLst>
                                      </p:cBhvr>
                                      <p:to>
                                        <p:strVal val="visible"/>
                                      </p:to>
                                    </p:set>
                                    <p:animEffect transition="in" filter="fade">
                                      <p:cBhvr>
                                        <p:cTn id="54" dur="450"/>
                                        <p:tgtEl>
                                          <p:spTgt spid="28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85"/>
                                        </p:tgtEl>
                                        <p:attrNameLst>
                                          <p:attrName>style.visibility</p:attrName>
                                        </p:attrNameLst>
                                      </p:cBhvr>
                                      <p:to>
                                        <p:strVal val="visible"/>
                                      </p:to>
                                    </p:set>
                                    <p:animEffect transition="in" filter="fade">
                                      <p:cBhvr>
                                        <p:cTn id="57" dur="450"/>
                                        <p:tgtEl>
                                          <p:spTgt spid="285"/>
                                        </p:tgtEl>
                                      </p:cBhvr>
                                    </p:animEffect>
                                  </p:childTnLst>
                                </p:cTn>
                              </p:par>
                            </p:childTnLst>
                          </p:cTn>
                        </p:par>
                        <p:par>
                          <p:cTn id="74" fill="hold">
                            <p:stCondLst>
                              <p:cond delay="1950"/>
                            </p:stCondLst>
                            <p:childTnLst>
                              <p:par>
                                <p:cTn id="59" presetID="10" presetClass="entr" presetSubtype="0" fill="hold" grpId="0" nodeType="afterEffect">
                                  <p:stCondLst>
                                    <p:cond delay="0"/>
                                  </p:stCondLst>
                                  <p:childTnLst>
                                    <p:set>
                                      <p:cBhvr>
                                        <p:cTn id="60" dur="1" fill="hold">
                                          <p:stCondLst>
                                            <p:cond delay="0"/>
                                          </p:stCondLst>
                                        </p:cTn>
                                        <p:tgtEl>
                                          <p:spTgt spid="286"/>
                                        </p:tgtEl>
                                        <p:attrNameLst>
                                          <p:attrName>style.visibility</p:attrName>
                                        </p:attrNameLst>
                                      </p:cBhvr>
                                      <p:to>
                                        <p:strVal val="visible"/>
                                      </p:to>
                                    </p:set>
                                    <p:animEffect transition="in" filter="fade">
                                      <p:cBhvr>
                                        <p:cTn id="61" dur="450"/>
                                        <p:tgtEl>
                                          <p:spTgt spid="286"/>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87"/>
                                        </p:tgtEl>
                                        <p:attrNameLst>
                                          <p:attrName>style.visibility</p:attrName>
                                        </p:attrNameLst>
                                      </p:cBhvr>
                                      <p:to>
                                        <p:strVal val="visible"/>
                                      </p:to>
                                    </p:set>
                                    <p:animEffect transition="in" filter="fade">
                                      <p:cBhvr>
                                        <p:cTn id="64" dur="450"/>
                                        <p:tgtEl>
                                          <p:spTgt spid="28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8"/>
                                        </p:tgtEl>
                                        <p:attrNameLst>
                                          <p:attrName>style.visibility</p:attrName>
                                        </p:attrNameLst>
                                      </p:cBhvr>
                                      <p:to>
                                        <p:strVal val="visible"/>
                                      </p:to>
                                    </p:set>
                                    <p:animEffect transition="in" filter="wipe(left)">
                                      <p:cBhvr>
                                        <p:cTn id="67" dur="500"/>
                                        <p:tgtEl>
                                          <p:spTgt spid="288"/>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89"/>
                                        </p:tgtEl>
                                        <p:attrNameLst>
                                          <p:attrName>style.visibility</p:attrName>
                                        </p:attrNameLst>
                                      </p:cBhvr>
                                      <p:to>
                                        <p:strVal val="visible"/>
                                      </p:to>
                                    </p:set>
                                    <p:animEffect transition="in" filter="fade">
                                      <p:cBhvr>
                                        <p:cTn id="70" dur="450"/>
                                        <p:tgtEl>
                                          <p:spTgt spid="289"/>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90"/>
                                        </p:tgtEl>
                                        <p:attrNameLst>
                                          <p:attrName>style.visibility</p:attrName>
                                        </p:attrNameLst>
                                      </p:cBhvr>
                                      <p:to>
                                        <p:strVal val="visible"/>
                                      </p:to>
                                    </p:set>
                                    <p:animEffect transition="in" filter="fade">
                                      <p:cBhvr>
                                        <p:cTn id="73" dur="450"/>
                                        <p:tgtEl>
                                          <p:spTgt spid="290"/>
                                        </p:tgtEl>
                                      </p:cBhvr>
                                    </p:animEffect>
                                  </p:childTnLst>
                                </p:cTn>
                              </p:par>
                            </p:childTnLst>
                          </p:cTn>
                        </p:par>
                        <p:par>
                          <p:cTn id="78" fill="hold">
                            <p:stCondLst>
                              <p:cond delay="2450"/>
                            </p:stCondLst>
                            <p:childTnLst>
                              <p:par>
                                <p:cTn id="75" presetID="10" presetClass="entr" presetSubtype="0" fill="hold" grpId="0" nodeType="afterEffect">
                                  <p:stCondLst>
                                    <p:cond delay="0"/>
                                  </p:stCondLst>
                                  <p:childTnLst>
                                    <p:set>
                                      <p:cBhvr>
                                        <p:cTn id="76" dur="1" fill="hold">
                                          <p:stCondLst>
                                            <p:cond delay="0"/>
                                          </p:stCondLst>
                                        </p:cTn>
                                        <p:tgtEl>
                                          <p:spTgt spid="291"/>
                                        </p:tgtEl>
                                        <p:attrNameLst>
                                          <p:attrName>style.visibility</p:attrName>
                                        </p:attrNameLst>
                                      </p:cBhvr>
                                      <p:to>
                                        <p:strVal val="visible"/>
                                      </p:to>
                                    </p:set>
                                    <p:animEffect transition="in" filter="fade">
                                      <p:cBhvr>
                                        <p:cTn id="77" dur="450"/>
                                        <p:tgtEl>
                                          <p:spTgt spid="291"/>
                                        </p:tgtEl>
                                      </p:cBhvr>
                                    </p:animEffect>
                                  </p:childTnLst>
                                </p:cTn>
                              </p:par>
                            </p:childTnLst>
                          </p:cTn>
                        </p:par>
                        <p:par>
                          <p:cTn id="100" fill="hold">
                            <p:stCondLst>
                              <p:cond delay="2900"/>
                            </p:stCondLst>
                            <p:childTnLst>
                              <p:par>
                                <p:cTn id="79" presetID="10" presetClass="entr" presetSubtype="0" fill="hold" grpId="0" nodeType="afterEffect">
                                  <p:stCondLst>
                                    <p:cond delay="0"/>
                                  </p:stCondLst>
                                  <p:childTnLst>
                                    <p:set>
                                      <p:cBhvr>
                                        <p:cTn id="80" dur="1" fill="hold">
                                          <p:stCondLst>
                                            <p:cond delay="0"/>
                                          </p:stCondLst>
                                        </p:cTn>
                                        <p:tgtEl>
                                          <p:spTgt spid="292"/>
                                        </p:tgtEl>
                                        <p:attrNameLst>
                                          <p:attrName>style.visibility</p:attrName>
                                        </p:attrNameLst>
                                      </p:cBhvr>
                                      <p:to>
                                        <p:strVal val="visible"/>
                                      </p:to>
                                    </p:set>
                                    <p:animEffect transition="in" filter="fade">
                                      <p:cBhvr>
                                        <p:cTn id="81" dur="450"/>
                                        <p:tgtEl>
                                          <p:spTgt spid="29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3"/>
                                        </p:tgtEl>
                                        <p:attrNameLst>
                                          <p:attrName>style.visibility</p:attrName>
                                        </p:attrNameLst>
                                      </p:cBhvr>
                                      <p:to>
                                        <p:strVal val="visible"/>
                                      </p:to>
                                    </p:set>
                                    <p:animEffect transition="in" filter="fade">
                                      <p:cBhvr>
                                        <p:cTn id="84" dur="450"/>
                                        <p:tgtEl>
                                          <p:spTgt spid="29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4"/>
                                        </p:tgtEl>
                                        <p:attrNameLst>
                                          <p:attrName>style.visibility</p:attrName>
                                        </p:attrNameLst>
                                      </p:cBhvr>
                                      <p:to>
                                        <p:strVal val="visible"/>
                                      </p:to>
                                    </p:set>
                                    <p:animEffect transition="in" filter="fade">
                                      <p:cBhvr>
                                        <p:cTn id="87" dur="450"/>
                                        <p:tgtEl>
                                          <p:spTgt spid="29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95"/>
                                        </p:tgtEl>
                                        <p:attrNameLst>
                                          <p:attrName>style.visibility</p:attrName>
                                        </p:attrNameLst>
                                      </p:cBhvr>
                                      <p:to>
                                        <p:strVal val="visible"/>
                                      </p:to>
                                    </p:set>
                                    <p:animEffect transition="in" filter="fade">
                                      <p:cBhvr>
                                        <p:cTn id="90" dur="450"/>
                                        <p:tgtEl>
                                          <p:spTgt spid="295"/>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96"/>
                                        </p:tgtEl>
                                        <p:attrNameLst>
                                          <p:attrName>style.visibility</p:attrName>
                                        </p:attrNameLst>
                                      </p:cBhvr>
                                      <p:to>
                                        <p:strVal val="visible"/>
                                      </p:to>
                                    </p:set>
                                    <p:animEffect transition="in" filter="fade">
                                      <p:cBhvr>
                                        <p:cTn id="93" dur="450"/>
                                        <p:tgtEl>
                                          <p:spTgt spid="296"/>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297"/>
                                        </p:tgtEl>
                                        <p:attrNameLst>
                                          <p:attrName>style.visibility</p:attrName>
                                        </p:attrNameLst>
                                      </p:cBhvr>
                                      <p:to>
                                        <p:strVal val="visible"/>
                                      </p:to>
                                    </p:set>
                                    <p:animEffect transition="in" filter="fade">
                                      <p:cBhvr>
                                        <p:cTn id="96" dur="450"/>
                                        <p:tgtEl>
                                          <p:spTgt spid="297"/>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298"/>
                                        </p:tgtEl>
                                        <p:attrNameLst>
                                          <p:attrName>style.visibility</p:attrName>
                                        </p:attrNameLst>
                                      </p:cBhvr>
                                      <p:to>
                                        <p:strVal val="visible"/>
                                      </p:to>
                                    </p:set>
                                    <p:animEffect transition="in" filter="fade">
                                      <p:cBhvr>
                                        <p:cTn id="99" dur="450"/>
                                        <p:tgtEl>
                                          <p:spTgt spid="2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9" grpId="0" animBg="1"/>
      <p:bldP spid="270" grpId="0" animBg="1"/>
      <p:bldP spid="271" grpId="0" animBg="1"/>
      <p:bldP spid="272" grpId="0" animBg="1"/>
      <p:bldP spid="273" grpId="0" animBg="1"/>
      <p:bldP spid="274" grpId="0" animBg="1"/>
      <p:bldP spid="275" grpId="0" animBg="1"/>
      <p:bldP spid="276" grpId="0" animBg="1"/>
      <p:bldP spid="277" grpId="0" animBg="1"/>
      <p:bldP spid="278" grpId="0" animBg="1"/>
      <p:bldP spid="279" grpId="0" animBg="1"/>
      <p:bldP spid="280" grpId="0" animBg="1"/>
      <p:bldP spid="281" grpId="0" animBg="1"/>
      <p:bldP spid="282" grpId="0" animBg="1"/>
      <p:bldP spid="283" grpId="0" animBg="1"/>
      <p:bldP spid="284" grpId="0" animBg="1"/>
      <p:bldP spid="285" grpId="0" animBg="1"/>
      <p:bldP spid="286" grpId="0" animBg="1"/>
      <p:bldP spid="287" grpId="0" animBg="1"/>
      <p:bldP spid="288" grpId="0" animBg="1"/>
      <p:bldP spid="289" grpId="0" animBg="1"/>
      <p:bldP spid="290" grpId="0" animBg="1"/>
      <p:bldP spid="291" grpId="0" animBg="1"/>
      <p:bldP spid="292" grpId="0" animBg="1"/>
      <p:bldP spid="293" grpId="0" animBg="1"/>
      <p:bldP spid="294" grpId="0" animBg="1"/>
      <p:bldP spid="295" grpId="0" animBg="1"/>
      <p:bldP spid="296" grpId="0" animBg="1"/>
      <p:bldP spid="297" grpId="0" animBg="1"/>
      <p:bldP spid="29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Built for</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Performance</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Every step only touches what it must, on laptop-sized hardware.</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0">
                <a:solidFill>
                  <a:srgbClr val="B8C0CC"/>
                </a:solidFill>
                <a:latin typeface="Ember Modern Display Standard"/>
              </a:rPr>
              <a:t>01 Understanding</a:t>
            </a:r>
            <a:r>
              <a:rPr sz="850" b="0">
                <a:solidFill>
                  <a:srgbClr val="161D26"/>
                </a:solidFill>
                <a:latin typeface="Ember Modern Display Standard"/>
              </a:rPr>
              <a:t>    </a:t>
            </a:r>
            <a:r>
              <a:rPr sz="850" b="1">
                <a:solidFill>
                  <a:srgbClr val="FF6200"/>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r>
              <a:rPr sz="850" b="0">
                <a:solidFill>
                  <a:srgbClr val="161D26"/>
                </a:solidFill>
                <a:latin typeface="Ember Modern Display Standard"/>
              </a:rPr>
              <a:t>    </a:t>
            </a:r>
            <a:r>
              <a:rPr sz="850" b="0">
                <a:solidFill>
                  <a:srgbClr val="B8C0CC"/>
                </a:solidFill>
                <a:latin typeface="Ember Modern Display Standard"/>
              </a:rPr>
              <a:t>05 Ahead</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Frugality</a:t>
            </a:r>
          </a:p>
        </p:txBody>
      </p:sp>
      <p:graphicFrame>
        <p:nvGraphicFramePr>
          <p:cNvPr id="269" name="Chart 268"/>
          <p:cNvGraphicFramePr>
            <a:graphicFrameLocks noGrp="1"/>
          </p:cNvGraphicFramePr>
          <p:nvPr/>
        </p:nvGraphicFramePr>
        <p:xfrm>
          <a:off x="411480" y="1280160"/>
          <a:ext cx="5303520" cy="2834640"/>
        </p:xfrm>
        <a:graphic>
          <a:graphicData uri="http://schemas.openxmlformats.org/drawingml/2006/chart">
            <c:chart xmlns:c="http://schemas.openxmlformats.org/drawingml/2006/chart" r:id="rId2"/>
          </a:graphicData>
        </a:graphic>
      </p:graphicFrame>
      <p:sp>
        <p:nvSpPr>
          <p:cNvPr id="270" name="TextBox 269"/>
          <p:cNvSpPr txBox="1"/>
          <p:nvPr/>
        </p:nvSpPr>
        <p:spPr>
          <a:xfrm>
            <a:off x="502920" y="4160520"/>
            <a:ext cx="5120640" cy="274320"/>
          </a:xfrm>
          <a:prstGeom prst="rect">
            <a:avLst/>
          </a:prstGeom>
          <a:noFill/>
        </p:spPr>
        <p:txBody>
          <a:bodyPr wrap="square" lIns="0" rIns="0" tIns="0" bIns="0" anchor="t">
            <a:spAutoFit/>
          </a:bodyPr>
          <a:lstStyle/>
          <a:p>
            <a:pPr algn="l"/>
            <a:r>
              <a:rPr sz="1050" b="0">
                <a:solidFill>
                  <a:srgbClr val="6B7280"/>
                </a:solidFill>
                <a:latin typeface="Ember Modern Display Standard"/>
              </a:rPr>
              <a:t>pairs per entity at each stage (test)</a:t>
            </a:r>
          </a:p>
        </p:txBody>
      </p:sp>
      <p:sp>
        <p:nvSpPr>
          <p:cNvPr id="271" name="TextBox 270"/>
          <p:cNvSpPr txBox="1"/>
          <p:nvPr/>
        </p:nvSpPr>
        <p:spPr>
          <a:xfrm>
            <a:off x="5989320" y="1371600"/>
            <a:ext cx="2651760" cy="274320"/>
          </a:xfrm>
          <a:prstGeom prst="rect">
            <a:avLst/>
          </a:prstGeom>
          <a:noFill/>
        </p:spPr>
        <p:txBody>
          <a:bodyPr wrap="square" lIns="0" rIns="0" tIns="0" bIns="0" anchor="t">
            <a:spAutoFit/>
          </a:bodyPr>
          <a:lstStyle/>
          <a:p>
            <a:pPr algn="l"/>
            <a:r>
              <a:rPr sz="1000" b="1">
                <a:solidFill>
                  <a:srgbClr val="FF6200"/>
                </a:solidFill>
                <a:latin typeface="Ember Modern Display Standard"/>
              </a:rPr>
              <a:t>WHAT IT TELLS US</a:t>
            </a:r>
          </a:p>
        </p:txBody>
      </p:sp>
      <p:sp>
        <p:nvSpPr>
          <p:cNvPr id="272" name="Oval 271"/>
          <p:cNvSpPr/>
          <p:nvPr/>
        </p:nvSpPr>
        <p:spPr>
          <a:xfrm>
            <a:off x="5989320" y="1783080"/>
            <a:ext cx="329184" cy="329184"/>
          </a:xfrm>
          <a:prstGeom prst="ellipse">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1</a:t>
            </a:r>
          </a:p>
        </p:txBody>
      </p:sp>
      <p:sp>
        <p:nvSpPr>
          <p:cNvPr id="273" name="TextBox 272"/>
          <p:cNvSpPr txBox="1"/>
          <p:nvPr/>
        </p:nvSpPr>
        <p:spPr>
          <a:xfrm>
            <a:off x="6446520" y="1764792"/>
            <a:ext cx="2194560" cy="841248"/>
          </a:xfrm>
          <a:prstGeom prst="rect">
            <a:avLst/>
          </a:prstGeom>
          <a:noFill/>
        </p:spPr>
        <p:txBody>
          <a:bodyPr wrap="square" lIns="0" rIns="0" tIns="0" bIns="0" anchor="t">
            <a:spAutoFit/>
          </a:bodyPr>
          <a:lstStyle/>
          <a:p>
            <a:pPr algn="l"/>
            <a:r>
              <a:rPr sz="1300" b="0">
                <a:solidFill>
                  <a:srgbClr val="161D26"/>
                </a:solidFill>
                <a:latin typeface="Ember Modern Display Standard"/>
              </a:rPr>
              <a:t>Core pipeline on one 12 GB GPU and 31 GB RAM</a:t>
            </a:r>
          </a:p>
        </p:txBody>
      </p:sp>
      <p:sp>
        <p:nvSpPr>
          <p:cNvPr id="274" name="Oval 273"/>
          <p:cNvSpPr/>
          <p:nvPr/>
        </p:nvSpPr>
        <p:spPr>
          <a:xfrm>
            <a:off x="5989320" y="2715768"/>
            <a:ext cx="329184" cy="329184"/>
          </a:xfrm>
          <a:prstGeom prst="ellipse">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2</a:t>
            </a:r>
          </a:p>
        </p:txBody>
      </p:sp>
      <p:sp>
        <p:nvSpPr>
          <p:cNvPr id="275" name="TextBox 274"/>
          <p:cNvSpPr txBox="1"/>
          <p:nvPr/>
        </p:nvSpPr>
        <p:spPr>
          <a:xfrm>
            <a:off x="6446520" y="2697479"/>
            <a:ext cx="2194560" cy="841248"/>
          </a:xfrm>
          <a:prstGeom prst="rect">
            <a:avLst/>
          </a:prstGeom>
          <a:noFill/>
        </p:spPr>
        <p:txBody>
          <a:bodyPr wrap="square" lIns="0" rIns="0" tIns="0" bIns="0" anchor="t">
            <a:spAutoFit/>
          </a:bodyPr>
          <a:lstStyle/>
          <a:p>
            <a:pPr algn="l"/>
            <a:r>
              <a:rPr sz="1300" b="0">
                <a:solidFill>
                  <a:srgbClr val="161D26"/>
                </a:solidFill>
                <a:latin typeface="Ember Modern Display Standard"/>
              </a:rPr>
              <a:t>Blocking about 13 min; memory peaks at 19 GB</a:t>
            </a:r>
          </a:p>
        </p:txBody>
      </p:sp>
      <p:sp>
        <p:nvSpPr>
          <p:cNvPr id="276" name="Oval 275"/>
          <p:cNvSpPr/>
          <p:nvPr/>
        </p:nvSpPr>
        <p:spPr>
          <a:xfrm>
            <a:off x="5989320" y="3648456"/>
            <a:ext cx="329184" cy="329184"/>
          </a:xfrm>
          <a:prstGeom prst="ellipse">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3</a:t>
            </a:r>
          </a:p>
        </p:txBody>
      </p:sp>
      <p:sp>
        <p:nvSpPr>
          <p:cNvPr id="277" name="TextBox 276"/>
          <p:cNvSpPr txBox="1"/>
          <p:nvPr/>
        </p:nvSpPr>
        <p:spPr>
          <a:xfrm>
            <a:off x="6446520" y="3630168"/>
            <a:ext cx="2194560" cy="841248"/>
          </a:xfrm>
          <a:prstGeom prst="rect">
            <a:avLst/>
          </a:prstGeom>
          <a:noFill/>
        </p:spPr>
        <p:txBody>
          <a:bodyPr wrap="square" lIns="0" rIns="0" tIns="0" bIns="0" anchor="t">
            <a:spAutoFit/>
          </a:bodyPr>
          <a:lstStyle/>
          <a:p>
            <a:pPr algn="l"/>
            <a:r>
              <a:rPr sz="1300" b="0">
                <a:solidFill>
                  <a:srgbClr val="161D26"/>
                </a:solidFill>
                <a:latin typeface="Ember Modern Display Standard"/>
              </a:rPr>
              <a:t>Heavy models read under 3% of pairs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wipe(left)">
                                      <p:cBhvr>
                                        <p:cTn id="6" dur="50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childTnLst>
                          </p:cTn>
                        </p:par>
                        <p:par>
                          <p:cTn id="14" fill="hold">
                            <p:stCondLst>
                              <p:cond delay="500"/>
                            </p:stCondLst>
                            <p:childTnLst>
                              <p:par>
                                <p:cTn id="11" presetID="10" presetClass="entr" presetSubtype="0" fill="hold" grpId="0" nodeType="afterEffect">
                                  <p:stCondLst>
                                    <p:cond delay="0"/>
                                  </p:stCondLst>
                                  <p:childTnLst>
                                    <p:set>
                                      <p:cBhvr>
                                        <p:cTn id="12" dur="1" fill="hold">
                                          <p:stCondLst>
                                            <p:cond delay="0"/>
                                          </p:stCondLst>
                                        </p:cTn>
                                        <p:tgtEl>
                                          <p:spTgt spid="271"/>
                                        </p:tgtEl>
                                        <p:attrNameLst>
                                          <p:attrName>style.visibility</p:attrName>
                                        </p:attrNameLst>
                                      </p:cBhvr>
                                      <p:to>
                                        <p:strVal val="visible"/>
                                      </p:to>
                                    </p:set>
                                    <p:animEffect transition="in" filter="fade">
                                      <p:cBhvr>
                                        <p:cTn id="13" dur="450"/>
                                        <p:tgtEl>
                                          <p:spTgt spid="271"/>
                                        </p:tgtEl>
                                      </p:cBhvr>
                                    </p:animEffect>
                                  </p:childTnLst>
                                </p:cTn>
                              </p:par>
                            </p:childTnLst>
                          </p:cTn>
                        </p:par>
                        <p:par>
                          <p:cTn id="21" fill="hold">
                            <p:stCondLst>
                              <p:cond delay="950"/>
                            </p:stCondLst>
                            <p:childTnLst>
                              <p:par>
                                <p:cTn id="15" presetID="10" presetClass="entr" presetSubtype="0" fill="hold" grpId="0" nodeType="afterEffect">
                                  <p:stCondLst>
                                    <p:cond delay="0"/>
                                  </p:stCondLst>
                                  <p:childTnLst>
                                    <p:set>
                                      <p:cBhvr>
                                        <p:cTn id="16" dur="1" fill="hold">
                                          <p:stCondLst>
                                            <p:cond delay="0"/>
                                          </p:stCondLst>
                                        </p:cTn>
                                        <p:tgtEl>
                                          <p:spTgt spid="272"/>
                                        </p:tgtEl>
                                        <p:attrNameLst>
                                          <p:attrName>style.visibility</p:attrName>
                                        </p:attrNameLst>
                                      </p:cBhvr>
                                      <p:to>
                                        <p:strVal val="visible"/>
                                      </p:to>
                                    </p:set>
                                    <p:animEffect transition="in" filter="fade">
                                      <p:cBhvr>
                                        <p:cTn id="17" dur="450"/>
                                        <p:tgtEl>
                                          <p:spTgt spid="27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3"/>
                                        </p:tgtEl>
                                        <p:attrNameLst>
                                          <p:attrName>style.visibility</p:attrName>
                                        </p:attrNameLst>
                                      </p:cBhvr>
                                      <p:to>
                                        <p:strVal val="visible"/>
                                      </p:to>
                                    </p:set>
                                    <p:animEffect transition="in" filter="fade">
                                      <p:cBhvr>
                                        <p:cTn id="20" dur="450"/>
                                        <p:tgtEl>
                                          <p:spTgt spid="273"/>
                                        </p:tgtEl>
                                      </p:cBhvr>
                                    </p:animEffect>
                                  </p:childTnLst>
                                </p:cTn>
                              </p:par>
                            </p:childTnLst>
                          </p:cTn>
                        </p:par>
                        <p:par>
                          <p:cTn id="28" fill="hold">
                            <p:stCondLst>
                              <p:cond delay="1400"/>
                            </p:stCondLst>
                            <p:childTnLst>
                              <p:par>
                                <p:cTn id="22" presetID="10" presetClass="entr" presetSubtype="0" fill="hold" grpId="0" nodeType="afterEffect">
                                  <p:stCondLst>
                                    <p:cond delay="0"/>
                                  </p:stCondLst>
                                  <p:childTnLst>
                                    <p:set>
                                      <p:cBhvr>
                                        <p:cTn id="23" dur="1" fill="hold">
                                          <p:stCondLst>
                                            <p:cond delay="0"/>
                                          </p:stCondLst>
                                        </p:cTn>
                                        <p:tgtEl>
                                          <p:spTgt spid="274"/>
                                        </p:tgtEl>
                                        <p:attrNameLst>
                                          <p:attrName>style.visibility</p:attrName>
                                        </p:attrNameLst>
                                      </p:cBhvr>
                                      <p:to>
                                        <p:strVal val="visible"/>
                                      </p:to>
                                    </p:set>
                                    <p:animEffect transition="in" filter="fade">
                                      <p:cBhvr>
                                        <p:cTn id="24" dur="450"/>
                                        <p:tgtEl>
                                          <p:spTgt spid="27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75"/>
                                        </p:tgtEl>
                                        <p:attrNameLst>
                                          <p:attrName>style.visibility</p:attrName>
                                        </p:attrNameLst>
                                      </p:cBhvr>
                                      <p:to>
                                        <p:strVal val="visible"/>
                                      </p:to>
                                    </p:set>
                                    <p:animEffect transition="in" filter="fade">
                                      <p:cBhvr>
                                        <p:cTn id="27" dur="450"/>
                                        <p:tgtEl>
                                          <p:spTgt spid="275"/>
                                        </p:tgtEl>
                                      </p:cBhvr>
                                    </p:animEffect>
                                  </p:childTnLst>
                                </p:cTn>
                              </p:par>
                            </p:childTnLst>
                          </p:cTn>
                        </p:par>
                        <p:par>
                          <p:cTn id="35" fill="hold">
                            <p:stCondLst>
                              <p:cond delay="1850"/>
                            </p:stCondLst>
                            <p:childTnLst>
                              <p:par>
                                <p:cTn id="29" presetID="10" presetClass="entr" presetSubtype="0" fill="hold" grpId="0" nodeType="afterEffect">
                                  <p:stCondLst>
                                    <p:cond delay="0"/>
                                  </p:stCondLst>
                                  <p:childTnLst>
                                    <p:set>
                                      <p:cBhvr>
                                        <p:cTn id="30" dur="1" fill="hold">
                                          <p:stCondLst>
                                            <p:cond delay="0"/>
                                          </p:stCondLst>
                                        </p:cTn>
                                        <p:tgtEl>
                                          <p:spTgt spid="276"/>
                                        </p:tgtEl>
                                        <p:attrNameLst>
                                          <p:attrName>style.visibility</p:attrName>
                                        </p:attrNameLst>
                                      </p:cBhvr>
                                      <p:to>
                                        <p:strVal val="visible"/>
                                      </p:to>
                                    </p:set>
                                    <p:animEffect transition="in" filter="fade">
                                      <p:cBhvr>
                                        <p:cTn id="31" dur="450"/>
                                        <p:tgtEl>
                                          <p:spTgt spid="27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7"/>
                                        </p:tgtEl>
                                        <p:attrNameLst>
                                          <p:attrName>style.visibility</p:attrName>
                                        </p:attrNameLst>
                                      </p:cBhvr>
                                      <p:to>
                                        <p:strVal val="visible"/>
                                      </p:to>
                                    </p:set>
                                    <p:animEffect transition="in" filter="fade">
                                      <p:cBhvr>
                                        <p:cTn id="34" dur="450"/>
                                        <p:tgtEl>
                                          <p:spTgt spid="2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69" grpId="0">
        <p:bldAsOne/>
      </p:bldGraphic>
      <p:bldP spid="270" grpId="0" animBg="1"/>
      <p:bldP spid="271" grpId="0" animBg="1"/>
      <p:bldP spid="272" grpId="0" animBg="1"/>
      <p:bldP spid="273" grpId="0" animBg="1"/>
      <p:bldP spid="274" grpId="0" animBg="1"/>
      <p:bldP spid="275" grpId="0" animBg="1"/>
      <p:bldP spid="276" grpId="0" animBg="1"/>
      <p:bldP spid="27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The Leaderboard</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Talked Back</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Our first scores showed a gap our validation could not see.</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0">
                <a:solidFill>
                  <a:srgbClr val="B8C0CC"/>
                </a:solidFill>
                <a:latin typeface="Ember Modern Display Standard"/>
              </a:rPr>
              <a:t>01 Understanding</a:t>
            </a:r>
            <a:r>
              <a:rPr sz="850" b="0">
                <a:solidFill>
                  <a:srgbClr val="161D26"/>
                </a:solidFill>
                <a:latin typeface="Ember Modern Display Standard"/>
              </a:rPr>
              <a:t>    </a:t>
            </a:r>
            <a:r>
              <a:rPr sz="850" b="0">
                <a:solidFill>
                  <a:srgbClr val="B8C0CC"/>
                </a:solidFill>
                <a:latin typeface="Ember Modern Display Standard"/>
              </a:rPr>
              <a:t>02 Building</a:t>
            </a:r>
            <a:r>
              <a:rPr sz="850" b="0">
                <a:solidFill>
                  <a:srgbClr val="161D26"/>
                </a:solidFill>
                <a:latin typeface="Ember Modern Display Standard"/>
              </a:rPr>
              <a:t>    </a:t>
            </a:r>
            <a:r>
              <a:rPr sz="850" b="1">
                <a:solidFill>
                  <a:srgbClr val="FF6200"/>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r>
              <a:rPr sz="850" b="0">
                <a:solidFill>
                  <a:srgbClr val="161D26"/>
                </a:solidFill>
                <a:latin typeface="Ember Modern Display Standard"/>
              </a:rPr>
              <a:t>    </a:t>
            </a:r>
            <a:r>
              <a:rPr sz="850" b="0">
                <a:solidFill>
                  <a:srgbClr val="B8C0CC"/>
                </a:solidFill>
                <a:latin typeface="Ember Modern Display Standard"/>
              </a:rPr>
              <a:t>05 Ahead</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Insist on the Highest Standards</a:t>
            </a:r>
          </a:p>
        </p:txBody>
      </p:sp>
      <p:sp>
        <p:nvSpPr>
          <p:cNvPr id="269" name="TextBox 268"/>
          <p:cNvSpPr txBox="1"/>
          <p:nvPr/>
        </p:nvSpPr>
        <p:spPr>
          <a:xfrm>
            <a:off x="502920" y="1325880"/>
            <a:ext cx="3840480" cy="274320"/>
          </a:xfrm>
          <a:prstGeom prst="rect">
            <a:avLst/>
          </a:prstGeom>
          <a:noFill/>
        </p:spPr>
        <p:txBody>
          <a:bodyPr wrap="square" lIns="0" rIns="0" tIns="0" bIns="0" anchor="t">
            <a:spAutoFit/>
          </a:bodyPr>
          <a:lstStyle/>
          <a:p>
            <a:pPr algn="l"/>
            <a:r>
              <a:rPr sz="1250" b="1">
                <a:solidFill>
                  <a:srgbClr val="6B7280"/>
                </a:solidFill>
                <a:latin typeface="Ember Modern Display Standard"/>
              </a:rPr>
              <a:t>Our first scores</a:t>
            </a:r>
          </a:p>
        </p:txBody>
      </p:sp>
      <p:graphicFrame>
        <p:nvGraphicFramePr>
          <p:cNvPr id="270" name="Chart 269"/>
          <p:cNvGraphicFramePr>
            <a:graphicFrameLocks noGrp="1"/>
          </p:cNvGraphicFramePr>
          <p:nvPr/>
        </p:nvGraphicFramePr>
        <p:xfrm>
          <a:off x="411480" y="1554480"/>
          <a:ext cx="3931920" cy="2331720"/>
        </p:xfrm>
        <a:graphic>
          <a:graphicData uri="http://schemas.openxmlformats.org/drawingml/2006/chart">
            <c:chart xmlns:c="http://schemas.openxmlformats.org/drawingml/2006/chart" r:id="rId2"/>
          </a:graphicData>
        </a:graphic>
      </p:graphicFrame>
      <p:sp>
        <p:nvSpPr>
          <p:cNvPr id="271" name="TextBox 270"/>
          <p:cNvSpPr txBox="1"/>
          <p:nvPr/>
        </p:nvSpPr>
        <p:spPr>
          <a:xfrm>
            <a:off x="4709160" y="1325880"/>
            <a:ext cx="3931920" cy="274320"/>
          </a:xfrm>
          <a:prstGeom prst="rect">
            <a:avLst/>
          </a:prstGeom>
          <a:noFill/>
        </p:spPr>
        <p:txBody>
          <a:bodyPr wrap="square" lIns="0" rIns="0" tIns="0" bIns="0" anchor="t">
            <a:spAutoFit/>
          </a:bodyPr>
          <a:lstStyle/>
          <a:p>
            <a:pPr algn="l"/>
            <a:r>
              <a:rPr sz="1250" b="1">
                <a:solidFill>
                  <a:srgbClr val="6B7280"/>
                </a:solidFill>
                <a:latin typeface="Ember Modern Display Standard"/>
              </a:rPr>
              <a:t>By country (estimated)</a:t>
            </a:r>
          </a:p>
        </p:txBody>
      </p:sp>
      <p:graphicFrame>
        <p:nvGraphicFramePr>
          <p:cNvPr id="272" name="Chart 271"/>
          <p:cNvGraphicFramePr>
            <a:graphicFrameLocks noGrp="1"/>
          </p:cNvGraphicFramePr>
          <p:nvPr/>
        </p:nvGraphicFramePr>
        <p:xfrm>
          <a:off x="4617720" y="1554480"/>
          <a:ext cx="4023360" cy="2331720"/>
        </p:xfrm>
        <a:graphic>
          <a:graphicData uri="http://schemas.openxmlformats.org/drawingml/2006/chart">
            <c:chart xmlns:c="http://schemas.openxmlformats.org/drawingml/2006/chart" r:id="rId4"/>
          </a:graphicData>
        </a:graphic>
      </p:graphicFrame>
      <p:sp>
        <p:nvSpPr>
          <p:cNvPr id="273" name="TextBox 272"/>
          <p:cNvSpPr txBox="1"/>
          <p:nvPr/>
        </p:nvSpPr>
        <p:spPr>
          <a:xfrm>
            <a:off x="502920" y="4041648"/>
            <a:ext cx="8138160" cy="320040"/>
          </a:xfrm>
          <a:prstGeom prst="rect">
            <a:avLst/>
          </a:prstGeom>
          <a:noFill/>
        </p:spPr>
        <p:txBody>
          <a:bodyPr wrap="square" lIns="0" rIns="0" tIns="0" bIns="0" anchor="t">
            <a:spAutoFit/>
          </a:bodyPr>
          <a:lstStyle/>
          <a:p>
            <a:pPr algn="l"/>
            <a:r>
              <a:rPr sz="1300" b="0">
                <a:solidFill>
                  <a:srgbClr val="161D26"/>
                </a:solidFill>
                <a:latin typeface="Ember Modern Display Standard"/>
              </a:rPr>
              <a:t>We ruled out bugs, split the gap by country, then </a:t>
            </a:r>
            <a:r>
              <a:rPr sz="1300" b="1">
                <a:solidFill>
                  <a:srgbClr val="161D26"/>
                </a:solidFill>
                <a:latin typeface="Ember Modern Display Standard"/>
              </a:rPr>
              <a:t>read the French errors by hand.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fade">
                                      <p:cBhvr>
                                        <p:cTn id="6" dur="45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childTnLst>
                          </p:cTn>
                        </p:par>
                        <p:par>
                          <p:cTn id="17" fill="hold">
                            <p:stCondLst>
                              <p:cond delay="450"/>
                            </p:stCondLst>
                            <p:childTnLst>
                              <p:par>
                                <p:cTn id="11" presetID="10" presetClass="entr" presetSubtype="0" fill="hold" grpId="0" nodeType="afterEffect">
                                  <p:stCondLst>
                                    <p:cond delay="0"/>
                                  </p:stCondLst>
                                  <p:childTnLst>
                                    <p:set>
                                      <p:cBhvr>
                                        <p:cTn id="12" dur="1" fill="hold">
                                          <p:stCondLst>
                                            <p:cond delay="0"/>
                                          </p:stCondLst>
                                        </p:cTn>
                                        <p:tgtEl>
                                          <p:spTgt spid="271"/>
                                        </p:tgtEl>
                                        <p:attrNameLst>
                                          <p:attrName>style.visibility</p:attrName>
                                        </p:attrNameLst>
                                      </p:cBhvr>
                                      <p:to>
                                        <p:strVal val="visible"/>
                                      </p:to>
                                    </p:set>
                                    <p:animEffect transition="in" filter="fade">
                                      <p:cBhvr>
                                        <p:cTn id="13" dur="450"/>
                                        <p:tgtEl>
                                          <p:spTgt spid="27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2"/>
                                        </p:tgtEl>
                                        <p:attrNameLst>
                                          <p:attrName>style.visibility</p:attrName>
                                        </p:attrNameLst>
                                      </p:cBhvr>
                                      <p:to>
                                        <p:strVal val="visible"/>
                                      </p:to>
                                    </p:set>
                                    <p:animEffect transition="in" filter="fade">
                                      <p:cBhvr>
                                        <p:cTn id="16" dur="450"/>
                                        <p:tgtEl>
                                          <p:spTgt spid="272"/>
                                        </p:tgtEl>
                                      </p:cBhvr>
                                    </p:animEffect>
                                  </p:childTnLst>
                                </p:cTn>
                              </p:par>
                            </p:childTnLst>
                          </p:cTn>
                        </p:par>
                        <p:par>
                          <p:cTn id="21" fill="hold">
                            <p:stCondLst>
                              <p:cond delay="900"/>
                            </p:stCondLst>
                            <p:childTnLst>
                              <p:par>
                                <p:cTn id="18" presetID="10" presetClass="entr" presetSubtype="0" fill="hold" grpId="0" nodeType="afterEffect">
                                  <p:stCondLst>
                                    <p:cond delay="0"/>
                                  </p:stCondLst>
                                  <p:childTnLst>
                                    <p:set>
                                      <p:cBhvr>
                                        <p:cTn id="19" dur="1" fill="hold">
                                          <p:stCondLst>
                                            <p:cond delay="0"/>
                                          </p:stCondLst>
                                        </p:cTn>
                                        <p:tgtEl>
                                          <p:spTgt spid="273"/>
                                        </p:tgtEl>
                                        <p:attrNameLst>
                                          <p:attrName>style.visibility</p:attrName>
                                        </p:attrNameLst>
                                      </p:cBhvr>
                                      <p:to>
                                        <p:strVal val="visible"/>
                                      </p:to>
                                    </p:set>
                                    <p:animEffect transition="in" filter="fade">
                                      <p:cBhvr>
                                        <p:cTn id="20" dur="450"/>
                                        <p:tgtEl>
                                          <p:spTgt spid="2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9" grpId="0" animBg="1"/>
      <p:bldGraphic spid="270" grpId="0">
        <p:bldAsOne/>
      </p:bldGraphic>
      <p:bldP spid="271" grpId="0" animBg="1"/>
      <p:bldGraphic spid="272" grpId="0">
        <p:bldAsOne/>
      </p:bldGraphic>
      <p:bldP spid="27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A Country We</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Never Saw</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France had no labels, so we let the data teach us, with guards.</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0">
                <a:solidFill>
                  <a:srgbClr val="B8C0CC"/>
                </a:solidFill>
                <a:latin typeface="Ember Modern Display Standard"/>
              </a:rPr>
              <a:t>01 Understanding</a:t>
            </a:r>
            <a:r>
              <a:rPr sz="850" b="0">
                <a:solidFill>
                  <a:srgbClr val="161D26"/>
                </a:solidFill>
                <a:latin typeface="Ember Modern Display Standard"/>
              </a:rPr>
              <a:t>    </a:t>
            </a:r>
            <a:r>
              <a:rPr sz="850" b="0">
                <a:solidFill>
                  <a:srgbClr val="B8C0CC"/>
                </a:solidFill>
                <a:latin typeface="Ember Modern Display Standard"/>
              </a:rPr>
              <a:t>02 Building</a:t>
            </a:r>
            <a:r>
              <a:rPr sz="850" b="0">
                <a:solidFill>
                  <a:srgbClr val="161D26"/>
                </a:solidFill>
                <a:latin typeface="Ember Modern Display Standard"/>
              </a:rPr>
              <a:t>    </a:t>
            </a:r>
            <a:r>
              <a:rPr sz="850" b="1">
                <a:solidFill>
                  <a:srgbClr val="FF6200"/>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r>
              <a:rPr sz="850" b="0">
                <a:solidFill>
                  <a:srgbClr val="161D26"/>
                </a:solidFill>
                <a:latin typeface="Ember Modern Display Standard"/>
              </a:rPr>
              <a:t>    </a:t>
            </a:r>
            <a:r>
              <a:rPr sz="850" b="0">
                <a:solidFill>
                  <a:srgbClr val="B8C0CC"/>
                </a:solidFill>
                <a:latin typeface="Ember Modern Display Standard"/>
              </a:rPr>
              <a:t>05 Ahead</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Learn and Be Curious</a:t>
            </a:r>
          </a:p>
        </p:txBody>
      </p:sp>
      <p:sp>
        <p:nvSpPr>
          <p:cNvPr id="269" name="Oval 268"/>
          <p:cNvSpPr/>
          <p:nvPr/>
        </p:nvSpPr>
        <p:spPr>
          <a:xfrm>
            <a:off x="502920" y="1417320"/>
            <a:ext cx="420624" cy="420624"/>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FFFFFF"/>
                </a:solidFill>
                <a:latin typeface="Ember Modern Display Standard"/>
              </a:rPr>
              <a:t>1</a:t>
            </a:r>
          </a:p>
        </p:txBody>
      </p:sp>
      <p:sp>
        <p:nvSpPr>
          <p:cNvPr id="270" name="TextBox 269"/>
          <p:cNvSpPr txBox="1"/>
          <p:nvPr/>
        </p:nvSpPr>
        <p:spPr>
          <a:xfrm>
            <a:off x="1097280" y="1399032"/>
            <a:ext cx="4023360" cy="777240"/>
          </a:xfrm>
          <a:prstGeom prst="rect">
            <a:avLst/>
          </a:prstGeom>
          <a:noFill/>
        </p:spPr>
        <p:txBody>
          <a:bodyPr wrap="square" lIns="0" rIns="0" tIns="0" bIns="0" anchor="t">
            <a:spAutoFit/>
          </a:bodyPr>
          <a:lstStyle/>
          <a:p>
            <a:pPr algn="l"/>
            <a:r>
              <a:rPr sz="1600" b="1">
                <a:solidFill>
                  <a:srgbClr val="161D26"/>
                </a:solidFill>
                <a:latin typeface="Ember Modern Display Standard"/>
              </a:rPr>
              <a:t>Learn its words</a:t>
            </a:r>
          </a:p>
          <a:p>
            <a:pPr algn="l"/>
            <a:r>
              <a:rPr sz="1300" b="0">
                <a:solidFill>
                  <a:srgbClr val="161D26"/>
                </a:solidFill>
                <a:latin typeface="Ember Modern Display Standard"/>
              </a:rPr>
              <a:t>word statistics, without labels</a:t>
            </a:r>
          </a:p>
        </p:txBody>
      </p:sp>
      <p:sp>
        <p:nvSpPr>
          <p:cNvPr id="271" name="Oval 270"/>
          <p:cNvSpPr/>
          <p:nvPr/>
        </p:nvSpPr>
        <p:spPr>
          <a:xfrm>
            <a:off x="502920" y="2286000"/>
            <a:ext cx="420624" cy="420624"/>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FFFFFF"/>
                </a:solidFill>
                <a:latin typeface="Ember Modern Display Standard"/>
              </a:rPr>
              <a:t>2</a:t>
            </a:r>
          </a:p>
        </p:txBody>
      </p:sp>
      <p:sp>
        <p:nvSpPr>
          <p:cNvPr id="272" name="TextBox 271"/>
          <p:cNvSpPr txBox="1"/>
          <p:nvPr/>
        </p:nvSpPr>
        <p:spPr>
          <a:xfrm>
            <a:off x="1097280" y="2267712"/>
            <a:ext cx="4023360" cy="777240"/>
          </a:xfrm>
          <a:prstGeom prst="rect">
            <a:avLst/>
          </a:prstGeom>
          <a:noFill/>
        </p:spPr>
        <p:txBody>
          <a:bodyPr wrap="square" lIns="0" rIns="0" tIns="0" bIns="0" anchor="t">
            <a:spAutoFit/>
          </a:bodyPr>
          <a:lstStyle/>
          <a:p>
            <a:pPr algn="l"/>
            <a:r>
              <a:rPr sz="1600" b="1">
                <a:solidFill>
                  <a:srgbClr val="161D26"/>
                </a:solidFill>
                <a:latin typeface="Ember Modern Display Standard"/>
              </a:rPr>
              <a:t>Teach itself</a:t>
            </a:r>
          </a:p>
          <a:p>
            <a:pPr algn="l"/>
            <a:r>
              <a:rPr sz="1300" b="0">
                <a:solidFill>
                  <a:srgbClr val="161D26"/>
                </a:solidFill>
                <a:latin typeface="Ember Modern Display Standard"/>
              </a:rPr>
              <a:t>learn from its own confident answers, cross-checked</a:t>
            </a:r>
          </a:p>
        </p:txBody>
      </p:sp>
      <p:sp>
        <p:nvSpPr>
          <p:cNvPr id="273" name="Oval 272"/>
          <p:cNvSpPr/>
          <p:nvPr/>
        </p:nvSpPr>
        <p:spPr>
          <a:xfrm>
            <a:off x="502920" y="3154680"/>
            <a:ext cx="420624" cy="420624"/>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FFFFFF"/>
                </a:solidFill>
                <a:latin typeface="Ember Modern Display Standard"/>
              </a:rPr>
              <a:t>3</a:t>
            </a:r>
          </a:p>
        </p:txBody>
      </p:sp>
      <p:sp>
        <p:nvSpPr>
          <p:cNvPr id="274" name="TextBox 273"/>
          <p:cNvSpPr txBox="1"/>
          <p:nvPr/>
        </p:nvSpPr>
        <p:spPr>
          <a:xfrm>
            <a:off x="1097280" y="3136392"/>
            <a:ext cx="4023360" cy="777240"/>
          </a:xfrm>
          <a:prstGeom prst="rect">
            <a:avLst/>
          </a:prstGeom>
          <a:noFill/>
        </p:spPr>
        <p:txBody>
          <a:bodyPr wrap="square" lIns="0" rIns="0" tIns="0" bIns="0" anchor="t">
            <a:spAutoFit/>
          </a:bodyPr>
          <a:lstStyle/>
          <a:p>
            <a:pPr algn="l"/>
            <a:r>
              <a:rPr sz="1600" b="1">
                <a:solidFill>
                  <a:srgbClr val="161D26"/>
                </a:solidFill>
                <a:latin typeface="Ember Modern Display Standard"/>
              </a:rPr>
              <a:t>Second opinion</a:t>
            </a:r>
          </a:p>
          <a:p>
            <a:pPr algn="l"/>
            <a:r>
              <a:rPr sz="1300" b="0">
                <a:solidFill>
                  <a:srgbClr val="161D26"/>
                </a:solidFill>
                <a:latin typeface="Ember Modern Display Standard"/>
              </a:rPr>
              <a:t>different models vote; a 7B re-checks</a:t>
            </a:r>
          </a:p>
        </p:txBody>
      </p:sp>
      <p:sp>
        <p:nvSpPr>
          <p:cNvPr id="275" name="TextBox 274"/>
          <p:cNvSpPr txBox="1"/>
          <p:nvPr/>
        </p:nvSpPr>
        <p:spPr>
          <a:xfrm>
            <a:off x="502920" y="4069080"/>
            <a:ext cx="4846320" cy="274320"/>
          </a:xfrm>
          <a:prstGeom prst="rect">
            <a:avLst/>
          </a:prstGeom>
          <a:noFill/>
        </p:spPr>
        <p:txBody>
          <a:bodyPr wrap="square" lIns="0" rIns="0" tIns="0" bIns="0" anchor="t">
            <a:spAutoFit/>
          </a:bodyPr>
          <a:lstStyle/>
          <a:p>
            <a:pPr algn="l"/>
            <a:r>
              <a:rPr sz="1250" b="1">
                <a:solidFill>
                  <a:srgbClr val="6B7280"/>
                </a:solidFill>
                <a:latin typeface="Ember Modern Display Standard"/>
              </a:rPr>
              <a:t>Honestly: </a:t>
            </a:r>
            <a:r>
              <a:rPr sz="1250" b="0">
                <a:solidFill>
                  <a:srgbClr val="6B7280"/>
                </a:solidFill>
                <a:latin typeface="Ember Modern Display Standard"/>
              </a:rPr>
              <a:t>self-training failed twice before it worked.</a:t>
            </a:r>
          </a:p>
        </p:txBody>
      </p:sp>
      <p:sp>
        <p:nvSpPr>
          <p:cNvPr id="276" name="TextBox 275"/>
          <p:cNvSpPr txBox="1"/>
          <p:nvPr/>
        </p:nvSpPr>
        <p:spPr>
          <a:xfrm>
            <a:off x="5623560" y="1325880"/>
            <a:ext cx="3017520" cy="274320"/>
          </a:xfrm>
          <a:prstGeom prst="rect">
            <a:avLst/>
          </a:prstGeom>
          <a:noFill/>
        </p:spPr>
        <p:txBody>
          <a:bodyPr wrap="square" lIns="0" rIns="0" tIns="0" bIns="0" anchor="t">
            <a:spAutoFit/>
          </a:bodyPr>
          <a:lstStyle/>
          <a:p>
            <a:pPr algn="l"/>
            <a:r>
              <a:rPr sz="1250" b="1">
                <a:solidFill>
                  <a:srgbClr val="6B7280"/>
                </a:solidFill>
                <a:latin typeface="Ember Modern Display Standard"/>
              </a:rPr>
              <a:t>France (estimated)</a:t>
            </a:r>
          </a:p>
        </p:txBody>
      </p:sp>
      <p:graphicFrame>
        <p:nvGraphicFramePr>
          <p:cNvPr id="277" name="Chart 276"/>
          <p:cNvGraphicFramePr>
            <a:graphicFrameLocks noGrp="1"/>
          </p:cNvGraphicFramePr>
          <p:nvPr/>
        </p:nvGraphicFramePr>
        <p:xfrm>
          <a:off x="5532120" y="1554480"/>
          <a:ext cx="3108960" cy="2423160"/>
        </p:xfrm>
        <a:graphic>
          <a:graphicData uri="http://schemas.openxmlformats.org/drawingml/2006/chart">
            <c:chart xmlns:c="http://schemas.openxmlformats.org/drawingml/2006/chart" r:id="rId2"/>
          </a:graphicData>
        </a:graphic>
      </p:graphicFrame>
      <p:sp>
        <p:nvSpPr>
          <p:cNvPr id="278" name="TextBox 277"/>
          <p:cNvSpPr txBox="1"/>
          <p:nvPr/>
        </p:nvSpPr>
        <p:spPr>
          <a:xfrm>
            <a:off x="5623560" y="4041648"/>
            <a:ext cx="3017520" cy="320040"/>
          </a:xfrm>
          <a:prstGeom prst="rect">
            <a:avLst/>
          </a:prstGeom>
          <a:noFill/>
        </p:spPr>
        <p:txBody>
          <a:bodyPr wrap="square" lIns="0" rIns="0" tIns="0" bIns="0" anchor="t">
            <a:spAutoFit/>
          </a:bodyPr>
          <a:lstStyle/>
          <a:p>
            <a:pPr algn="ctr"/>
            <a:r>
              <a:rPr sz="1050" b="0">
                <a:solidFill>
                  <a:srgbClr val="6B7280"/>
                </a:solidFill>
                <a:latin typeface="Ember Modern Display Standard"/>
              </a:rPr>
              <a:t>never measured directly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fade">
                                      <p:cBhvr>
                                        <p:cTn id="6" dur="45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childTnLst>
                          </p:cTn>
                        </p:par>
                        <p:par>
                          <p:cTn id="17" fill="hold">
                            <p:stCondLst>
                              <p:cond delay="450"/>
                            </p:stCondLst>
                            <p:childTnLst>
                              <p:par>
                                <p:cTn id="11" presetID="10" presetClass="entr" presetSubtype="0" fill="hold" grpId="0" nodeType="afterEffect">
                                  <p:stCondLst>
                                    <p:cond delay="0"/>
                                  </p:stCondLst>
                                  <p:childTnLst>
                                    <p:set>
                                      <p:cBhvr>
                                        <p:cTn id="12" dur="1" fill="hold">
                                          <p:stCondLst>
                                            <p:cond delay="0"/>
                                          </p:stCondLst>
                                        </p:cTn>
                                        <p:tgtEl>
                                          <p:spTgt spid="271"/>
                                        </p:tgtEl>
                                        <p:attrNameLst>
                                          <p:attrName>style.visibility</p:attrName>
                                        </p:attrNameLst>
                                      </p:cBhvr>
                                      <p:to>
                                        <p:strVal val="visible"/>
                                      </p:to>
                                    </p:set>
                                    <p:animEffect transition="in" filter="fade">
                                      <p:cBhvr>
                                        <p:cTn id="13" dur="450"/>
                                        <p:tgtEl>
                                          <p:spTgt spid="27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2"/>
                                        </p:tgtEl>
                                        <p:attrNameLst>
                                          <p:attrName>style.visibility</p:attrName>
                                        </p:attrNameLst>
                                      </p:cBhvr>
                                      <p:to>
                                        <p:strVal val="visible"/>
                                      </p:to>
                                    </p:set>
                                    <p:animEffect transition="in" filter="fade">
                                      <p:cBhvr>
                                        <p:cTn id="16" dur="450"/>
                                        <p:tgtEl>
                                          <p:spTgt spid="272"/>
                                        </p:tgtEl>
                                      </p:cBhvr>
                                    </p:animEffect>
                                  </p:childTnLst>
                                </p:cTn>
                              </p:par>
                            </p:childTnLst>
                          </p:cTn>
                        </p:par>
                        <p:par>
                          <p:cTn id="24" fill="hold">
                            <p:stCondLst>
                              <p:cond delay="900"/>
                            </p:stCondLst>
                            <p:childTnLst>
                              <p:par>
                                <p:cTn id="18" presetID="10" presetClass="entr" presetSubtype="0" fill="hold" grpId="0" nodeType="afterEffect">
                                  <p:stCondLst>
                                    <p:cond delay="0"/>
                                  </p:stCondLst>
                                  <p:childTnLst>
                                    <p:set>
                                      <p:cBhvr>
                                        <p:cTn id="19" dur="1" fill="hold">
                                          <p:stCondLst>
                                            <p:cond delay="0"/>
                                          </p:stCondLst>
                                        </p:cTn>
                                        <p:tgtEl>
                                          <p:spTgt spid="273"/>
                                        </p:tgtEl>
                                        <p:attrNameLst>
                                          <p:attrName>style.visibility</p:attrName>
                                        </p:attrNameLst>
                                      </p:cBhvr>
                                      <p:to>
                                        <p:strVal val="visible"/>
                                      </p:to>
                                    </p:set>
                                    <p:animEffect transition="in" filter="fade">
                                      <p:cBhvr>
                                        <p:cTn id="20" dur="450"/>
                                        <p:tgtEl>
                                          <p:spTgt spid="27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4"/>
                                        </p:tgtEl>
                                        <p:attrNameLst>
                                          <p:attrName>style.visibility</p:attrName>
                                        </p:attrNameLst>
                                      </p:cBhvr>
                                      <p:to>
                                        <p:strVal val="visible"/>
                                      </p:to>
                                    </p:set>
                                    <p:animEffect transition="in" filter="fade">
                                      <p:cBhvr>
                                        <p:cTn id="23" dur="450"/>
                                        <p:tgtEl>
                                          <p:spTgt spid="274"/>
                                        </p:tgtEl>
                                      </p:cBhvr>
                                    </p:animEffect>
                                  </p:childTnLst>
                                </p:cTn>
                              </p:par>
                            </p:childTnLst>
                          </p:cTn>
                        </p:par>
                        <p:par>
                          <p:cTn id="28" fill="hold">
                            <p:stCondLst>
                              <p:cond delay="1350"/>
                            </p:stCondLst>
                            <p:childTnLst>
                              <p:par>
                                <p:cTn id="25" presetID="10" presetClass="entr" presetSubtype="0" fill="hold" grpId="0" nodeType="afterEffect">
                                  <p:stCondLst>
                                    <p:cond delay="0"/>
                                  </p:stCondLst>
                                  <p:childTnLst>
                                    <p:set>
                                      <p:cBhvr>
                                        <p:cTn id="26" dur="1" fill="hold">
                                          <p:stCondLst>
                                            <p:cond delay="0"/>
                                          </p:stCondLst>
                                        </p:cTn>
                                        <p:tgtEl>
                                          <p:spTgt spid="275"/>
                                        </p:tgtEl>
                                        <p:attrNameLst>
                                          <p:attrName>style.visibility</p:attrName>
                                        </p:attrNameLst>
                                      </p:cBhvr>
                                      <p:to>
                                        <p:strVal val="visible"/>
                                      </p:to>
                                    </p:set>
                                    <p:animEffect transition="in" filter="fade">
                                      <p:cBhvr>
                                        <p:cTn id="27" dur="450"/>
                                        <p:tgtEl>
                                          <p:spTgt spid="275"/>
                                        </p:tgtEl>
                                      </p:cBhvr>
                                    </p:animEffect>
                                  </p:childTnLst>
                                </p:cTn>
                              </p:par>
                            </p:childTnLst>
                          </p:cTn>
                        </p:par>
                        <p:par>
                          <p:cTn id="38" fill="hold">
                            <p:stCondLst>
                              <p:cond delay="1800"/>
                            </p:stCondLst>
                            <p:childTnLst>
                              <p:par>
                                <p:cTn id="29" presetID="10" presetClass="entr" presetSubtype="0" fill="hold" grpId="0" nodeType="afterEffect">
                                  <p:stCondLst>
                                    <p:cond delay="0"/>
                                  </p:stCondLst>
                                  <p:childTnLst>
                                    <p:set>
                                      <p:cBhvr>
                                        <p:cTn id="30" dur="1" fill="hold">
                                          <p:stCondLst>
                                            <p:cond delay="0"/>
                                          </p:stCondLst>
                                        </p:cTn>
                                        <p:tgtEl>
                                          <p:spTgt spid="276"/>
                                        </p:tgtEl>
                                        <p:attrNameLst>
                                          <p:attrName>style.visibility</p:attrName>
                                        </p:attrNameLst>
                                      </p:cBhvr>
                                      <p:to>
                                        <p:strVal val="visible"/>
                                      </p:to>
                                    </p:set>
                                    <p:animEffect transition="in" filter="fade">
                                      <p:cBhvr>
                                        <p:cTn id="31" dur="450"/>
                                        <p:tgtEl>
                                          <p:spTgt spid="27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7"/>
                                        </p:tgtEl>
                                        <p:attrNameLst>
                                          <p:attrName>style.visibility</p:attrName>
                                        </p:attrNameLst>
                                      </p:cBhvr>
                                      <p:to>
                                        <p:strVal val="visible"/>
                                      </p:to>
                                    </p:set>
                                    <p:animEffect transition="in" filter="fade">
                                      <p:cBhvr>
                                        <p:cTn id="34" dur="450"/>
                                        <p:tgtEl>
                                          <p:spTgt spid="27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8"/>
                                        </p:tgtEl>
                                        <p:attrNameLst>
                                          <p:attrName>style.visibility</p:attrName>
                                        </p:attrNameLst>
                                      </p:cBhvr>
                                      <p:to>
                                        <p:strVal val="visible"/>
                                      </p:to>
                                    </p:set>
                                    <p:animEffect transition="in" filter="fade">
                                      <p:cBhvr>
                                        <p:cTn id="37" dur="450"/>
                                        <p:tgtEl>
                                          <p:spTgt spid="2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9" grpId="0" animBg="1"/>
      <p:bldP spid="270" grpId="0" animBg="1"/>
      <p:bldP spid="271" grpId="0" animBg="1"/>
      <p:bldP spid="272" grpId="0" animBg="1"/>
      <p:bldP spid="273" grpId="0" animBg="1"/>
      <p:bldP spid="274" grpId="0" animBg="1"/>
      <p:bldP spid="275" grpId="0" animBg="1"/>
      <p:bldP spid="276" grpId="0" animBg="1"/>
      <p:bldGraphic spid="277" grpId="0">
        <p:bldAsOne/>
      </p:bldGraphic>
      <p:bldP spid="27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Every Idea</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Tested</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Three people, 329 experiments, and only evidence decided.</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0">
                <a:solidFill>
                  <a:srgbClr val="B8C0CC"/>
                </a:solidFill>
                <a:latin typeface="Ember Modern Display Standard"/>
              </a:rPr>
              <a:t>01 Understanding</a:t>
            </a:r>
            <a:r>
              <a:rPr sz="850" b="0">
                <a:solidFill>
                  <a:srgbClr val="161D26"/>
                </a:solidFill>
                <a:latin typeface="Ember Modern Display Standard"/>
              </a:rPr>
              <a:t>    </a:t>
            </a:r>
            <a:r>
              <a:rPr sz="850" b="0">
                <a:solidFill>
                  <a:srgbClr val="B8C0CC"/>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1">
                <a:solidFill>
                  <a:srgbClr val="FF6200"/>
                </a:solidFill>
                <a:latin typeface="Ember Modern Display Standard"/>
              </a:rPr>
              <a:t>04 Results</a:t>
            </a:r>
            <a:r>
              <a:rPr sz="850" b="0">
                <a:solidFill>
                  <a:srgbClr val="161D26"/>
                </a:solidFill>
                <a:latin typeface="Ember Modern Display Standard"/>
              </a:rPr>
              <a:t>    </a:t>
            </a:r>
            <a:r>
              <a:rPr sz="850" b="0">
                <a:solidFill>
                  <a:srgbClr val="B8C0CC"/>
                </a:solidFill>
                <a:latin typeface="Ember Modern Display Standard"/>
              </a:rPr>
              <a:t>05 Ahead</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Bias for Action  ·  Ownership  ·  Earn Trust</a:t>
            </a:r>
          </a:p>
        </p:txBody>
      </p:sp>
      <p:graphicFrame>
        <p:nvGraphicFramePr>
          <p:cNvPr id="269" name="Chart 268"/>
          <p:cNvGraphicFramePr>
            <a:graphicFrameLocks noGrp="1"/>
          </p:cNvGraphicFramePr>
          <p:nvPr/>
        </p:nvGraphicFramePr>
        <p:xfrm>
          <a:off x="502920" y="1325880"/>
          <a:ext cx="2514600" cy="2514600"/>
        </p:xfrm>
        <a:graphic>
          <a:graphicData uri="http://schemas.openxmlformats.org/drawingml/2006/chart">
            <c:chart xmlns:c="http://schemas.openxmlformats.org/drawingml/2006/chart" r:id="rId2"/>
          </a:graphicData>
        </a:graphic>
      </p:graphicFrame>
      <p:sp>
        <p:nvSpPr>
          <p:cNvPr id="270" name="TextBox 269"/>
          <p:cNvSpPr txBox="1"/>
          <p:nvPr/>
        </p:nvSpPr>
        <p:spPr>
          <a:xfrm>
            <a:off x="502920" y="2212848"/>
            <a:ext cx="2514600" cy="731520"/>
          </a:xfrm>
          <a:prstGeom prst="rect">
            <a:avLst/>
          </a:prstGeom>
          <a:noFill/>
        </p:spPr>
        <p:txBody>
          <a:bodyPr wrap="square" lIns="0" rIns="0" tIns="0" bIns="0" anchor="t">
            <a:spAutoFit/>
          </a:bodyPr>
          <a:lstStyle/>
          <a:p>
            <a:pPr algn="ctr"/>
            <a:r>
              <a:rPr sz="2600" b="1">
                <a:solidFill>
                  <a:srgbClr val="161D26"/>
                </a:solidFill>
                <a:latin typeface="Ember Modern Display Standard"/>
              </a:rPr>
              <a:t>329</a:t>
            </a:r>
          </a:p>
          <a:p>
            <a:pPr algn="ctr"/>
            <a:r>
              <a:rPr sz="1200" b="0">
                <a:solidFill>
                  <a:srgbClr val="6B7280"/>
                </a:solidFill>
                <a:latin typeface="Ember Modern Display Standard"/>
              </a:rPr>
              <a:t>experiments</a:t>
            </a:r>
          </a:p>
        </p:txBody>
      </p:sp>
      <p:sp>
        <p:nvSpPr>
          <p:cNvPr id="271" name="TextBox 270"/>
          <p:cNvSpPr txBox="1"/>
          <p:nvPr/>
        </p:nvSpPr>
        <p:spPr>
          <a:xfrm>
            <a:off x="502920" y="3977639"/>
            <a:ext cx="3017520" cy="274320"/>
          </a:xfrm>
          <a:prstGeom prst="rect">
            <a:avLst/>
          </a:prstGeom>
          <a:noFill/>
        </p:spPr>
        <p:txBody>
          <a:bodyPr wrap="square" lIns="0" rIns="0" tIns="0" bIns="0" anchor="t">
            <a:spAutoFit/>
          </a:bodyPr>
          <a:lstStyle/>
          <a:p>
            <a:pPr algn="l"/>
            <a:r>
              <a:rPr sz="1100" b="0">
                <a:solidFill>
                  <a:srgbClr val="FF6200"/>
                </a:solidFill>
                <a:latin typeface="Ember Modern Display Standard"/>
              </a:rPr>
              <a:t>■ </a:t>
            </a:r>
            <a:r>
              <a:rPr sz="1100" b="0">
                <a:solidFill>
                  <a:srgbClr val="161D26"/>
                </a:solidFill>
                <a:latin typeface="Ember Modern Display Standard"/>
              </a:rPr>
              <a:t>177 kept   </a:t>
            </a:r>
            <a:r>
              <a:rPr sz="1100" b="0">
                <a:solidFill>
                  <a:srgbClr val="161D26"/>
                </a:solidFill>
                <a:latin typeface="Ember Modern Display Standard"/>
              </a:rPr>
              <a:t>■ </a:t>
            </a:r>
            <a:r>
              <a:rPr sz="1100" b="0">
                <a:solidFill>
                  <a:srgbClr val="161D26"/>
                </a:solidFill>
                <a:latin typeface="Ember Modern Display Standard"/>
              </a:rPr>
              <a:t>126 dropped   </a:t>
            </a:r>
            <a:r>
              <a:rPr sz="1100" b="0">
                <a:solidFill>
                  <a:srgbClr val="D6DCE7"/>
                </a:solidFill>
                <a:latin typeface="Ember Modern Display Standard"/>
              </a:rPr>
              <a:t>■ </a:t>
            </a:r>
            <a:r>
              <a:rPr sz="1100" b="0">
                <a:solidFill>
                  <a:srgbClr val="161D26"/>
                </a:solidFill>
                <a:latin typeface="Ember Modern Display Standard"/>
              </a:rPr>
              <a:t>26 other</a:t>
            </a:r>
          </a:p>
        </p:txBody>
      </p:sp>
      <p:sp>
        <p:nvSpPr>
          <p:cNvPr id="272" name="TextBox 271"/>
          <p:cNvSpPr txBox="1"/>
          <p:nvPr/>
        </p:nvSpPr>
        <p:spPr>
          <a:xfrm>
            <a:off x="3657600" y="1417320"/>
            <a:ext cx="4937760" cy="640080"/>
          </a:xfrm>
          <a:prstGeom prst="rect">
            <a:avLst/>
          </a:prstGeom>
          <a:noFill/>
        </p:spPr>
        <p:txBody>
          <a:bodyPr wrap="square" lIns="0" rIns="0" tIns="0" bIns="0" anchor="t">
            <a:spAutoFit/>
          </a:bodyPr>
          <a:lstStyle/>
          <a:p>
            <a:pPr algn="l"/>
            <a:r>
              <a:rPr sz="1600" b="1">
                <a:solidFill>
                  <a:srgbClr val="FF6200"/>
                </a:solidFill>
                <a:latin typeface="Ember Modern Display Standard"/>
              </a:rPr>
              <a:t>Ameya</a:t>
            </a:r>
          </a:p>
          <a:p>
            <a:pPr algn="l"/>
            <a:r>
              <a:rPr sz="1300" b="0">
                <a:solidFill>
                  <a:srgbClr val="161D26"/>
                </a:solidFill>
                <a:latin typeface="Ember Modern Display Standard"/>
              </a:rPr>
              <a:t>data, blocking, the pipeline, France</a:t>
            </a:r>
          </a:p>
        </p:txBody>
      </p:sp>
      <p:sp>
        <p:nvSpPr>
          <p:cNvPr id="273" name="TextBox 272"/>
          <p:cNvSpPr txBox="1"/>
          <p:nvPr/>
        </p:nvSpPr>
        <p:spPr>
          <a:xfrm>
            <a:off x="3657600" y="2130552"/>
            <a:ext cx="4937760" cy="640080"/>
          </a:xfrm>
          <a:prstGeom prst="rect">
            <a:avLst/>
          </a:prstGeom>
          <a:noFill/>
        </p:spPr>
        <p:txBody>
          <a:bodyPr wrap="square" lIns="0" rIns="0" tIns="0" bIns="0" anchor="t">
            <a:spAutoFit/>
          </a:bodyPr>
          <a:lstStyle/>
          <a:p>
            <a:pPr algn="l"/>
            <a:r>
              <a:rPr sz="1600" b="1">
                <a:solidFill>
                  <a:srgbClr val="FF6200"/>
                </a:solidFill>
                <a:latin typeface="Ember Modern Display Standard"/>
              </a:rPr>
              <a:t>Aarush</a:t>
            </a:r>
          </a:p>
          <a:p>
            <a:pPr algn="l"/>
            <a:r>
              <a:rPr sz="1300" b="0">
                <a:solidFill>
                  <a:srgbClr val="161D26"/>
                </a:solidFill>
                <a:latin typeface="Ember Modern Display Standard"/>
              </a:rPr>
              <a:t>the 7B model, the re-check, the final submission</a:t>
            </a:r>
          </a:p>
        </p:txBody>
      </p:sp>
      <p:sp>
        <p:nvSpPr>
          <p:cNvPr id="274" name="TextBox 273"/>
          <p:cNvSpPr txBox="1"/>
          <p:nvPr/>
        </p:nvSpPr>
        <p:spPr>
          <a:xfrm>
            <a:off x="3657600" y="2843784"/>
            <a:ext cx="4937760" cy="640080"/>
          </a:xfrm>
          <a:prstGeom prst="rect">
            <a:avLst/>
          </a:prstGeom>
          <a:noFill/>
        </p:spPr>
        <p:txBody>
          <a:bodyPr wrap="square" lIns="0" rIns="0" tIns="0" bIns="0" anchor="t">
            <a:spAutoFit/>
          </a:bodyPr>
          <a:lstStyle/>
          <a:p>
            <a:pPr algn="l"/>
            <a:r>
              <a:rPr sz="1600" b="1">
                <a:solidFill>
                  <a:srgbClr val="FF6200"/>
                </a:solidFill>
                <a:latin typeface="Ember Modern Display Standard"/>
              </a:rPr>
              <a:t>Sachi</a:t>
            </a:r>
          </a:p>
          <a:p>
            <a:pPr algn="l"/>
            <a:r>
              <a:rPr sz="1300" b="0">
                <a:solidFill>
                  <a:srgbClr val="161D26"/>
                </a:solidFill>
                <a:latin typeface="Ember Modern Display Standard"/>
              </a:rPr>
              <a:t>testing gates, a Qwen model, synthetic French</a:t>
            </a:r>
          </a:p>
        </p:txBody>
      </p:sp>
      <p:sp>
        <p:nvSpPr>
          <p:cNvPr id="275" name="Rounded Rectangle 274"/>
          <p:cNvSpPr/>
          <p:nvPr/>
        </p:nvSpPr>
        <p:spPr>
          <a:xfrm>
            <a:off x="3657600" y="3611880"/>
            <a:ext cx="4983480" cy="502920"/>
          </a:xfrm>
          <a:prstGeom prst="roundRect">
            <a:avLst>
              <a:gd name="adj" fmla="val 49090"/>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50" b="0">
                <a:solidFill>
                  <a:srgbClr val="161D26"/>
                </a:solidFill>
                <a:latin typeface="Ember Modern Display Standard"/>
              </a:rPr>
              <a:t>Our rule: when two ideas tie, keep the simpler one.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fade">
                                      <p:cBhvr>
                                        <p:cTn id="6" dur="45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childTnLst>
                          </p:cTn>
                        </p:par>
                        <p:par>
                          <p:cTn id="14" fill="hold">
                            <p:stCondLst>
                              <p:cond delay="450"/>
                            </p:stCondLst>
                            <p:childTnLst>
                              <p:par>
                                <p:cTn id="11" presetID="10" presetClass="entr" presetSubtype="0" fill="hold" grpId="0" nodeType="afterEffect">
                                  <p:stCondLst>
                                    <p:cond delay="0"/>
                                  </p:stCondLst>
                                  <p:childTnLst>
                                    <p:set>
                                      <p:cBhvr>
                                        <p:cTn id="12" dur="1" fill="hold">
                                          <p:stCondLst>
                                            <p:cond delay="0"/>
                                          </p:stCondLst>
                                        </p:cTn>
                                        <p:tgtEl>
                                          <p:spTgt spid="271"/>
                                        </p:tgtEl>
                                        <p:attrNameLst>
                                          <p:attrName>style.visibility</p:attrName>
                                        </p:attrNameLst>
                                      </p:cBhvr>
                                      <p:to>
                                        <p:strVal val="visible"/>
                                      </p:to>
                                    </p:set>
                                    <p:animEffect transition="in" filter="fade">
                                      <p:cBhvr>
                                        <p:cTn id="13" dur="450"/>
                                        <p:tgtEl>
                                          <p:spTgt spid="271"/>
                                        </p:tgtEl>
                                      </p:cBhvr>
                                    </p:animEffect>
                                  </p:childTnLst>
                                </p:cTn>
                              </p:par>
                            </p:childTnLst>
                          </p:cTn>
                        </p:par>
                        <p:par>
                          <p:cTn id="18" fill="hold">
                            <p:stCondLst>
                              <p:cond delay="900"/>
                            </p:stCondLst>
                            <p:childTnLst>
                              <p:par>
                                <p:cTn id="15" presetID="10" presetClass="entr" presetSubtype="0" fill="hold" grpId="0" nodeType="afterEffect">
                                  <p:stCondLst>
                                    <p:cond delay="0"/>
                                  </p:stCondLst>
                                  <p:childTnLst>
                                    <p:set>
                                      <p:cBhvr>
                                        <p:cTn id="16" dur="1" fill="hold">
                                          <p:stCondLst>
                                            <p:cond delay="0"/>
                                          </p:stCondLst>
                                        </p:cTn>
                                        <p:tgtEl>
                                          <p:spTgt spid="272"/>
                                        </p:tgtEl>
                                        <p:attrNameLst>
                                          <p:attrName>style.visibility</p:attrName>
                                        </p:attrNameLst>
                                      </p:cBhvr>
                                      <p:to>
                                        <p:strVal val="visible"/>
                                      </p:to>
                                    </p:set>
                                    <p:animEffect transition="in" filter="fade">
                                      <p:cBhvr>
                                        <p:cTn id="17" dur="450"/>
                                        <p:tgtEl>
                                          <p:spTgt spid="272"/>
                                        </p:tgtEl>
                                      </p:cBhvr>
                                    </p:animEffect>
                                  </p:childTnLst>
                                </p:cTn>
                              </p:par>
                            </p:childTnLst>
                          </p:cTn>
                        </p:par>
                        <p:par>
                          <p:cTn id="22" fill="hold">
                            <p:stCondLst>
                              <p:cond delay="1350"/>
                            </p:stCondLst>
                            <p:childTnLst>
                              <p:par>
                                <p:cTn id="19" presetID="10" presetClass="entr" presetSubtype="0" fill="hold" grpId="0" nodeType="afterEffect">
                                  <p:stCondLst>
                                    <p:cond delay="0"/>
                                  </p:stCondLst>
                                  <p:childTnLst>
                                    <p:set>
                                      <p:cBhvr>
                                        <p:cTn id="20" dur="1" fill="hold">
                                          <p:stCondLst>
                                            <p:cond delay="0"/>
                                          </p:stCondLst>
                                        </p:cTn>
                                        <p:tgtEl>
                                          <p:spTgt spid="273"/>
                                        </p:tgtEl>
                                        <p:attrNameLst>
                                          <p:attrName>style.visibility</p:attrName>
                                        </p:attrNameLst>
                                      </p:cBhvr>
                                      <p:to>
                                        <p:strVal val="visible"/>
                                      </p:to>
                                    </p:set>
                                    <p:animEffect transition="in" filter="fade">
                                      <p:cBhvr>
                                        <p:cTn id="21" dur="450"/>
                                        <p:tgtEl>
                                          <p:spTgt spid="273"/>
                                        </p:tgtEl>
                                      </p:cBhvr>
                                    </p:animEffect>
                                  </p:childTnLst>
                                </p:cTn>
                              </p:par>
                            </p:childTnLst>
                          </p:cTn>
                        </p:par>
                        <p:par>
                          <p:cTn id="26" fill="hold">
                            <p:stCondLst>
                              <p:cond delay="1800"/>
                            </p:stCondLst>
                            <p:childTnLst>
                              <p:par>
                                <p:cTn id="23" presetID="10" presetClass="entr" presetSubtype="0" fill="hold" grpId="0" nodeType="afterEffect">
                                  <p:stCondLst>
                                    <p:cond delay="0"/>
                                  </p:stCondLst>
                                  <p:childTnLst>
                                    <p:set>
                                      <p:cBhvr>
                                        <p:cTn id="24" dur="1" fill="hold">
                                          <p:stCondLst>
                                            <p:cond delay="0"/>
                                          </p:stCondLst>
                                        </p:cTn>
                                        <p:tgtEl>
                                          <p:spTgt spid="274"/>
                                        </p:tgtEl>
                                        <p:attrNameLst>
                                          <p:attrName>style.visibility</p:attrName>
                                        </p:attrNameLst>
                                      </p:cBhvr>
                                      <p:to>
                                        <p:strVal val="visible"/>
                                      </p:to>
                                    </p:set>
                                    <p:animEffect transition="in" filter="fade">
                                      <p:cBhvr>
                                        <p:cTn id="25" dur="450"/>
                                        <p:tgtEl>
                                          <p:spTgt spid="274"/>
                                        </p:tgtEl>
                                      </p:cBhvr>
                                    </p:animEffect>
                                  </p:childTnLst>
                                </p:cTn>
                              </p:par>
                            </p:childTnLst>
                          </p:cTn>
                        </p:par>
                        <p:par>
                          <p:cTn id="30" fill="hold">
                            <p:stCondLst>
                              <p:cond delay="2250"/>
                            </p:stCondLst>
                            <p:childTnLst>
                              <p:par>
                                <p:cTn id="27" presetID="10" presetClass="entr" presetSubtype="0" fill="hold" grpId="0" nodeType="afterEffect">
                                  <p:stCondLst>
                                    <p:cond delay="0"/>
                                  </p:stCondLst>
                                  <p:childTnLst>
                                    <p:set>
                                      <p:cBhvr>
                                        <p:cTn id="28" dur="1" fill="hold">
                                          <p:stCondLst>
                                            <p:cond delay="0"/>
                                          </p:stCondLst>
                                        </p:cTn>
                                        <p:tgtEl>
                                          <p:spTgt spid="275"/>
                                        </p:tgtEl>
                                        <p:attrNameLst>
                                          <p:attrName>style.visibility</p:attrName>
                                        </p:attrNameLst>
                                      </p:cBhvr>
                                      <p:to>
                                        <p:strVal val="visible"/>
                                      </p:to>
                                    </p:set>
                                    <p:animEffect transition="in" filter="fade">
                                      <p:cBhvr>
                                        <p:cTn id="29" dur="450"/>
                                        <p:tgtEl>
                                          <p:spTgt spid="2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69" grpId="0">
        <p:bldAsOne/>
      </p:bldGraphic>
      <p:bldP spid="270" grpId="0" animBg="1"/>
      <p:bldP spid="271" grpId="0" animBg="1"/>
      <p:bldP spid="272" grpId="0" animBg="1"/>
      <p:bldP spid="273" grpId="0" animBg="1"/>
      <p:bldP spid="274" grpId="0" animBg="1"/>
      <p:bldP spid="27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The</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Climb</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Each upload changed one thing, and we learned from each.</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0">
                <a:solidFill>
                  <a:srgbClr val="B8C0CC"/>
                </a:solidFill>
                <a:latin typeface="Ember Modern Display Standard"/>
              </a:rPr>
              <a:t>01 Understanding</a:t>
            </a:r>
            <a:r>
              <a:rPr sz="850" b="0">
                <a:solidFill>
                  <a:srgbClr val="161D26"/>
                </a:solidFill>
                <a:latin typeface="Ember Modern Display Standard"/>
              </a:rPr>
              <a:t>    </a:t>
            </a:r>
            <a:r>
              <a:rPr sz="850" b="0">
                <a:solidFill>
                  <a:srgbClr val="B8C0CC"/>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1">
                <a:solidFill>
                  <a:srgbClr val="FF6200"/>
                </a:solidFill>
                <a:latin typeface="Ember Modern Display Standard"/>
              </a:rPr>
              <a:t>04 Results</a:t>
            </a:r>
            <a:r>
              <a:rPr sz="850" b="0">
                <a:solidFill>
                  <a:srgbClr val="161D26"/>
                </a:solidFill>
                <a:latin typeface="Ember Modern Display Standard"/>
              </a:rPr>
              <a:t>    </a:t>
            </a:r>
            <a:r>
              <a:rPr sz="850" b="0">
                <a:solidFill>
                  <a:srgbClr val="B8C0CC"/>
                </a:solidFill>
                <a:latin typeface="Ember Modern Display Standard"/>
              </a:rPr>
              <a:t>05 Ahead</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Deliver Results</a:t>
            </a:r>
          </a:p>
        </p:txBody>
      </p:sp>
      <p:graphicFrame>
        <p:nvGraphicFramePr>
          <p:cNvPr id="269" name="Chart 268"/>
          <p:cNvGraphicFramePr>
            <a:graphicFrameLocks noGrp="1"/>
          </p:cNvGraphicFramePr>
          <p:nvPr/>
        </p:nvGraphicFramePr>
        <p:xfrm>
          <a:off x="411480" y="1280160"/>
          <a:ext cx="5806440" cy="2880360"/>
        </p:xfrm>
        <a:graphic>
          <a:graphicData uri="http://schemas.openxmlformats.org/drawingml/2006/chart">
            <c:chart xmlns:c="http://schemas.openxmlformats.org/drawingml/2006/chart" r:id="rId2"/>
          </a:graphicData>
        </a:graphic>
      </p:graphicFrame>
      <p:sp>
        <p:nvSpPr>
          <p:cNvPr id="270" name="TextBox 269"/>
          <p:cNvSpPr txBox="1"/>
          <p:nvPr/>
        </p:nvSpPr>
        <p:spPr>
          <a:xfrm>
            <a:off x="502920" y="4187952"/>
            <a:ext cx="5760720" cy="274320"/>
          </a:xfrm>
          <a:prstGeom prst="rect">
            <a:avLst/>
          </a:prstGeom>
          <a:noFill/>
        </p:spPr>
        <p:txBody>
          <a:bodyPr wrap="square" lIns="0" rIns="0" tIns="0" bIns="0" anchor="t">
            <a:spAutoFit/>
          </a:bodyPr>
          <a:lstStyle/>
          <a:p>
            <a:pPr algn="l"/>
            <a:r>
              <a:rPr sz="1100" b="0">
                <a:solidFill>
                  <a:srgbClr val="6B7280"/>
                </a:solidFill>
                <a:latin typeface="Ember Modern Display Standard"/>
              </a:rPr>
              <a:t>Behind this line: long nights, a laptop that froze at 3:35 am, a GPU lost mid-run.</a:t>
            </a:r>
          </a:p>
        </p:txBody>
      </p:sp>
      <p:sp>
        <p:nvSpPr>
          <p:cNvPr id="271" name="Rounded Rectangle 270"/>
          <p:cNvSpPr/>
          <p:nvPr/>
        </p:nvSpPr>
        <p:spPr>
          <a:xfrm>
            <a:off x="6400800" y="1371600"/>
            <a:ext cx="2240280" cy="3008376"/>
          </a:xfrm>
          <a:prstGeom prst="roundRect">
            <a:avLst>
              <a:gd name="adj" fmla="val 2448"/>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TextBox 271"/>
          <p:cNvSpPr txBox="1"/>
          <p:nvPr/>
        </p:nvSpPr>
        <p:spPr>
          <a:xfrm>
            <a:off x="6601968" y="1600200"/>
            <a:ext cx="1920240" cy="228600"/>
          </a:xfrm>
          <a:prstGeom prst="rect">
            <a:avLst/>
          </a:prstGeom>
          <a:noFill/>
        </p:spPr>
        <p:txBody>
          <a:bodyPr wrap="square" lIns="0" rIns="0" tIns="0" bIns="0" anchor="t">
            <a:spAutoFit/>
          </a:bodyPr>
          <a:lstStyle/>
          <a:p>
            <a:pPr algn="l"/>
            <a:r>
              <a:rPr sz="1000" b="1">
                <a:solidFill>
                  <a:srgbClr val="FFB28B"/>
                </a:solidFill>
                <a:latin typeface="Ember Modern Display Standard"/>
              </a:rPr>
              <a:t>FINAL SCORE</a:t>
            </a:r>
          </a:p>
        </p:txBody>
      </p:sp>
      <p:sp>
        <p:nvSpPr>
          <p:cNvPr id="273" name="TextBox 272"/>
          <p:cNvSpPr txBox="1"/>
          <p:nvPr/>
        </p:nvSpPr>
        <p:spPr>
          <a:xfrm>
            <a:off x="6601968" y="1828800"/>
            <a:ext cx="1920240" cy="502920"/>
          </a:xfrm>
          <a:prstGeom prst="rect">
            <a:avLst/>
          </a:prstGeom>
          <a:noFill/>
        </p:spPr>
        <p:txBody>
          <a:bodyPr wrap="square" lIns="0" rIns="0" tIns="0" bIns="0" anchor="t">
            <a:spAutoFit/>
          </a:bodyPr>
          <a:lstStyle/>
          <a:p>
            <a:pPr algn="l"/>
            <a:r>
              <a:rPr sz="2500" b="1">
                <a:solidFill>
                  <a:srgbClr val="FF6200"/>
                </a:solidFill>
                <a:latin typeface="Ember Modern Display Standard"/>
              </a:rPr>
              <a:t>0.990879</a:t>
            </a:r>
          </a:p>
        </p:txBody>
      </p:sp>
      <p:sp>
        <p:nvSpPr>
          <p:cNvPr id="274" name="TextBox 273"/>
          <p:cNvSpPr txBox="1"/>
          <p:nvPr/>
        </p:nvSpPr>
        <p:spPr>
          <a:xfrm>
            <a:off x="6601968" y="2304288"/>
            <a:ext cx="1920240" cy="274320"/>
          </a:xfrm>
          <a:prstGeom prst="rect">
            <a:avLst/>
          </a:prstGeom>
          <a:noFill/>
        </p:spPr>
        <p:txBody>
          <a:bodyPr wrap="square" lIns="0" rIns="0" tIns="0" bIns="0" anchor="t">
            <a:spAutoFit/>
          </a:bodyPr>
          <a:lstStyle/>
          <a:p>
            <a:pPr algn="l"/>
            <a:r>
              <a:rPr sz="1200" b="0">
                <a:solidFill>
                  <a:srgbClr val="B8C0CC"/>
                </a:solidFill>
                <a:latin typeface="Ember Modern Display Standard"/>
              </a:rPr>
              <a:t>public leaderboard</a:t>
            </a:r>
          </a:p>
        </p:txBody>
      </p:sp>
      <p:sp>
        <p:nvSpPr>
          <p:cNvPr id="275" name="TextBox 274"/>
          <p:cNvSpPr txBox="1"/>
          <p:nvPr/>
        </p:nvSpPr>
        <p:spPr>
          <a:xfrm>
            <a:off x="6601968" y="2926080"/>
            <a:ext cx="1920240" cy="640080"/>
          </a:xfrm>
          <a:prstGeom prst="rect">
            <a:avLst/>
          </a:prstGeom>
          <a:noFill/>
        </p:spPr>
        <p:txBody>
          <a:bodyPr wrap="square" lIns="0" rIns="0" tIns="0" bIns="0" anchor="t">
            <a:spAutoFit/>
          </a:bodyPr>
          <a:lstStyle/>
          <a:p>
            <a:pPr algn="l"/>
            <a:r>
              <a:rPr sz="3400" b="1">
                <a:solidFill>
                  <a:srgbClr val="FFFFFF"/>
                </a:solidFill>
                <a:latin typeface="Ember Modern Display Standard"/>
              </a:rPr>
              <a:t>2nd</a:t>
            </a:r>
            <a:r>
              <a:rPr sz="1300" b="0">
                <a:solidFill>
                  <a:srgbClr val="FFFFFF"/>
                </a:solidFill>
                <a:latin typeface="Ember Modern Display Standard"/>
              </a:rPr>
              <a:t>  of the Top 10</a:t>
            </a:r>
          </a:p>
        </p:txBody>
      </p:sp>
      <p:sp>
        <p:nvSpPr>
          <p:cNvPr id="276" name="TextBox 275"/>
          <p:cNvSpPr txBox="1"/>
          <p:nvPr/>
        </p:nvSpPr>
        <p:spPr>
          <a:xfrm>
            <a:off x="6601968" y="3611880"/>
            <a:ext cx="1920240" cy="274320"/>
          </a:xfrm>
          <a:prstGeom prst="rect">
            <a:avLst/>
          </a:prstGeom>
          <a:noFill/>
        </p:spPr>
        <p:txBody>
          <a:bodyPr wrap="square" lIns="0" rIns="0" tIns="0" bIns="0" anchor="t">
            <a:spAutoFit/>
          </a:bodyPr>
          <a:lstStyle/>
          <a:p>
            <a:pPr algn="l"/>
            <a:r>
              <a:rPr sz="1200" b="0">
                <a:solidFill>
                  <a:srgbClr val="FFB28B"/>
                </a:solidFill>
                <a:latin typeface="Ember Modern Display Standard"/>
              </a:rPr>
              <a:t>among 32,000+ teams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wipe(left)">
                                      <p:cBhvr>
                                        <p:cTn id="6" dur="500"/>
                                        <p:tgtEl>
                                          <p:spTgt spid="269"/>
                                        </p:tgtEl>
                                      </p:cBhvr>
                                    </p:animEffect>
                                  </p:childTnLst>
                                </p:cTn>
                              </p:par>
                            </p:childTnLst>
                          </p:cTn>
                        </p:par>
                        <p:par>
                          <p:cTn id="11" fill="hold">
                            <p:stCondLst>
                              <p:cond delay="500"/>
                            </p:stCondLst>
                            <p:childTnLst>
                              <p:par>
                                <p:cTn id="8" presetID="10" presetClass="entr" presetSubtype="0" fill="hold" grpId="0" nodeType="afterEffect">
                                  <p:stCondLst>
                                    <p:cond delay="0"/>
                                  </p:stCondLst>
                                  <p:childTnLst>
                                    <p:set>
                                      <p:cBhvr>
                                        <p:cTn id="9" dur="1" fill="hold">
                                          <p:stCondLst>
                                            <p:cond delay="0"/>
                                          </p:stCondLst>
                                        </p:cTn>
                                        <p:tgtEl>
                                          <p:spTgt spid="270"/>
                                        </p:tgtEl>
                                        <p:attrNameLst>
                                          <p:attrName>style.visibility</p:attrName>
                                        </p:attrNameLst>
                                      </p:cBhvr>
                                      <p:to>
                                        <p:strVal val="visible"/>
                                      </p:to>
                                    </p:set>
                                    <p:animEffect transition="in" filter="fade">
                                      <p:cBhvr>
                                        <p:cTn id="10" dur="450"/>
                                        <p:tgtEl>
                                          <p:spTgt spid="270"/>
                                        </p:tgtEl>
                                      </p:cBhvr>
                                    </p:animEffect>
                                  </p:childTnLst>
                                </p:cTn>
                              </p:par>
                            </p:childTnLst>
                          </p:cTn>
                        </p:par>
                        <p:par>
                          <p:cTn id="24" fill="hold">
                            <p:stCondLst>
                              <p:cond delay="950"/>
                            </p:stCondLst>
                            <p:childTnLst>
                              <p:par>
                                <p:cTn id="12" presetID="10" presetClass="entr" presetSubtype="0" fill="hold" grpId="0" nodeType="afterEffect">
                                  <p:stCondLst>
                                    <p:cond delay="0"/>
                                  </p:stCondLst>
                                  <p:childTnLst>
                                    <p:set>
                                      <p:cBhvr>
                                        <p:cTn id="13" dur="1" fill="hold">
                                          <p:stCondLst>
                                            <p:cond delay="0"/>
                                          </p:stCondLst>
                                        </p:cTn>
                                        <p:tgtEl>
                                          <p:spTgt spid="271"/>
                                        </p:tgtEl>
                                        <p:attrNameLst>
                                          <p:attrName>style.visibility</p:attrName>
                                        </p:attrNameLst>
                                      </p:cBhvr>
                                      <p:to>
                                        <p:strVal val="visible"/>
                                      </p:to>
                                    </p:set>
                                    <p:animEffect transition="in" filter="fade">
                                      <p:cBhvr>
                                        <p:cTn id="14" dur="450"/>
                                        <p:tgtEl>
                                          <p:spTgt spid="27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72"/>
                                        </p:tgtEl>
                                        <p:attrNameLst>
                                          <p:attrName>style.visibility</p:attrName>
                                        </p:attrNameLst>
                                      </p:cBhvr>
                                      <p:to>
                                        <p:strVal val="visible"/>
                                      </p:to>
                                    </p:set>
                                    <p:animEffect transition="in" filter="fade">
                                      <p:cBhvr>
                                        <p:cTn id="17" dur="450"/>
                                        <p:tgtEl>
                                          <p:spTgt spid="27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3"/>
                                        </p:tgtEl>
                                        <p:attrNameLst>
                                          <p:attrName>style.visibility</p:attrName>
                                        </p:attrNameLst>
                                      </p:cBhvr>
                                      <p:to>
                                        <p:strVal val="visible"/>
                                      </p:to>
                                    </p:set>
                                    <p:animEffect transition="in" filter="fade">
                                      <p:cBhvr>
                                        <p:cTn id="20" dur="450"/>
                                        <p:tgtEl>
                                          <p:spTgt spid="27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4"/>
                                        </p:tgtEl>
                                        <p:attrNameLst>
                                          <p:attrName>style.visibility</p:attrName>
                                        </p:attrNameLst>
                                      </p:cBhvr>
                                      <p:to>
                                        <p:strVal val="visible"/>
                                      </p:to>
                                    </p:set>
                                    <p:animEffect transition="in" filter="fade">
                                      <p:cBhvr>
                                        <p:cTn id="23" dur="450"/>
                                        <p:tgtEl>
                                          <p:spTgt spid="274"/>
                                        </p:tgtEl>
                                      </p:cBhvr>
                                    </p:animEffect>
                                  </p:childTnLst>
                                </p:cTn>
                              </p:par>
                            </p:childTnLst>
                          </p:cTn>
                        </p:par>
                        <p:par>
                          <p:cTn id="31" fill="hold">
                            <p:stCondLst>
                              <p:cond delay="1400"/>
                            </p:stCondLst>
                            <p:childTnLst>
                              <p:par>
                                <p:cTn id="25" presetID="10" presetClass="entr" presetSubtype="0" fill="hold" grpId="0" nodeType="afterEffect">
                                  <p:stCondLst>
                                    <p:cond delay="0"/>
                                  </p:stCondLst>
                                  <p:childTnLst>
                                    <p:set>
                                      <p:cBhvr>
                                        <p:cTn id="26" dur="1" fill="hold">
                                          <p:stCondLst>
                                            <p:cond delay="0"/>
                                          </p:stCondLst>
                                        </p:cTn>
                                        <p:tgtEl>
                                          <p:spTgt spid="275"/>
                                        </p:tgtEl>
                                        <p:attrNameLst>
                                          <p:attrName>style.visibility</p:attrName>
                                        </p:attrNameLst>
                                      </p:cBhvr>
                                      <p:to>
                                        <p:strVal val="visible"/>
                                      </p:to>
                                    </p:set>
                                    <p:animEffect transition="in" filter="fade">
                                      <p:cBhvr>
                                        <p:cTn id="27" dur="450"/>
                                        <p:tgtEl>
                                          <p:spTgt spid="27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76"/>
                                        </p:tgtEl>
                                        <p:attrNameLst>
                                          <p:attrName>style.visibility</p:attrName>
                                        </p:attrNameLst>
                                      </p:cBhvr>
                                      <p:to>
                                        <p:strVal val="visible"/>
                                      </p:to>
                                    </p:set>
                                    <p:animEffect transition="in" filter="fade">
                                      <p:cBhvr>
                                        <p:cTn id="30" dur="450"/>
                                        <p:tgtEl>
                                          <p:spTgt spid="2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69" grpId="0">
        <p:bldAsOne/>
      </p:bldGraphic>
      <p:bldP spid="270" grpId="0" animBg="1"/>
      <p:bldP spid="271" grpId="0" animBg="1"/>
      <p:bldP spid="272" grpId="0" animBg="1"/>
      <p:bldP spid="273" grpId="0" animBg="1"/>
      <p:bldP spid="274" grpId="0" animBg="1"/>
      <p:bldP spid="275" grpId="0" animBg="1"/>
      <p:bldP spid="27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What We</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Learned</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Three lessons we will carry forward.</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0">
                <a:solidFill>
                  <a:srgbClr val="B8C0CC"/>
                </a:solidFill>
                <a:latin typeface="Ember Modern Display Standard"/>
              </a:rPr>
              <a:t>01 Understanding</a:t>
            </a:r>
            <a:r>
              <a:rPr sz="850" b="0">
                <a:solidFill>
                  <a:srgbClr val="161D26"/>
                </a:solidFill>
                <a:latin typeface="Ember Modern Display Standard"/>
              </a:rPr>
              <a:t>    </a:t>
            </a:r>
            <a:r>
              <a:rPr sz="850" b="0">
                <a:solidFill>
                  <a:srgbClr val="B8C0CC"/>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1">
                <a:solidFill>
                  <a:srgbClr val="FF6200"/>
                </a:solidFill>
                <a:latin typeface="Ember Modern Display Standard"/>
              </a:rPr>
              <a:t>04 Results</a:t>
            </a:r>
            <a:r>
              <a:rPr sz="850" b="0">
                <a:solidFill>
                  <a:srgbClr val="161D26"/>
                </a:solidFill>
                <a:latin typeface="Ember Modern Display Standard"/>
              </a:rPr>
              <a:t>    </a:t>
            </a:r>
            <a:r>
              <a:rPr sz="850" b="0">
                <a:solidFill>
                  <a:srgbClr val="B8C0CC"/>
                </a:solidFill>
                <a:latin typeface="Ember Modern Display Standard"/>
              </a:rPr>
              <a:t>05 Ahead</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Are Right, A Lot</a:t>
            </a:r>
          </a:p>
        </p:txBody>
      </p:sp>
      <p:sp>
        <p:nvSpPr>
          <p:cNvPr id="269" name="Rounded Rectangle 268"/>
          <p:cNvSpPr/>
          <p:nvPr/>
        </p:nvSpPr>
        <p:spPr>
          <a:xfrm>
            <a:off x="502920" y="1417320"/>
            <a:ext cx="2606040" cy="2880360"/>
          </a:xfrm>
          <a:prstGeom prst="roundRect">
            <a:avLst>
              <a:gd name="adj" fmla="val 2105"/>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731520" y="1600200"/>
            <a:ext cx="2194560" cy="548640"/>
          </a:xfrm>
          <a:prstGeom prst="rect">
            <a:avLst/>
          </a:prstGeom>
          <a:noFill/>
        </p:spPr>
        <p:txBody>
          <a:bodyPr wrap="square" lIns="0" rIns="0" tIns="0" bIns="0" anchor="t">
            <a:spAutoFit/>
          </a:bodyPr>
          <a:lstStyle/>
          <a:p>
            <a:pPr algn="l"/>
            <a:r>
              <a:rPr sz="2600" b="1">
                <a:solidFill>
                  <a:srgbClr val="FF6200"/>
                </a:solidFill>
                <a:latin typeface="Ember Modern Display Standard"/>
              </a:rPr>
              <a:t>01</a:t>
            </a:r>
          </a:p>
        </p:txBody>
      </p:sp>
      <p:sp>
        <p:nvSpPr>
          <p:cNvPr id="271" name="TextBox 270"/>
          <p:cNvSpPr txBox="1"/>
          <p:nvPr/>
        </p:nvSpPr>
        <p:spPr>
          <a:xfrm>
            <a:off x="731520" y="2240280"/>
            <a:ext cx="2194560" cy="457200"/>
          </a:xfrm>
          <a:prstGeom prst="rect">
            <a:avLst/>
          </a:prstGeom>
          <a:noFill/>
        </p:spPr>
        <p:txBody>
          <a:bodyPr wrap="square" lIns="0" rIns="0" tIns="0" bIns="0" anchor="t">
            <a:spAutoFit/>
          </a:bodyPr>
          <a:lstStyle/>
          <a:p>
            <a:pPr algn="l"/>
            <a:r>
              <a:rPr sz="1800" b="1">
                <a:solidFill>
                  <a:srgbClr val="FFFFFF"/>
                </a:solidFill>
                <a:latin typeface="Ember Modern Display Standard"/>
              </a:rPr>
              <a:t>Data first</a:t>
            </a:r>
          </a:p>
        </p:txBody>
      </p:sp>
      <p:sp>
        <p:nvSpPr>
          <p:cNvPr id="272" name="TextBox 271"/>
          <p:cNvSpPr txBox="1"/>
          <p:nvPr/>
        </p:nvSpPr>
        <p:spPr>
          <a:xfrm>
            <a:off x="731520" y="2743200"/>
            <a:ext cx="2194560" cy="1371600"/>
          </a:xfrm>
          <a:prstGeom prst="rect">
            <a:avLst/>
          </a:prstGeom>
          <a:noFill/>
        </p:spPr>
        <p:txBody>
          <a:bodyPr wrap="square" lIns="0" rIns="0" tIns="0" bIns="0" anchor="t">
            <a:spAutoFit/>
          </a:bodyPr>
          <a:lstStyle/>
          <a:p>
            <a:pPr algn="l"/>
            <a:r>
              <a:rPr sz="1300" b="0">
                <a:solidFill>
                  <a:srgbClr val="D6DCE7"/>
                </a:solidFill>
                <a:latin typeface="Ember Modern Display Standard"/>
              </a:rPr>
              <a:t>Every good decision traced back to reading the data.</a:t>
            </a:r>
          </a:p>
        </p:txBody>
      </p:sp>
      <p:sp>
        <p:nvSpPr>
          <p:cNvPr id="273" name="Rounded Rectangle 272"/>
          <p:cNvSpPr/>
          <p:nvPr/>
        </p:nvSpPr>
        <p:spPr>
          <a:xfrm>
            <a:off x="3268980" y="1417320"/>
            <a:ext cx="2606040" cy="2880360"/>
          </a:xfrm>
          <a:prstGeom prst="roundRect">
            <a:avLst>
              <a:gd name="adj" fmla="val 2105"/>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TextBox 273"/>
          <p:cNvSpPr txBox="1"/>
          <p:nvPr/>
        </p:nvSpPr>
        <p:spPr>
          <a:xfrm>
            <a:off x="3497580" y="1600200"/>
            <a:ext cx="2194560" cy="548640"/>
          </a:xfrm>
          <a:prstGeom prst="rect">
            <a:avLst/>
          </a:prstGeom>
          <a:noFill/>
        </p:spPr>
        <p:txBody>
          <a:bodyPr wrap="square" lIns="0" rIns="0" tIns="0" bIns="0" anchor="t">
            <a:spAutoFit/>
          </a:bodyPr>
          <a:lstStyle/>
          <a:p>
            <a:pPr algn="l"/>
            <a:r>
              <a:rPr sz="2600" b="1">
                <a:solidFill>
                  <a:srgbClr val="FF6200"/>
                </a:solidFill>
                <a:latin typeface="Ember Modern Display Standard"/>
              </a:rPr>
              <a:t>02</a:t>
            </a:r>
          </a:p>
        </p:txBody>
      </p:sp>
      <p:sp>
        <p:nvSpPr>
          <p:cNvPr id="275" name="TextBox 274"/>
          <p:cNvSpPr txBox="1"/>
          <p:nvPr/>
        </p:nvSpPr>
        <p:spPr>
          <a:xfrm>
            <a:off x="3497580" y="2240280"/>
            <a:ext cx="2194560" cy="457200"/>
          </a:xfrm>
          <a:prstGeom prst="rect">
            <a:avLst/>
          </a:prstGeom>
          <a:noFill/>
        </p:spPr>
        <p:txBody>
          <a:bodyPr wrap="square" lIns="0" rIns="0" tIns="0" bIns="0" anchor="t">
            <a:spAutoFit/>
          </a:bodyPr>
          <a:lstStyle/>
          <a:p>
            <a:pPr algn="l"/>
            <a:r>
              <a:rPr sz="1800" b="1">
                <a:solidFill>
                  <a:srgbClr val="161D26"/>
                </a:solidFill>
                <a:latin typeface="Ember Modern Display Standard"/>
              </a:rPr>
              <a:t>Doubt estimates</a:t>
            </a:r>
          </a:p>
        </p:txBody>
      </p:sp>
      <p:sp>
        <p:nvSpPr>
          <p:cNvPr id="276" name="TextBox 275"/>
          <p:cNvSpPr txBox="1"/>
          <p:nvPr/>
        </p:nvSpPr>
        <p:spPr>
          <a:xfrm>
            <a:off x="3497580" y="2743200"/>
            <a:ext cx="2194560" cy="1371600"/>
          </a:xfrm>
          <a:prstGeom prst="rect">
            <a:avLst/>
          </a:prstGeom>
          <a:noFill/>
        </p:spPr>
        <p:txBody>
          <a:bodyPr wrap="square" lIns="0" rIns="0" tIns="0" bIns="0" anchor="t">
            <a:spAutoFit/>
          </a:bodyPr>
          <a:lstStyle/>
          <a:p>
            <a:pPr algn="l"/>
            <a:r>
              <a:rPr sz="1300" b="0">
                <a:solidFill>
                  <a:srgbClr val="161D26"/>
                </a:solidFill>
                <a:latin typeface="Ember Modern Display Standard"/>
              </a:rPr>
              <a:t>Ours shared our model's blind spots; the leaderboard corrected us.</a:t>
            </a:r>
          </a:p>
        </p:txBody>
      </p:sp>
      <p:sp>
        <p:nvSpPr>
          <p:cNvPr id="277" name="Rounded Rectangle 276"/>
          <p:cNvSpPr/>
          <p:nvPr/>
        </p:nvSpPr>
        <p:spPr>
          <a:xfrm>
            <a:off x="6035040" y="1417320"/>
            <a:ext cx="2606040" cy="2880360"/>
          </a:xfrm>
          <a:prstGeom prst="roundRect">
            <a:avLst>
              <a:gd name="adj" fmla="val 2105"/>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6263640" y="1600200"/>
            <a:ext cx="2194560" cy="548640"/>
          </a:xfrm>
          <a:prstGeom prst="rect">
            <a:avLst/>
          </a:prstGeom>
          <a:noFill/>
        </p:spPr>
        <p:txBody>
          <a:bodyPr wrap="square" lIns="0" rIns="0" tIns="0" bIns="0" anchor="t">
            <a:spAutoFit/>
          </a:bodyPr>
          <a:lstStyle/>
          <a:p>
            <a:pPr algn="l"/>
            <a:r>
              <a:rPr sz="2600" b="1">
                <a:solidFill>
                  <a:srgbClr val="FF6200"/>
                </a:solidFill>
                <a:latin typeface="Ember Modern Display Standard"/>
              </a:rPr>
              <a:t>03</a:t>
            </a:r>
          </a:p>
        </p:txBody>
      </p:sp>
      <p:sp>
        <p:nvSpPr>
          <p:cNvPr id="279" name="TextBox 278"/>
          <p:cNvSpPr txBox="1"/>
          <p:nvPr/>
        </p:nvSpPr>
        <p:spPr>
          <a:xfrm>
            <a:off x="6263640" y="2240280"/>
            <a:ext cx="2194560" cy="457200"/>
          </a:xfrm>
          <a:prstGeom prst="rect">
            <a:avLst/>
          </a:prstGeom>
          <a:noFill/>
        </p:spPr>
        <p:txBody>
          <a:bodyPr wrap="square" lIns="0" rIns="0" tIns="0" bIns="0" anchor="t">
            <a:spAutoFit/>
          </a:bodyPr>
          <a:lstStyle/>
          <a:p>
            <a:pPr algn="l"/>
            <a:r>
              <a:rPr sz="1800" b="1">
                <a:solidFill>
                  <a:srgbClr val="161D26"/>
                </a:solidFill>
                <a:latin typeface="Ember Modern Display Standard"/>
              </a:rPr>
              <a:t>Diversity wins</a:t>
            </a:r>
          </a:p>
        </p:txBody>
      </p:sp>
      <p:sp>
        <p:nvSpPr>
          <p:cNvPr id="280" name="TextBox 279"/>
          <p:cNvSpPr txBox="1"/>
          <p:nvPr/>
        </p:nvSpPr>
        <p:spPr>
          <a:xfrm>
            <a:off x="6263640" y="2743200"/>
            <a:ext cx="2194560" cy="1371600"/>
          </a:xfrm>
          <a:prstGeom prst="rect">
            <a:avLst/>
          </a:prstGeom>
          <a:noFill/>
        </p:spPr>
        <p:txBody>
          <a:bodyPr wrap="square" lIns="0" rIns="0" tIns="0" bIns="0" anchor="t">
            <a:spAutoFit/>
          </a:bodyPr>
          <a:lstStyle/>
          <a:p>
            <a:pPr algn="l"/>
            <a:r>
              <a:rPr sz="1300" b="0">
                <a:solidFill>
                  <a:srgbClr val="161D26"/>
                </a:solidFill>
                <a:latin typeface="Ember Modern Display Standard"/>
              </a:rPr>
              <a:t>Different models together beat one strong model, most of all in the unknown.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fade">
                                      <p:cBhvr>
                                        <p:cTn id="6" dur="45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271"/>
                                        </p:tgtEl>
                                        <p:attrNameLst>
                                          <p:attrName>style.visibility</p:attrName>
                                        </p:attrNameLst>
                                      </p:cBhvr>
                                      <p:to>
                                        <p:strVal val="visible"/>
                                      </p:to>
                                    </p:set>
                                    <p:animEffect transition="in" filter="fade">
                                      <p:cBhvr>
                                        <p:cTn id="12" dur="450"/>
                                        <p:tgtEl>
                                          <p:spTgt spid="271"/>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72"/>
                                        </p:tgtEl>
                                        <p:attrNameLst>
                                          <p:attrName>style.visibility</p:attrName>
                                        </p:attrNameLst>
                                      </p:cBhvr>
                                      <p:to>
                                        <p:strVal val="visible"/>
                                      </p:to>
                                    </p:set>
                                    <p:animEffect transition="in" filter="fade">
                                      <p:cBhvr>
                                        <p:cTn id="15" dur="450"/>
                                        <p:tgtEl>
                                          <p:spTgt spid="272"/>
                                        </p:tgtEl>
                                      </p:cBhvr>
                                    </p:animEffect>
                                  </p:childTnLst>
                                </p:cTn>
                              </p:par>
                            </p:childTnLst>
                          </p:cTn>
                        </p:par>
                        <p:par>
                          <p:cTn id="29" fill="hold">
                            <p:stCondLst>
                              <p:cond delay="450"/>
                            </p:stCondLst>
                            <p:childTnLst>
                              <p:par>
                                <p:cTn id="17" presetID="10" presetClass="entr" presetSubtype="0" fill="hold" grpId="0" nodeType="afterEffect">
                                  <p:stCondLst>
                                    <p:cond delay="0"/>
                                  </p:stCondLst>
                                  <p:childTnLst>
                                    <p:set>
                                      <p:cBhvr>
                                        <p:cTn id="18" dur="1" fill="hold">
                                          <p:stCondLst>
                                            <p:cond delay="0"/>
                                          </p:stCondLst>
                                        </p:cTn>
                                        <p:tgtEl>
                                          <p:spTgt spid="273"/>
                                        </p:tgtEl>
                                        <p:attrNameLst>
                                          <p:attrName>style.visibility</p:attrName>
                                        </p:attrNameLst>
                                      </p:cBhvr>
                                      <p:to>
                                        <p:strVal val="visible"/>
                                      </p:to>
                                    </p:set>
                                    <p:animEffect transition="in" filter="fade">
                                      <p:cBhvr>
                                        <p:cTn id="19" dur="450"/>
                                        <p:tgtEl>
                                          <p:spTgt spid="27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4"/>
                                        </p:tgtEl>
                                        <p:attrNameLst>
                                          <p:attrName>style.visibility</p:attrName>
                                        </p:attrNameLst>
                                      </p:cBhvr>
                                      <p:to>
                                        <p:strVal val="visible"/>
                                      </p:to>
                                    </p:set>
                                    <p:animEffect transition="in" filter="fade">
                                      <p:cBhvr>
                                        <p:cTn id="22" dur="450"/>
                                        <p:tgtEl>
                                          <p:spTgt spid="27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75"/>
                                        </p:tgtEl>
                                        <p:attrNameLst>
                                          <p:attrName>style.visibility</p:attrName>
                                        </p:attrNameLst>
                                      </p:cBhvr>
                                      <p:to>
                                        <p:strVal val="visible"/>
                                      </p:to>
                                    </p:set>
                                    <p:animEffect transition="in" filter="fade">
                                      <p:cBhvr>
                                        <p:cTn id="25" dur="450"/>
                                        <p:tgtEl>
                                          <p:spTgt spid="27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76"/>
                                        </p:tgtEl>
                                        <p:attrNameLst>
                                          <p:attrName>style.visibility</p:attrName>
                                        </p:attrNameLst>
                                      </p:cBhvr>
                                      <p:to>
                                        <p:strVal val="visible"/>
                                      </p:to>
                                    </p:set>
                                    <p:animEffect transition="in" filter="fade">
                                      <p:cBhvr>
                                        <p:cTn id="28" dur="450"/>
                                        <p:tgtEl>
                                          <p:spTgt spid="276"/>
                                        </p:tgtEl>
                                      </p:cBhvr>
                                    </p:animEffect>
                                  </p:childTnLst>
                                </p:cTn>
                              </p:par>
                            </p:childTnLst>
                          </p:cTn>
                        </p:par>
                        <p:par>
                          <p:cTn id="42" fill="hold">
                            <p:stCondLst>
                              <p:cond delay="900"/>
                            </p:stCondLst>
                            <p:childTnLst>
                              <p:par>
                                <p:cTn id="30" presetID="10" presetClass="entr" presetSubtype="0" fill="hold" grpId="0" nodeType="afterEffect">
                                  <p:stCondLst>
                                    <p:cond delay="0"/>
                                  </p:stCondLst>
                                  <p:childTnLst>
                                    <p:set>
                                      <p:cBhvr>
                                        <p:cTn id="31" dur="1" fill="hold">
                                          <p:stCondLst>
                                            <p:cond delay="0"/>
                                          </p:stCondLst>
                                        </p:cTn>
                                        <p:tgtEl>
                                          <p:spTgt spid="277"/>
                                        </p:tgtEl>
                                        <p:attrNameLst>
                                          <p:attrName>style.visibility</p:attrName>
                                        </p:attrNameLst>
                                      </p:cBhvr>
                                      <p:to>
                                        <p:strVal val="visible"/>
                                      </p:to>
                                    </p:set>
                                    <p:animEffect transition="in" filter="fade">
                                      <p:cBhvr>
                                        <p:cTn id="32" dur="450"/>
                                        <p:tgtEl>
                                          <p:spTgt spid="27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78"/>
                                        </p:tgtEl>
                                        <p:attrNameLst>
                                          <p:attrName>style.visibility</p:attrName>
                                        </p:attrNameLst>
                                      </p:cBhvr>
                                      <p:to>
                                        <p:strVal val="visible"/>
                                      </p:to>
                                    </p:set>
                                    <p:animEffect transition="in" filter="fade">
                                      <p:cBhvr>
                                        <p:cTn id="35" dur="450"/>
                                        <p:tgtEl>
                                          <p:spTgt spid="27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79"/>
                                        </p:tgtEl>
                                        <p:attrNameLst>
                                          <p:attrName>style.visibility</p:attrName>
                                        </p:attrNameLst>
                                      </p:cBhvr>
                                      <p:to>
                                        <p:strVal val="visible"/>
                                      </p:to>
                                    </p:set>
                                    <p:animEffect transition="in" filter="fade">
                                      <p:cBhvr>
                                        <p:cTn id="38" dur="450"/>
                                        <p:tgtEl>
                                          <p:spTgt spid="27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80"/>
                                        </p:tgtEl>
                                        <p:attrNameLst>
                                          <p:attrName>style.visibility</p:attrName>
                                        </p:attrNameLst>
                                      </p:cBhvr>
                                      <p:to>
                                        <p:strVal val="visible"/>
                                      </p:to>
                                    </p:set>
                                    <p:animEffect transition="in" filter="fade">
                                      <p:cBhvr>
                                        <p:cTn id="41" dur="450"/>
                                        <p:tgtEl>
                                          <p:spTgt spid="2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9" grpId="0" animBg="1"/>
      <p:bldP spid="270" grpId="0" animBg="1"/>
      <p:bldP spid="271" grpId="0" animBg="1"/>
      <p:bldP spid="272" grpId="0" animBg="1"/>
      <p:bldP spid="273" grpId="0" animBg="1"/>
      <p:bldP spid="274" grpId="0" animBg="1"/>
      <p:bldP spid="275" grpId="0" animBg="1"/>
      <p:bldP spid="276" grpId="0" animBg="1"/>
      <p:bldP spid="277" grpId="0" animBg="1"/>
      <p:bldP spid="278" grpId="0" animBg="1"/>
      <p:bldP spid="279" grpId="0" animBg="1"/>
      <p:bldP spid="28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Scale and</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Speed</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How this would run on billions of records, and at the moment of sign-up.</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0">
                <a:solidFill>
                  <a:srgbClr val="B8C0CC"/>
                </a:solidFill>
                <a:latin typeface="Ember Modern Display Standard"/>
              </a:rPr>
              <a:t>01 Understanding</a:t>
            </a:r>
            <a:r>
              <a:rPr sz="850" b="0">
                <a:solidFill>
                  <a:srgbClr val="161D26"/>
                </a:solidFill>
                <a:latin typeface="Ember Modern Display Standard"/>
              </a:rPr>
              <a:t>    </a:t>
            </a:r>
            <a:r>
              <a:rPr sz="850" b="0">
                <a:solidFill>
                  <a:srgbClr val="B8C0CC"/>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r>
              <a:rPr sz="850" b="0">
                <a:solidFill>
                  <a:srgbClr val="161D26"/>
                </a:solidFill>
                <a:latin typeface="Ember Modern Display Standard"/>
              </a:rPr>
              <a:t>    </a:t>
            </a:r>
            <a:r>
              <a:rPr sz="850" b="1">
                <a:solidFill>
                  <a:srgbClr val="FF6200"/>
                </a:solidFill>
                <a:latin typeface="Ember Modern Display Standard"/>
              </a:rPr>
              <a:t>05 Ahead</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Think Big  ·  Frugality</a:t>
            </a:r>
          </a:p>
        </p:txBody>
      </p:sp>
      <p:sp>
        <p:nvSpPr>
          <p:cNvPr id="269" name="Rounded Rectangle 268"/>
          <p:cNvSpPr/>
          <p:nvPr/>
        </p:nvSpPr>
        <p:spPr>
          <a:xfrm>
            <a:off x="502920" y="1371600"/>
            <a:ext cx="2606040" cy="2331720"/>
          </a:xfrm>
          <a:prstGeom prst="roundRect">
            <a:avLst>
              <a:gd name="adj" fmla="val 2352"/>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731520" y="1536192"/>
            <a:ext cx="2194560" cy="411480"/>
          </a:xfrm>
          <a:prstGeom prst="rect">
            <a:avLst/>
          </a:prstGeom>
          <a:noFill/>
        </p:spPr>
        <p:txBody>
          <a:bodyPr wrap="square" lIns="0" rIns="0" tIns="0" bIns="0" anchor="t">
            <a:spAutoFit/>
          </a:bodyPr>
          <a:lstStyle/>
          <a:p>
            <a:pPr algn="l"/>
            <a:r>
              <a:rPr sz="1800" b="1">
                <a:solidFill>
                  <a:srgbClr val="161D26"/>
                </a:solidFill>
                <a:latin typeface="Ember Modern Display Standard"/>
              </a:rPr>
              <a:t>Scale out</a:t>
            </a:r>
          </a:p>
        </p:txBody>
      </p:sp>
      <p:sp>
        <p:nvSpPr>
          <p:cNvPr id="271" name="TextBox 270"/>
          <p:cNvSpPr txBox="1"/>
          <p:nvPr/>
        </p:nvSpPr>
        <p:spPr>
          <a:xfrm>
            <a:off x="731520" y="2057400"/>
            <a:ext cx="2194560" cy="1554480"/>
          </a:xfrm>
          <a:prstGeom prst="rect">
            <a:avLst/>
          </a:prstGeom>
          <a:noFill/>
        </p:spPr>
        <p:txBody>
          <a:bodyPr wrap="square" lIns="0" rIns="0" tIns="0" bIns="0" anchor="t">
            <a:spAutoFit/>
          </a:bodyPr>
          <a:lstStyle/>
          <a:p>
            <a:pPr algn="l"/>
            <a:r>
              <a:rPr sz="1300" b="0">
                <a:solidFill>
                  <a:srgbClr val="161D26"/>
                </a:solidFill>
                <a:latin typeface="Ember Modern Display Standard"/>
              </a:rPr>
              <a:t>Shard by country and region</a:t>
            </a:r>
          </a:p>
          <a:p>
            <a:pPr algn="l">
              <a:spcBef>
                <a:spcPts val="800"/>
              </a:spcBef>
            </a:pPr>
            <a:r>
              <a:rPr sz="1300" b="0">
                <a:solidFill>
                  <a:srgbClr val="161D26"/>
                </a:solidFill>
                <a:latin typeface="Ember Modern Display Standard"/>
              </a:rPr>
              <a:t>New records search only their shard</a:t>
            </a:r>
          </a:p>
        </p:txBody>
      </p:sp>
      <p:sp>
        <p:nvSpPr>
          <p:cNvPr id="272" name="Rounded Rectangle 271"/>
          <p:cNvSpPr/>
          <p:nvPr/>
        </p:nvSpPr>
        <p:spPr>
          <a:xfrm>
            <a:off x="3268980" y="1371600"/>
            <a:ext cx="2606040" cy="2331720"/>
          </a:xfrm>
          <a:prstGeom prst="roundRect">
            <a:avLst>
              <a:gd name="adj" fmla="val 2352"/>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3497580" y="1536192"/>
            <a:ext cx="2194560" cy="411480"/>
          </a:xfrm>
          <a:prstGeom prst="rect">
            <a:avLst/>
          </a:prstGeom>
          <a:noFill/>
        </p:spPr>
        <p:txBody>
          <a:bodyPr wrap="square" lIns="0" rIns="0" tIns="0" bIns="0" anchor="t">
            <a:spAutoFit/>
          </a:bodyPr>
          <a:lstStyle/>
          <a:p>
            <a:pPr algn="l"/>
            <a:r>
              <a:rPr sz="1800" b="1">
                <a:solidFill>
                  <a:srgbClr val="FFFFFF"/>
                </a:solidFill>
                <a:latin typeface="Ember Modern Display Standard"/>
              </a:rPr>
              <a:t>Run lighter</a:t>
            </a:r>
          </a:p>
        </p:txBody>
      </p:sp>
      <p:sp>
        <p:nvSpPr>
          <p:cNvPr id="274" name="TextBox 273"/>
          <p:cNvSpPr txBox="1"/>
          <p:nvPr/>
        </p:nvSpPr>
        <p:spPr>
          <a:xfrm>
            <a:off x="3497580" y="2057400"/>
            <a:ext cx="2194560" cy="1554480"/>
          </a:xfrm>
          <a:prstGeom prst="rect">
            <a:avLst/>
          </a:prstGeom>
          <a:noFill/>
        </p:spPr>
        <p:txBody>
          <a:bodyPr wrap="square" lIns="0" rIns="0" tIns="0" bIns="0" anchor="t">
            <a:spAutoFit/>
          </a:bodyPr>
          <a:lstStyle/>
          <a:p>
            <a:pPr algn="l"/>
            <a:r>
              <a:rPr sz="1300" b="0">
                <a:solidFill>
                  <a:srgbClr val="FFFFFF"/>
                </a:solidFill>
                <a:latin typeface="Ember Modern Display Standard"/>
              </a:rPr>
              <a:t>Distil the transformers into one small model</a:t>
            </a:r>
          </a:p>
          <a:p>
            <a:pPr algn="l">
              <a:spcBef>
                <a:spcPts val="800"/>
              </a:spcBef>
            </a:pPr>
            <a:r>
              <a:rPr sz="1300" b="0">
                <a:solidFill>
                  <a:srgbClr val="FFFFFF"/>
                </a:solidFill>
                <a:latin typeface="Ember Modern Display Standard"/>
              </a:rPr>
              <a:t>Quantise it; cache scores</a:t>
            </a:r>
          </a:p>
        </p:txBody>
      </p:sp>
      <p:sp>
        <p:nvSpPr>
          <p:cNvPr id="275" name="Rounded Rectangle 274"/>
          <p:cNvSpPr/>
          <p:nvPr/>
        </p:nvSpPr>
        <p:spPr>
          <a:xfrm>
            <a:off x="6035040" y="1371600"/>
            <a:ext cx="2606040" cy="2331720"/>
          </a:xfrm>
          <a:prstGeom prst="roundRect">
            <a:avLst>
              <a:gd name="adj" fmla="val 2352"/>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TextBox 275"/>
          <p:cNvSpPr txBox="1"/>
          <p:nvPr/>
        </p:nvSpPr>
        <p:spPr>
          <a:xfrm>
            <a:off x="6263640" y="1536192"/>
            <a:ext cx="2194560" cy="411480"/>
          </a:xfrm>
          <a:prstGeom prst="rect">
            <a:avLst/>
          </a:prstGeom>
          <a:noFill/>
        </p:spPr>
        <p:txBody>
          <a:bodyPr wrap="square" lIns="0" rIns="0" tIns="0" bIns="0" anchor="t">
            <a:spAutoFit/>
          </a:bodyPr>
          <a:lstStyle/>
          <a:p>
            <a:pPr algn="l"/>
            <a:r>
              <a:rPr sz="1800" b="1">
                <a:solidFill>
                  <a:srgbClr val="FFFFFF"/>
                </a:solidFill>
                <a:latin typeface="Ember Modern Display Standard"/>
              </a:rPr>
              <a:t>At the edge</a:t>
            </a:r>
          </a:p>
        </p:txBody>
      </p:sp>
      <p:sp>
        <p:nvSpPr>
          <p:cNvPr id="277" name="TextBox 276"/>
          <p:cNvSpPr txBox="1"/>
          <p:nvPr/>
        </p:nvSpPr>
        <p:spPr>
          <a:xfrm>
            <a:off x="6263640" y="2057400"/>
            <a:ext cx="2194560" cy="1554480"/>
          </a:xfrm>
          <a:prstGeom prst="rect">
            <a:avLst/>
          </a:prstGeom>
          <a:noFill/>
        </p:spPr>
        <p:txBody>
          <a:bodyPr wrap="square" lIns="0" rIns="0" tIns="0" bIns="0" anchor="t">
            <a:spAutoFit/>
          </a:bodyPr>
          <a:lstStyle/>
          <a:p>
            <a:pPr algn="l"/>
            <a:r>
              <a:rPr sz="1300" b="0">
                <a:solidFill>
                  <a:srgbClr val="FFFFFF"/>
                </a:solidFill>
                <a:latin typeface="Ember Modern Display Standard"/>
              </a:rPr>
              <a:t>XGBoost + a small model on a CPU, at sign-up</a:t>
            </a:r>
          </a:p>
          <a:p>
            <a:pPr algn="l">
              <a:spcBef>
                <a:spcPts val="800"/>
              </a:spcBef>
            </a:pPr>
            <a:r>
              <a:rPr sz="1300" b="0">
                <a:solidFill>
                  <a:srgbClr val="FFFFFF"/>
                </a:solidFill>
                <a:latin typeface="Ember Modern Display Standard"/>
              </a:rPr>
              <a:t>The 7B stays in the cloud, in batch</a:t>
            </a:r>
          </a:p>
        </p:txBody>
      </p:sp>
      <p:sp>
        <p:nvSpPr>
          <p:cNvPr id="278" name="Rounded Rectangle 277"/>
          <p:cNvSpPr/>
          <p:nvPr/>
        </p:nvSpPr>
        <p:spPr>
          <a:xfrm>
            <a:off x="502920" y="3886200"/>
            <a:ext cx="8138160" cy="457200"/>
          </a:xfrm>
          <a:prstGeom prst="roundRect">
            <a:avLst>
              <a:gd name="adj" fmla="val 50000"/>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TextBox 278"/>
          <p:cNvSpPr txBox="1"/>
          <p:nvPr/>
        </p:nvSpPr>
        <p:spPr>
          <a:xfrm>
            <a:off x="502920" y="3886200"/>
            <a:ext cx="8138160" cy="457200"/>
          </a:xfrm>
          <a:prstGeom prst="rect">
            <a:avLst/>
          </a:prstGeom>
          <a:noFill/>
        </p:spPr>
        <p:txBody>
          <a:bodyPr wrap="square" lIns="0" rIns="0" tIns="0" bIns="0" anchor="ctr">
            <a:spAutoFit/>
          </a:bodyPr>
          <a:lstStyle/>
          <a:p>
            <a:pPr algn="ctr"/>
            <a:r>
              <a:rPr sz="1400" b="0">
                <a:solidFill>
                  <a:srgbClr val="161D26"/>
                </a:solidFill>
                <a:latin typeface="Ember Modern Display Standard"/>
              </a:rPr>
              <a:t>Cost  ≈  entities  ×  candidates per entity   →   </a:t>
            </a:r>
            <a:r>
              <a:rPr sz="1400" b="1">
                <a:solidFill>
                  <a:srgbClr val="FF6200"/>
                </a:solidFill>
                <a:latin typeface="Ember Modern Display Standard"/>
              </a:rPr>
              <a:t>we keep it at 3.7</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wipe(left)">
                                      <p:cBhvr>
                                        <p:cTn id="6" dur="50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271"/>
                                        </p:tgtEl>
                                        <p:attrNameLst>
                                          <p:attrName>style.visibility</p:attrName>
                                        </p:attrNameLst>
                                      </p:cBhvr>
                                      <p:to>
                                        <p:strVal val="visible"/>
                                      </p:to>
                                    </p:set>
                                    <p:animEffect transition="in" filter="fade">
                                      <p:cBhvr>
                                        <p:cTn id="12" dur="450"/>
                                        <p:tgtEl>
                                          <p:spTgt spid="271"/>
                                        </p:tgtEl>
                                      </p:cBhvr>
                                    </p:animEffect>
                                  </p:childTnLst>
                                </p:cTn>
                              </p:par>
                            </p:childTnLst>
                          </p:cTn>
                        </p:par>
                        <p:par>
                          <p:cTn id="23" fill="hold">
                            <p:stCondLst>
                              <p:cond delay="500"/>
                            </p:stCondLst>
                            <p:childTnLst>
                              <p:par>
                                <p:cTn id="14" presetID="22" presetClass="entr" presetSubtype="8" fill="hold" grpId="0" nodeType="afterEffect">
                                  <p:stCondLst>
                                    <p:cond delay="0"/>
                                  </p:stCondLst>
                                  <p:childTnLst>
                                    <p:set>
                                      <p:cBhvr>
                                        <p:cTn id="15" dur="1" fill="hold">
                                          <p:stCondLst>
                                            <p:cond delay="0"/>
                                          </p:stCondLst>
                                        </p:cTn>
                                        <p:tgtEl>
                                          <p:spTgt spid="272"/>
                                        </p:tgtEl>
                                        <p:attrNameLst>
                                          <p:attrName>style.visibility</p:attrName>
                                        </p:attrNameLst>
                                      </p:cBhvr>
                                      <p:to>
                                        <p:strVal val="visible"/>
                                      </p:to>
                                    </p:set>
                                    <p:animEffect transition="in" filter="wipe(left)">
                                      <p:cBhvr>
                                        <p:cTn id="16" dur="500"/>
                                        <p:tgtEl>
                                          <p:spTgt spid="27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73"/>
                                        </p:tgtEl>
                                        <p:attrNameLst>
                                          <p:attrName>style.visibility</p:attrName>
                                        </p:attrNameLst>
                                      </p:cBhvr>
                                      <p:to>
                                        <p:strVal val="visible"/>
                                      </p:to>
                                    </p:set>
                                    <p:animEffect transition="in" filter="fade">
                                      <p:cBhvr>
                                        <p:cTn id="19" dur="450"/>
                                        <p:tgtEl>
                                          <p:spTgt spid="27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4"/>
                                        </p:tgtEl>
                                        <p:attrNameLst>
                                          <p:attrName>style.visibility</p:attrName>
                                        </p:attrNameLst>
                                      </p:cBhvr>
                                      <p:to>
                                        <p:strVal val="visible"/>
                                      </p:to>
                                    </p:set>
                                    <p:animEffect transition="in" filter="fade">
                                      <p:cBhvr>
                                        <p:cTn id="22" dur="450"/>
                                        <p:tgtEl>
                                          <p:spTgt spid="274"/>
                                        </p:tgtEl>
                                      </p:cBhvr>
                                    </p:animEffect>
                                  </p:childTnLst>
                                </p:cTn>
                              </p:par>
                            </p:childTnLst>
                          </p:cTn>
                        </p:par>
                        <p:par>
                          <p:cTn id="33" fill="hold">
                            <p:stCondLst>
                              <p:cond delay="1000"/>
                            </p:stCondLst>
                            <p:childTnLst>
                              <p:par>
                                <p:cTn id="24" presetID="22" presetClass="entr" presetSubtype="8" fill="hold" grpId="0" nodeType="afterEffect">
                                  <p:stCondLst>
                                    <p:cond delay="0"/>
                                  </p:stCondLst>
                                  <p:childTnLst>
                                    <p:set>
                                      <p:cBhvr>
                                        <p:cTn id="25" dur="1" fill="hold">
                                          <p:stCondLst>
                                            <p:cond delay="0"/>
                                          </p:stCondLst>
                                        </p:cTn>
                                        <p:tgtEl>
                                          <p:spTgt spid="275"/>
                                        </p:tgtEl>
                                        <p:attrNameLst>
                                          <p:attrName>style.visibility</p:attrName>
                                        </p:attrNameLst>
                                      </p:cBhvr>
                                      <p:to>
                                        <p:strVal val="visible"/>
                                      </p:to>
                                    </p:set>
                                    <p:animEffect transition="in" filter="wipe(left)">
                                      <p:cBhvr>
                                        <p:cTn id="26" dur="500"/>
                                        <p:tgtEl>
                                          <p:spTgt spid="27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6"/>
                                        </p:tgtEl>
                                        <p:attrNameLst>
                                          <p:attrName>style.visibility</p:attrName>
                                        </p:attrNameLst>
                                      </p:cBhvr>
                                      <p:to>
                                        <p:strVal val="visible"/>
                                      </p:to>
                                    </p:set>
                                    <p:animEffect transition="in" filter="fade">
                                      <p:cBhvr>
                                        <p:cTn id="29" dur="450"/>
                                        <p:tgtEl>
                                          <p:spTgt spid="27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77"/>
                                        </p:tgtEl>
                                        <p:attrNameLst>
                                          <p:attrName>style.visibility</p:attrName>
                                        </p:attrNameLst>
                                      </p:cBhvr>
                                      <p:to>
                                        <p:strVal val="visible"/>
                                      </p:to>
                                    </p:set>
                                    <p:animEffect transition="in" filter="fade">
                                      <p:cBhvr>
                                        <p:cTn id="32" dur="450"/>
                                        <p:tgtEl>
                                          <p:spTgt spid="277"/>
                                        </p:tgtEl>
                                      </p:cBhvr>
                                    </p:animEffect>
                                  </p:childTnLst>
                                </p:cTn>
                              </p:par>
                            </p:childTnLst>
                          </p:cTn>
                        </p:par>
                        <p:par>
                          <p:cTn id="40" fill="hold">
                            <p:stCondLst>
                              <p:cond delay="1500"/>
                            </p:stCondLst>
                            <p:childTnLst>
                              <p:par>
                                <p:cTn id="34" presetID="10" presetClass="entr" presetSubtype="0" fill="hold" grpId="0" nodeType="afterEffect">
                                  <p:stCondLst>
                                    <p:cond delay="0"/>
                                  </p:stCondLst>
                                  <p:childTnLst>
                                    <p:set>
                                      <p:cBhvr>
                                        <p:cTn id="35" dur="1" fill="hold">
                                          <p:stCondLst>
                                            <p:cond delay="0"/>
                                          </p:stCondLst>
                                        </p:cTn>
                                        <p:tgtEl>
                                          <p:spTgt spid="278"/>
                                        </p:tgtEl>
                                        <p:attrNameLst>
                                          <p:attrName>style.visibility</p:attrName>
                                        </p:attrNameLst>
                                      </p:cBhvr>
                                      <p:to>
                                        <p:strVal val="visible"/>
                                      </p:to>
                                    </p:set>
                                    <p:animEffect transition="in" filter="fade">
                                      <p:cBhvr>
                                        <p:cTn id="36" dur="450"/>
                                        <p:tgtEl>
                                          <p:spTgt spid="27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79"/>
                                        </p:tgtEl>
                                        <p:attrNameLst>
                                          <p:attrName>style.visibility</p:attrName>
                                        </p:attrNameLst>
                                      </p:cBhvr>
                                      <p:to>
                                        <p:strVal val="visible"/>
                                      </p:to>
                                    </p:set>
                                    <p:animEffect transition="in" filter="fade">
                                      <p:cBhvr>
                                        <p:cTn id="39" dur="450"/>
                                        <p:tgtEl>
                                          <p:spTgt spid="2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9" grpId="0" animBg="1"/>
      <p:bldP spid="270" grpId="0" animBg="1"/>
      <p:bldP spid="271" grpId="0" animBg="1"/>
      <p:bldP spid="272" grpId="0" animBg="1"/>
      <p:bldP spid="273" grpId="0" animBg="1"/>
      <p:bldP spid="274" grpId="0" animBg="1"/>
      <p:bldP spid="275" grpId="0" animBg="1"/>
      <p:bldP spid="276" grpId="0" animBg="1"/>
      <p:bldP spid="277" grpId="0" animBg="1"/>
      <p:bldP spid="278" grpId="0" animBg="1"/>
      <p:bldP spid="27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What Comes</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Next</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What we would build next, and where it matters.</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0">
                <a:solidFill>
                  <a:srgbClr val="B8C0CC"/>
                </a:solidFill>
                <a:latin typeface="Ember Modern Display Standard"/>
              </a:rPr>
              <a:t>01 Understanding</a:t>
            </a:r>
            <a:r>
              <a:rPr sz="850" b="0">
                <a:solidFill>
                  <a:srgbClr val="161D26"/>
                </a:solidFill>
                <a:latin typeface="Ember Modern Display Standard"/>
              </a:rPr>
              <a:t>    </a:t>
            </a:r>
            <a:r>
              <a:rPr sz="850" b="0">
                <a:solidFill>
                  <a:srgbClr val="B8C0CC"/>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r>
              <a:rPr sz="850" b="0">
                <a:solidFill>
                  <a:srgbClr val="161D26"/>
                </a:solidFill>
                <a:latin typeface="Ember Modern Display Standard"/>
              </a:rPr>
              <a:t>    </a:t>
            </a:r>
            <a:r>
              <a:rPr sz="850" b="1">
                <a:solidFill>
                  <a:srgbClr val="FF6200"/>
                </a:solidFill>
                <a:latin typeface="Ember Modern Display Standard"/>
              </a:rPr>
              <a:t>05 Ahead</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Customer Obsession  ·  Success and Scale Bring Broad Responsibility</a:t>
            </a:r>
          </a:p>
        </p:txBody>
      </p:sp>
      <p:sp>
        <p:nvSpPr>
          <p:cNvPr id="269" name="Rounded Rectangle 268"/>
          <p:cNvSpPr/>
          <p:nvPr/>
        </p:nvSpPr>
        <p:spPr>
          <a:xfrm>
            <a:off x="502920" y="1371600"/>
            <a:ext cx="3931920" cy="3008376"/>
          </a:xfrm>
          <a:prstGeom prst="roundRect">
            <a:avLst>
              <a:gd name="adj" fmla="val 1823"/>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731520" y="1536192"/>
            <a:ext cx="3566160" cy="320040"/>
          </a:xfrm>
          <a:prstGeom prst="rect">
            <a:avLst/>
          </a:prstGeom>
          <a:noFill/>
        </p:spPr>
        <p:txBody>
          <a:bodyPr wrap="square" lIns="0" rIns="0" tIns="0" bIns="0" anchor="t">
            <a:spAutoFit/>
          </a:bodyPr>
          <a:lstStyle/>
          <a:p>
            <a:pPr algn="l"/>
            <a:r>
              <a:rPr sz="1700" b="1">
                <a:solidFill>
                  <a:srgbClr val="FF6200"/>
                </a:solidFill>
                <a:latin typeface="Ember Modern Display Standard"/>
              </a:rPr>
              <a:t>Improve</a:t>
            </a:r>
          </a:p>
        </p:txBody>
      </p:sp>
      <p:sp>
        <p:nvSpPr>
          <p:cNvPr id="271" name="Rounded Rectangle 270"/>
          <p:cNvSpPr/>
          <p:nvPr/>
        </p:nvSpPr>
        <p:spPr>
          <a:xfrm>
            <a:off x="4709160" y="1371600"/>
            <a:ext cx="3931920" cy="3008376"/>
          </a:xfrm>
          <a:prstGeom prst="roundRect">
            <a:avLst>
              <a:gd name="adj" fmla="val 1823"/>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TextBox 271"/>
          <p:cNvSpPr txBox="1"/>
          <p:nvPr/>
        </p:nvSpPr>
        <p:spPr>
          <a:xfrm>
            <a:off x="4937760" y="1536192"/>
            <a:ext cx="3566160" cy="320040"/>
          </a:xfrm>
          <a:prstGeom prst="rect">
            <a:avLst/>
          </a:prstGeom>
          <a:noFill/>
        </p:spPr>
        <p:txBody>
          <a:bodyPr wrap="square" lIns="0" rIns="0" tIns="0" bIns="0" anchor="t">
            <a:spAutoFit/>
          </a:bodyPr>
          <a:lstStyle/>
          <a:p>
            <a:pPr algn="l"/>
            <a:r>
              <a:rPr sz="1700" b="1">
                <a:solidFill>
                  <a:srgbClr val="FF6200"/>
                </a:solidFill>
                <a:latin typeface="Ember Modern Display Standard"/>
              </a:rPr>
              <a:t>Apply</a:t>
            </a:r>
          </a:p>
        </p:txBody>
      </p:sp>
      <p:sp>
        <p:nvSpPr>
          <p:cNvPr id="273" name="TextBox 272"/>
          <p:cNvSpPr txBox="1"/>
          <p:nvPr/>
        </p:nvSpPr>
        <p:spPr>
          <a:xfrm>
            <a:off x="731520" y="2011680"/>
            <a:ext cx="3566160" cy="457200"/>
          </a:xfrm>
          <a:prstGeom prst="rect">
            <a:avLst/>
          </a:prstGeom>
          <a:noFill/>
        </p:spPr>
        <p:txBody>
          <a:bodyPr wrap="square" lIns="0" rIns="0" tIns="0" bIns="0" anchor="t">
            <a:spAutoFit/>
          </a:bodyPr>
          <a:lstStyle/>
          <a:p>
            <a:pPr algn="l"/>
            <a:r>
              <a:rPr sz="900" b="0">
                <a:solidFill>
                  <a:srgbClr val="FF6200"/>
                </a:solidFill>
                <a:latin typeface="Ember Modern Display Standard"/>
              </a:rPr>
              <a:t>●  </a:t>
            </a:r>
            <a:r>
              <a:rPr sz="1400" b="0">
                <a:solidFill>
                  <a:srgbClr val="161D26"/>
                </a:solidFill>
                <a:latin typeface="Ember Modern Display Standard"/>
              </a:rPr>
              <a:t>A few hundred labels per new country</a:t>
            </a:r>
          </a:p>
        </p:txBody>
      </p:sp>
      <p:sp>
        <p:nvSpPr>
          <p:cNvPr id="274" name="TextBox 273"/>
          <p:cNvSpPr txBox="1"/>
          <p:nvPr/>
        </p:nvSpPr>
        <p:spPr>
          <a:xfrm>
            <a:off x="731520" y="2560320"/>
            <a:ext cx="3566160" cy="457200"/>
          </a:xfrm>
          <a:prstGeom prst="rect">
            <a:avLst/>
          </a:prstGeom>
          <a:noFill/>
        </p:spPr>
        <p:txBody>
          <a:bodyPr wrap="square" lIns="0" rIns="0" tIns="0" bIns="0" anchor="t">
            <a:spAutoFit/>
          </a:bodyPr>
          <a:lstStyle/>
          <a:p>
            <a:pPr algn="l"/>
            <a:r>
              <a:rPr sz="900" b="0">
                <a:solidFill>
                  <a:srgbClr val="FF6200"/>
                </a:solidFill>
                <a:latin typeface="Ember Modern Display Standard"/>
              </a:rPr>
              <a:t>●  </a:t>
            </a:r>
            <a:r>
              <a:rPr sz="1400" b="0">
                <a:solidFill>
                  <a:srgbClr val="161D26"/>
                </a:solidFill>
                <a:latin typeface="Ember Modern Display Standard"/>
              </a:rPr>
              <a:t>City and state as soft keys</a:t>
            </a:r>
          </a:p>
        </p:txBody>
      </p:sp>
      <p:sp>
        <p:nvSpPr>
          <p:cNvPr id="275" name="TextBox 274"/>
          <p:cNvSpPr txBox="1"/>
          <p:nvPr/>
        </p:nvSpPr>
        <p:spPr>
          <a:xfrm>
            <a:off x="731520" y="3108960"/>
            <a:ext cx="3566160" cy="457200"/>
          </a:xfrm>
          <a:prstGeom prst="rect">
            <a:avLst/>
          </a:prstGeom>
          <a:noFill/>
        </p:spPr>
        <p:txBody>
          <a:bodyPr wrap="square" lIns="0" rIns="0" tIns="0" bIns="0" anchor="t">
            <a:spAutoFit/>
          </a:bodyPr>
          <a:lstStyle/>
          <a:p>
            <a:pPr algn="l"/>
            <a:r>
              <a:rPr sz="900" b="0">
                <a:solidFill>
                  <a:srgbClr val="FF6200"/>
                </a:solidFill>
                <a:latin typeface="Ember Modern Display Standard"/>
              </a:rPr>
              <a:t>●  </a:t>
            </a:r>
            <a:r>
              <a:rPr sz="1400" b="0">
                <a:solidFill>
                  <a:srgbClr val="161D26"/>
                </a:solidFill>
                <a:latin typeface="Ember Modern Display Standard"/>
              </a:rPr>
              <a:t>Better empty-address matching</a:t>
            </a:r>
          </a:p>
        </p:txBody>
      </p:sp>
      <p:sp>
        <p:nvSpPr>
          <p:cNvPr id="276" name="TextBox 275"/>
          <p:cNvSpPr txBox="1"/>
          <p:nvPr/>
        </p:nvSpPr>
        <p:spPr>
          <a:xfrm>
            <a:off x="731520" y="3657600"/>
            <a:ext cx="3566160" cy="457200"/>
          </a:xfrm>
          <a:prstGeom prst="rect">
            <a:avLst/>
          </a:prstGeom>
          <a:noFill/>
        </p:spPr>
        <p:txBody>
          <a:bodyPr wrap="square" lIns="0" rIns="0" tIns="0" bIns="0" anchor="t">
            <a:spAutoFit/>
          </a:bodyPr>
          <a:lstStyle/>
          <a:p>
            <a:pPr algn="l"/>
            <a:r>
              <a:rPr sz="900" b="0">
                <a:solidFill>
                  <a:srgbClr val="FF6200"/>
                </a:solidFill>
                <a:latin typeface="Ember Modern Display Standard"/>
              </a:rPr>
              <a:t>●  </a:t>
            </a:r>
            <a:r>
              <a:rPr sz="1400" b="0">
                <a:solidFill>
                  <a:srgbClr val="161D26"/>
                </a:solidFill>
                <a:latin typeface="Ember Modern Display Standard"/>
              </a:rPr>
              <a:t>Human review for unsure pairs</a:t>
            </a:r>
          </a:p>
        </p:txBody>
      </p:sp>
      <p:sp>
        <p:nvSpPr>
          <p:cNvPr id="277" name="TextBox 276"/>
          <p:cNvSpPr txBox="1"/>
          <p:nvPr/>
        </p:nvSpPr>
        <p:spPr>
          <a:xfrm>
            <a:off x="4937760" y="2011680"/>
            <a:ext cx="3566160" cy="457200"/>
          </a:xfrm>
          <a:prstGeom prst="rect">
            <a:avLst/>
          </a:prstGeom>
          <a:noFill/>
        </p:spPr>
        <p:txBody>
          <a:bodyPr wrap="square" lIns="0" rIns="0" tIns="0" bIns="0" anchor="t">
            <a:spAutoFit/>
          </a:bodyPr>
          <a:lstStyle/>
          <a:p>
            <a:pPr algn="l"/>
            <a:r>
              <a:rPr sz="900" b="0">
                <a:solidFill>
                  <a:srgbClr val="FF6200"/>
                </a:solidFill>
                <a:latin typeface="Ember Modern Display Standard"/>
              </a:rPr>
              <a:t>●  </a:t>
            </a:r>
            <a:r>
              <a:rPr sz="1400" b="0">
                <a:solidFill>
                  <a:srgbClr val="FFFFFF"/>
                </a:solidFill>
                <a:latin typeface="Ember Modern Display Standard"/>
              </a:rPr>
              <a:t>De-duplicate business sign-ups</a:t>
            </a:r>
          </a:p>
        </p:txBody>
      </p:sp>
      <p:sp>
        <p:nvSpPr>
          <p:cNvPr id="278" name="TextBox 277"/>
          <p:cNvSpPr txBox="1"/>
          <p:nvPr/>
        </p:nvSpPr>
        <p:spPr>
          <a:xfrm>
            <a:off x="4937760" y="2560320"/>
            <a:ext cx="3566160" cy="457200"/>
          </a:xfrm>
          <a:prstGeom prst="rect">
            <a:avLst/>
          </a:prstGeom>
          <a:noFill/>
        </p:spPr>
        <p:txBody>
          <a:bodyPr wrap="square" lIns="0" rIns="0" tIns="0" bIns="0" anchor="t">
            <a:spAutoFit/>
          </a:bodyPr>
          <a:lstStyle/>
          <a:p>
            <a:pPr algn="l"/>
            <a:r>
              <a:rPr sz="900" b="0">
                <a:solidFill>
                  <a:srgbClr val="FF6200"/>
                </a:solidFill>
                <a:latin typeface="Ember Modern Display Standard"/>
              </a:rPr>
              <a:t>●  </a:t>
            </a:r>
            <a:r>
              <a:rPr sz="1400" b="0">
                <a:solidFill>
                  <a:srgbClr val="FFFFFF"/>
                </a:solidFill>
                <a:latin typeface="Ember Modern Display Standard"/>
              </a:rPr>
              <a:t>Clean seller and supplier records</a:t>
            </a:r>
          </a:p>
        </p:txBody>
      </p:sp>
      <p:sp>
        <p:nvSpPr>
          <p:cNvPr id="279" name="TextBox 278"/>
          <p:cNvSpPr txBox="1"/>
          <p:nvPr/>
        </p:nvSpPr>
        <p:spPr>
          <a:xfrm>
            <a:off x="4937760" y="3108960"/>
            <a:ext cx="3566160" cy="457200"/>
          </a:xfrm>
          <a:prstGeom prst="rect">
            <a:avLst/>
          </a:prstGeom>
          <a:noFill/>
        </p:spPr>
        <p:txBody>
          <a:bodyPr wrap="square" lIns="0" rIns="0" tIns="0" bIns="0" anchor="t">
            <a:spAutoFit/>
          </a:bodyPr>
          <a:lstStyle/>
          <a:p>
            <a:pPr algn="l"/>
            <a:r>
              <a:rPr sz="900" b="0">
                <a:solidFill>
                  <a:srgbClr val="FF6200"/>
                </a:solidFill>
                <a:latin typeface="Ember Modern Display Standard"/>
              </a:rPr>
              <a:t>●  </a:t>
            </a:r>
            <a:r>
              <a:rPr sz="1400" b="0">
                <a:solidFill>
                  <a:srgbClr val="FFFFFF"/>
                </a:solidFill>
                <a:latin typeface="Ember Modern Display Standard"/>
              </a:rPr>
              <a:t>Catch duplicate or fake accounts</a:t>
            </a:r>
          </a:p>
        </p:txBody>
      </p:sp>
      <p:sp>
        <p:nvSpPr>
          <p:cNvPr id="280" name="TextBox 279"/>
          <p:cNvSpPr txBox="1"/>
          <p:nvPr/>
        </p:nvSpPr>
        <p:spPr>
          <a:xfrm>
            <a:off x="4937760" y="3657600"/>
            <a:ext cx="3566160" cy="457200"/>
          </a:xfrm>
          <a:prstGeom prst="rect">
            <a:avLst/>
          </a:prstGeom>
          <a:noFill/>
        </p:spPr>
        <p:txBody>
          <a:bodyPr wrap="square" lIns="0" rIns="0" tIns="0" bIns="0" anchor="t">
            <a:spAutoFit/>
          </a:bodyPr>
          <a:lstStyle/>
          <a:p>
            <a:pPr algn="l"/>
            <a:r>
              <a:rPr sz="900" b="0">
                <a:solidFill>
                  <a:srgbClr val="FF6200"/>
                </a:solidFill>
                <a:latin typeface="Ember Modern Display Standard"/>
              </a:rPr>
              <a:t>●  </a:t>
            </a:r>
            <a:r>
              <a:rPr sz="1400" b="0">
                <a:solidFill>
                  <a:srgbClr val="FFFFFF"/>
                </a:solidFill>
                <a:latin typeface="Ember Modern Display Standard"/>
              </a:rPr>
              <a:t>Launch new marketplaces faster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fade">
                                      <p:cBhvr>
                                        <p:cTn id="6" dur="45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childTnLst>
                          </p:cTn>
                        </p:par>
                        <p:par>
                          <p:cTn id="14" fill="hold">
                            <p:stCondLst>
                              <p:cond delay="450"/>
                            </p:stCondLst>
                            <p:childTnLst>
                              <p:par>
                                <p:cTn id="11" presetID="10" presetClass="entr" presetSubtype="0" fill="hold" grpId="0" nodeType="afterEffect">
                                  <p:stCondLst>
                                    <p:cond delay="0"/>
                                  </p:stCondLst>
                                  <p:childTnLst>
                                    <p:set>
                                      <p:cBhvr>
                                        <p:cTn id="12" dur="1" fill="hold">
                                          <p:stCondLst>
                                            <p:cond delay="0"/>
                                          </p:stCondLst>
                                        </p:cTn>
                                        <p:tgtEl>
                                          <p:spTgt spid="273"/>
                                        </p:tgtEl>
                                        <p:attrNameLst>
                                          <p:attrName>style.visibility</p:attrName>
                                        </p:attrNameLst>
                                      </p:cBhvr>
                                      <p:to>
                                        <p:strVal val="visible"/>
                                      </p:to>
                                    </p:set>
                                    <p:animEffect transition="in" filter="fade">
                                      <p:cBhvr>
                                        <p:cTn id="13" dur="450"/>
                                        <p:tgtEl>
                                          <p:spTgt spid="273"/>
                                        </p:tgtEl>
                                      </p:cBhvr>
                                    </p:animEffect>
                                  </p:childTnLst>
                                </p:cTn>
                              </p:par>
                            </p:childTnLst>
                          </p:cTn>
                        </p:par>
                        <p:par>
                          <p:cTn id="18" fill="hold">
                            <p:stCondLst>
                              <p:cond delay="900"/>
                            </p:stCondLst>
                            <p:childTnLst>
                              <p:par>
                                <p:cTn id="15" presetID="10" presetClass="entr" presetSubtype="0" fill="hold" grpId="0" nodeType="afterEffect">
                                  <p:stCondLst>
                                    <p:cond delay="0"/>
                                  </p:stCondLst>
                                  <p:childTnLst>
                                    <p:set>
                                      <p:cBhvr>
                                        <p:cTn id="16" dur="1" fill="hold">
                                          <p:stCondLst>
                                            <p:cond delay="0"/>
                                          </p:stCondLst>
                                        </p:cTn>
                                        <p:tgtEl>
                                          <p:spTgt spid="274"/>
                                        </p:tgtEl>
                                        <p:attrNameLst>
                                          <p:attrName>style.visibility</p:attrName>
                                        </p:attrNameLst>
                                      </p:cBhvr>
                                      <p:to>
                                        <p:strVal val="visible"/>
                                      </p:to>
                                    </p:set>
                                    <p:animEffect transition="in" filter="fade">
                                      <p:cBhvr>
                                        <p:cTn id="17" dur="450"/>
                                        <p:tgtEl>
                                          <p:spTgt spid="274"/>
                                        </p:tgtEl>
                                      </p:cBhvr>
                                    </p:animEffect>
                                  </p:childTnLst>
                                </p:cTn>
                              </p:par>
                            </p:childTnLst>
                          </p:cTn>
                        </p:par>
                        <p:par>
                          <p:cTn id="22" fill="hold">
                            <p:stCondLst>
                              <p:cond delay="1350"/>
                            </p:stCondLst>
                            <p:childTnLst>
                              <p:par>
                                <p:cTn id="19" presetID="10" presetClass="entr" presetSubtype="0" fill="hold" grpId="0" nodeType="afterEffect">
                                  <p:stCondLst>
                                    <p:cond delay="0"/>
                                  </p:stCondLst>
                                  <p:childTnLst>
                                    <p:set>
                                      <p:cBhvr>
                                        <p:cTn id="20" dur="1" fill="hold">
                                          <p:stCondLst>
                                            <p:cond delay="0"/>
                                          </p:stCondLst>
                                        </p:cTn>
                                        <p:tgtEl>
                                          <p:spTgt spid="275"/>
                                        </p:tgtEl>
                                        <p:attrNameLst>
                                          <p:attrName>style.visibility</p:attrName>
                                        </p:attrNameLst>
                                      </p:cBhvr>
                                      <p:to>
                                        <p:strVal val="visible"/>
                                      </p:to>
                                    </p:set>
                                    <p:animEffect transition="in" filter="fade">
                                      <p:cBhvr>
                                        <p:cTn id="21" dur="450"/>
                                        <p:tgtEl>
                                          <p:spTgt spid="275"/>
                                        </p:tgtEl>
                                      </p:cBhvr>
                                    </p:animEffect>
                                  </p:childTnLst>
                                </p:cTn>
                              </p:par>
                            </p:childTnLst>
                          </p:cTn>
                        </p:par>
                        <p:par>
                          <p:cTn id="26" fill="hold">
                            <p:stCondLst>
                              <p:cond delay="1800"/>
                            </p:stCondLst>
                            <p:childTnLst>
                              <p:par>
                                <p:cTn id="23" presetID="10" presetClass="entr" presetSubtype="0" fill="hold" grpId="0" nodeType="afterEffect">
                                  <p:stCondLst>
                                    <p:cond delay="0"/>
                                  </p:stCondLst>
                                  <p:childTnLst>
                                    <p:set>
                                      <p:cBhvr>
                                        <p:cTn id="24" dur="1" fill="hold">
                                          <p:stCondLst>
                                            <p:cond delay="0"/>
                                          </p:stCondLst>
                                        </p:cTn>
                                        <p:tgtEl>
                                          <p:spTgt spid="276"/>
                                        </p:tgtEl>
                                        <p:attrNameLst>
                                          <p:attrName>style.visibility</p:attrName>
                                        </p:attrNameLst>
                                      </p:cBhvr>
                                      <p:to>
                                        <p:strVal val="visible"/>
                                      </p:to>
                                    </p:set>
                                    <p:animEffect transition="in" filter="fade">
                                      <p:cBhvr>
                                        <p:cTn id="25" dur="450"/>
                                        <p:tgtEl>
                                          <p:spTgt spid="276"/>
                                        </p:tgtEl>
                                      </p:cBhvr>
                                    </p:animEffect>
                                  </p:childTnLst>
                                </p:cTn>
                              </p:par>
                            </p:childTnLst>
                          </p:cTn>
                        </p:par>
                        <p:par>
                          <p:cTn id="33" fill="hold">
                            <p:stCondLst>
                              <p:cond delay="2250"/>
                            </p:stCondLst>
                            <p:childTnLst>
                              <p:par>
                                <p:cTn id="27" presetID="10" presetClass="entr" presetSubtype="0" fill="hold" grpId="0" nodeType="afterEffect">
                                  <p:stCondLst>
                                    <p:cond delay="0"/>
                                  </p:stCondLst>
                                  <p:childTnLst>
                                    <p:set>
                                      <p:cBhvr>
                                        <p:cTn id="28" dur="1" fill="hold">
                                          <p:stCondLst>
                                            <p:cond delay="0"/>
                                          </p:stCondLst>
                                        </p:cTn>
                                        <p:tgtEl>
                                          <p:spTgt spid="271"/>
                                        </p:tgtEl>
                                        <p:attrNameLst>
                                          <p:attrName>style.visibility</p:attrName>
                                        </p:attrNameLst>
                                      </p:cBhvr>
                                      <p:to>
                                        <p:strVal val="visible"/>
                                      </p:to>
                                    </p:set>
                                    <p:animEffect transition="in" filter="fade">
                                      <p:cBhvr>
                                        <p:cTn id="29" dur="450"/>
                                        <p:tgtEl>
                                          <p:spTgt spid="27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72"/>
                                        </p:tgtEl>
                                        <p:attrNameLst>
                                          <p:attrName>style.visibility</p:attrName>
                                        </p:attrNameLst>
                                      </p:cBhvr>
                                      <p:to>
                                        <p:strVal val="visible"/>
                                      </p:to>
                                    </p:set>
                                    <p:animEffect transition="in" filter="fade">
                                      <p:cBhvr>
                                        <p:cTn id="32" dur="450"/>
                                        <p:tgtEl>
                                          <p:spTgt spid="272"/>
                                        </p:tgtEl>
                                      </p:cBhvr>
                                    </p:animEffect>
                                  </p:childTnLst>
                                </p:cTn>
                              </p:par>
                            </p:childTnLst>
                          </p:cTn>
                        </p:par>
                        <p:par>
                          <p:cTn id="37" fill="hold">
                            <p:stCondLst>
                              <p:cond delay="2700"/>
                            </p:stCondLst>
                            <p:childTnLst>
                              <p:par>
                                <p:cTn id="34" presetID="10" presetClass="entr" presetSubtype="0" fill="hold" grpId="0" nodeType="afterEffect">
                                  <p:stCondLst>
                                    <p:cond delay="0"/>
                                  </p:stCondLst>
                                  <p:childTnLst>
                                    <p:set>
                                      <p:cBhvr>
                                        <p:cTn id="35" dur="1" fill="hold">
                                          <p:stCondLst>
                                            <p:cond delay="0"/>
                                          </p:stCondLst>
                                        </p:cTn>
                                        <p:tgtEl>
                                          <p:spTgt spid="277"/>
                                        </p:tgtEl>
                                        <p:attrNameLst>
                                          <p:attrName>style.visibility</p:attrName>
                                        </p:attrNameLst>
                                      </p:cBhvr>
                                      <p:to>
                                        <p:strVal val="visible"/>
                                      </p:to>
                                    </p:set>
                                    <p:animEffect transition="in" filter="fade">
                                      <p:cBhvr>
                                        <p:cTn id="36" dur="450"/>
                                        <p:tgtEl>
                                          <p:spTgt spid="277"/>
                                        </p:tgtEl>
                                      </p:cBhvr>
                                    </p:animEffect>
                                  </p:childTnLst>
                                </p:cTn>
                              </p:par>
                            </p:childTnLst>
                          </p:cTn>
                        </p:par>
                        <p:par>
                          <p:cTn id="41" fill="hold">
                            <p:stCondLst>
                              <p:cond delay="3150"/>
                            </p:stCondLst>
                            <p:childTnLst>
                              <p:par>
                                <p:cTn id="38" presetID="10" presetClass="entr" presetSubtype="0" fill="hold" grpId="0" nodeType="afterEffect">
                                  <p:stCondLst>
                                    <p:cond delay="0"/>
                                  </p:stCondLst>
                                  <p:childTnLst>
                                    <p:set>
                                      <p:cBhvr>
                                        <p:cTn id="39" dur="1" fill="hold">
                                          <p:stCondLst>
                                            <p:cond delay="0"/>
                                          </p:stCondLst>
                                        </p:cTn>
                                        <p:tgtEl>
                                          <p:spTgt spid="278"/>
                                        </p:tgtEl>
                                        <p:attrNameLst>
                                          <p:attrName>style.visibility</p:attrName>
                                        </p:attrNameLst>
                                      </p:cBhvr>
                                      <p:to>
                                        <p:strVal val="visible"/>
                                      </p:to>
                                    </p:set>
                                    <p:animEffect transition="in" filter="fade">
                                      <p:cBhvr>
                                        <p:cTn id="40" dur="450"/>
                                        <p:tgtEl>
                                          <p:spTgt spid="278"/>
                                        </p:tgtEl>
                                      </p:cBhvr>
                                    </p:animEffect>
                                  </p:childTnLst>
                                </p:cTn>
                              </p:par>
                            </p:childTnLst>
                          </p:cTn>
                        </p:par>
                        <p:par>
                          <p:cTn id="45" fill="hold">
                            <p:stCondLst>
                              <p:cond delay="3600"/>
                            </p:stCondLst>
                            <p:childTnLst>
                              <p:par>
                                <p:cTn id="42" presetID="10" presetClass="entr" presetSubtype="0" fill="hold" grpId="0" nodeType="afterEffect">
                                  <p:stCondLst>
                                    <p:cond delay="0"/>
                                  </p:stCondLst>
                                  <p:childTnLst>
                                    <p:set>
                                      <p:cBhvr>
                                        <p:cTn id="43" dur="1" fill="hold">
                                          <p:stCondLst>
                                            <p:cond delay="0"/>
                                          </p:stCondLst>
                                        </p:cTn>
                                        <p:tgtEl>
                                          <p:spTgt spid="279"/>
                                        </p:tgtEl>
                                        <p:attrNameLst>
                                          <p:attrName>style.visibility</p:attrName>
                                        </p:attrNameLst>
                                      </p:cBhvr>
                                      <p:to>
                                        <p:strVal val="visible"/>
                                      </p:to>
                                    </p:set>
                                    <p:animEffect transition="in" filter="fade">
                                      <p:cBhvr>
                                        <p:cTn id="44" dur="450"/>
                                        <p:tgtEl>
                                          <p:spTgt spid="279"/>
                                        </p:tgtEl>
                                      </p:cBhvr>
                                    </p:animEffect>
                                  </p:childTnLst>
                                </p:cTn>
                              </p:par>
                            </p:childTnLst>
                          </p:cTn>
                        </p:par>
                        <p:par>
                          <p:cTn id="49" fill="hold">
                            <p:stCondLst>
                              <p:cond delay="4050"/>
                            </p:stCondLst>
                            <p:childTnLst>
                              <p:par>
                                <p:cTn id="46" presetID="10" presetClass="entr" presetSubtype="0" fill="hold" grpId="0" nodeType="afterEffect">
                                  <p:stCondLst>
                                    <p:cond delay="0"/>
                                  </p:stCondLst>
                                  <p:childTnLst>
                                    <p:set>
                                      <p:cBhvr>
                                        <p:cTn id="47" dur="1" fill="hold">
                                          <p:stCondLst>
                                            <p:cond delay="0"/>
                                          </p:stCondLst>
                                        </p:cTn>
                                        <p:tgtEl>
                                          <p:spTgt spid="280"/>
                                        </p:tgtEl>
                                        <p:attrNameLst>
                                          <p:attrName>style.visibility</p:attrName>
                                        </p:attrNameLst>
                                      </p:cBhvr>
                                      <p:to>
                                        <p:strVal val="visible"/>
                                      </p:to>
                                    </p:set>
                                    <p:animEffect transition="in" filter="fade">
                                      <p:cBhvr>
                                        <p:cTn id="48" dur="450"/>
                                        <p:tgtEl>
                                          <p:spTgt spid="2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9" grpId="0" animBg="1"/>
      <p:bldP spid="270" grpId="0" animBg="1"/>
      <p:bldP spid="273" grpId="0" animBg="1"/>
      <p:bldP spid="274" grpId="0" animBg="1"/>
      <p:bldP spid="275" grpId="0" animBg="1"/>
      <p:bldP spid="276" grpId="0" animBg="1"/>
      <p:bldP spid="271" grpId="0" animBg="1"/>
      <p:bldP spid="272" grpId="0" animBg="1"/>
      <p:bldP spid="277" grpId="0" animBg="1"/>
      <p:bldP spid="278" grpId="0" animBg="1"/>
      <p:bldP spid="279" grpId="0" animBg="1"/>
      <p:bldP spid="280"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61D26"/>
        </a:solidFill>
        <a:effectLst/>
      </p:bgPr>
    </p:bg>
    <p:spTree>
      <p:nvGrpSpPr>
        <p:cNvPr id="1" name="Shape 124">
          <a:extLst>
            <a:ext uri="{FF2B5EF4-FFF2-40B4-BE49-F238E27FC236}">
              <a16:creationId xmlns:a16="http://schemas.microsoft.com/office/drawing/2014/main" id="{73DD50EC-CAFF-8F02-F010-6694E0B1FB8B}"/>
            </a:ext>
          </a:extLst>
        </p:cNvPr>
        <p:cNvGrpSpPr/>
        <p:nvPr/>
      </p:nvGrpSpPr>
      <p:grpSpPr>
        <a:xfrm>
          <a:off x="0" y="0"/>
          <a:ext cx="0" cy="0"/>
          <a:chOff x="0" y="0"/>
          <a:chExt cx="0" cy="0"/>
        </a:xfrm>
      </p:grpSpPr>
      <p:sp>
        <p:nvSpPr>
          <p:cNvPr id="125" name="Google Shape;125;p36">
            <a:extLst>
              <a:ext uri="{FF2B5EF4-FFF2-40B4-BE49-F238E27FC236}">
                <a16:creationId xmlns:a16="http://schemas.microsoft.com/office/drawing/2014/main" id="{FB03AD22-4ED4-FE94-6FE7-8417ED8F816B}"/>
              </a:ext>
            </a:extLst>
          </p:cNvPr>
          <p:cNvSpPr>
            <a:spLocks noGrp="1" noRot="1" noMove="1" noResize="1" noEditPoints="1" noAdjustHandles="1" noChangeArrowheads="1" noChangeShapeType="1"/>
          </p:cNvSpPr>
          <p:nvPr/>
        </p:nvSpPr>
        <p:spPr>
          <a:xfrm>
            <a:off x="487675" y="403650"/>
            <a:ext cx="8181300" cy="4153800"/>
          </a:xfrm>
          <a:prstGeom prst="roundRect">
            <a:avLst>
              <a:gd name="adj" fmla="val 2303"/>
            </a:avLst>
          </a:prstGeom>
          <a:solidFill>
            <a:srgbClr val="29344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 name="Picture 1" descr="A logo of a company&#10;&#10;AI-generated content may be incorrect.">
            <a:extLst>
              <a:ext uri="{FF2B5EF4-FFF2-40B4-BE49-F238E27FC236}">
                <a16:creationId xmlns:a16="http://schemas.microsoft.com/office/drawing/2014/main" id="{7EBF125C-021C-FEB9-9139-9A3274BE5891}"/>
              </a:ext>
            </a:extLst>
          </p:cNvPr>
          <p:cNvPicPr>
            <a:picLocks noGrp="1" noRot="1" noChangeAspec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tretch>
            <a:fillRect/>
          </a:stretch>
        </p:blipFill>
        <p:spPr>
          <a:xfrm>
            <a:off x="4294907" y="4731974"/>
            <a:ext cx="554186" cy="185801"/>
          </a:xfrm>
          <a:prstGeom prst="rect">
            <a:avLst/>
          </a:prstGeom>
        </p:spPr>
      </p:pic>
      <p:sp>
        <p:nvSpPr>
          <p:cNvPr id="4" name="Google Shape;572;p58">
            <a:extLst>
              <a:ext uri="{FF2B5EF4-FFF2-40B4-BE49-F238E27FC236}">
                <a16:creationId xmlns:a16="http://schemas.microsoft.com/office/drawing/2014/main" id="{2BD61A1F-1DC5-B773-FCE6-6725995FE91D}"/>
              </a:ext>
            </a:extLst>
          </p:cNvPr>
          <p:cNvSpPr/>
          <p:nvPr/>
        </p:nvSpPr>
        <p:spPr>
          <a:xfrm>
            <a:off x="1143000" y="3474720"/>
            <a:ext cx="1371600" cy="310896"/>
          </a:xfrm>
          <a:prstGeom prst="roundRect">
            <a:avLst>
              <a:gd name="adj" fmla="val 50000"/>
            </a:avLst>
          </a:prstGeom>
          <a:solidFill>
            <a:srgbClr val="FF620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algn="ctr"/>
            <a:r>
              <a:rPr sz="1100" b="1">
                <a:solidFill>
                  <a:srgbClr val="FFFFFF"/>
                </a:solidFill>
                <a:latin typeface="Ember Modern Display Standard"/>
              </a:rPr>
              <a:t>Part 1 of 5</a:t>
            </a:r>
          </a:p>
        </p:txBody>
      </p:sp>
      <p:sp>
        <p:nvSpPr>
          <p:cNvPr id="126" name="TextBox 125"/>
          <p:cNvSpPr txBox="1"/>
          <p:nvPr/>
        </p:nvSpPr>
        <p:spPr>
          <a:xfrm>
            <a:off x="1143000" y="1097280"/>
            <a:ext cx="3657600" cy="1005840"/>
          </a:xfrm>
          <a:prstGeom prst="rect">
            <a:avLst/>
          </a:prstGeom>
          <a:noFill/>
        </p:spPr>
        <p:txBody>
          <a:bodyPr wrap="square" lIns="0" rIns="0" tIns="0" bIns="0" anchor="t">
            <a:spAutoFit/>
          </a:bodyPr>
          <a:lstStyle/>
          <a:p>
            <a:pPr algn="l"/>
            <a:r>
              <a:rPr sz="7200" b="1">
                <a:solidFill>
                  <a:srgbClr val="FF6200"/>
                </a:solidFill>
                <a:latin typeface="Ember Modern Display Standard"/>
              </a:rPr>
              <a:t>01</a:t>
            </a:r>
          </a:p>
        </p:txBody>
      </p:sp>
      <p:sp>
        <p:nvSpPr>
          <p:cNvPr id="127" name="TextBox 126"/>
          <p:cNvSpPr txBox="1"/>
          <p:nvPr/>
        </p:nvSpPr>
        <p:spPr>
          <a:xfrm>
            <a:off x="1143000" y="2194560"/>
            <a:ext cx="6949440" cy="640080"/>
          </a:xfrm>
          <a:prstGeom prst="rect">
            <a:avLst/>
          </a:prstGeom>
          <a:noFill/>
        </p:spPr>
        <p:txBody>
          <a:bodyPr wrap="square" lIns="0" rIns="0" tIns="0" bIns="0" anchor="t">
            <a:spAutoFit/>
          </a:bodyPr>
          <a:lstStyle/>
          <a:p>
            <a:pPr algn="l"/>
            <a:r>
              <a:rPr sz="3400" b="1">
                <a:solidFill>
                  <a:srgbClr val="FFFFFF"/>
                </a:solidFill>
                <a:latin typeface="Ember Modern Display Standard"/>
              </a:rPr>
              <a:t>Understanding the problem</a:t>
            </a:r>
          </a:p>
        </p:txBody>
      </p:sp>
      <p:sp>
        <p:nvSpPr>
          <p:cNvPr id="128" name="TextBox 127"/>
          <p:cNvSpPr txBox="1"/>
          <p:nvPr/>
        </p:nvSpPr>
        <p:spPr>
          <a:xfrm>
            <a:off x="1143000" y="2852928"/>
            <a:ext cx="6949440" cy="365760"/>
          </a:xfrm>
          <a:prstGeom prst="rect">
            <a:avLst/>
          </a:prstGeom>
          <a:noFill/>
        </p:spPr>
        <p:txBody>
          <a:bodyPr wrap="square" lIns="0" rIns="0" tIns="0" bIns="0" anchor="t">
            <a:spAutoFit/>
          </a:bodyPr>
          <a:lstStyle/>
          <a:p>
            <a:pPr algn="l"/>
            <a:r>
              <a:rPr sz="1500" b="0">
                <a:solidFill>
                  <a:srgbClr val="D6DCE7"/>
                </a:solidFill>
                <a:latin typeface="Ember Modern Display Standard"/>
              </a:rPr>
              <a:t>What the data told us, and the rules we set ourselves.</a:t>
            </a:r>
          </a:p>
        </p:txBody>
      </p:sp>
    </p:spTree>
    <p:extLst>
      <p:ext uri="{BB962C8B-B14F-4D97-AF65-F5344CB8AC3E}">
        <p14:creationId xmlns:p14="http://schemas.microsoft.com/office/powerpoint/2010/main" val="322796950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126"/>
                                        </p:tgtEl>
                                        <p:attrNameLst>
                                          <p:attrName>style.visibility</p:attrName>
                                        </p:attrNameLst>
                                      </p:cBhvr>
                                      <p:to>
                                        <p:strVal val="visible"/>
                                      </p:to>
                                    </p:set>
                                    <p:animEffect transition="in" filter="fade">
                                      <p:cBhvr>
                                        <p:cTn id="6" dur="450"/>
                                        <p:tgtEl>
                                          <p:spTgt spid="126"/>
                                        </p:tgtEl>
                                      </p:cBhvr>
                                    </p:animEffect>
                                  </p:childTnLst>
                                </p:cTn>
                              </p:par>
                            </p:childTnLst>
                          </p:cTn>
                        </p:par>
                        <p:par>
                          <p:cTn id="17" fill="hold">
                            <p:stCondLst>
                              <p:cond delay="450"/>
                            </p:stCondLst>
                            <p:childTnLst>
                              <p:par>
                                <p:cTn id="8" presetID="10" presetClass="entr" presetSubtype="0" fill="hold" grpId="0" nodeType="afterEffect">
                                  <p:stCondLst>
                                    <p:cond delay="0"/>
                                  </p:stCondLst>
                                  <p:childTnLst>
                                    <p:set>
                                      <p:cBhvr>
                                        <p:cTn id="9" dur="1" fill="hold">
                                          <p:stCondLst>
                                            <p:cond delay="0"/>
                                          </p:stCondLst>
                                        </p:cTn>
                                        <p:tgtEl>
                                          <p:spTgt spid="127"/>
                                        </p:tgtEl>
                                        <p:attrNameLst>
                                          <p:attrName>style.visibility</p:attrName>
                                        </p:attrNameLst>
                                      </p:cBhvr>
                                      <p:to>
                                        <p:strVal val="visible"/>
                                      </p:to>
                                    </p:set>
                                    <p:animEffect transition="in" filter="fade">
                                      <p:cBhvr>
                                        <p:cTn id="10" dur="450"/>
                                        <p:tgtEl>
                                          <p:spTgt spid="12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8"/>
                                        </p:tgtEl>
                                        <p:attrNameLst>
                                          <p:attrName>style.visibility</p:attrName>
                                        </p:attrNameLst>
                                      </p:cBhvr>
                                      <p:to>
                                        <p:strVal val="visible"/>
                                      </p:to>
                                    </p:set>
                                    <p:animEffect transition="in" filter="fade">
                                      <p:cBhvr>
                                        <p:cTn id="13" dur="450"/>
                                        <p:tgtEl>
                                          <p:spTgt spid="12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45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6" grpId="0" animBg="1"/>
      <p:bldP spid="127" grpId="0" animBg="1"/>
      <p:bldP spid="128" grpId="0" animBg="1"/>
      <p:bldP spid="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61D26"/>
        </a:solidFill>
        <a:effectLst/>
      </p:bgPr>
    </p:bg>
    <p:spTree>
      <p:nvGrpSpPr>
        <p:cNvPr id="1" name="Shape 124">
          <a:extLst>
            <a:ext uri="{FF2B5EF4-FFF2-40B4-BE49-F238E27FC236}">
              <a16:creationId xmlns:a16="http://schemas.microsoft.com/office/drawing/2014/main" id="{73DD50EC-CAFF-8F02-F010-6694E0B1FB8B}"/>
            </a:ext>
          </a:extLst>
        </p:cNvPr>
        <p:cNvGrpSpPr/>
        <p:nvPr/>
      </p:nvGrpSpPr>
      <p:grpSpPr>
        <a:xfrm>
          <a:off x="0" y="0"/>
          <a:ext cx="0" cy="0"/>
          <a:chOff x="0" y="0"/>
          <a:chExt cx="0" cy="0"/>
        </a:xfrm>
      </p:grpSpPr>
      <p:sp>
        <p:nvSpPr>
          <p:cNvPr id="125" name="Google Shape;125;p36">
            <a:extLst>
              <a:ext uri="{FF2B5EF4-FFF2-40B4-BE49-F238E27FC236}">
                <a16:creationId xmlns:a16="http://schemas.microsoft.com/office/drawing/2014/main" id="{FB03AD22-4ED4-FE94-6FE7-8417ED8F816B}"/>
              </a:ext>
            </a:extLst>
          </p:cNvPr>
          <p:cNvSpPr>
            <a:spLocks noGrp="1" noRot="1" noMove="1" noResize="1" noEditPoints="1" noAdjustHandles="1" noChangeArrowheads="1" noChangeShapeType="1"/>
          </p:cNvSpPr>
          <p:nvPr/>
        </p:nvSpPr>
        <p:spPr>
          <a:xfrm>
            <a:off x="487675" y="403650"/>
            <a:ext cx="8181300" cy="4153800"/>
          </a:xfrm>
          <a:prstGeom prst="roundRect">
            <a:avLst>
              <a:gd name="adj" fmla="val 2303"/>
            </a:avLst>
          </a:prstGeom>
          <a:solidFill>
            <a:srgbClr val="29344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 name="Picture 1" descr="A logo of a company&#10;&#10;AI-generated content may be incorrect.">
            <a:extLst>
              <a:ext uri="{FF2B5EF4-FFF2-40B4-BE49-F238E27FC236}">
                <a16:creationId xmlns:a16="http://schemas.microsoft.com/office/drawing/2014/main" id="{7EBF125C-021C-FEB9-9139-9A3274BE5891}"/>
              </a:ext>
            </a:extLst>
          </p:cNvPr>
          <p:cNvPicPr>
            <a:picLocks noGrp="1" noRot="1" noChangeAspec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tretch>
            <a:fillRect/>
          </a:stretch>
        </p:blipFill>
        <p:spPr>
          <a:xfrm>
            <a:off x="4294907" y="4731974"/>
            <a:ext cx="554186" cy="185801"/>
          </a:xfrm>
          <a:prstGeom prst="rect">
            <a:avLst/>
          </a:prstGeom>
        </p:spPr>
      </p:pic>
      <p:sp>
        <p:nvSpPr>
          <p:cNvPr id="4" name="Google Shape;572;p58">
            <a:extLst>
              <a:ext uri="{FF2B5EF4-FFF2-40B4-BE49-F238E27FC236}">
                <a16:creationId xmlns:a16="http://schemas.microsoft.com/office/drawing/2014/main" id="{2BD61A1F-1DC5-B773-FCE6-6725995FE91D}"/>
              </a:ext>
            </a:extLst>
          </p:cNvPr>
          <p:cNvSpPr/>
          <p:nvPr/>
        </p:nvSpPr>
        <p:spPr>
          <a:xfrm>
            <a:off x="1143000" y="3474720"/>
            <a:ext cx="1371600" cy="310896"/>
          </a:xfrm>
          <a:prstGeom prst="roundRect">
            <a:avLst>
              <a:gd name="adj" fmla="val 50000"/>
            </a:avLst>
          </a:prstGeom>
          <a:solidFill>
            <a:srgbClr val="FF620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algn="ctr"/>
            <a:r>
              <a:rPr sz="1100" b="1">
                <a:solidFill>
                  <a:srgbClr val="FFFFFF"/>
                </a:solidFill>
                <a:latin typeface="Ember Modern Display Standard"/>
              </a:rPr>
              <a:t>Part 2 of 5</a:t>
            </a:r>
          </a:p>
        </p:txBody>
      </p:sp>
      <p:sp>
        <p:nvSpPr>
          <p:cNvPr id="126" name="TextBox 125"/>
          <p:cNvSpPr txBox="1"/>
          <p:nvPr/>
        </p:nvSpPr>
        <p:spPr>
          <a:xfrm>
            <a:off x="1143000" y="1097280"/>
            <a:ext cx="3657600" cy="1005840"/>
          </a:xfrm>
          <a:prstGeom prst="rect">
            <a:avLst/>
          </a:prstGeom>
          <a:noFill/>
        </p:spPr>
        <p:txBody>
          <a:bodyPr wrap="square" lIns="0" rIns="0" tIns="0" bIns="0" anchor="t">
            <a:spAutoFit/>
          </a:bodyPr>
          <a:lstStyle/>
          <a:p>
            <a:pPr algn="l"/>
            <a:r>
              <a:rPr sz="7200" b="1">
                <a:solidFill>
                  <a:srgbClr val="FF6200"/>
                </a:solidFill>
                <a:latin typeface="Ember Modern Display Standard"/>
              </a:rPr>
              <a:t>02</a:t>
            </a:r>
          </a:p>
        </p:txBody>
      </p:sp>
      <p:sp>
        <p:nvSpPr>
          <p:cNvPr id="127" name="TextBox 126"/>
          <p:cNvSpPr txBox="1"/>
          <p:nvPr/>
        </p:nvSpPr>
        <p:spPr>
          <a:xfrm>
            <a:off x="1143000" y="2194560"/>
            <a:ext cx="6949440" cy="640080"/>
          </a:xfrm>
          <a:prstGeom prst="rect">
            <a:avLst/>
          </a:prstGeom>
          <a:noFill/>
        </p:spPr>
        <p:txBody>
          <a:bodyPr wrap="square" lIns="0" rIns="0" tIns="0" bIns="0" anchor="t">
            <a:spAutoFit/>
          </a:bodyPr>
          <a:lstStyle/>
          <a:p>
            <a:pPr algn="l"/>
            <a:r>
              <a:rPr sz="3400" b="1">
                <a:solidFill>
                  <a:srgbClr val="FFFFFF"/>
                </a:solidFill>
                <a:latin typeface="Ember Modern Display Standard"/>
              </a:rPr>
              <a:t>Building the solution</a:t>
            </a:r>
          </a:p>
        </p:txBody>
      </p:sp>
      <p:sp>
        <p:nvSpPr>
          <p:cNvPr id="128" name="TextBox 127"/>
          <p:cNvSpPr txBox="1"/>
          <p:nvPr/>
        </p:nvSpPr>
        <p:spPr>
          <a:xfrm>
            <a:off x="1143000" y="2852928"/>
            <a:ext cx="6949440" cy="365760"/>
          </a:xfrm>
          <a:prstGeom prst="rect">
            <a:avLst/>
          </a:prstGeom>
          <a:noFill/>
        </p:spPr>
        <p:txBody>
          <a:bodyPr wrap="square" lIns="0" rIns="0" tIns="0" bIns="0" anchor="t">
            <a:spAutoFit/>
          </a:bodyPr>
          <a:lstStyle/>
          <a:p>
            <a:pPr algn="l"/>
            <a:r>
              <a:rPr sz="1500" b="0">
                <a:solidFill>
                  <a:srgbClr val="D6DCE7"/>
                </a:solidFill>
                <a:latin typeface="Ember Modern Display Standard"/>
              </a:rPr>
              <a:t>How we search, score, decide, and stay fast.</a:t>
            </a:r>
          </a:p>
        </p:txBody>
      </p:sp>
    </p:spTree>
    <p:extLst>
      <p:ext uri="{BB962C8B-B14F-4D97-AF65-F5344CB8AC3E}">
        <p14:creationId xmlns:p14="http://schemas.microsoft.com/office/powerpoint/2010/main" val="322796950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126"/>
                                        </p:tgtEl>
                                        <p:attrNameLst>
                                          <p:attrName>style.visibility</p:attrName>
                                        </p:attrNameLst>
                                      </p:cBhvr>
                                      <p:to>
                                        <p:strVal val="visible"/>
                                      </p:to>
                                    </p:set>
                                    <p:animEffect transition="in" filter="fade">
                                      <p:cBhvr>
                                        <p:cTn id="6" dur="450"/>
                                        <p:tgtEl>
                                          <p:spTgt spid="126"/>
                                        </p:tgtEl>
                                      </p:cBhvr>
                                    </p:animEffect>
                                  </p:childTnLst>
                                </p:cTn>
                              </p:par>
                            </p:childTnLst>
                          </p:cTn>
                        </p:par>
                        <p:par>
                          <p:cTn id="17" fill="hold">
                            <p:stCondLst>
                              <p:cond delay="450"/>
                            </p:stCondLst>
                            <p:childTnLst>
                              <p:par>
                                <p:cTn id="8" presetID="10" presetClass="entr" presetSubtype="0" fill="hold" grpId="0" nodeType="afterEffect">
                                  <p:stCondLst>
                                    <p:cond delay="0"/>
                                  </p:stCondLst>
                                  <p:childTnLst>
                                    <p:set>
                                      <p:cBhvr>
                                        <p:cTn id="9" dur="1" fill="hold">
                                          <p:stCondLst>
                                            <p:cond delay="0"/>
                                          </p:stCondLst>
                                        </p:cTn>
                                        <p:tgtEl>
                                          <p:spTgt spid="127"/>
                                        </p:tgtEl>
                                        <p:attrNameLst>
                                          <p:attrName>style.visibility</p:attrName>
                                        </p:attrNameLst>
                                      </p:cBhvr>
                                      <p:to>
                                        <p:strVal val="visible"/>
                                      </p:to>
                                    </p:set>
                                    <p:animEffect transition="in" filter="fade">
                                      <p:cBhvr>
                                        <p:cTn id="10" dur="450"/>
                                        <p:tgtEl>
                                          <p:spTgt spid="12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8"/>
                                        </p:tgtEl>
                                        <p:attrNameLst>
                                          <p:attrName>style.visibility</p:attrName>
                                        </p:attrNameLst>
                                      </p:cBhvr>
                                      <p:to>
                                        <p:strVal val="visible"/>
                                      </p:to>
                                    </p:set>
                                    <p:animEffect transition="in" filter="fade">
                                      <p:cBhvr>
                                        <p:cTn id="13" dur="450"/>
                                        <p:tgtEl>
                                          <p:spTgt spid="12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45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6" grpId="0" animBg="1"/>
      <p:bldP spid="127" grpId="0" animBg="1"/>
      <p:bldP spid="128" grpId="0" animBg="1"/>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61D26"/>
        </a:solidFill>
        <a:effectLst/>
      </p:bgPr>
    </p:bg>
    <p:spTree>
      <p:nvGrpSpPr>
        <p:cNvPr id="1" name="Shape 124">
          <a:extLst>
            <a:ext uri="{FF2B5EF4-FFF2-40B4-BE49-F238E27FC236}">
              <a16:creationId xmlns:a16="http://schemas.microsoft.com/office/drawing/2014/main" id="{73DD50EC-CAFF-8F02-F010-6694E0B1FB8B}"/>
            </a:ext>
          </a:extLst>
        </p:cNvPr>
        <p:cNvGrpSpPr/>
        <p:nvPr/>
      </p:nvGrpSpPr>
      <p:grpSpPr>
        <a:xfrm>
          <a:off x="0" y="0"/>
          <a:ext cx="0" cy="0"/>
          <a:chOff x="0" y="0"/>
          <a:chExt cx="0" cy="0"/>
        </a:xfrm>
      </p:grpSpPr>
      <p:sp>
        <p:nvSpPr>
          <p:cNvPr id="125" name="Google Shape;125;p36">
            <a:extLst>
              <a:ext uri="{FF2B5EF4-FFF2-40B4-BE49-F238E27FC236}">
                <a16:creationId xmlns:a16="http://schemas.microsoft.com/office/drawing/2014/main" id="{FB03AD22-4ED4-FE94-6FE7-8417ED8F816B}"/>
              </a:ext>
            </a:extLst>
          </p:cNvPr>
          <p:cNvSpPr>
            <a:spLocks noGrp="1" noRot="1" noMove="1" noResize="1" noEditPoints="1" noAdjustHandles="1" noChangeArrowheads="1" noChangeShapeType="1"/>
          </p:cNvSpPr>
          <p:nvPr/>
        </p:nvSpPr>
        <p:spPr>
          <a:xfrm>
            <a:off x="487675" y="403650"/>
            <a:ext cx="8181300" cy="4153800"/>
          </a:xfrm>
          <a:prstGeom prst="roundRect">
            <a:avLst>
              <a:gd name="adj" fmla="val 2303"/>
            </a:avLst>
          </a:prstGeom>
          <a:solidFill>
            <a:srgbClr val="29344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 name="Picture 1" descr="A logo of a company&#10;&#10;AI-generated content may be incorrect.">
            <a:extLst>
              <a:ext uri="{FF2B5EF4-FFF2-40B4-BE49-F238E27FC236}">
                <a16:creationId xmlns:a16="http://schemas.microsoft.com/office/drawing/2014/main" id="{7EBF125C-021C-FEB9-9139-9A3274BE5891}"/>
              </a:ext>
            </a:extLst>
          </p:cNvPr>
          <p:cNvPicPr>
            <a:picLocks noGrp="1" noRot="1" noChangeAspec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tretch>
            <a:fillRect/>
          </a:stretch>
        </p:blipFill>
        <p:spPr>
          <a:xfrm>
            <a:off x="4294907" y="4731974"/>
            <a:ext cx="554186" cy="185801"/>
          </a:xfrm>
          <a:prstGeom prst="rect">
            <a:avLst/>
          </a:prstGeom>
        </p:spPr>
      </p:pic>
      <p:sp>
        <p:nvSpPr>
          <p:cNvPr id="4" name="Google Shape;572;p58">
            <a:extLst>
              <a:ext uri="{FF2B5EF4-FFF2-40B4-BE49-F238E27FC236}">
                <a16:creationId xmlns:a16="http://schemas.microsoft.com/office/drawing/2014/main" id="{2BD61A1F-1DC5-B773-FCE6-6725995FE91D}"/>
              </a:ext>
            </a:extLst>
          </p:cNvPr>
          <p:cNvSpPr/>
          <p:nvPr/>
        </p:nvSpPr>
        <p:spPr>
          <a:xfrm>
            <a:off x="1143000" y="3474720"/>
            <a:ext cx="1371600" cy="310896"/>
          </a:xfrm>
          <a:prstGeom prst="roundRect">
            <a:avLst>
              <a:gd name="adj" fmla="val 50000"/>
            </a:avLst>
          </a:prstGeom>
          <a:solidFill>
            <a:srgbClr val="FF620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algn="ctr"/>
            <a:r>
              <a:rPr sz="1100" b="1">
                <a:solidFill>
                  <a:srgbClr val="FFFFFF"/>
                </a:solidFill>
                <a:latin typeface="Ember Modern Display Standard"/>
              </a:rPr>
              <a:t>Part 3 of 5</a:t>
            </a:r>
          </a:p>
        </p:txBody>
      </p:sp>
      <p:sp>
        <p:nvSpPr>
          <p:cNvPr id="126" name="TextBox 125"/>
          <p:cNvSpPr txBox="1"/>
          <p:nvPr/>
        </p:nvSpPr>
        <p:spPr>
          <a:xfrm>
            <a:off x="1143000" y="1097280"/>
            <a:ext cx="3657600" cy="1005840"/>
          </a:xfrm>
          <a:prstGeom prst="rect">
            <a:avLst/>
          </a:prstGeom>
          <a:noFill/>
        </p:spPr>
        <p:txBody>
          <a:bodyPr wrap="square" lIns="0" rIns="0" tIns="0" bIns="0" anchor="t">
            <a:spAutoFit/>
          </a:bodyPr>
          <a:lstStyle/>
          <a:p>
            <a:pPr algn="l"/>
            <a:r>
              <a:rPr sz="7200" b="1">
                <a:solidFill>
                  <a:srgbClr val="FF6200"/>
                </a:solidFill>
                <a:latin typeface="Ember Modern Display Standard"/>
              </a:rPr>
              <a:t>03</a:t>
            </a:r>
          </a:p>
        </p:txBody>
      </p:sp>
      <p:sp>
        <p:nvSpPr>
          <p:cNvPr id="127" name="TextBox 126"/>
          <p:cNvSpPr txBox="1"/>
          <p:nvPr/>
        </p:nvSpPr>
        <p:spPr>
          <a:xfrm>
            <a:off x="1143000" y="2194560"/>
            <a:ext cx="6949440" cy="640080"/>
          </a:xfrm>
          <a:prstGeom prst="rect">
            <a:avLst/>
          </a:prstGeom>
          <a:noFill/>
        </p:spPr>
        <p:txBody>
          <a:bodyPr wrap="square" lIns="0" rIns="0" tIns="0" bIns="0" anchor="t">
            <a:spAutoFit/>
          </a:bodyPr>
          <a:lstStyle/>
          <a:p>
            <a:pPr algn="l"/>
            <a:r>
              <a:rPr sz="3400" b="1">
                <a:solidFill>
                  <a:srgbClr val="FFFFFF"/>
                </a:solidFill>
                <a:latin typeface="Ember Modern Display Standard"/>
              </a:rPr>
              <a:t>Learning from feedback</a:t>
            </a:r>
          </a:p>
        </p:txBody>
      </p:sp>
      <p:sp>
        <p:nvSpPr>
          <p:cNvPr id="128" name="TextBox 127"/>
          <p:cNvSpPr txBox="1"/>
          <p:nvPr/>
        </p:nvSpPr>
        <p:spPr>
          <a:xfrm>
            <a:off x="1143000" y="2852928"/>
            <a:ext cx="6949440" cy="365760"/>
          </a:xfrm>
          <a:prstGeom prst="rect">
            <a:avLst/>
          </a:prstGeom>
          <a:noFill/>
        </p:spPr>
        <p:txBody>
          <a:bodyPr wrap="square" lIns="0" rIns="0" tIns="0" bIns="0" anchor="t">
            <a:spAutoFit/>
          </a:bodyPr>
          <a:lstStyle/>
          <a:p>
            <a:pPr algn="l"/>
            <a:r>
              <a:rPr sz="1500" b="0">
                <a:solidFill>
                  <a:srgbClr val="D6DCE7"/>
                </a:solidFill>
                <a:latin typeface="Ember Modern Display Standard"/>
              </a:rPr>
              <a:t>What the leaderboard showed us, and how we responded.</a:t>
            </a:r>
          </a:p>
        </p:txBody>
      </p:sp>
    </p:spTree>
    <p:extLst>
      <p:ext uri="{BB962C8B-B14F-4D97-AF65-F5344CB8AC3E}">
        <p14:creationId xmlns:p14="http://schemas.microsoft.com/office/powerpoint/2010/main" val="322796950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126"/>
                                        </p:tgtEl>
                                        <p:attrNameLst>
                                          <p:attrName>style.visibility</p:attrName>
                                        </p:attrNameLst>
                                      </p:cBhvr>
                                      <p:to>
                                        <p:strVal val="visible"/>
                                      </p:to>
                                    </p:set>
                                    <p:animEffect transition="in" filter="fade">
                                      <p:cBhvr>
                                        <p:cTn id="6" dur="450"/>
                                        <p:tgtEl>
                                          <p:spTgt spid="126"/>
                                        </p:tgtEl>
                                      </p:cBhvr>
                                    </p:animEffect>
                                  </p:childTnLst>
                                </p:cTn>
                              </p:par>
                            </p:childTnLst>
                          </p:cTn>
                        </p:par>
                        <p:par>
                          <p:cTn id="17" fill="hold">
                            <p:stCondLst>
                              <p:cond delay="450"/>
                            </p:stCondLst>
                            <p:childTnLst>
                              <p:par>
                                <p:cTn id="8" presetID="10" presetClass="entr" presetSubtype="0" fill="hold" grpId="0" nodeType="afterEffect">
                                  <p:stCondLst>
                                    <p:cond delay="0"/>
                                  </p:stCondLst>
                                  <p:childTnLst>
                                    <p:set>
                                      <p:cBhvr>
                                        <p:cTn id="9" dur="1" fill="hold">
                                          <p:stCondLst>
                                            <p:cond delay="0"/>
                                          </p:stCondLst>
                                        </p:cTn>
                                        <p:tgtEl>
                                          <p:spTgt spid="127"/>
                                        </p:tgtEl>
                                        <p:attrNameLst>
                                          <p:attrName>style.visibility</p:attrName>
                                        </p:attrNameLst>
                                      </p:cBhvr>
                                      <p:to>
                                        <p:strVal val="visible"/>
                                      </p:to>
                                    </p:set>
                                    <p:animEffect transition="in" filter="fade">
                                      <p:cBhvr>
                                        <p:cTn id="10" dur="450"/>
                                        <p:tgtEl>
                                          <p:spTgt spid="12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8"/>
                                        </p:tgtEl>
                                        <p:attrNameLst>
                                          <p:attrName>style.visibility</p:attrName>
                                        </p:attrNameLst>
                                      </p:cBhvr>
                                      <p:to>
                                        <p:strVal val="visible"/>
                                      </p:to>
                                    </p:set>
                                    <p:animEffect transition="in" filter="fade">
                                      <p:cBhvr>
                                        <p:cTn id="13" dur="450"/>
                                        <p:tgtEl>
                                          <p:spTgt spid="12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45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6" grpId="0" animBg="1"/>
      <p:bldP spid="127" grpId="0" animBg="1"/>
      <p:bldP spid="128" grpId="0" animBg="1"/>
      <p:bldP spid="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61D26"/>
        </a:solidFill>
        <a:effectLst/>
      </p:bgPr>
    </p:bg>
    <p:spTree>
      <p:nvGrpSpPr>
        <p:cNvPr id="1" name="Shape 124">
          <a:extLst>
            <a:ext uri="{FF2B5EF4-FFF2-40B4-BE49-F238E27FC236}">
              <a16:creationId xmlns:a16="http://schemas.microsoft.com/office/drawing/2014/main" id="{73DD50EC-CAFF-8F02-F010-6694E0B1FB8B}"/>
            </a:ext>
          </a:extLst>
        </p:cNvPr>
        <p:cNvGrpSpPr/>
        <p:nvPr/>
      </p:nvGrpSpPr>
      <p:grpSpPr>
        <a:xfrm>
          <a:off x="0" y="0"/>
          <a:ext cx="0" cy="0"/>
          <a:chOff x="0" y="0"/>
          <a:chExt cx="0" cy="0"/>
        </a:xfrm>
      </p:grpSpPr>
      <p:sp>
        <p:nvSpPr>
          <p:cNvPr id="125" name="Google Shape;125;p36">
            <a:extLst>
              <a:ext uri="{FF2B5EF4-FFF2-40B4-BE49-F238E27FC236}">
                <a16:creationId xmlns:a16="http://schemas.microsoft.com/office/drawing/2014/main" id="{FB03AD22-4ED4-FE94-6FE7-8417ED8F816B}"/>
              </a:ext>
            </a:extLst>
          </p:cNvPr>
          <p:cNvSpPr>
            <a:spLocks noGrp="1" noRot="1" noMove="1" noResize="1" noEditPoints="1" noAdjustHandles="1" noChangeArrowheads="1" noChangeShapeType="1"/>
          </p:cNvSpPr>
          <p:nvPr/>
        </p:nvSpPr>
        <p:spPr>
          <a:xfrm>
            <a:off x="487675" y="403650"/>
            <a:ext cx="8181300" cy="4153800"/>
          </a:xfrm>
          <a:prstGeom prst="roundRect">
            <a:avLst>
              <a:gd name="adj" fmla="val 2303"/>
            </a:avLst>
          </a:prstGeom>
          <a:solidFill>
            <a:srgbClr val="29344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 name="Picture 1" descr="A logo of a company&#10;&#10;AI-generated content may be incorrect.">
            <a:extLst>
              <a:ext uri="{FF2B5EF4-FFF2-40B4-BE49-F238E27FC236}">
                <a16:creationId xmlns:a16="http://schemas.microsoft.com/office/drawing/2014/main" id="{7EBF125C-021C-FEB9-9139-9A3274BE5891}"/>
              </a:ext>
            </a:extLst>
          </p:cNvPr>
          <p:cNvPicPr>
            <a:picLocks noGrp="1" noRot="1" noChangeAspec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tretch>
            <a:fillRect/>
          </a:stretch>
        </p:blipFill>
        <p:spPr>
          <a:xfrm>
            <a:off x="4294907" y="4731974"/>
            <a:ext cx="554186" cy="185801"/>
          </a:xfrm>
          <a:prstGeom prst="rect">
            <a:avLst/>
          </a:prstGeom>
        </p:spPr>
      </p:pic>
      <p:sp>
        <p:nvSpPr>
          <p:cNvPr id="4" name="Google Shape;572;p58">
            <a:extLst>
              <a:ext uri="{FF2B5EF4-FFF2-40B4-BE49-F238E27FC236}">
                <a16:creationId xmlns:a16="http://schemas.microsoft.com/office/drawing/2014/main" id="{2BD61A1F-1DC5-B773-FCE6-6725995FE91D}"/>
              </a:ext>
            </a:extLst>
          </p:cNvPr>
          <p:cNvSpPr/>
          <p:nvPr/>
        </p:nvSpPr>
        <p:spPr>
          <a:xfrm>
            <a:off x="1143000" y="3474720"/>
            <a:ext cx="1371600" cy="310896"/>
          </a:xfrm>
          <a:prstGeom prst="roundRect">
            <a:avLst>
              <a:gd name="adj" fmla="val 50000"/>
            </a:avLst>
          </a:prstGeom>
          <a:solidFill>
            <a:srgbClr val="FF620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algn="ctr"/>
            <a:r>
              <a:rPr sz="1100" b="1">
                <a:solidFill>
                  <a:srgbClr val="FFFFFF"/>
                </a:solidFill>
                <a:latin typeface="Ember Modern Display Standard"/>
              </a:rPr>
              <a:t>Part 4 of 5</a:t>
            </a:r>
          </a:p>
        </p:txBody>
      </p:sp>
      <p:sp>
        <p:nvSpPr>
          <p:cNvPr id="126" name="TextBox 125"/>
          <p:cNvSpPr txBox="1"/>
          <p:nvPr/>
        </p:nvSpPr>
        <p:spPr>
          <a:xfrm>
            <a:off x="1143000" y="1097280"/>
            <a:ext cx="3657600" cy="1005840"/>
          </a:xfrm>
          <a:prstGeom prst="rect">
            <a:avLst/>
          </a:prstGeom>
          <a:noFill/>
        </p:spPr>
        <p:txBody>
          <a:bodyPr wrap="square" lIns="0" rIns="0" tIns="0" bIns="0" anchor="t">
            <a:spAutoFit/>
          </a:bodyPr>
          <a:lstStyle/>
          <a:p>
            <a:pPr algn="l"/>
            <a:r>
              <a:rPr sz="7200" b="1">
                <a:solidFill>
                  <a:srgbClr val="FF6200"/>
                </a:solidFill>
                <a:latin typeface="Ember Modern Display Standard"/>
              </a:rPr>
              <a:t>04</a:t>
            </a:r>
          </a:p>
        </p:txBody>
      </p:sp>
      <p:sp>
        <p:nvSpPr>
          <p:cNvPr id="127" name="TextBox 126"/>
          <p:cNvSpPr txBox="1"/>
          <p:nvPr/>
        </p:nvSpPr>
        <p:spPr>
          <a:xfrm>
            <a:off x="1143000" y="2194560"/>
            <a:ext cx="6949440" cy="640080"/>
          </a:xfrm>
          <a:prstGeom prst="rect">
            <a:avLst/>
          </a:prstGeom>
          <a:noFill/>
        </p:spPr>
        <p:txBody>
          <a:bodyPr wrap="square" lIns="0" rIns="0" tIns="0" bIns="0" anchor="t">
            <a:spAutoFit/>
          </a:bodyPr>
          <a:lstStyle/>
          <a:p>
            <a:pPr algn="l"/>
            <a:r>
              <a:rPr sz="3400" b="1">
                <a:solidFill>
                  <a:srgbClr val="FFFFFF"/>
                </a:solidFill>
                <a:latin typeface="Ember Modern Display Standard"/>
              </a:rPr>
              <a:t>Results and reflection</a:t>
            </a:r>
          </a:p>
        </p:txBody>
      </p:sp>
      <p:sp>
        <p:nvSpPr>
          <p:cNvPr id="128" name="TextBox 127"/>
          <p:cNvSpPr txBox="1"/>
          <p:nvPr/>
        </p:nvSpPr>
        <p:spPr>
          <a:xfrm>
            <a:off x="1143000" y="2852928"/>
            <a:ext cx="6949440" cy="365760"/>
          </a:xfrm>
          <a:prstGeom prst="rect">
            <a:avLst/>
          </a:prstGeom>
          <a:noFill/>
        </p:spPr>
        <p:txBody>
          <a:bodyPr wrap="square" lIns="0" rIns="0" tIns="0" bIns="0" anchor="t">
            <a:spAutoFit/>
          </a:bodyPr>
          <a:lstStyle/>
          <a:p>
            <a:pPr algn="l"/>
            <a:r>
              <a:rPr sz="1500" b="0">
                <a:solidFill>
                  <a:srgbClr val="D6DCE7"/>
                </a:solidFill>
                <a:latin typeface="Ember Modern Display Standard"/>
              </a:rPr>
              <a:t>How we worked, where we landed, and what we learned.</a:t>
            </a:r>
          </a:p>
        </p:txBody>
      </p:sp>
    </p:spTree>
    <p:extLst>
      <p:ext uri="{BB962C8B-B14F-4D97-AF65-F5344CB8AC3E}">
        <p14:creationId xmlns:p14="http://schemas.microsoft.com/office/powerpoint/2010/main" val="322796950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126"/>
                                        </p:tgtEl>
                                        <p:attrNameLst>
                                          <p:attrName>style.visibility</p:attrName>
                                        </p:attrNameLst>
                                      </p:cBhvr>
                                      <p:to>
                                        <p:strVal val="visible"/>
                                      </p:to>
                                    </p:set>
                                    <p:animEffect transition="in" filter="fade">
                                      <p:cBhvr>
                                        <p:cTn id="6" dur="450"/>
                                        <p:tgtEl>
                                          <p:spTgt spid="126"/>
                                        </p:tgtEl>
                                      </p:cBhvr>
                                    </p:animEffect>
                                  </p:childTnLst>
                                </p:cTn>
                              </p:par>
                            </p:childTnLst>
                          </p:cTn>
                        </p:par>
                        <p:par>
                          <p:cTn id="17" fill="hold">
                            <p:stCondLst>
                              <p:cond delay="450"/>
                            </p:stCondLst>
                            <p:childTnLst>
                              <p:par>
                                <p:cTn id="8" presetID="10" presetClass="entr" presetSubtype="0" fill="hold" grpId="0" nodeType="afterEffect">
                                  <p:stCondLst>
                                    <p:cond delay="0"/>
                                  </p:stCondLst>
                                  <p:childTnLst>
                                    <p:set>
                                      <p:cBhvr>
                                        <p:cTn id="9" dur="1" fill="hold">
                                          <p:stCondLst>
                                            <p:cond delay="0"/>
                                          </p:stCondLst>
                                        </p:cTn>
                                        <p:tgtEl>
                                          <p:spTgt spid="127"/>
                                        </p:tgtEl>
                                        <p:attrNameLst>
                                          <p:attrName>style.visibility</p:attrName>
                                        </p:attrNameLst>
                                      </p:cBhvr>
                                      <p:to>
                                        <p:strVal val="visible"/>
                                      </p:to>
                                    </p:set>
                                    <p:animEffect transition="in" filter="fade">
                                      <p:cBhvr>
                                        <p:cTn id="10" dur="450"/>
                                        <p:tgtEl>
                                          <p:spTgt spid="12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8"/>
                                        </p:tgtEl>
                                        <p:attrNameLst>
                                          <p:attrName>style.visibility</p:attrName>
                                        </p:attrNameLst>
                                      </p:cBhvr>
                                      <p:to>
                                        <p:strVal val="visible"/>
                                      </p:to>
                                    </p:set>
                                    <p:animEffect transition="in" filter="fade">
                                      <p:cBhvr>
                                        <p:cTn id="13" dur="450"/>
                                        <p:tgtEl>
                                          <p:spTgt spid="12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45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6" grpId="0" animBg="1"/>
      <p:bldP spid="127" grpId="0" animBg="1"/>
      <p:bldP spid="128" grpId="0" animBg="1"/>
      <p:bldP spid="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61D26"/>
        </a:solidFill>
        <a:effectLst/>
      </p:bgPr>
    </p:bg>
    <p:spTree>
      <p:nvGrpSpPr>
        <p:cNvPr id="1" name="Shape 124">
          <a:extLst>
            <a:ext uri="{FF2B5EF4-FFF2-40B4-BE49-F238E27FC236}">
              <a16:creationId xmlns:a16="http://schemas.microsoft.com/office/drawing/2014/main" id="{73DD50EC-CAFF-8F02-F010-6694E0B1FB8B}"/>
            </a:ext>
          </a:extLst>
        </p:cNvPr>
        <p:cNvGrpSpPr/>
        <p:nvPr/>
      </p:nvGrpSpPr>
      <p:grpSpPr>
        <a:xfrm>
          <a:off x="0" y="0"/>
          <a:ext cx="0" cy="0"/>
          <a:chOff x="0" y="0"/>
          <a:chExt cx="0" cy="0"/>
        </a:xfrm>
      </p:grpSpPr>
      <p:sp>
        <p:nvSpPr>
          <p:cNvPr id="125" name="Google Shape;125;p36">
            <a:extLst>
              <a:ext uri="{FF2B5EF4-FFF2-40B4-BE49-F238E27FC236}">
                <a16:creationId xmlns:a16="http://schemas.microsoft.com/office/drawing/2014/main" id="{FB03AD22-4ED4-FE94-6FE7-8417ED8F816B}"/>
              </a:ext>
            </a:extLst>
          </p:cNvPr>
          <p:cNvSpPr>
            <a:spLocks noGrp="1" noRot="1" noMove="1" noResize="1" noEditPoints="1" noAdjustHandles="1" noChangeArrowheads="1" noChangeShapeType="1"/>
          </p:cNvSpPr>
          <p:nvPr/>
        </p:nvSpPr>
        <p:spPr>
          <a:xfrm>
            <a:off x="487675" y="403650"/>
            <a:ext cx="8181300" cy="4153800"/>
          </a:xfrm>
          <a:prstGeom prst="roundRect">
            <a:avLst>
              <a:gd name="adj" fmla="val 2303"/>
            </a:avLst>
          </a:prstGeom>
          <a:solidFill>
            <a:srgbClr val="29344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 name="Picture 1" descr="A logo of a company&#10;&#10;AI-generated content may be incorrect.">
            <a:extLst>
              <a:ext uri="{FF2B5EF4-FFF2-40B4-BE49-F238E27FC236}">
                <a16:creationId xmlns:a16="http://schemas.microsoft.com/office/drawing/2014/main" id="{7EBF125C-021C-FEB9-9139-9A3274BE5891}"/>
              </a:ext>
            </a:extLst>
          </p:cNvPr>
          <p:cNvPicPr>
            <a:picLocks noGrp="1" noRot="1" noChangeAspec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tretch>
            <a:fillRect/>
          </a:stretch>
        </p:blipFill>
        <p:spPr>
          <a:xfrm>
            <a:off x="4294907" y="4731974"/>
            <a:ext cx="554186" cy="185801"/>
          </a:xfrm>
          <a:prstGeom prst="rect">
            <a:avLst/>
          </a:prstGeom>
        </p:spPr>
      </p:pic>
      <p:sp>
        <p:nvSpPr>
          <p:cNvPr id="4" name="Google Shape;572;p58">
            <a:extLst>
              <a:ext uri="{FF2B5EF4-FFF2-40B4-BE49-F238E27FC236}">
                <a16:creationId xmlns:a16="http://schemas.microsoft.com/office/drawing/2014/main" id="{2BD61A1F-1DC5-B773-FCE6-6725995FE91D}"/>
              </a:ext>
            </a:extLst>
          </p:cNvPr>
          <p:cNvSpPr/>
          <p:nvPr/>
        </p:nvSpPr>
        <p:spPr>
          <a:xfrm>
            <a:off x="1143000" y="3474720"/>
            <a:ext cx="1371600" cy="310896"/>
          </a:xfrm>
          <a:prstGeom prst="roundRect">
            <a:avLst>
              <a:gd name="adj" fmla="val 50000"/>
            </a:avLst>
          </a:prstGeom>
          <a:solidFill>
            <a:srgbClr val="FF620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algn="ctr"/>
            <a:r>
              <a:rPr sz="1100" b="1">
                <a:solidFill>
                  <a:srgbClr val="FFFFFF"/>
                </a:solidFill>
                <a:latin typeface="Ember Modern Display Standard"/>
              </a:rPr>
              <a:t>Part 5 of 5</a:t>
            </a:r>
          </a:p>
        </p:txBody>
      </p:sp>
      <p:sp>
        <p:nvSpPr>
          <p:cNvPr id="126" name="TextBox 125"/>
          <p:cNvSpPr txBox="1"/>
          <p:nvPr/>
        </p:nvSpPr>
        <p:spPr>
          <a:xfrm>
            <a:off x="1143000" y="1097280"/>
            <a:ext cx="3657600" cy="1005840"/>
          </a:xfrm>
          <a:prstGeom prst="rect">
            <a:avLst/>
          </a:prstGeom>
          <a:noFill/>
        </p:spPr>
        <p:txBody>
          <a:bodyPr wrap="square" lIns="0" rIns="0" tIns="0" bIns="0" anchor="t">
            <a:spAutoFit/>
          </a:bodyPr>
          <a:lstStyle/>
          <a:p>
            <a:pPr algn="l"/>
            <a:r>
              <a:rPr sz="7200" b="1">
                <a:solidFill>
                  <a:srgbClr val="FF6200"/>
                </a:solidFill>
                <a:latin typeface="Ember Modern Display Standard"/>
              </a:rPr>
              <a:t>05</a:t>
            </a:r>
          </a:p>
        </p:txBody>
      </p:sp>
      <p:sp>
        <p:nvSpPr>
          <p:cNvPr id="127" name="TextBox 126"/>
          <p:cNvSpPr txBox="1"/>
          <p:nvPr/>
        </p:nvSpPr>
        <p:spPr>
          <a:xfrm>
            <a:off x="1143000" y="2194560"/>
            <a:ext cx="6949440" cy="640080"/>
          </a:xfrm>
          <a:prstGeom prst="rect">
            <a:avLst/>
          </a:prstGeom>
          <a:noFill/>
        </p:spPr>
        <p:txBody>
          <a:bodyPr wrap="square" lIns="0" rIns="0" tIns="0" bIns="0" anchor="t">
            <a:spAutoFit/>
          </a:bodyPr>
          <a:lstStyle/>
          <a:p>
            <a:pPr algn="l"/>
            <a:r>
              <a:rPr sz="3400" b="1">
                <a:solidFill>
                  <a:srgbClr val="FFFFFF"/>
                </a:solidFill>
                <a:latin typeface="Ember Modern Display Standard"/>
              </a:rPr>
              <a:t>Looking ahead</a:t>
            </a:r>
          </a:p>
        </p:txBody>
      </p:sp>
      <p:sp>
        <p:nvSpPr>
          <p:cNvPr id="128" name="TextBox 127"/>
          <p:cNvSpPr txBox="1"/>
          <p:nvPr/>
        </p:nvSpPr>
        <p:spPr>
          <a:xfrm>
            <a:off x="1143000" y="2852928"/>
            <a:ext cx="6949440" cy="365760"/>
          </a:xfrm>
          <a:prstGeom prst="rect">
            <a:avLst/>
          </a:prstGeom>
          <a:noFill/>
        </p:spPr>
        <p:txBody>
          <a:bodyPr wrap="square" lIns="0" rIns="0" tIns="0" bIns="0" anchor="t">
            <a:spAutoFit/>
          </a:bodyPr>
          <a:lstStyle/>
          <a:p>
            <a:pPr algn="l"/>
            <a:r>
              <a:rPr sz="1500" b="0">
                <a:solidFill>
                  <a:srgbClr val="D6DCE7"/>
                </a:solidFill>
                <a:latin typeface="Ember Modern Display Standard"/>
              </a:rPr>
              <a:t>How it scales, and where it goes next.</a:t>
            </a:r>
          </a:p>
        </p:txBody>
      </p:sp>
    </p:spTree>
    <p:extLst>
      <p:ext uri="{BB962C8B-B14F-4D97-AF65-F5344CB8AC3E}">
        <p14:creationId xmlns:p14="http://schemas.microsoft.com/office/powerpoint/2010/main" val="322796950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126"/>
                                        </p:tgtEl>
                                        <p:attrNameLst>
                                          <p:attrName>style.visibility</p:attrName>
                                        </p:attrNameLst>
                                      </p:cBhvr>
                                      <p:to>
                                        <p:strVal val="visible"/>
                                      </p:to>
                                    </p:set>
                                    <p:animEffect transition="in" filter="fade">
                                      <p:cBhvr>
                                        <p:cTn id="6" dur="450"/>
                                        <p:tgtEl>
                                          <p:spTgt spid="126"/>
                                        </p:tgtEl>
                                      </p:cBhvr>
                                    </p:animEffect>
                                  </p:childTnLst>
                                </p:cTn>
                              </p:par>
                            </p:childTnLst>
                          </p:cTn>
                        </p:par>
                        <p:par>
                          <p:cTn id="17" fill="hold">
                            <p:stCondLst>
                              <p:cond delay="450"/>
                            </p:stCondLst>
                            <p:childTnLst>
                              <p:par>
                                <p:cTn id="8" presetID="10" presetClass="entr" presetSubtype="0" fill="hold" grpId="0" nodeType="afterEffect">
                                  <p:stCondLst>
                                    <p:cond delay="0"/>
                                  </p:stCondLst>
                                  <p:childTnLst>
                                    <p:set>
                                      <p:cBhvr>
                                        <p:cTn id="9" dur="1" fill="hold">
                                          <p:stCondLst>
                                            <p:cond delay="0"/>
                                          </p:stCondLst>
                                        </p:cTn>
                                        <p:tgtEl>
                                          <p:spTgt spid="127"/>
                                        </p:tgtEl>
                                        <p:attrNameLst>
                                          <p:attrName>style.visibility</p:attrName>
                                        </p:attrNameLst>
                                      </p:cBhvr>
                                      <p:to>
                                        <p:strVal val="visible"/>
                                      </p:to>
                                    </p:set>
                                    <p:animEffect transition="in" filter="fade">
                                      <p:cBhvr>
                                        <p:cTn id="10" dur="450"/>
                                        <p:tgtEl>
                                          <p:spTgt spid="12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8"/>
                                        </p:tgtEl>
                                        <p:attrNameLst>
                                          <p:attrName>style.visibility</p:attrName>
                                        </p:attrNameLst>
                                      </p:cBhvr>
                                      <p:to>
                                        <p:strVal val="visible"/>
                                      </p:to>
                                    </p:set>
                                    <p:animEffect transition="in" filter="fade">
                                      <p:cBhvr>
                                        <p:cTn id="13" dur="450"/>
                                        <p:tgtEl>
                                          <p:spTgt spid="12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45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6" grpId="0" animBg="1"/>
      <p:bldP spid="127" grpId="0" animBg="1"/>
      <p:bldP spid="128" grpId="0" animBg="1"/>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61D26"/>
        </a:solidFill>
        <a:effectLst/>
      </p:bgPr>
    </p:bg>
    <p:spTree>
      <p:nvGrpSpPr>
        <p:cNvPr id="1" name="Shape 124">
          <a:extLst>
            <a:ext uri="{FF2B5EF4-FFF2-40B4-BE49-F238E27FC236}">
              <a16:creationId xmlns:a16="http://schemas.microsoft.com/office/drawing/2014/main" id="{73DD50EC-CAFF-8F02-F010-6694E0B1FB8B}"/>
            </a:ext>
          </a:extLst>
        </p:cNvPr>
        <p:cNvGrpSpPr/>
        <p:nvPr/>
      </p:nvGrpSpPr>
      <p:grpSpPr>
        <a:xfrm>
          <a:off x="0" y="0"/>
          <a:ext cx="0" cy="0"/>
          <a:chOff x="0" y="0"/>
          <a:chExt cx="0" cy="0"/>
        </a:xfrm>
      </p:grpSpPr>
      <p:sp>
        <p:nvSpPr>
          <p:cNvPr id="125" name="Google Shape;125;p36">
            <a:extLst>
              <a:ext uri="{FF2B5EF4-FFF2-40B4-BE49-F238E27FC236}">
                <a16:creationId xmlns:a16="http://schemas.microsoft.com/office/drawing/2014/main" id="{FB03AD22-4ED4-FE94-6FE7-8417ED8F816B}"/>
              </a:ext>
            </a:extLst>
          </p:cNvPr>
          <p:cNvSpPr>
            <a:spLocks noGrp="1" noRot="1" noMove="1" noResize="1" noEditPoints="1" noAdjustHandles="1" noChangeArrowheads="1" noChangeShapeType="1"/>
          </p:cNvSpPr>
          <p:nvPr/>
        </p:nvSpPr>
        <p:spPr>
          <a:xfrm>
            <a:off x="487675" y="403650"/>
            <a:ext cx="8181300" cy="4153800"/>
          </a:xfrm>
          <a:prstGeom prst="roundRect">
            <a:avLst>
              <a:gd name="adj" fmla="val 2303"/>
            </a:avLst>
          </a:prstGeom>
          <a:solidFill>
            <a:srgbClr val="29344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 name="Picture 1" descr="A logo of a company&#10;&#10;AI-generated content may be incorrect.">
            <a:extLst>
              <a:ext uri="{FF2B5EF4-FFF2-40B4-BE49-F238E27FC236}">
                <a16:creationId xmlns:a16="http://schemas.microsoft.com/office/drawing/2014/main" id="{7EBF125C-021C-FEB9-9139-9A3274BE5891}"/>
              </a:ext>
            </a:extLst>
          </p:cNvPr>
          <p:cNvPicPr>
            <a:picLocks noGrp="1" noRot="1" noChangeAspec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tretch>
            <a:fillRect/>
          </a:stretch>
        </p:blipFill>
        <p:spPr>
          <a:xfrm>
            <a:off x="4294907" y="4731974"/>
            <a:ext cx="554186" cy="185801"/>
          </a:xfrm>
          <a:prstGeom prst="rect">
            <a:avLst/>
          </a:prstGeom>
        </p:spPr>
      </p:pic>
      <p:sp>
        <p:nvSpPr>
          <p:cNvPr id="4" name="Google Shape;572;p58">
            <a:extLst>
              <a:ext uri="{FF2B5EF4-FFF2-40B4-BE49-F238E27FC236}">
                <a16:creationId xmlns:a16="http://schemas.microsoft.com/office/drawing/2014/main" id="{2BD61A1F-1DC5-B773-FCE6-6725995FE91D}"/>
              </a:ext>
            </a:extLst>
          </p:cNvPr>
          <p:cNvSpPr/>
          <p:nvPr/>
        </p:nvSpPr>
        <p:spPr>
          <a:xfrm>
            <a:off x="3035315" y="3156693"/>
            <a:ext cx="3114474" cy="292800"/>
          </a:xfrm>
          <a:prstGeom prst="roundRect">
            <a:avLst>
              <a:gd name="adj" fmla="val 50000"/>
            </a:avLst>
          </a:prstGeom>
          <a:solidFill>
            <a:srgbClr val="FF620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algn="ctr"/>
            <a:r>
              <a:rPr sz="1200" b="1">
                <a:solidFill>
                  <a:srgbClr val="FFFFFF"/>
                </a:solidFill>
                <a:latin typeface="Ember Modern Display Standard"/>
              </a:rPr>
              <a:t>Questions welcome</a:t>
            </a:r>
          </a:p>
        </p:txBody>
      </p:sp>
      <p:sp>
        <p:nvSpPr>
          <p:cNvPr id="126" name="TextBox 125"/>
          <p:cNvSpPr txBox="1"/>
          <p:nvPr/>
        </p:nvSpPr>
        <p:spPr>
          <a:xfrm>
            <a:off x="484632" y="1051560"/>
            <a:ext cx="8183879" cy="822960"/>
          </a:xfrm>
          <a:prstGeom prst="rect">
            <a:avLst/>
          </a:prstGeom>
          <a:noFill/>
        </p:spPr>
        <p:txBody>
          <a:bodyPr wrap="square" lIns="0" rIns="0" tIns="0" bIns="0" anchor="t">
            <a:spAutoFit/>
          </a:bodyPr>
          <a:lstStyle/>
          <a:p>
            <a:pPr algn="ctr"/>
            <a:r>
              <a:rPr sz="4400" b="1">
                <a:solidFill>
                  <a:srgbClr val="FFFFFF"/>
                </a:solidFill>
                <a:latin typeface="Ember Modern Display Standard"/>
              </a:rPr>
              <a:t>Thank </a:t>
            </a:r>
            <a:r>
              <a:rPr sz="4400" b="1">
                <a:solidFill>
                  <a:srgbClr val="FF6200"/>
                </a:solidFill>
                <a:latin typeface="Ember Modern Display Standard"/>
              </a:rPr>
              <a:t>You</a:t>
            </a:r>
          </a:p>
        </p:txBody>
      </p:sp>
      <p:sp>
        <p:nvSpPr>
          <p:cNvPr id="127" name="TextBox 126"/>
          <p:cNvSpPr txBox="1"/>
          <p:nvPr/>
        </p:nvSpPr>
        <p:spPr>
          <a:xfrm>
            <a:off x="914400" y="2148840"/>
            <a:ext cx="7315200" cy="365760"/>
          </a:xfrm>
          <a:prstGeom prst="rect">
            <a:avLst/>
          </a:prstGeom>
          <a:noFill/>
        </p:spPr>
        <p:txBody>
          <a:bodyPr wrap="square" lIns="0" rIns="0" tIns="0" bIns="0" anchor="t">
            <a:spAutoFit/>
          </a:bodyPr>
          <a:lstStyle/>
          <a:p>
            <a:pPr algn="ctr"/>
            <a:r>
              <a:rPr sz="1500" b="0">
                <a:solidFill>
                  <a:srgbClr val="D6DCE7"/>
                </a:solidFill>
                <a:latin typeface="Ember Modern Display Standard"/>
              </a:rPr>
              <a:t>Read the data.   Decide like the metric.   Spend compute where it matters.</a:t>
            </a:r>
          </a:p>
        </p:txBody>
      </p:sp>
      <p:sp>
        <p:nvSpPr>
          <p:cNvPr id="128" name="TextBox 127"/>
          <p:cNvSpPr txBox="1"/>
          <p:nvPr/>
        </p:nvSpPr>
        <p:spPr>
          <a:xfrm>
            <a:off x="484632" y="3749039"/>
            <a:ext cx="8183879" cy="274320"/>
          </a:xfrm>
          <a:prstGeom prst="rect">
            <a:avLst/>
          </a:prstGeom>
          <a:noFill/>
        </p:spPr>
        <p:txBody>
          <a:bodyPr wrap="square" lIns="0" rIns="0" tIns="0" bIns="0" anchor="t">
            <a:spAutoFit/>
          </a:bodyPr>
          <a:lstStyle/>
          <a:p>
            <a:pPr algn="ctr"/>
            <a:r>
              <a:rPr sz="1100" b="0">
                <a:solidFill>
                  <a:srgbClr val="B8C0CC"/>
                </a:solidFill>
                <a:latin typeface="Ember Modern Display Standard"/>
              </a:rPr>
              <a:t>Team Grenuke  ·  Ameya Borkar  ·  Aarush Bakshi  ·  Sachi Dhoka</a:t>
            </a:r>
          </a:p>
        </p:txBody>
      </p:sp>
    </p:spTree>
    <p:extLst>
      <p:ext uri="{BB962C8B-B14F-4D97-AF65-F5344CB8AC3E}">
        <p14:creationId xmlns:p14="http://schemas.microsoft.com/office/powerpoint/2010/main" val="322796950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126"/>
                                        </p:tgtEl>
                                        <p:attrNameLst>
                                          <p:attrName>style.visibility</p:attrName>
                                        </p:attrNameLst>
                                      </p:cBhvr>
                                      <p:to>
                                        <p:strVal val="visible"/>
                                      </p:to>
                                    </p:set>
                                    <p:animEffect transition="in" filter="fade">
                                      <p:cBhvr>
                                        <p:cTn id="6" dur="450"/>
                                        <p:tgtEl>
                                          <p:spTgt spid="126"/>
                                        </p:tgtEl>
                                      </p:cBhvr>
                                    </p:animEffect>
                                  </p:childTnLst>
                                </p:cTn>
                              </p:par>
                            </p:childTnLst>
                          </p:cTn>
                        </p:par>
                        <p:par>
                          <p:cTn id="11" fill="hold">
                            <p:stCondLst>
                              <p:cond delay="450"/>
                            </p:stCondLst>
                            <p:childTnLst>
                              <p:par>
                                <p:cTn id="8" presetID="10" presetClass="entr" presetSubtype="0" fill="hold" grpId="0" nodeType="afterEffect">
                                  <p:stCondLst>
                                    <p:cond delay="0"/>
                                  </p:stCondLst>
                                  <p:childTnLst>
                                    <p:set>
                                      <p:cBhvr>
                                        <p:cTn id="9" dur="1" fill="hold">
                                          <p:stCondLst>
                                            <p:cond delay="0"/>
                                          </p:stCondLst>
                                        </p:cTn>
                                        <p:tgtEl>
                                          <p:spTgt spid="127"/>
                                        </p:tgtEl>
                                        <p:attrNameLst>
                                          <p:attrName>style.visibility</p:attrName>
                                        </p:attrNameLst>
                                      </p:cBhvr>
                                      <p:to>
                                        <p:strVal val="visible"/>
                                      </p:to>
                                    </p:set>
                                    <p:animEffect transition="in" filter="fade">
                                      <p:cBhvr>
                                        <p:cTn id="10" dur="450"/>
                                        <p:tgtEl>
                                          <p:spTgt spid="127"/>
                                        </p:tgtEl>
                                      </p:cBhvr>
                                    </p:animEffect>
                                  </p:childTnLst>
                                </p:cTn>
                              </p:par>
                            </p:childTnLst>
                          </p:cTn>
                        </p:par>
                        <p:par>
                          <p:cTn id="18" fill="hold">
                            <p:stCondLst>
                              <p:cond delay="9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450"/>
                                        <p:tgtEl>
                                          <p:spTgt spid="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8"/>
                                        </p:tgtEl>
                                        <p:attrNameLst>
                                          <p:attrName>style.visibility</p:attrName>
                                        </p:attrNameLst>
                                      </p:cBhvr>
                                      <p:to>
                                        <p:strVal val="visible"/>
                                      </p:to>
                                    </p:set>
                                    <p:animEffect transition="in" filter="fade">
                                      <p:cBhvr>
                                        <p:cTn id="17" dur="450"/>
                                        <p:tgtEl>
                                          <p:spTgt spid="1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6" grpId="0" animBg="1"/>
      <p:bldP spid="127" grpId="0" animBg="1"/>
      <p:bldP spid="4" grpId="0" animBg="1"/>
      <p:bldP spid="128" grpId="0" animBg="1"/>
    </p:bldLst>
  </p:timing>
</p:sld>
</file>

<file path=ppt/theme/theme1.xml><?xml version="1.0" encoding="utf-8"?>
<a:theme xmlns:a="http://schemas.openxmlformats.org/drawingml/2006/main" name="Amazon">
  <a:themeElements>
    <a:clrScheme name="Simple Light">
      <a:dk1>
        <a:srgbClr val="000000"/>
      </a:dk1>
      <a:lt1>
        <a:srgbClr val="FFFFFF"/>
      </a:lt1>
      <a:dk2>
        <a:srgbClr val="595959"/>
      </a:dk2>
      <a:lt2>
        <a:srgbClr val="EEEEEE"/>
      </a:lt2>
      <a:accent1>
        <a:srgbClr val="FF6200"/>
      </a:accent1>
      <a:accent2>
        <a:srgbClr val="161D26"/>
      </a:accent2>
      <a:accent3>
        <a:srgbClr val="F5F3EF"/>
      </a:accent3>
      <a:accent4>
        <a:srgbClr val="FFB28B"/>
      </a:accent4>
      <a:accent5>
        <a:srgbClr val="D1CAC2"/>
      </a:accent5>
      <a:accent6>
        <a:srgbClr val="D6DCE7"/>
      </a:accent6>
      <a:hlink>
        <a:srgbClr val="B6BFB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473</TotalTime>
  <Words>285</Words>
  <Application>Microsoft Office PowerPoint</Application>
  <PresentationFormat>On-screen Show (16:9)</PresentationFormat>
  <Paragraphs>13</Paragraphs>
  <Slides>3</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Ember Modern Display Standard</vt:lpstr>
      <vt:lpstr>Arial</vt:lpstr>
      <vt:lpstr>Helvetica Neue</vt:lpstr>
      <vt:lpstr>Play</vt:lpstr>
      <vt:lpstr>Amazon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Kumar A, Lathish</dc:creator>
  <cp:lastModifiedBy>Kumar A, Lathish</cp:lastModifiedBy>
  <cp:revision>16</cp:revision>
  <dcterms:modified xsi:type="dcterms:W3CDTF">2026-10-03T09:35:33Z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9e68092-05df-4271-8e3e-b2a4c82ba797_Enabled">
    <vt:lpwstr>true</vt:lpwstr>
  </property>
  <property fmtid="{D5CDD505-2E9C-101B-9397-08002B2CF9AE}" pid="3" name="MSIP_Label_19e68092-05df-4271-8e3e-b2a4c82ba797_SetDate">
    <vt:lpwstr>2026-01-29T18:51:21Z</vt:lpwstr>
  </property>
  <property fmtid="{D5CDD505-2E9C-101B-9397-08002B2CF9AE}" pid="4" name="MSIP_Label_19e68092-05df-4271-8e3e-b2a4c82ba797_Method">
    <vt:lpwstr>Standard</vt:lpwstr>
  </property>
  <property fmtid="{D5CDD505-2E9C-101B-9397-08002B2CF9AE}" pid="5" name="MSIP_Label_19e68092-05df-4271-8e3e-b2a4c82ba797_Name">
    <vt:lpwstr>Amazon Confidential</vt:lpwstr>
  </property>
  <property fmtid="{D5CDD505-2E9C-101B-9397-08002B2CF9AE}" pid="6" name="MSIP_Label_19e68092-05df-4271-8e3e-b2a4c82ba797_SiteId">
    <vt:lpwstr>5280104a-472d-4538-9ccf-1e1d0efe8b1b</vt:lpwstr>
  </property>
  <property fmtid="{D5CDD505-2E9C-101B-9397-08002B2CF9AE}" pid="7" name="MSIP_Label_19e68092-05df-4271-8e3e-b2a4c82ba797_ActionId">
    <vt:lpwstr>c58a1bf8-dfa2-42af-b639-c349773bb8a9</vt:lpwstr>
  </property>
  <property fmtid="{D5CDD505-2E9C-101B-9397-08002B2CF9AE}" pid="8" name="MSIP_Label_19e68092-05df-4271-8e3e-b2a4c82ba797_ContentBits">
    <vt:lpwstr>0</vt:lpwstr>
  </property>
  <property fmtid="{D5CDD505-2E9C-101B-9397-08002B2CF9AE}" pid="9" name="MSIP_Label_19e68092-05df-4271-8e3e-b2a4c82ba797_Tag">
    <vt:lpwstr>10, 3, 0, 1</vt:lpwstr>
  </property>
</Properties>
</file>