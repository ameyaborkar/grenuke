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5"/>
  </p:notesMasterIdLst>
  <p:sldIdLst>
    <p:sldId id="257" r:id="rId2"/>
    <p:sldId id="279" r:id="rId4"/>
    <p:sldId id="262" r:id="rId3"/>
    <p:sldId id="288" r:id="rId29"/>
    <p:sldId id="292" r:id="rId33"/>
    <p:sldId id="287" r:id="rId28"/>
    <p:sldId id="286" r:id="rId27"/>
    <p:sldId id="285" r:id="rId26"/>
    <p:sldId id="291" r:id="rId32"/>
    <p:sldId id="284" r:id="rId25"/>
    <p:sldId id="283" r:id="rId24"/>
    <p:sldId id="290" r:id="rId31"/>
    <p:sldId id="282" r:id="rId23"/>
    <p:sldId id="281" r:id="rId22"/>
    <p:sldId id="280" r:id="rId21"/>
    <p:sldId id="289" r:id="rId30"/>
  </p:sldIdLst>
  <p:sldSz cx="9144000" cy="5143500" type="screen16x9"/>
  <p:notesSz cx="6858000" cy="9144000"/>
  <p:embeddedFontLst>
    <p:embeddedFont>
      <p:font typeface="Ember Modern Display Standard" panose="020B0503020204020204" pitchFamily="34" charset="0"/>
      <p:regular r:id="rId6"/>
      <p:bold r:id="rId7"/>
    </p:embeddedFont>
    <p:embeddedFont>
      <p:font typeface="Helvetica Neue" panose="020B0604020202020204" charset="0"/>
      <p:regular r:id="rId8"/>
      <p:bold r:id="rId9"/>
      <p:italic r:id="rId10"/>
      <p:boldItalic r:id="rId11"/>
    </p:embeddedFont>
    <p:embeddedFont>
      <p:font typeface="Play" panose="020B060402020202020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ylec@amazon.co.uk" initials="" lastIdx="8" clrIdx="0"/>
  <p:cmAuthor id="1" name="Monika Lumb" initials="" lastIdx="4" clrIdx="1"/>
  <p:cmAuthor id="2" name="Samantha Trup" initials="" lastIdx="1" clrIdx="2"/>
  <p:cmAuthor id="3" name="Gabriela Beitel" initials="" lastIdx="17"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101"/>
    <a:srgbClr val="131C27"/>
    <a:srgbClr val="EEEEEE"/>
    <a:srgbClr val="F49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26"/>
  </p:normalViewPr>
  <p:slideViewPr>
    <p:cSldViewPr snapToGrid="0">
      <p:cViewPr varScale="1">
        <p:scale>
          <a:sx n="93" d="100"/>
          <a:sy n="93" d="100"/>
        </p:scale>
        <p:origin x="544" y="5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12.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font" Target="fonts/font5.fntdata"/><Relationship Id="rId11" Type="http://schemas.openxmlformats.org/officeDocument/2006/relationships/font" Target="fonts/font6.fntdata"/><Relationship Id="rId12" Type="http://schemas.openxmlformats.org/officeDocument/2006/relationships/font" Target="fonts/font7.fntdata"/><Relationship Id="rId13" Type="http://schemas.openxmlformats.org/officeDocument/2006/relationships/font" Target="fonts/font8.fntdata"/><Relationship Id="rId14" Type="http://schemas.openxmlformats.org/officeDocument/2006/relationships/font" Target="fonts/font9.fntdata"/><Relationship Id="rId15" Type="http://schemas.openxmlformats.org/officeDocument/2006/relationships/font" Target="fonts/font10.fntdata"/><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1.xml"/><Relationship Id="rId22" Type="http://schemas.openxmlformats.org/officeDocument/2006/relationships/slide" Target="slides/slide10.xml"/><Relationship Id="rId23" Type="http://schemas.openxmlformats.org/officeDocument/2006/relationships/slide" Target="slides/slide9.xml"/><Relationship Id="rId24" Type="http://schemas.openxmlformats.org/officeDocument/2006/relationships/slide" Target="slides/slide8.xml"/><Relationship Id="rId25" Type="http://schemas.openxmlformats.org/officeDocument/2006/relationships/slide" Target="slides/slide7.xml"/><Relationship Id="rId26" Type="http://schemas.openxmlformats.org/officeDocument/2006/relationships/slide" Target="slides/slide6.xml"/><Relationship Id="rId27" Type="http://schemas.openxmlformats.org/officeDocument/2006/relationships/slide" Target="slides/slide5.xml"/><Relationship Id="rId28" Type="http://schemas.openxmlformats.org/officeDocument/2006/relationships/slide" Target="slides/slide4.xml"/><Relationship Id="rId29" Type="http://schemas.openxmlformats.org/officeDocument/2006/relationships/slide" Target="slides/slide3.xml"/><Relationship Id="rId30" Type="http://schemas.openxmlformats.org/officeDocument/2006/relationships/slide" Target="slides/slide16.xml"/><Relationship Id="rId31" Type="http://schemas.openxmlformats.org/officeDocument/2006/relationships/slide" Target="slides/slide15.xml"/><Relationship Id="rId32" Type="http://schemas.openxmlformats.org/officeDocument/2006/relationships/slide" Target="slides/slide14.xml"/><Relationship Id="rId33"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Records per entity</c:v>
                </c:pt>
              </c:strCache>
            </c:strRef>
          </c:tx>
          <c:spPr>
            <a:solidFill>
              <a:srgbClr val="D6DCE7"/>
            </a:solidFill>
          </c:spPr>
          <c:dLbls>
            <c:dLbl>
              <c:idx val="0"/>
              <c:tx>
                <c:rich>
                  <a:bodyPr/>
                  <a:lstStyle/>
                  <a:p>
                    <a:r>
                      <a:rPr sz="1200" b="1">
                        <a:solidFill>
                          <a:srgbClr val="161D26"/>
                        </a:solidFill>
                        <a:latin typeface="Ember Modern Display Standard"/>
                      </a:rPr>
                      <a:t>4.68</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5.75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Training set</c:v>
                </c:pt>
                <c:pt idx="1">
                  <c:v>Test set</c:v>
                </c:pt>
              </c:strCache>
            </c:strRef>
          </c:cat>
          <c:val>
            <c:numRef>
              <c:f>Sheet1!$B$2:$B$3</c:f>
              <c:numCache>
                <c:formatCode>General</c:formatCode>
                <c:ptCount val="2"/>
                <c:pt idx="0">
                  <c:v>4.68</c:v>
                </c:pt>
                <c:pt idx="1">
                  <c:v>5.75</c:v>
                </c:pt>
              </c:numCache>
            </c:numRef>
          </c:val>
        </c:ser>
        <c:ser>
          <c:idx val="1"/>
          <c:order val="1"/>
          <c:tx>
            <c:strRef>
              <c:f>Sheet1!$C$1</c:f>
              <c:strCache>
                <c:ptCount val="1"/>
                <c:pt idx="0">
                  <c:v>True matches per entity</c:v>
                </c:pt>
              </c:strCache>
            </c:strRef>
          </c:tx>
          <c:spPr>
            <a:solidFill>
              <a:srgbClr val="161D26"/>
            </a:solidFill>
          </c:spPr>
          <c:dLbls>
            <c:dLbl>
              <c:idx val="0"/>
              <c:tx>
                <c:rich>
                  <a:bodyPr/>
                  <a:lstStyle/>
                  <a:p>
                    <a:r>
                      <a:rPr sz="1200" b="1">
                        <a:solidFill>
                          <a:srgbClr val="161D26"/>
                        </a:solidFill>
                        <a:latin typeface="Ember Modern Display Standard"/>
                      </a:rPr>
                      <a:t>3.46</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 3.46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Training set</c:v>
                </c:pt>
                <c:pt idx="1">
                  <c:v>Test set</c:v>
                </c:pt>
              </c:strCache>
            </c:strRef>
          </c:cat>
          <c:val>
            <c:numRef>
              <c:f>Sheet1!$C$2:$C$3</c:f>
              <c:numCache>
                <c:formatCode>General</c:formatCode>
                <c:ptCount val="2"/>
                <c:pt idx="0">
                  <c:v>3.46</c:v>
                </c:pt>
                <c:pt idx="1">
                  <c:v>3.46</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6.6"/>
          <c:min val="0.0"/>
        </c:scaling>
        <c:delete/>
        <c:axPos val="l"/>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100">
          <a:solidFill>
            <a:srgbClr val="161D26"/>
          </a:solidFill>
          <a:latin typeface="Ember Modern Display Standar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FF6200"/>
              </a:solidFill>
              <a:ln>
                <a:noFill/>
              </a:ln>
            </c:spPr>
          </c:dPt>
          <c:dPt>
            <c:idx val="1"/>
            <c:spPr>
              <a:solidFill>
                <a:srgbClr val="3A4555"/>
              </a:solidFill>
              <a:ln>
                <a:noFill/>
              </a:ln>
            </c:spPr>
          </c:dPt>
          <c:cat>
            <c:strRef>
              <c:f>Sheet1!$A$2:$A$3</c:f>
              <c:strCache>
                <c:ptCount val="2"/>
                <c:pt idx="0">
                  <c:v>0</c:v>
                </c:pt>
                <c:pt idx="1">
                  <c:v>1</c:v>
                </c:pt>
              </c:strCache>
            </c:strRef>
          </c:cat>
          <c:val>
            <c:numRef>
              <c:f>Sheet1!$B$2:$B$3</c:f>
              <c:numCache>
                <c:formatCode>General</c:formatCode>
                <c:ptCount val="2"/>
                <c:pt idx="0">
                  <c:v>2.6</c:v>
                </c:pt>
                <c:pt idx="1">
                  <c:v>97.4</c:v>
                </c:pt>
              </c:numCache>
            </c:numRef>
          </c:val>
        </c:ser>
        <c:dLbls>
          <c:showLegendKey val="0"/>
          <c:showVal val="0"/>
          <c:showCatName val="0"/>
          <c:showSerName val="0"/>
          <c:showPercent val="0"/>
          <c:showBubbleSize val="0"/>
          <c:showLeaderLines val="1"/>
        </c:dLbls>
        <c:firstSliceAng val="0"/>
        <c:holeSize val="68"/>
      </c:doughnutChart>
    </c:plotArea>
    <c:plotVisOnly val="1"/>
    <c:dispBlanksAs val="gap"/>
    <c:showDLblsOverMax val="0"/>
  </c:chart>
  <c:txPr>
    <a:bodyPr/>
    <a:lstStyle/>
    <a:p>
      <a:pPr>
        <a:defRPr sz="1100">
          <a:solidFill>
            <a:srgbClr val="161D26"/>
          </a:solidFill>
          <a:latin typeface="Ember Modern Display Standard"/>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D6DCE7"/>
              </a:solidFill>
            </c:spPr>
          </c:dPt>
          <c:dPt>
            <c:idx val="1"/>
            <c:spPr>
              <a:solidFill>
                <a:srgbClr val="FF6200"/>
              </a:solidFill>
            </c:spPr>
          </c:dPt>
          <c:dLbls>
            <c:dLbl>
              <c:idx val="0"/>
              <c:tx>
                <c:rich>
                  <a:bodyPr/>
                  <a:lstStyle/>
                  <a:p>
                    <a:r>
                      <a:rPr sz="1200" b="1">
                        <a:solidFill>
                          <a:srgbClr val="161D26"/>
                        </a:solidFill>
                        <a:latin typeface="Ember Modern Display Standard"/>
                      </a:rPr>
                      <a:t>0.9888</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0.9796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Our validation</c:v>
                </c:pt>
                <c:pt idx="1">
                  <c:v>Leaderboard</c:v>
                </c:pt>
              </c:strCache>
            </c:strRef>
          </c:cat>
          <c:val>
            <c:numRef>
              <c:f>Sheet1!$B$2:$B$3</c:f>
              <c:numCache>
                <c:formatCode>General</c:formatCode>
                <c:ptCount val="2"/>
                <c:pt idx="0">
                  <c:v>0.9888</c:v>
                </c:pt>
                <c:pt idx="1">
                  <c:v>0.9796</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0.993"/>
          <c:min val="0.965"/>
        </c:scaling>
        <c:delete/>
        <c:axPos val="l"/>
        <c:majorTickMark val="out"/>
        <c:minorTickMark val="none"/>
        <c:tickLblPos val="nextTo"/>
        <c:crossAx val="-2068027336"/>
        <c:crosses val="autoZero"/>
      </c:valAx>
    </c:plotArea>
    <c:dispBlanksAs val="gap"/>
  </c:chart>
  <c:txPr>
    <a:bodyPr/>
    <a:lstStyle/>
    <a:p>
      <a:pPr>
        <a:defRPr sz="1100">
          <a:solidFill>
            <a:srgbClr val="161D26"/>
          </a:solidFill>
          <a:latin typeface="Ember Modern Display Standar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161D26"/>
              </a:solidFill>
            </c:spPr>
          </c:dPt>
          <c:dPt>
            <c:idx val="1"/>
            <c:spPr>
              <a:solidFill>
                <a:srgbClr val="161D26"/>
              </a:solidFill>
            </c:spPr>
          </c:dPt>
          <c:dPt>
            <c:idx val="2"/>
            <c:spPr>
              <a:solidFill>
                <a:srgbClr val="FFB28B"/>
              </a:solidFill>
            </c:spPr>
          </c:dPt>
          <c:dLbls>
            <c:dLbl>
              <c:idx val="0"/>
              <c:tx>
                <c:rich>
                  <a:bodyPr/>
                  <a:lstStyle/>
                  <a:p>
                    <a:r>
                      <a:rPr sz="1200" b="1">
                        <a:solidFill>
                          <a:srgbClr val="161D26"/>
                        </a:solidFill>
                        <a:latin typeface="Ember Modern Display Standard"/>
                      </a:rPr>
                      <a:t>≈ 0.99</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 0.99</a:t>
                    </a:r>
                  </a:p>
                </c:rich>
              </c:tx>
              <c:dLblPos val="outEnd"/>
              <c:showLegendKey val="0"/>
              <c:showVal val="1"/>
              <c:showCatName val="0"/>
              <c:showSerName val="0"/>
              <c:showPercent val="0"/>
              <c:showBubbleSize val="0"/>
            </c:dLbl>
            <c:dLbl>
              <c:idx val="2"/>
              <c:tx>
                <c:rich>
                  <a:bodyPr/>
                  <a:lstStyle/>
                  <a:p>
                    <a:r>
                      <a:rPr sz="1200" b="1">
                        <a:solidFill>
                          <a:srgbClr val="161D26"/>
                        </a:solidFill>
                        <a:latin typeface="Ember Modern Display Standard"/>
                      </a:rPr>
                      <a:t>≈ 0.93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US</c:v>
                </c:pt>
                <c:pt idx="1">
                  <c:v>India</c:v>
                </c:pt>
                <c:pt idx="2">
                  <c:v>France</c:v>
                </c:pt>
              </c:strCache>
            </c:strRef>
          </c:cat>
          <c:val>
            <c:numRef>
              <c:f>Sheet1!$B$2:$B$4</c:f>
              <c:numCache>
                <c:formatCode>General</c:formatCode>
                <c:ptCount val="3"/>
                <c:pt idx="0">
                  <c:v>0.99</c:v>
                </c:pt>
                <c:pt idx="1">
                  <c:v>0.99</c:v>
                </c:pt>
                <c:pt idx="2">
                  <c:v>0.93</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005"/>
          <c:min val="0.88"/>
        </c:scaling>
        <c:delete/>
        <c:axPos val="l"/>
        <c:majorTickMark val="out"/>
        <c:minorTickMark val="none"/>
        <c:tickLblPos val="nextTo"/>
        <c:crossAx val="-2068027336"/>
        <c:crosses val="autoZero"/>
      </c:valAx>
    </c:plotArea>
    <c:dispBlanksAs val="gap"/>
  </c:chart>
  <c:txPr>
    <a:bodyPr/>
    <a:lstStyle/>
    <a:p>
      <a:pPr>
        <a:defRPr sz="1100">
          <a:solidFill>
            <a:srgbClr val="161D26"/>
          </a:solidFill>
          <a:latin typeface="Ember Modern Display Standar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spPr>
              <a:solidFill>
                <a:srgbClr val="FFB28B"/>
              </a:solidFill>
            </c:spPr>
          </c:dPt>
          <c:dPt>
            <c:idx val="1"/>
            <c:spPr>
              <a:solidFill>
                <a:srgbClr val="FF6200"/>
              </a:solidFill>
            </c:spPr>
          </c:dPt>
          <c:dLbls>
            <c:dLbl>
              <c:idx val="0"/>
              <c:tx>
                <c:rich>
                  <a:bodyPr/>
                  <a:lstStyle/>
                  <a:p>
                    <a:r>
                      <a:rPr sz="1200" b="1">
                        <a:solidFill>
                          <a:srgbClr val="161D26"/>
                        </a:solidFill>
                        <a:latin typeface="Ember Modern Display Standard"/>
                      </a:rPr>
                      <a:t>≈ 0.93</a:t>
                    </a:r>
                  </a:p>
                </c:rich>
              </c:tx>
              <c:dLblPos val="outEnd"/>
              <c:showLegendKey val="0"/>
              <c:showVal val="1"/>
              <c:showCatName val="0"/>
              <c:showSerName val="0"/>
              <c:showPercent val="0"/>
              <c:showBubbleSize val="0"/>
            </c:dLbl>
            <c:dLbl>
              <c:idx val="1"/>
              <c:tx>
                <c:rich>
                  <a:bodyPr/>
                  <a:lstStyle/>
                  <a:p>
                    <a:r>
                      <a:rPr sz="1200" b="1">
                        <a:solidFill>
                          <a:srgbClr val="161D26"/>
                        </a:solidFill>
                        <a:latin typeface="Ember Modern Display Standard"/>
                      </a:rPr>
                      <a:t>≈ 0.98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Before</c:v>
                </c:pt>
                <c:pt idx="1">
                  <c:v>After</c:v>
                </c:pt>
              </c:strCache>
            </c:strRef>
          </c:cat>
          <c:val>
            <c:numRef>
              <c:f>Sheet1!$B$2:$B$3</c:f>
              <c:numCache>
                <c:formatCode>General</c:formatCode>
                <c:ptCount val="2"/>
                <c:pt idx="0">
                  <c:v>0.93</c:v>
                </c:pt>
                <c:pt idx="1">
                  <c:v>0.98</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B8C0CC"/>
            </a:solidFill>
          </a:ln>
        </c:spPr>
        <c:crossAx val="-2113994440"/>
        <c:crosses val="autoZero"/>
        <c:auto val="1"/>
        <c:lblAlgn val="ctr"/>
        <c:lblOffset val="100"/>
        <c:noMultiLvlLbl val="0"/>
      </c:catAx>
      <c:valAx>
        <c:axId val="-2113994440"/>
        <c:scaling>
          <c:max val="1.0"/>
          <c:min val="0.88"/>
        </c:scaling>
        <c:delete/>
        <c:axPos val="l"/>
        <c:majorTickMark val="out"/>
        <c:minorTickMark val="none"/>
        <c:tickLblPos val="nextTo"/>
        <c:crossAx val="-2068027336"/>
        <c:crosses val="autoZero"/>
      </c:valAx>
    </c:plotArea>
    <c:dispBlanksAs val="gap"/>
  </c:chart>
  <c:txPr>
    <a:bodyPr/>
    <a:lstStyle/>
    <a:p>
      <a:pPr>
        <a:defRPr sz="1100">
          <a:solidFill>
            <a:srgbClr val="161D26"/>
          </a:solidFill>
          <a:latin typeface="Ember Modern Display Standar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FF6200"/>
              </a:solidFill>
              <a:ln>
                <a:noFill/>
              </a:ln>
            </c:spPr>
          </c:dPt>
          <c:dPt>
            <c:idx val="1"/>
            <c:spPr>
              <a:solidFill>
                <a:srgbClr val="161D26"/>
              </a:solidFill>
              <a:ln>
                <a:noFill/>
              </a:ln>
            </c:spPr>
          </c:dPt>
          <c:dPt>
            <c:idx val="2"/>
            <c:spPr>
              <a:solidFill>
                <a:srgbClr val="D6DCE7"/>
              </a:solidFill>
              <a:ln>
                <a:noFill/>
              </a:ln>
            </c:spPr>
          </c:dPt>
          <c:cat>
            <c:strRef>
              <c:f>Sheet1!$A$2:$A$4</c:f>
              <c:strCache>
                <c:ptCount val="3"/>
                <c:pt idx="0">
                  <c:v>0</c:v>
                </c:pt>
                <c:pt idx="1">
                  <c:v>1</c:v>
                </c:pt>
                <c:pt idx="2">
                  <c:v>2</c:v>
                </c:pt>
              </c:strCache>
            </c:strRef>
          </c:cat>
          <c:val>
            <c:numRef>
              <c:f>Sheet1!$B$2:$B$4</c:f>
              <c:numCache>
                <c:formatCode>General</c:formatCode>
                <c:ptCount val="3"/>
                <c:pt idx="0">
                  <c:v>177</c:v>
                </c:pt>
                <c:pt idx="1">
                  <c:v>126</c:v>
                </c:pt>
                <c:pt idx="2">
                  <c:v>26</c:v>
                </c:pt>
              </c:numCache>
            </c:numRef>
          </c:val>
        </c:ser>
        <c:dLbls>
          <c:showLegendKey val="0"/>
          <c:showVal val="0"/>
          <c:showCatName val="0"/>
          <c:showSerName val="0"/>
          <c:showPercent val="0"/>
          <c:showBubbleSize val="0"/>
          <c:showLeaderLines val="1"/>
        </c:dLbls>
        <c:firstSliceAng val="0"/>
        <c:holeSize val="66"/>
      </c:doughnutChart>
    </c:plotArea>
    <c:plotVisOnly val="1"/>
    <c:dispBlanksAs val="gap"/>
    <c:showDLblsOverMax val="0"/>
  </c:chart>
  <c:txPr>
    <a:bodyPr/>
    <a:lstStyle/>
    <a:p>
      <a:pPr>
        <a:defRPr sz="1100">
          <a:solidFill>
            <a:srgbClr val="161D26"/>
          </a:solidFill>
          <a:latin typeface="Ember Modern Display Standard"/>
        </a:defRPr>
      </a:pPr>
      <a:endParaR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public leaderboard</c:v>
                </c:pt>
              </c:strCache>
            </c:strRef>
          </c:tx>
          <c:spPr>
            <a:ln w="34925">
              <a:solidFill>
                <a:srgbClr val="FF6200"/>
              </a:solidFill>
            </a:ln>
          </c:spPr>
          <c:marker>
            <c:symbol val="circle"/>
            <c:size val="7"/>
            <c:spPr>
              <a:solidFill>
                <a:srgbClr val="161D26"/>
              </a:solidFill>
              <a:ln>
                <a:noFill/>
              </a:ln>
            </c:spPr>
          </c:marker>
          <c:dLbls>
            <c:dLbl>
              <c:idx val="0"/>
              <c:tx>
                <c:rich>
                  <a:bodyPr/>
                  <a:lstStyle/>
                  <a:p>
                    <a:r>
                      <a:rPr sz="1000" b="1">
                        <a:solidFill>
                          <a:srgbClr val="161D26"/>
                        </a:solidFill>
                        <a:latin typeface="Ember Modern Display Standard"/>
                      </a:rPr>
                      <a:t>0.976</a:t>
                    </a:r>
                  </a:p>
                </c:rich>
              </c:tx>
              <c:dLblPos val="t"/>
              <c:showLegendKey val="0"/>
              <c:showVal val="1"/>
              <c:showCatName val="0"/>
              <c:showSerName val="0"/>
              <c:showPercent val="0"/>
              <c:showBubbleSize val="0"/>
            </c:dLbl>
            <c:dLbl>
              <c:idx val="2"/>
              <c:tx>
                <c:rich>
                  <a:bodyPr/>
                  <a:lstStyle/>
                  <a:p>
                    <a:r>
                      <a:rPr sz="1000" b="1">
                        <a:solidFill>
                          <a:srgbClr val="161D26"/>
                        </a:solidFill>
                        <a:latin typeface="Ember Modern Display Standard"/>
                      </a:rPr>
                      <a:t>0.988</a:t>
                    </a:r>
                  </a:p>
                </c:rich>
              </c:tx>
              <c:dLblPos val="t"/>
              <c:showLegendKey val="0"/>
              <c:showVal val="1"/>
              <c:showCatName val="0"/>
              <c:showSerName val="0"/>
              <c:showPercent val="0"/>
              <c:showBubbleSize val="0"/>
            </c:dLbl>
            <c:dLbl>
              <c:idx val="4"/>
              <c:tx>
                <c:rich>
                  <a:bodyPr/>
                  <a:lstStyle/>
                  <a:p>
                    <a:r>
                      <a:rPr sz="1000" b="1">
                        <a:solidFill>
                          <a:srgbClr val="161D26"/>
                        </a:solidFill>
                        <a:latin typeface="Ember Modern Display Standard"/>
                      </a:rPr>
                      <a:t>0.990</a:t>
                    </a:r>
                  </a:p>
                </c:rich>
              </c:tx>
              <c:dLblPos val="t"/>
              <c:showLegendKey val="0"/>
              <c:showVal val="1"/>
              <c:showCatName val="0"/>
              <c:showSerName val="0"/>
              <c:showPercent val="0"/>
              <c:showBubbleSize val="0"/>
            </c:dLbl>
            <c:dLbl>
              <c:idx val="9"/>
              <c:tx>
                <c:rich>
                  <a:bodyPr/>
                  <a:lstStyle/>
                  <a:p>
                    <a:r>
                      <a:rPr sz="1000" b="1">
                        <a:solidFill>
                          <a:srgbClr val="161D26"/>
                        </a:solidFill>
                        <a:latin typeface="Ember Modern Display Standard"/>
                      </a:rPr>
                      <a:t>0.991</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first
model</c:v>
                </c:pt>
                <c:pt idx="1">
                  <c:v>+ legal
forms</c:v>
                </c:pt>
                <c:pt idx="2">
                  <c:v>+ France
rules</c:v>
                </c:pt>
                <c:pt idx="3">
                  <c:v>+ stage 3,
repairs</c:v>
                </c:pt>
                <c:pt idx="4">
                  <c:v>+ trans-
formers</c:v>
                </c:pt>
                <c:pt idx="5">
                  <c:v>+ self-
training</c:v>
                </c:pt>
                <c:pt idx="6">
                  <c:v>+ decision
layer</c:v>
                </c:pt>
                <c:pt idx="7">
                  <c:v>+ French
models</c:v>
                </c:pt>
                <c:pt idx="8">
                  <c:v>+ France
layer</c:v>
                </c:pt>
                <c:pt idx="9">
                  <c:v>+ 7B</c:v>
                </c:pt>
              </c:strCache>
            </c:strRef>
          </c:cat>
          <c:val>
            <c:numRef>
              <c:f>Sheet1!$B$2:$B$11</c:f>
              <c:numCache>
                <c:formatCode>General</c:formatCode>
                <c:ptCount val="10"/>
                <c:pt idx="0">
                  <c:v>0.97608</c:v>
                </c:pt>
                <c:pt idx="1">
                  <c:v>0.97961</c:v>
                </c:pt>
                <c:pt idx="2">
                  <c:v>0.98781</c:v>
                </c:pt>
                <c:pt idx="3">
                  <c:v>0.988609</c:v>
                </c:pt>
                <c:pt idx="4">
                  <c:v>0.989721</c:v>
                </c:pt>
                <c:pt idx="5">
                  <c:v>0.990179</c:v>
                </c:pt>
                <c:pt idx="6">
                  <c:v>0.990264</c:v>
                </c:pt>
                <c:pt idx="7">
                  <c:v>0.990545</c:v>
                </c:pt>
                <c:pt idx="8">
                  <c:v>0.990699</c:v>
                </c:pt>
                <c:pt idx="9">
                  <c:v>0.990879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0CC"/>
            </a:solidFill>
          </a:ln>
        </c:spPr>
        <c:crossAx val="2140495176"/>
        <c:crosses val="autoZero"/>
        <c:auto val="1"/>
        <c:lblAlgn val="ctr"/>
        <c:lblOffset val="100"/>
        <c:noMultiLvlLbl val="0"/>
      </c:catAx>
      <c:valAx>
        <c:axId val="2140495176"/>
        <c:scaling>
          <c:max val="0.992"/>
          <c:min val="0.975"/>
        </c:scaling>
        <c:delete val="0"/>
        <c:axPos val="l"/>
        <c:majorGridlines>
          <c:spPr>
            <a:ln>
              <a:solidFill>
                <a:srgbClr val="E3E6EB"/>
              </a:solidFill>
            </a:ln>
          </c:spPr>
        </c:majorGridlines>
        <c:numFmt formatCode="0.000" sourceLinked="0"/>
        <c:majorTickMark val="out"/>
        <c:minorTickMark val="none"/>
        <c:tickLblPos val="nextTo"/>
        <c:spPr>
          <a:ln>
            <a:noFill/>
          </a:ln>
        </c:spPr>
        <c:crossAx val="2118791784"/>
        <c:crosses val="autoZero"/>
        <c:majorUnit val="0.005"/>
      </c:valAx>
    </c:plotArea>
    <c:plotVisOnly val="1"/>
    <c:dispBlanksAs val="gap"/>
    <c:showDLblsOverMax val="0"/>
  </c:chart>
  <c:txPr>
    <a:bodyPr/>
    <a:lstStyle/>
    <a:p>
      <a:pPr>
        <a:defRPr sz="850">
          <a:solidFill>
            <a:srgbClr val="6B7280"/>
          </a:solidFill>
          <a:latin typeface="Ember Modern Display Standar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ae4afcfa35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ae4afcfa35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(about 15 seconds) Hi, we are team Grenuke: Ameya, Aarush and Sachi. We will walk you through our journey on this challenge: what the data taught us, what we built, how the leaderboard changed our thinking, and what we would do next.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a4273c6775_0_3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a4273c6775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(about 60 seconds) When the problem came in, we did not start with a model. We started by reading the data, because if you don't understand the data, the model is only guessing. This chart shows our first surprise. The test set has 23 percent more records per entity than training, but about the same number of true matches. So the extra records are look-alikes, placed there to trick us. We also saw that half of the entities share their name with another one, so the address has to decide. No record ever belongs to two entities. And France, 15 percent of the test, had no labels at all.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DDBAE79-5551-27A9-A762-591EA6DD9A2F}"/>
            </a:ext>
          </a:extLst>
        </p:cNvPr>
        <p:cNvGrpSpPr/>
        <p:nvPr/>
      </p:nvGrpSpPr>
      <p:grpSpPr>
        <a:xfrm>
          <a:off x="0" y="0"/>
          <a:ext cx="0" cy="0"/>
          <a:chOff x="0" y="0"/>
          <a:chExt cx="0" cy="0"/>
        </a:xfrm>
      </p:grpSpPr>
      <p:sp>
        <p:nvSpPr>
          <p:cNvPr id="122" name="Google Shape;122;g3ae4afcfa35_0_222:notes">
            <a:extLst>
              <a:ext uri="{FF2B5EF4-FFF2-40B4-BE49-F238E27FC236}">
                <a16:creationId xmlns:a16="http://schemas.microsoft.com/office/drawing/2014/main" id="{1ADA5E14-48EE-1348-1869-2ED73EC4F1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ae4afcfa35_0_222:notes">
            <a:extLst>
              <a:ext uri="{FF2B5EF4-FFF2-40B4-BE49-F238E27FC236}">
                <a16:creationId xmlns:a16="http://schemas.microsoft.com/office/drawing/2014/main" id="{FAB588EA-0C48-4CD3-973F-7335AD8C7D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(about 5 seconds) Let's start with how we understood the problem.</a:t>
            </a:r>
          </a:p>
        </p:txBody>
      </p:sp>
    </p:spTree>
    <p:extLst>
      <p:ext uri="{BB962C8B-B14F-4D97-AF65-F5344CB8AC3E}">
        <p14:creationId xmlns:p14="http://schemas.microsoft.com/office/powerpoint/2010/main" val="164226886"/>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45 seconds) From the data, we set two rules. First, decide like the metric. F0.5 punishes one wrong merge as much as four missed copies, and merging two different businesses is the mistake that hurts a real customer. So we chose precision first, and an empty answer when we are unsure. Second, spend compute where the model is unsure. A cheap model reads every pair, and only 2.6 percent of pairs ever reach our expensive models.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 seconds) Now, how we built the solution.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55 seconds) Comparing every entity with every record would mean about 17 trillion pairs. So first, we search for likely candidates. We search each country separately, using the words in the name and address, plus a name-only search when the address is empty. Before searching, we repair names: OCR errors, website-style names, and Hindi spellings. Retrieval keeps 99.1 percent of the true matches. Then a learned cut leaves just 3.7 candidates per entity, and still keeps 98.4 percent. We chose this soft matching over hard city or state keys, because many true copies have an empty or landmark-only address.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60 seconds) Here is our architecture in seven steps. Blue is data, navy is our models, and orange is where we decide. We clean the records and retrieve candidates. XGBoost, a fast tree model, scores every pair using name, address, house-number and rival features. The pairs it is unsure about are re-read by transformer models: e5, bge and Qwen. A second XGBoost combines their votes with context and gives a calibrated probability. Then we decide per entity. Finally, rules catch known decoys, and a 7B model re-checks the answers we were most sure of.</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55 seconds) Here is how one decision works, with a simple example. Each candidate gets a calibrated probability. We sort the candidates and keep adding matches while the expected F0.5 for this entity goes up. The two real copies are kept. The look-alike with a similar name, and the bakery at the same address, are dropped. And every record can belong to only one entity, so two entities can never claim the same record. These probabilities are illustrative.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 seconds) Then the leaderboard started teaching us.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55 seconds) Our first uploads were humbling. Our validation said 0.989, but the leaderboard said 0.980. We treated that gap like a bug report. First, we ruled out bugs in the metric and our files. Then we split the gap by country. The US and India matched our validation, so the whole gap was France, at about 0.93. Then we read the French mistakes by hand, and found the decoys our model was accepting: one word of the name swapped, at the same address.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60 seconds) France had no labels, so we let the data teach us, carefully. First, we learned which French words signal a look-alike, without any labels. Second, the model learned from its own most confident French answers, with checks so that no pair ever grades itself. Honestly, this failed twice before it worked. Third, we asked for a second opinion: different model families vote, and a 7B model re-checks confident answers. We estimate France rose from about 0.93 to about 0.98. It is an estimate, because France was never measured directly.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 seconds) Finally, how we worked and where we landed.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50 seconds) We were three people, so we tried a lot. We ran 329 measured experiments. We kept 177 and dropped 126. Every leaderboard upload tested one change. Ameya led the data work, blocking and France. Aarush trained the 7B model, built the re-check and the final submission. Sachi built our testing gates, a Qwen model and synthetic French data. And one simple rule kept us honest: when two ideas tie, keep the simpler one.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45 seconds) This is our climb on the public leaderboard, from 0.976 to 0.991. Each point is one upload, and each one changed one thing we understood. The biggest jump came from the France fixes. Transformers, self-training and the 7B model each added a smaller step. Our final score was 0.990879, and we finished second of the top ten, among more than 32,000 teams.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50 seconds) Three lessons. Read the data first: it drove every good decision we made. Doubt your own estimates: ours were built on our own model, so they shared its blind spots, and the leaderboard corrected us. And diversity wins: different models together beat one strong model, especially in a country you have never seen. At Amazon scale, we would label a few hundred French pairs where our models disagree, split the work by country and region, and keep the candidates per entity small, because every later step pays for each pair.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10 seconds) To sum up: read the data, decide the way the metric scores, and spend compute where it matters. Thank you. We are happy to take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73175" y="11322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Wiser Purple">
  <p:cSld name="TITLE_ONLY_1">
    <p:spTree>
      <p:nvGrpSpPr>
        <p:cNvPr id="1" name="Shape 9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rgbClr val="FF6200"/>
        </a:solidFill>
        <a:effectLst/>
      </p:bgPr>
    </p:bg>
    <p:spTree>
      <p:nvGrpSpPr>
        <p:cNvPr id="1" name="Shape 96"/>
        <p:cNvGrpSpPr/>
        <p:nvPr/>
      </p:nvGrpSpPr>
      <p:grpSpPr>
        <a:xfrm>
          <a:off x="0" y="0"/>
          <a:ext cx="0" cy="0"/>
          <a:chOff x="0" y="0"/>
          <a:chExt cx="0" cy="0"/>
        </a:xfrm>
      </p:grpSpPr>
      <p:sp>
        <p:nvSpPr>
          <p:cNvPr id="97" name="Google Shape;97;p26"/>
          <p:cNvSpPr/>
          <p:nvPr/>
        </p:nvSpPr>
        <p:spPr>
          <a:xfrm>
            <a:off x="0" y="0"/>
            <a:ext cx="9147366" cy="5145465"/>
          </a:xfrm>
          <a:custGeom>
            <a:avLst/>
            <a:gdLst/>
            <a:ahLst/>
            <a:cxnLst/>
            <a:rect l="l" t="t" r="r" b="b"/>
            <a:pathLst>
              <a:path w="20104100" h="11308715" extrusionOk="0">
                <a:moveTo>
                  <a:pt x="20104099" y="0"/>
                </a:moveTo>
                <a:lnTo>
                  <a:pt x="0" y="0"/>
                </a:lnTo>
                <a:lnTo>
                  <a:pt x="0" y="11308556"/>
                </a:lnTo>
                <a:lnTo>
                  <a:pt x="20104099" y="11308556"/>
                </a:lnTo>
                <a:lnTo>
                  <a:pt x="20104099" y="0"/>
                </a:lnTo>
                <a:close/>
              </a:path>
            </a:pathLst>
          </a:custGeom>
          <a:solidFill>
            <a:srgbClr val="FF6200"/>
          </a:solidFill>
          <a:ln>
            <a:noFill/>
          </a:ln>
        </p:spPr>
        <p:txBody>
          <a:bodyPr spcFirstLastPara="1" wrap="square" lIns="0" tIns="0" rIns="0" bIns="0" anchor="t" anchorCtr="0">
            <a:noAutofit/>
          </a:bodyPr>
          <a:lstStyle/>
          <a:p>
            <a:pPr marL="0" lvl="0" indent="0" algn="l" rtl="0">
              <a:spcBef>
                <a:spcPts val="0"/>
              </a:spcBef>
              <a:spcAft>
                <a:spcPts val="0"/>
              </a:spcAft>
              <a:buNone/>
            </a:pPr>
            <a:endParaRPr sz="800"/>
          </a:p>
        </p:txBody>
      </p:sp>
      <p:sp>
        <p:nvSpPr>
          <p:cNvPr id="98" name="Google Shape;98;p26"/>
          <p:cNvSpPr txBox="1">
            <a:spLocks noGrp="1"/>
          </p:cNvSpPr>
          <p:nvPr>
            <p:ph type="title"/>
          </p:nvPr>
        </p:nvSpPr>
        <p:spPr>
          <a:xfrm>
            <a:off x="351411" y="268461"/>
            <a:ext cx="4280400" cy="611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2300" b="1" i="0">
                <a:solidFill>
                  <a:srgbClr val="FF6200"/>
                </a:solidFill>
                <a:latin typeface="Play"/>
                <a:ea typeface="Play"/>
                <a:cs typeface="Play"/>
                <a:sym typeface="Play"/>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9" name="Google Shape;99;p26"/>
          <p:cNvSpPr txBox="1">
            <a:spLocks noGrp="1"/>
          </p:cNvSpPr>
          <p:nvPr>
            <p:ph type="body" idx="1"/>
          </p:nvPr>
        </p:nvSpPr>
        <p:spPr>
          <a:xfrm>
            <a:off x="4701119" y="2487711"/>
            <a:ext cx="3905700" cy="21639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2300" b="1" i="0">
                <a:solidFill>
                  <a:srgbClr val="161D26"/>
                </a:solidFill>
                <a:latin typeface="Play"/>
                <a:ea typeface="Play"/>
                <a:cs typeface="Play"/>
                <a:sym typeface="Play"/>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100" name="Google Shape;100;p26"/>
          <p:cNvSpPr txBox="1">
            <a:spLocks noGrp="1"/>
          </p:cNvSpPr>
          <p:nvPr>
            <p:ph type="ftr" idx="11"/>
          </p:nvPr>
        </p:nvSpPr>
        <p:spPr>
          <a:xfrm>
            <a:off x="3108960" y="4783455"/>
            <a:ext cx="29259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1" name="Google Shape;101;p26"/>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600"/>
              <a:buNone/>
              <a:defRPr sz="600">
                <a:solidFill>
                  <a:srgbClr val="888888"/>
                </a:solidFill>
              </a:defRPr>
            </a:lvl1pPr>
            <a:lvl2pPr lvl="1">
              <a:spcBef>
                <a:spcPts val="0"/>
              </a:spcBef>
              <a:spcAft>
                <a:spcPts val="0"/>
              </a:spcAft>
              <a:buSzPts val="600"/>
              <a:buNone/>
              <a:defRPr sz="600"/>
            </a:lvl2pPr>
            <a:lvl3pPr lvl="2">
              <a:spcBef>
                <a:spcPts val="0"/>
              </a:spcBef>
              <a:spcAft>
                <a:spcPts val="0"/>
              </a:spcAft>
              <a:buSzPts val="600"/>
              <a:buNone/>
              <a:defRPr sz="600"/>
            </a:lvl3pPr>
            <a:lvl4pPr lvl="3">
              <a:spcBef>
                <a:spcPts val="0"/>
              </a:spcBef>
              <a:spcAft>
                <a:spcPts val="0"/>
              </a:spcAft>
              <a:buSzPts val="600"/>
              <a:buNone/>
              <a:defRPr sz="600"/>
            </a:lvl4pPr>
            <a:lvl5pPr lvl="4">
              <a:spcBef>
                <a:spcPts val="0"/>
              </a:spcBef>
              <a:spcAft>
                <a:spcPts val="0"/>
              </a:spcAft>
              <a:buSzPts val="600"/>
              <a:buNone/>
              <a:defRPr sz="600"/>
            </a:lvl5pPr>
            <a:lvl6pPr lvl="5">
              <a:spcBef>
                <a:spcPts val="0"/>
              </a:spcBef>
              <a:spcAft>
                <a:spcPts val="0"/>
              </a:spcAft>
              <a:buSzPts val="600"/>
              <a:buNone/>
              <a:defRPr sz="600"/>
            </a:lvl6pPr>
            <a:lvl7pPr lvl="6">
              <a:spcBef>
                <a:spcPts val="0"/>
              </a:spcBef>
              <a:spcAft>
                <a:spcPts val="0"/>
              </a:spcAft>
              <a:buSzPts val="600"/>
              <a:buNone/>
              <a:defRPr sz="600"/>
            </a:lvl7pPr>
            <a:lvl8pPr lvl="7">
              <a:spcBef>
                <a:spcPts val="0"/>
              </a:spcBef>
              <a:spcAft>
                <a:spcPts val="0"/>
              </a:spcAft>
              <a:buSzPts val="600"/>
              <a:buNone/>
              <a:defRPr sz="600"/>
            </a:lvl8pPr>
            <a:lvl9pPr lvl="8">
              <a:spcBef>
                <a:spcPts val="0"/>
              </a:spcBef>
              <a:spcAft>
                <a:spcPts val="0"/>
              </a:spcAft>
              <a:buSzPts val="600"/>
              <a:buNone/>
              <a:defRPr sz="600"/>
            </a:lvl9pPr>
          </a:lstStyle>
          <a:p>
            <a:endParaRPr/>
          </a:p>
        </p:txBody>
      </p:sp>
      <p:sp>
        <p:nvSpPr>
          <p:cNvPr id="102" name="Google Shape;102;p26"/>
          <p:cNvSpPr txBox="1">
            <a:spLocks noGrp="1"/>
          </p:cNvSpPr>
          <p:nvPr>
            <p:ph type="sldNum" idx="12"/>
          </p:nvPr>
        </p:nvSpPr>
        <p:spPr>
          <a:xfrm>
            <a:off x="6583680" y="4783455"/>
            <a:ext cx="21030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iser Plum" userDrawn="1">
  <p:cSld name="TITLE_AND_TWO_COLUMNS_1">
    <p:spTree>
      <p:nvGrpSpPr>
        <p:cNvPr id="1" name="Shape 105"/>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43B5F7-EF56-1F15-49A3-569995F7184C}"/>
              </a:ext>
            </a:extLst>
          </p:cNvPr>
          <p:cNvSpPr>
            <a:spLocks noGrp="1"/>
          </p:cNvSpPr>
          <p:nvPr>
            <p:ph type="pic" sz="quarter" idx="13"/>
          </p:nvPr>
        </p:nvSpPr>
        <p:spPr>
          <a:xfrm>
            <a:off x="779463" y="1866864"/>
            <a:ext cx="1773237" cy="2024100"/>
          </a:xfrm>
          <a:prstGeom prst="roundRect">
            <a:avLst>
              <a:gd name="adj" fmla="val 12434"/>
            </a:avLst>
          </a:prstGeom>
          <a:solidFill>
            <a:schemeClr val="bg1">
              <a:lumMod val="95000"/>
            </a:schemeClr>
          </a:solidFill>
        </p:spPr>
        <p:txBody>
          <a:bodyPr/>
          <a:lstStyle/>
          <a:p>
            <a:endParaRPr lang="en-US"/>
          </a:p>
        </p:txBody>
      </p:sp>
      <p:sp>
        <p:nvSpPr>
          <p:cNvPr id="8" name="Picture Placeholder 6">
            <a:extLst>
              <a:ext uri="{FF2B5EF4-FFF2-40B4-BE49-F238E27FC236}">
                <a16:creationId xmlns:a16="http://schemas.microsoft.com/office/drawing/2014/main" id="{454DC439-9F8D-9427-12C5-06A07E1271E1}"/>
              </a:ext>
            </a:extLst>
          </p:cNvPr>
          <p:cNvSpPr>
            <a:spLocks noGrp="1"/>
          </p:cNvSpPr>
          <p:nvPr>
            <p:ph type="pic" sz="quarter" idx="14"/>
          </p:nvPr>
        </p:nvSpPr>
        <p:spPr>
          <a:xfrm>
            <a:off x="2717445" y="1866864"/>
            <a:ext cx="1773237" cy="2024100"/>
          </a:xfrm>
          <a:prstGeom prst="roundRect">
            <a:avLst>
              <a:gd name="adj" fmla="val 12434"/>
            </a:avLst>
          </a:prstGeom>
          <a:solidFill>
            <a:schemeClr val="bg1">
              <a:lumMod val="95000"/>
            </a:schemeClr>
          </a:solidFill>
        </p:spPr>
        <p:txBody>
          <a:bodyPr/>
          <a:lstStyle/>
          <a:p>
            <a:endParaRPr lang="en-US"/>
          </a:p>
        </p:txBody>
      </p:sp>
      <p:sp>
        <p:nvSpPr>
          <p:cNvPr id="9" name="Picture Placeholder 6">
            <a:extLst>
              <a:ext uri="{FF2B5EF4-FFF2-40B4-BE49-F238E27FC236}">
                <a16:creationId xmlns:a16="http://schemas.microsoft.com/office/drawing/2014/main" id="{5A368EE7-3E3B-2F44-2596-2B5B8D64F892}"/>
              </a:ext>
            </a:extLst>
          </p:cNvPr>
          <p:cNvSpPr>
            <a:spLocks noGrp="1"/>
          </p:cNvSpPr>
          <p:nvPr>
            <p:ph type="pic" sz="quarter" idx="15"/>
          </p:nvPr>
        </p:nvSpPr>
        <p:spPr>
          <a:xfrm>
            <a:off x="4648603" y="1866864"/>
            <a:ext cx="1773237" cy="2024100"/>
          </a:xfrm>
          <a:prstGeom prst="roundRect">
            <a:avLst>
              <a:gd name="adj" fmla="val 12434"/>
            </a:avLst>
          </a:prstGeom>
          <a:solidFill>
            <a:schemeClr val="bg1">
              <a:lumMod val="95000"/>
            </a:schemeClr>
          </a:solidFill>
        </p:spPr>
        <p:txBody>
          <a:bodyPr/>
          <a:lstStyle/>
          <a:p>
            <a:endParaRPr lang="en-US"/>
          </a:p>
        </p:txBody>
      </p:sp>
      <p:sp>
        <p:nvSpPr>
          <p:cNvPr id="10" name="Picture Placeholder 6">
            <a:extLst>
              <a:ext uri="{FF2B5EF4-FFF2-40B4-BE49-F238E27FC236}">
                <a16:creationId xmlns:a16="http://schemas.microsoft.com/office/drawing/2014/main" id="{8BA25F23-E8C1-8698-C67D-C52C2F761A8A}"/>
              </a:ext>
            </a:extLst>
          </p:cNvPr>
          <p:cNvSpPr>
            <a:spLocks noGrp="1"/>
          </p:cNvSpPr>
          <p:nvPr>
            <p:ph type="pic" sz="quarter" idx="16"/>
          </p:nvPr>
        </p:nvSpPr>
        <p:spPr>
          <a:xfrm>
            <a:off x="6586585" y="1866864"/>
            <a:ext cx="1773237" cy="2024100"/>
          </a:xfrm>
          <a:prstGeom prst="roundRect">
            <a:avLst>
              <a:gd name="adj" fmla="val 12434"/>
            </a:avLst>
          </a:prstGeom>
          <a:solidFill>
            <a:schemeClr val="bg1">
              <a:lumMod val="95000"/>
            </a:schemeClr>
          </a:solidFill>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iser Plum" preserve="1" userDrawn="1">
  <p:cSld name="1_Wiser Plum">
    <p:spTree>
      <p:nvGrpSpPr>
        <p:cNvPr id="1" name="Shape 105"/>
        <p:cNvGrpSpPr/>
        <p:nvPr/>
      </p:nvGrpSpPr>
      <p:grpSpPr>
        <a:xfrm>
          <a:off x="0" y="0"/>
          <a:ext cx="0" cy="0"/>
          <a:chOff x="0" y="0"/>
          <a:chExt cx="0" cy="0"/>
        </a:xfrm>
      </p:grpSpPr>
      <p:sp>
        <p:nvSpPr>
          <p:cNvPr id="6" name="Picture Placeholder 6">
            <a:extLst>
              <a:ext uri="{FF2B5EF4-FFF2-40B4-BE49-F238E27FC236}">
                <a16:creationId xmlns:a16="http://schemas.microsoft.com/office/drawing/2014/main" id="{D637DBAA-E392-5870-4249-46419E9FE035}"/>
              </a:ext>
            </a:extLst>
          </p:cNvPr>
          <p:cNvSpPr>
            <a:spLocks noGrp="1"/>
          </p:cNvSpPr>
          <p:nvPr>
            <p:ph type="pic" sz="quarter" idx="13"/>
          </p:nvPr>
        </p:nvSpPr>
        <p:spPr>
          <a:xfrm>
            <a:off x="739876" y="1559700"/>
            <a:ext cx="1692771" cy="1932250"/>
          </a:xfrm>
          <a:prstGeom prst="roundRect">
            <a:avLst>
              <a:gd name="adj" fmla="val 12434"/>
            </a:avLst>
          </a:prstGeom>
          <a:solidFill>
            <a:schemeClr val="bg1">
              <a:lumMod val="95000"/>
            </a:schemeClr>
          </a:solidFill>
        </p:spPr>
        <p:txBody>
          <a:bodyPr/>
          <a:lstStyle/>
          <a:p>
            <a:endParaRPr lang="en-US"/>
          </a:p>
        </p:txBody>
      </p:sp>
      <p:sp>
        <p:nvSpPr>
          <p:cNvPr id="11" name="Picture Placeholder 6">
            <a:extLst>
              <a:ext uri="{FF2B5EF4-FFF2-40B4-BE49-F238E27FC236}">
                <a16:creationId xmlns:a16="http://schemas.microsoft.com/office/drawing/2014/main" id="{0F1E19A5-6345-E0C3-F089-1BC3F23E186E}"/>
              </a:ext>
            </a:extLst>
          </p:cNvPr>
          <p:cNvSpPr>
            <a:spLocks noGrp="1"/>
          </p:cNvSpPr>
          <p:nvPr>
            <p:ph type="pic" sz="quarter" idx="14"/>
          </p:nvPr>
        </p:nvSpPr>
        <p:spPr>
          <a:xfrm>
            <a:off x="2834807" y="1559700"/>
            <a:ext cx="1692771" cy="1932250"/>
          </a:xfrm>
          <a:prstGeom prst="roundRect">
            <a:avLst>
              <a:gd name="adj" fmla="val 12434"/>
            </a:avLst>
          </a:prstGeom>
          <a:solidFill>
            <a:schemeClr val="bg1">
              <a:lumMod val="95000"/>
            </a:schemeClr>
          </a:solidFill>
        </p:spPr>
        <p:txBody>
          <a:bodyPr/>
          <a:lstStyle/>
          <a:p>
            <a:endParaRPr lang="en-US"/>
          </a:p>
        </p:txBody>
      </p:sp>
      <p:sp>
        <p:nvSpPr>
          <p:cNvPr id="12" name="Picture Placeholder 6">
            <a:extLst>
              <a:ext uri="{FF2B5EF4-FFF2-40B4-BE49-F238E27FC236}">
                <a16:creationId xmlns:a16="http://schemas.microsoft.com/office/drawing/2014/main" id="{D7EEFAC9-5F28-4633-D474-BAB20FB1B427}"/>
              </a:ext>
            </a:extLst>
          </p:cNvPr>
          <p:cNvSpPr>
            <a:spLocks noGrp="1"/>
          </p:cNvSpPr>
          <p:nvPr>
            <p:ph type="pic" sz="quarter" idx="15"/>
          </p:nvPr>
        </p:nvSpPr>
        <p:spPr>
          <a:xfrm>
            <a:off x="4916091" y="1559700"/>
            <a:ext cx="1692771" cy="1932250"/>
          </a:xfrm>
          <a:prstGeom prst="roundRect">
            <a:avLst>
              <a:gd name="adj" fmla="val 12434"/>
            </a:avLst>
          </a:prstGeom>
          <a:solidFill>
            <a:schemeClr val="bg1">
              <a:lumMod val="95000"/>
            </a:schemeClr>
          </a:solidFill>
        </p:spPr>
        <p:txBody>
          <a:bodyPr/>
          <a:lstStyle/>
          <a:p>
            <a:endParaRPr lang="en-US"/>
          </a:p>
        </p:txBody>
      </p:sp>
      <p:sp>
        <p:nvSpPr>
          <p:cNvPr id="13" name="Picture Placeholder 6">
            <a:extLst>
              <a:ext uri="{FF2B5EF4-FFF2-40B4-BE49-F238E27FC236}">
                <a16:creationId xmlns:a16="http://schemas.microsoft.com/office/drawing/2014/main" id="{B7913989-BE66-F651-DF45-ABC524911DEB}"/>
              </a:ext>
            </a:extLst>
          </p:cNvPr>
          <p:cNvSpPr>
            <a:spLocks noGrp="1"/>
          </p:cNvSpPr>
          <p:nvPr>
            <p:ph type="pic" sz="quarter" idx="16"/>
          </p:nvPr>
        </p:nvSpPr>
        <p:spPr>
          <a:xfrm>
            <a:off x="7011022" y="1559700"/>
            <a:ext cx="1692771" cy="1932250"/>
          </a:xfrm>
          <a:prstGeom prst="roundRect">
            <a:avLst>
              <a:gd name="adj" fmla="val 12434"/>
            </a:avLst>
          </a:prstGeom>
          <a:solidFill>
            <a:schemeClr val="bg1">
              <a:lumMod val="95000"/>
            </a:schemeClr>
          </a:solidFill>
        </p:spPr>
        <p:txBody>
          <a:bodyPr/>
          <a:lstStyle/>
          <a:p>
            <a:endParaRPr lang="en-US"/>
          </a:p>
        </p:txBody>
      </p:sp>
    </p:spTree>
    <p:extLst>
      <p:ext uri="{BB962C8B-B14F-4D97-AF65-F5344CB8AC3E}">
        <p14:creationId xmlns:p14="http://schemas.microsoft.com/office/powerpoint/2010/main" val="3433858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Wiser Purple 1">
  <p:cSld name="TITLE_ONLY_2">
    <p:spTree>
      <p:nvGrpSpPr>
        <p:cNvPr id="1" name="Shape 107"/>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Wiser Plum 4">
  <p:cSld name="TITLE_AND_TWO_COLUMNS_5">
    <p:spTree>
      <p:nvGrpSpPr>
        <p:cNvPr id="1" name="Shape 108"/>
        <p:cNvGrpSpPr/>
        <p:nvPr/>
      </p:nvGrpSpPr>
      <p:grpSpPr>
        <a:xfrm>
          <a:off x="0" y="0"/>
          <a:ext cx="0" cy="0"/>
          <a:chOff x="0" y="0"/>
          <a:chExt cx="0" cy="0"/>
        </a:xfrm>
      </p:grpSpPr>
      <p:sp>
        <p:nvSpPr>
          <p:cNvPr id="109" name="Google Shape;109;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6">
    <p:spTree>
      <p:nvGrpSpPr>
        <p:cNvPr id="1" name="Shape 110"/>
        <p:cNvGrpSpPr/>
        <p:nvPr/>
      </p:nvGrpSpPr>
      <p:grpSpPr>
        <a:xfrm>
          <a:off x="0" y="0"/>
          <a:ext cx="0" cy="0"/>
          <a:chOff x="0" y="0"/>
          <a:chExt cx="0" cy="0"/>
        </a:xfrm>
      </p:grpSpPr>
      <p:sp>
        <p:nvSpPr>
          <p:cNvPr id="111" name="Google Shape;111;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2" name="Google Shape;112;p31"/>
          <p:cNvSpPr/>
          <p:nvPr/>
        </p:nvSpPr>
        <p:spPr>
          <a:xfrm>
            <a:off x="3200525" y="0"/>
            <a:ext cx="5943600" cy="51435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1 1 1 1 1">
  <p:cSld name="CUSTOM_2_1_1_1">
    <p:spTree>
      <p:nvGrpSpPr>
        <p:cNvPr id="1" name="Shape 115"/>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_HEADER_1_1">
  <p:cSld name="SECTION_HEADER_1_1">
    <p:spTree>
      <p:nvGrpSpPr>
        <p:cNvPr id="1" name="Shape 116"/>
        <p:cNvGrpSpPr/>
        <p:nvPr/>
      </p:nvGrpSpPr>
      <p:grpSpPr>
        <a:xfrm>
          <a:off x="0" y="0"/>
          <a:ext cx="0" cy="0"/>
          <a:chOff x="0" y="0"/>
          <a:chExt cx="0" cy="0"/>
        </a:xfrm>
      </p:grpSpPr>
      <p:sp>
        <p:nvSpPr>
          <p:cNvPr id="117" name="Google Shape;117;p3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18" name="Google Shape;118;p34"/>
          <p:cNvSpPr txBox="1">
            <a:spLocks noGrp="1"/>
          </p:cNvSpPr>
          <p:nvPr>
            <p:ph type="sldNum" idx="12"/>
          </p:nvPr>
        </p:nvSpPr>
        <p:spPr>
          <a:xfrm>
            <a:off x="8472458" y="4663217"/>
            <a:ext cx="548700" cy="123000"/>
          </a:xfrm>
          <a:prstGeom prst="rect">
            <a:avLst/>
          </a:prstGeom>
        </p:spPr>
        <p:txBody>
          <a:bodyPr spcFirstLastPara="1" wrap="square" lIns="91425" tIns="91425" rIns="91425" bIns="91425" anchor="ctr" anchorCtr="0">
            <a:normAutofit fontScale="250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ARCLAYS–LIGHT 1 1">
  <p:cSld name="TITLE_ONLY_1_1_2">
    <p:bg>
      <p:bgPr>
        <a:solidFill>
          <a:srgbClr val="00AEEF"/>
        </a:solidFill>
        <a:effectLst/>
      </p:bgPr>
    </p:bg>
    <p:spTree>
      <p:nvGrpSpPr>
        <p:cNvPr id="1" name="Shape 119"/>
        <p:cNvGrpSpPr/>
        <p:nvPr/>
      </p:nvGrpSpPr>
      <p:grpSpPr>
        <a:xfrm>
          <a:off x="0" y="0"/>
          <a:ext cx="0" cy="0"/>
          <a:chOff x="0" y="0"/>
          <a:chExt cx="0" cy="0"/>
        </a:xfrm>
      </p:grpSpPr>
      <p:sp>
        <p:nvSpPr>
          <p:cNvPr id="120" name="Google Shape;120;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FF6200"/>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73175" y="11322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70" r:id="rId11"/>
    <p:sldLayoutId id="2147483671" r:id="rId12"/>
    <p:sldLayoutId id="2147483673" r:id="rId13"/>
    <p:sldLayoutId id="2147483681" r:id="rId14"/>
    <p:sldLayoutId id="2147483674" r:id="rId15"/>
    <p:sldLayoutId id="2147483675" r:id="rId16"/>
    <p:sldLayoutId id="2147483676" r:id="rId17"/>
    <p:sldLayoutId id="2147483678" r:id="rId18"/>
    <p:sldLayoutId id="2147483679" r:id="rId19"/>
    <p:sldLayoutId id="2147483680"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image" Target="../media/image2.png"/><Relationship Id="rId4" Type="http://schemas.openxmlformats.org/officeDocument/2006/relationships/chart" Target="../charts/chart4.xml"/><Relationship Id="rId5"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5.xml"/><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6.xml"/><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7.xml"/><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1C27"/>
        </a:solidFill>
        <a:effectLst/>
      </p:bgPr>
    </p:bg>
    <p:spTree>
      <p:nvGrpSpPr>
        <p:cNvPr id="1" name="Shape 156"/>
        <p:cNvGrpSpPr/>
        <p:nvPr/>
      </p:nvGrpSpPr>
      <p:grpSpPr>
        <a:xfrm>
          <a:off x="0" y="0"/>
          <a:ext cx="0" cy="0"/>
          <a:chOff x="0" y="0"/>
          <a:chExt cx="0" cy="0"/>
        </a:xfrm>
      </p:grpSpPr>
      <p:sp>
        <p:nvSpPr>
          <p:cNvPr id="157" name="Google Shape;157;p37"/>
          <p:cNvSpPr txBox="1"/>
          <p:nvPr/>
        </p:nvSpPr>
        <p:spPr>
          <a:xfrm>
            <a:off x="3712464" y="408477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AARUSH BAKSHI</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sp>
        <p:nvSpPr>
          <p:cNvPr id="158" name="Google Shape;158;p37"/>
          <p:cNvSpPr txBox="1"/>
          <p:nvPr/>
        </p:nvSpPr>
        <p:spPr>
          <a:xfrm>
            <a:off x="1664208" y="4084837"/>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None/>
            </a:pPr>
            <a:r>
              <a:rPr lang="en" sz="1063" b="1" dirty="0">
                <a:solidFill>
                  <a:srgbClr val="FFFFFF"/>
                </a:solidFill>
                <a:latin typeface="Ember Modern Display Standard" panose="020B0503020204020204" pitchFamily="34" charset="0"/>
                <a:ea typeface="Special Gothic"/>
                <a:cs typeface="Special Gothic"/>
                <a:sym typeface="Special Gothic"/>
              </a:rPr>
              <a:t>AMEYA BORKAR</a:t>
            </a:r>
            <a:endParaRPr sz="1063" b="1" dirty="0">
              <a:solidFill>
                <a:srgbClr val="FFFFFF"/>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None/>
            </a:pPr>
            <a:endParaRPr sz="1299" b="1" dirty="0">
              <a:solidFill>
                <a:srgbClr val="FFFFFF"/>
              </a:solidFill>
              <a:latin typeface="Ember Modern Display Standard" panose="020B0503020204020204" pitchFamily="34" charset="0"/>
              <a:ea typeface="Special Gothic"/>
              <a:cs typeface="Special Gothic"/>
              <a:sym typeface="Special Gothic"/>
            </a:endParaRPr>
          </a:p>
        </p:txBody>
      </p:sp>
      <p:sp>
        <p:nvSpPr>
          <p:cNvPr id="159" name="Google Shape;159;p37"/>
          <p:cNvSpPr txBox="1"/>
          <p:nvPr/>
        </p:nvSpPr>
        <p:spPr>
          <a:xfrm>
            <a:off x="779287" y="663396"/>
            <a:ext cx="7585425" cy="861900"/>
          </a:xfrm>
          <a:prstGeom prst="rect">
            <a:avLst/>
          </a:prstGeom>
          <a:noFill/>
          <a:ln>
            <a:noFill/>
          </a:ln>
        </p:spPr>
        <p:txBody>
          <a:bodyPr spcFirstLastPara="1" wrap="square" lIns="91425" tIns="91425" rIns="91425" bIns="91425" anchor="t" anchorCtr="0">
            <a:spAutoFit/>
          </a:bodyPr>
          <a:lstStyle/>
          <a:p>
            <a:pPr marL="0" lvl="0" indent="0" algn="ctr" rtl="0">
              <a:lnSpc>
                <a:spcPct val="80000"/>
              </a:lnSpc>
              <a:spcBef>
                <a:spcPts val="0"/>
              </a:spcBef>
              <a:spcAft>
                <a:spcPts val="0"/>
              </a:spcAft>
              <a:buNone/>
            </a:pPr>
            <a:r>
              <a:rPr lang="en" sz="5500" b="1" dirty="0">
                <a:solidFill>
                  <a:schemeClr val="lt2"/>
                </a:solidFill>
                <a:latin typeface="Ember Modern Display Standard" panose="020B0503020204020204" pitchFamily="34" charset="0"/>
                <a:ea typeface="Special Gothic"/>
                <a:cs typeface="Special Gothic"/>
                <a:sym typeface="Special Gothic"/>
              </a:rPr>
              <a:t>Team </a:t>
            </a:r>
            <a:r>
              <a:rPr lang="en" sz="5500" b="1" dirty="0">
                <a:solidFill>
                  <a:srgbClr val="FF6101"/>
                </a:solidFill>
                <a:latin typeface="Ember Modern Display Standard" panose="020B0503020204020204" pitchFamily="34" charset="0"/>
                <a:ea typeface="Special Gothic"/>
                <a:cs typeface="Special Gothic"/>
                <a:sym typeface="Special Gothic"/>
              </a:rPr>
              <a:t>Grenuke</a:t>
            </a:r>
            <a:endParaRPr sz="2000" b="1" dirty="0">
              <a:solidFill>
                <a:schemeClr val="lt1"/>
              </a:solidFill>
              <a:latin typeface="Ember Modern Display Standard" panose="020B0503020204020204" pitchFamily="34" charset="0"/>
              <a:ea typeface="Special Gothic"/>
              <a:cs typeface="Special Gothic"/>
              <a:sym typeface="Special Gothic"/>
            </a:endParaRPr>
          </a:p>
        </p:txBody>
      </p:sp>
      <p:sp>
        <p:nvSpPr>
          <p:cNvPr id="161" name="Google Shape;161;p37"/>
          <p:cNvSpPr txBox="1"/>
          <p:nvPr/>
        </p:nvSpPr>
        <p:spPr>
          <a:xfrm>
            <a:off x="5760720" y="4084808"/>
            <a:ext cx="1716900" cy="365700"/>
          </a:xfrm>
          <a:prstGeom prst="rect">
            <a:avLst/>
          </a:prstGeom>
          <a:noFill/>
          <a:ln>
            <a:noFill/>
          </a:ln>
        </p:spPr>
        <p:txBody>
          <a:bodyPr spcFirstLastPara="1" wrap="square" lIns="0" tIns="0" rIns="0" bIns="0" anchor="t" anchorCtr="0">
            <a:noAutofit/>
          </a:bodyPr>
          <a:lstStyle/>
          <a:p>
            <a:pPr marL="0" lvl="0" indent="0" algn="ctr" rtl="0">
              <a:lnSpc>
                <a:spcPct val="70000"/>
              </a:lnSpc>
              <a:spcBef>
                <a:spcPts val="0"/>
              </a:spcBef>
              <a:spcAft>
                <a:spcPts val="0"/>
              </a:spcAft>
              <a:buClr>
                <a:schemeClr val="dk1"/>
              </a:buClr>
              <a:buSzPts val="1100"/>
              <a:buFont typeface="Arial"/>
              <a:buNone/>
            </a:pPr>
            <a:r>
              <a:rPr lang="en" sz="1063" b="1" dirty="0">
                <a:solidFill>
                  <a:schemeClr val="lt1"/>
                </a:solidFill>
                <a:latin typeface="Ember Modern Display Standard" panose="020B0503020204020204" pitchFamily="34" charset="0"/>
                <a:ea typeface="Special Gothic"/>
                <a:cs typeface="Special Gothic"/>
                <a:sym typeface="Special Gothic"/>
              </a:rPr>
              <a:t>SACHI DHOKA</a:t>
            </a:r>
            <a:endParaRPr sz="1063" b="1" dirty="0">
              <a:solidFill>
                <a:schemeClr val="lt1"/>
              </a:solidFill>
              <a:latin typeface="Ember Modern Display Standard" panose="020B0503020204020204" pitchFamily="34" charset="0"/>
              <a:ea typeface="Special Gothic"/>
              <a:cs typeface="Special Gothic"/>
              <a:sym typeface="Special Gothic"/>
            </a:endParaRPr>
          </a:p>
          <a:p>
            <a:pPr marL="0" lvl="0" indent="0" algn="ctr" rtl="0">
              <a:spcBef>
                <a:spcPts val="0"/>
              </a:spcBef>
              <a:spcAft>
                <a:spcPts val="0"/>
              </a:spcAft>
              <a:buClr>
                <a:schemeClr val="dk1"/>
              </a:buClr>
              <a:buSzPts val="1100"/>
              <a:buFont typeface="Arial"/>
              <a:buNone/>
            </a:pPr>
            <a:endParaRPr sz="1063" b="1" dirty="0">
              <a:solidFill>
                <a:srgbClr val="FFFFFF"/>
              </a:solidFill>
              <a:latin typeface="Ember Modern Display Standard" panose="020B0503020204020204" pitchFamily="34" charset="0"/>
              <a:ea typeface="Special Gothic"/>
              <a:cs typeface="Special Gothic"/>
              <a:sym typeface="Special Gothic"/>
            </a:endParaRPr>
          </a:p>
        </p:txBody>
      </p:sp>
      <p:pic>
        <p:nvPicPr>
          <p:cNvPr id="13" name="Picture 12" descr="A logo of a company&#10;&#10;AI-generated content may be incorrect.">
            <a:extLst>
              <a:ext uri="{FF2B5EF4-FFF2-40B4-BE49-F238E27FC236}">
                <a16:creationId xmlns:a16="http://schemas.microsoft.com/office/drawing/2014/main" id="{54E96A6D-C6EA-9D61-ED22-340732ADB5AA}"/>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18" name="Picture Placeholder 17">
            <a:extLst>
              <a:ext uri="{FF2B5EF4-FFF2-40B4-BE49-F238E27FC236}">
                <a16:creationId xmlns:a16="http://schemas.microsoft.com/office/drawing/2014/main" id="{B6EBC231-E852-2F1A-C156-0432CEF758F5}"/>
              </a:ext>
            </a:extLst>
          </p:cNvPr>
          <p:cNvSpPr>
            <a:spLocks noGrp="1"/>
          </p:cNvSpPr>
          <p:nvPr>
            <p:ph type="pic" sz="quarter" idx="13"/>
          </p:nvPr>
        </p:nvSpPr>
        <p:spPr>
          <a:xfrm>
            <a:off x="1636776" y="1865376"/>
            <a:ext cx="1773936" cy="2020824"/>
          </a:xfrm>
        </p:spPr>
        <p:txBody>
          <a:bodyPr/>
          <a:lstStyle/>
          <a:p>
            <a:endParaRPr lang="en-US"/>
          </a:p>
        </p:txBody>
      </p:sp>
      <p:sp>
        <p:nvSpPr>
          <p:cNvPr id="19" name="Picture Placeholder 18">
            <a:extLst>
              <a:ext uri="{FF2B5EF4-FFF2-40B4-BE49-F238E27FC236}">
                <a16:creationId xmlns:a16="http://schemas.microsoft.com/office/drawing/2014/main" id="{3AB9B1BB-405A-843D-39F8-98C2FD91D459}"/>
              </a:ext>
            </a:extLst>
          </p:cNvPr>
          <p:cNvSpPr>
            <a:spLocks noGrp="1"/>
          </p:cNvSpPr>
          <p:nvPr>
            <p:ph type="pic" sz="quarter" idx="14"/>
          </p:nvPr>
        </p:nvSpPr>
        <p:spPr>
          <a:xfrm>
            <a:off x="3685032" y="1865376"/>
            <a:ext cx="1773936" cy="2020824"/>
          </a:xfrm>
        </p:spPr>
        <p:txBody>
          <a:bodyPr/>
          <a:lstStyle/>
          <a:p>
            <a:endParaRPr lang="en-US"/>
          </a:p>
        </p:txBody>
      </p:sp>
      <p:sp>
        <p:nvSpPr>
          <p:cNvPr id="20" name="Picture Placeholder 19">
            <a:extLst>
              <a:ext uri="{FF2B5EF4-FFF2-40B4-BE49-F238E27FC236}">
                <a16:creationId xmlns:a16="http://schemas.microsoft.com/office/drawing/2014/main" id="{AB42942B-65ED-01F3-97B1-DDAE12BA2B07}"/>
              </a:ext>
            </a:extLst>
          </p:cNvPr>
          <p:cNvSpPr>
            <a:spLocks noGrp="1"/>
          </p:cNvSpPr>
          <p:nvPr>
            <p:ph type="pic" sz="quarter" idx="15"/>
          </p:nvPr>
        </p:nvSpPr>
        <p:spPr>
          <a:xfrm>
            <a:off x="5733288" y="1865376"/>
            <a:ext cx="1773936" cy="2020824"/>
          </a:xfrm>
        </p:spPr>
        <p:txBody>
          <a:bodyPr/>
          <a:lstStyle/>
          <a:p>
            <a:endParaRPr lang="en-US"/>
          </a:p>
        </p:txBody>
      </p:sp>
      <p:sp>
        <p:nvSpPr>
          <p:cNvPr id="162" name="TextBox 161"/>
          <p:cNvSpPr txBox="1"/>
          <p:nvPr/>
        </p:nvSpPr>
        <p:spPr>
          <a:xfrm>
            <a:off x="777240" y="1481328"/>
            <a:ext cx="7589520" cy="274320"/>
          </a:xfrm>
          <a:prstGeom prst="rect">
            <a:avLst/>
          </a:prstGeom>
          <a:noFill/>
        </p:spPr>
        <p:txBody>
          <a:bodyPr wrap="square" lIns="0" rIns="0" tIns="0" bIns="0" anchor="t">
            <a:spAutoFit/>
          </a:bodyPr>
          <a:lstStyle/>
          <a:p>
            <a:pPr algn="ctr"/>
            <a:r>
              <a:rPr sz="1300" b="0">
                <a:solidFill>
                  <a:srgbClr val="D6DCE7"/>
                </a:solidFill>
                <a:latin typeface="Ember Modern Display Standard"/>
              </a:rPr>
              <a:t>Business Entity Resolution   ·   Amazon ML Challenge 2026 Grand Finale</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First, 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Data</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We read the data before writing any model.</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Dive Deep  ·  Learn and Be Curious</a:t>
            </a:r>
          </a:p>
        </p:txBody>
      </p:sp>
      <p:graphicFrame>
        <p:nvGraphicFramePr>
          <p:cNvPr id="269" name="Chart 268"/>
          <p:cNvGraphicFramePr>
            <a:graphicFrameLocks noGrp="1"/>
          </p:cNvGraphicFramePr>
          <p:nvPr/>
        </p:nvGraphicFramePr>
        <p:xfrm>
          <a:off x="457200" y="1280160"/>
          <a:ext cx="4480560" cy="2697480"/>
        </p:xfrm>
        <a:graphic>
          <a:graphicData uri="http://schemas.openxmlformats.org/drawingml/2006/chart">
            <c:chart xmlns:c="http://schemas.openxmlformats.org/drawingml/2006/chart" r:id="rId4"/>
          </a:graphicData>
        </a:graphic>
      </p:graphicFrame>
      <p:sp>
        <p:nvSpPr>
          <p:cNvPr id="270" name="TextBox 269"/>
          <p:cNvSpPr txBox="1"/>
          <p:nvPr/>
        </p:nvSpPr>
        <p:spPr>
          <a:xfrm>
            <a:off x="502920" y="4041648"/>
            <a:ext cx="4434840" cy="320040"/>
          </a:xfrm>
          <a:prstGeom prst="rect">
            <a:avLst/>
          </a:prstGeom>
          <a:noFill/>
        </p:spPr>
        <p:txBody>
          <a:bodyPr wrap="square" lIns="0" rIns="0" tIns="0" bIns="0" anchor="t">
            <a:spAutoFit/>
          </a:bodyPr>
          <a:lstStyle/>
          <a:p>
            <a:pPr algn="l"/>
            <a:r>
              <a:rPr sz="1250" b="1">
                <a:solidFill>
                  <a:srgbClr val="161D26"/>
                </a:solidFill>
                <a:latin typeface="Ember Modern Display Standard"/>
              </a:rPr>
              <a:t>+23% records, same matches  →  </a:t>
            </a:r>
            <a:r>
              <a:rPr sz="1250" b="1">
                <a:solidFill>
                  <a:srgbClr val="FF6200"/>
                </a:solidFill>
                <a:latin typeface="Ember Modern Display Standard"/>
              </a:rPr>
              <a:t>the extras are look-alikes</a:t>
            </a:r>
          </a:p>
        </p:txBody>
      </p:sp>
      <p:sp>
        <p:nvSpPr>
          <p:cNvPr id="271" name="TextBox 270"/>
          <p:cNvSpPr txBox="1"/>
          <p:nvPr/>
        </p:nvSpPr>
        <p:spPr>
          <a:xfrm>
            <a:off x="5257800" y="1371600"/>
            <a:ext cx="114300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1 in 2</a:t>
            </a:r>
          </a:p>
        </p:txBody>
      </p:sp>
      <p:sp>
        <p:nvSpPr>
          <p:cNvPr id="272" name="TextBox 271"/>
          <p:cNvSpPr txBox="1"/>
          <p:nvPr/>
        </p:nvSpPr>
        <p:spPr>
          <a:xfrm>
            <a:off x="6446520" y="1389888"/>
            <a:ext cx="2194560" cy="822960"/>
          </a:xfrm>
          <a:prstGeom prst="rect">
            <a:avLst/>
          </a:prstGeom>
          <a:noFill/>
        </p:spPr>
        <p:txBody>
          <a:bodyPr wrap="square" lIns="0" rIns="0" tIns="0" bIns="0" anchor="t">
            <a:spAutoFit/>
          </a:bodyPr>
          <a:lstStyle/>
          <a:p>
            <a:pPr algn="l"/>
            <a:r>
              <a:rPr sz="1200" b="0">
                <a:solidFill>
                  <a:srgbClr val="161D26"/>
                </a:solidFill>
                <a:latin typeface="Ember Modern Display Standard"/>
              </a:rPr>
              <a:t>entities share a name</a:t>
            </a:r>
          </a:p>
          <a:p>
            <a:pPr algn="l">
              <a:spcBef>
                <a:spcPts val="300"/>
              </a:spcBef>
            </a:pPr>
            <a:r>
              <a:rPr sz="1200" b="1">
                <a:solidFill>
                  <a:srgbClr val="161D26"/>
                </a:solidFill>
                <a:latin typeface="Ember Modern Display Standard"/>
              </a:rPr>
              <a:t>→ the address decides</a:t>
            </a:r>
          </a:p>
        </p:txBody>
      </p:sp>
      <p:sp>
        <p:nvSpPr>
          <p:cNvPr id="273" name="Rounded Rectangle 272"/>
          <p:cNvSpPr/>
          <p:nvPr/>
        </p:nvSpPr>
        <p:spPr>
          <a:xfrm>
            <a:off x="5257800" y="2267712"/>
            <a:ext cx="3383280" cy="13716"/>
          </a:xfrm>
          <a:prstGeom prst="roundRect">
            <a:avLst>
              <a:gd name="adj" fmla="val 33333"/>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5257800" y="2377440"/>
            <a:ext cx="114300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0</a:t>
            </a:r>
          </a:p>
        </p:txBody>
      </p:sp>
      <p:sp>
        <p:nvSpPr>
          <p:cNvPr id="275" name="TextBox 274"/>
          <p:cNvSpPr txBox="1"/>
          <p:nvPr/>
        </p:nvSpPr>
        <p:spPr>
          <a:xfrm>
            <a:off x="6446520" y="2395728"/>
            <a:ext cx="2194560" cy="822960"/>
          </a:xfrm>
          <a:prstGeom prst="rect">
            <a:avLst/>
          </a:prstGeom>
          <a:noFill/>
        </p:spPr>
        <p:txBody>
          <a:bodyPr wrap="square" lIns="0" rIns="0" tIns="0" bIns="0" anchor="t">
            <a:spAutoFit/>
          </a:bodyPr>
          <a:lstStyle/>
          <a:p>
            <a:pPr algn="l"/>
            <a:r>
              <a:rPr sz="1200" b="0">
                <a:solidFill>
                  <a:srgbClr val="161D26"/>
                </a:solidFill>
                <a:latin typeface="Ember Modern Display Standard"/>
              </a:rPr>
              <a:t>records belong to two entities</a:t>
            </a:r>
          </a:p>
          <a:p>
            <a:pPr algn="l">
              <a:spcBef>
                <a:spcPts val="300"/>
              </a:spcBef>
            </a:pPr>
            <a:r>
              <a:rPr sz="1200" b="1">
                <a:solidFill>
                  <a:srgbClr val="161D26"/>
                </a:solidFill>
                <a:latin typeface="Ember Modern Display Standard"/>
              </a:rPr>
              <a:t>→ one owner per record</a:t>
            </a:r>
          </a:p>
        </p:txBody>
      </p:sp>
      <p:sp>
        <p:nvSpPr>
          <p:cNvPr id="276" name="Rounded Rectangle 275"/>
          <p:cNvSpPr/>
          <p:nvPr/>
        </p:nvSpPr>
        <p:spPr>
          <a:xfrm>
            <a:off x="5257800" y="3273552"/>
            <a:ext cx="3383280" cy="13716"/>
          </a:xfrm>
          <a:prstGeom prst="roundRect">
            <a:avLst>
              <a:gd name="adj" fmla="val 33333"/>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5257800" y="3383280"/>
            <a:ext cx="1143000" cy="548640"/>
          </a:xfrm>
          <a:prstGeom prst="rect">
            <a:avLst/>
          </a:prstGeom>
          <a:noFill/>
        </p:spPr>
        <p:txBody>
          <a:bodyPr wrap="square" lIns="0" rIns="0" tIns="0" bIns="0" anchor="t">
            <a:spAutoFit/>
          </a:bodyPr>
          <a:lstStyle/>
          <a:p>
            <a:pPr algn="l"/>
            <a:r>
              <a:rPr sz="2600" b="1">
                <a:solidFill>
                  <a:srgbClr val="FF6200"/>
                </a:solidFill>
                <a:latin typeface="Ember Modern Display Standard"/>
              </a:rPr>
              <a:t>15%</a:t>
            </a:r>
          </a:p>
        </p:txBody>
      </p:sp>
      <p:sp>
        <p:nvSpPr>
          <p:cNvPr id="278" name="TextBox 277"/>
          <p:cNvSpPr txBox="1"/>
          <p:nvPr/>
        </p:nvSpPr>
        <p:spPr>
          <a:xfrm>
            <a:off x="6446520" y="3401568"/>
            <a:ext cx="2194560" cy="822960"/>
          </a:xfrm>
          <a:prstGeom prst="rect">
            <a:avLst/>
          </a:prstGeom>
          <a:noFill/>
        </p:spPr>
        <p:txBody>
          <a:bodyPr wrap="square" lIns="0" rIns="0" tIns="0" bIns="0" anchor="t">
            <a:spAutoFit/>
          </a:bodyPr>
          <a:lstStyle/>
          <a:p>
            <a:pPr algn="l"/>
            <a:r>
              <a:rPr sz="1200" b="0">
                <a:solidFill>
                  <a:srgbClr val="161D26"/>
                </a:solidFill>
                <a:latin typeface="Ember Modern Display Standard"/>
              </a:rPr>
              <a:t>of the test is France, with no labels</a:t>
            </a:r>
          </a:p>
          <a:p>
            <a:pPr algn="l">
              <a:spcBef>
                <a:spcPts val="300"/>
              </a:spcBef>
            </a:pPr>
            <a:r>
              <a:rPr sz="1200" b="1">
                <a:solidFill>
                  <a:srgbClr val="161D26"/>
                </a:solidFill>
                <a:latin typeface="Ember Modern Display Standard"/>
              </a:rPr>
              <a:t>→ plan for the unknown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childTnLst>
                          </p:cTn>
                        </p:par>
                        <p:par>
                          <p:cTn id="11"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270"/>
                                        </p:tgtEl>
                                        <p:attrNameLst>
                                          <p:attrName>style.visibility</p:attrName>
                                        </p:attrNameLst>
                                      </p:cBhvr>
                                      <p:to>
                                        <p:strVal val="visible"/>
                                      </p:to>
                                    </p:set>
                                    <p:animEffect transition="in" filter="fade">
                                      <p:cBhvr>
                                        <p:cTn id="10" dur="450"/>
                                        <p:tgtEl>
                                          <p:spTgt spid="270"/>
                                        </p:tgtEl>
                                      </p:cBhvr>
                                    </p:animEffect>
                                  </p:childTnLst>
                                </p:cTn>
                              </p:par>
                            </p:childTnLst>
                          </p:cTn>
                        </p:par>
                        <p:par>
                          <p:cTn id="18" fill="hold">
                            <p:stCondLst>
                              <p:cond delay="900"/>
                            </p:stCondLst>
                            <p:childTnLst>
                              <p:par>
                                <p:cTn id="12" presetID="10" presetClass="entr" presetSubtype="0" fill="hold" grpId="0" nodeType="afterEffect">
                                  <p:stCondLst>
                                    <p:cond delay="0"/>
                                  </p:stCondLst>
                                  <p:childTnLst>
                                    <p:set>
                                      <p:cBhvr>
                                        <p:cTn id="13" dur="1" fill="hold">
                                          <p:stCondLst>
                                            <p:cond delay="0"/>
                                          </p:stCondLst>
                                        </p:cTn>
                                        <p:tgtEl>
                                          <p:spTgt spid="271"/>
                                        </p:tgtEl>
                                        <p:attrNameLst>
                                          <p:attrName>style.visibility</p:attrName>
                                        </p:attrNameLst>
                                      </p:cBhvr>
                                      <p:to>
                                        <p:strVal val="visible"/>
                                      </p:to>
                                    </p:set>
                                    <p:animEffect transition="in" filter="fade">
                                      <p:cBhvr>
                                        <p:cTn id="14" dur="450"/>
                                        <p:tgtEl>
                                          <p:spTgt spid="27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childTnLst>
                          </p:cTn>
                        </p:par>
                        <p:par>
                          <p:cTn id="25"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4"/>
                                        </p:tgtEl>
                                        <p:attrNameLst>
                                          <p:attrName>style.visibility</p:attrName>
                                        </p:attrNameLst>
                                      </p:cBhvr>
                                      <p:to>
                                        <p:strVal val="visible"/>
                                      </p:to>
                                    </p:set>
                                    <p:animEffect transition="in" filter="fade">
                                      <p:cBhvr>
                                        <p:cTn id="21" dur="450"/>
                                        <p:tgtEl>
                                          <p:spTgt spid="27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5"/>
                                        </p:tgtEl>
                                        <p:attrNameLst>
                                          <p:attrName>style.visibility</p:attrName>
                                        </p:attrNameLst>
                                      </p:cBhvr>
                                      <p:to>
                                        <p:strVal val="visible"/>
                                      </p:to>
                                    </p:set>
                                    <p:animEffect transition="in" filter="fade">
                                      <p:cBhvr>
                                        <p:cTn id="24" dur="450"/>
                                        <p:tgtEl>
                                          <p:spTgt spid="275"/>
                                        </p:tgtEl>
                                      </p:cBhvr>
                                    </p:animEffect>
                                  </p:childTnLst>
                                </p:cTn>
                              </p:par>
                            </p:childTnLst>
                          </p:cTn>
                        </p:par>
                        <p:par>
                          <p:cTn id="32" fill="hold">
                            <p:stCondLst>
                              <p:cond delay="1800"/>
                            </p:stCondLst>
                            <p:childTnLst>
                              <p:par>
                                <p:cTn id="26" presetID="10" presetClass="entr" presetSubtype="0" fill="hold" grpId="0" nodeType="afterEffect">
                                  <p:stCondLst>
                                    <p:cond delay="0"/>
                                  </p:stCondLst>
                                  <p:childTnLst>
                                    <p:set>
                                      <p:cBhvr>
                                        <p:cTn id="27" dur="1" fill="hold">
                                          <p:stCondLst>
                                            <p:cond delay="0"/>
                                          </p:stCondLst>
                                        </p:cTn>
                                        <p:tgtEl>
                                          <p:spTgt spid="277"/>
                                        </p:tgtEl>
                                        <p:attrNameLst>
                                          <p:attrName>style.visibility</p:attrName>
                                        </p:attrNameLst>
                                      </p:cBhvr>
                                      <p:to>
                                        <p:strVal val="visible"/>
                                      </p:to>
                                    </p:set>
                                    <p:animEffect transition="in" filter="fade">
                                      <p:cBhvr>
                                        <p:cTn id="28" dur="450"/>
                                        <p:tgtEl>
                                          <p:spTgt spid="27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8"/>
                                        </p:tgtEl>
                                        <p:attrNameLst>
                                          <p:attrName>style.visibility</p:attrName>
                                        </p:attrNameLst>
                                      </p:cBhvr>
                                      <p:to>
                                        <p:strVal val="visible"/>
                                      </p:to>
                                    </p:set>
                                    <p:animEffect transition="in" filter="fade">
                                      <p:cBhvr>
                                        <p:cTn id="31" dur="4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4" grpId="0" animBg="1"/>
      <p:bldP spid="275" grpId="0" animBg="1"/>
      <p:bldP spid="277" grpId="0" animBg="1"/>
      <p:bldP spid="27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Two</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Principles</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Two rules we set before building anything.</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1">
                <a:solidFill>
                  <a:srgbClr val="FF6200"/>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  ·  Frugality</a:t>
            </a:r>
          </a:p>
        </p:txBody>
      </p:sp>
      <p:sp>
        <p:nvSpPr>
          <p:cNvPr id="269" name="Rounded Rectangle 268"/>
          <p:cNvSpPr/>
          <p:nvPr/>
        </p:nvSpPr>
        <p:spPr>
          <a:xfrm>
            <a:off x="50292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54480"/>
            <a:ext cx="3566160" cy="365760"/>
          </a:xfrm>
          <a:prstGeom prst="rect">
            <a:avLst/>
          </a:prstGeom>
          <a:noFill/>
        </p:spPr>
        <p:txBody>
          <a:bodyPr wrap="square" lIns="0" rIns="0" tIns="0" bIns="0" anchor="t">
            <a:spAutoFit/>
          </a:bodyPr>
          <a:lstStyle/>
          <a:p>
            <a:pPr algn="l"/>
            <a:r>
              <a:rPr sz="1700" b="1">
                <a:solidFill>
                  <a:srgbClr val="FF6200"/>
                </a:solidFill>
                <a:latin typeface="Ember Modern Display Standard"/>
              </a:rPr>
              <a:t>1  </a:t>
            </a:r>
            <a:r>
              <a:rPr sz="1700" b="1">
                <a:solidFill>
                  <a:srgbClr val="161D26"/>
                </a:solidFill>
                <a:latin typeface="Ember Modern Display Standard"/>
              </a:rPr>
              <a:t>Decide like the metric</a:t>
            </a:r>
          </a:p>
        </p:txBody>
      </p:sp>
      <p:sp>
        <p:nvSpPr>
          <p:cNvPr id="271" name="Rounded Rectangle 270"/>
          <p:cNvSpPr/>
          <p:nvPr/>
        </p:nvSpPr>
        <p:spPr>
          <a:xfrm>
            <a:off x="914400" y="2286000"/>
            <a:ext cx="566928" cy="566928"/>
          </a:xfrm>
          <a:prstGeom prst="roundRect">
            <a:avLst>
              <a:gd name="adj" fmla="val 12903"/>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1572768" y="2304288"/>
            <a:ext cx="365760" cy="502920"/>
          </a:xfrm>
          <a:prstGeom prst="rect">
            <a:avLst/>
          </a:prstGeom>
          <a:noFill/>
        </p:spPr>
        <p:txBody>
          <a:bodyPr wrap="square" lIns="0" rIns="0" tIns="0" bIns="0" anchor="t">
            <a:spAutoFit/>
          </a:bodyPr>
          <a:lstStyle/>
          <a:p>
            <a:pPr algn="ctr"/>
            <a:r>
              <a:rPr sz="2600" b="1">
                <a:solidFill>
                  <a:srgbClr val="161D26"/>
                </a:solidFill>
                <a:latin typeface="Ember Modern Display Standard"/>
              </a:rPr>
              <a:t>=</a:t>
            </a:r>
          </a:p>
        </p:txBody>
      </p:sp>
      <p:sp>
        <p:nvSpPr>
          <p:cNvPr id="273" name="Rounded Rectangle 272"/>
          <p:cNvSpPr/>
          <p:nvPr/>
        </p:nvSpPr>
        <p:spPr>
          <a:xfrm>
            <a:off x="2029968"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ounded Rectangle 273"/>
          <p:cNvSpPr/>
          <p:nvPr/>
        </p:nvSpPr>
        <p:spPr>
          <a:xfrm>
            <a:off x="2596896"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ounded Rectangle 274"/>
          <p:cNvSpPr/>
          <p:nvPr/>
        </p:nvSpPr>
        <p:spPr>
          <a:xfrm>
            <a:off x="3163824"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ounded Rectangle 275"/>
          <p:cNvSpPr/>
          <p:nvPr/>
        </p:nvSpPr>
        <p:spPr>
          <a:xfrm>
            <a:off x="3730752" y="2395728"/>
            <a:ext cx="457200" cy="457200"/>
          </a:xfrm>
          <a:prstGeom prst="roundRect">
            <a:avLst>
              <a:gd name="adj" fmla="val 12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731520" y="3063240"/>
            <a:ext cx="3566160" cy="822960"/>
          </a:xfrm>
          <a:prstGeom prst="rect">
            <a:avLst/>
          </a:prstGeom>
          <a:noFill/>
        </p:spPr>
        <p:txBody>
          <a:bodyPr wrap="square" lIns="0" rIns="0" tIns="0" bIns="0" anchor="t">
            <a:spAutoFit/>
          </a:bodyPr>
          <a:lstStyle/>
          <a:p>
            <a:pPr algn="l"/>
            <a:r>
              <a:rPr sz="1250" b="0">
                <a:solidFill>
                  <a:srgbClr val="161D26"/>
                </a:solidFill>
                <a:latin typeface="Ember Modern Display Standard"/>
              </a:rPr>
              <a:t>1 wrong merge costs as much as 4 missed copies.</a:t>
            </a:r>
          </a:p>
          <a:p>
            <a:pPr algn="l">
              <a:spcBef>
                <a:spcPts val="600"/>
              </a:spcBef>
            </a:pPr>
            <a:r>
              <a:rPr sz="1250" b="0">
                <a:solidFill>
                  <a:srgbClr val="6B7280"/>
                </a:solidFill>
                <a:latin typeface="Ember Modern Display Standard"/>
              </a:rPr>
              <a:t>So: precision first, and an empty answer when unsure.</a:t>
            </a:r>
          </a:p>
        </p:txBody>
      </p:sp>
      <p:sp>
        <p:nvSpPr>
          <p:cNvPr id="278" name="Rounded Rectangle 277"/>
          <p:cNvSpPr/>
          <p:nvPr/>
        </p:nvSpPr>
        <p:spPr>
          <a:xfrm>
            <a:off x="470916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4937760" y="1554480"/>
            <a:ext cx="3566160" cy="365760"/>
          </a:xfrm>
          <a:prstGeom prst="rect">
            <a:avLst/>
          </a:prstGeom>
          <a:noFill/>
        </p:spPr>
        <p:txBody>
          <a:bodyPr wrap="square" lIns="0" rIns="0" tIns="0" bIns="0" anchor="t">
            <a:spAutoFit/>
          </a:bodyPr>
          <a:lstStyle/>
          <a:p>
            <a:pPr algn="l"/>
            <a:r>
              <a:rPr sz="1700" b="1">
                <a:solidFill>
                  <a:srgbClr val="FF6200"/>
                </a:solidFill>
                <a:latin typeface="Ember Modern Display Standard"/>
              </a:rPr>
              <a:t>2  </a:t>
            </a:r>
            <a:r>
              <a:rPr sz="1700" b="1">
                <a:solidFill>
                  <a:srgbClr val="FFFFFF"/>
                </a:solidFill>
                <a:latin typeface="Ember Modern Display Standard"/>
              </a:rPr>
              <a:t>Compute where it's unsure</a:t>
            </a:r>
          </a:p>
        </p:txBody>
      </p:sp>
      <p:graphicFrame>
        <p:nvGraphicFramePr>
          <p:cNvPr id="280" name="Chart 279"/>
          <p:cNvGraphicFramePr>
            <a:graphicFrameLocks noGrp="1"/>
          </p:cNvGraphicFramePr>
          <p:nvPr/>
        </p:nvGraphicFramePr>
        <p:xfrm>
          <a:off x="4892040" y="2011680"/>
          <a:ext cx="1691640" cy="1691640"/>
        </p:xfrm>
        <a:graphic>
          <a:graphicData uri="http://schemas.openxmlformats.org/drawingml/2006/chart">
            <c:chart xmlns:c="http://schemas.openxmlformats.org/drawingml/2006/chart" r:id="rId2"/>
          </a:graphicData>
        </a:graphic>
      </p:graphicFrame>
      <p:sp>
        <p:nvSpPr>
          <p:cNvPr id="281" name="TextBox 280"/>
          <p:cNvSpPr txBox="1"/>
          <p:nvPr/>
        </p:nvSpPr>
        <p:spPr>
          <a:xfrm>
            <a:off x="4892040" y="2633472"/>
            <a:ext cx="1691640" cy="457200"/>
          </a:xfrm>
          <a:prstGeom prst="rect">
            <a:avLst/>
          </a:prstGeom>
          <a:noFill/>
        </p:spPr>
        <p:txBody>
          <a:bodyPr wrap="square" lIns="0" rIns="0" tIns="0" bIns="0" anchor="t">
            <a:spAutoFit/>
          </a:bodyPr>
          <a:lstStyle/>
          <a:p>
            <a:pPr algn="ctr"/>
            <a:r>
              <a:rPr sz="2000" b="1">
                <a:solidFill>
                  <a:srgbClr val="FF6200"/>
                </a:solidFill>
                <a:latin typeface="Ember Modern Display Standard"/>
              </a:rPr>
              <a:t>2.6%</a:t>
            </a:r>
          </a:p>
        </p:txBody>
      </p:sp>
      <p:sp>
        <p:nvSpPr>
          <p:cNvPr id="282" name="TextBox 281"/>
          <p:cNvSpPr txBox="1"/>
          <p:nvPr/>
        </p:nvSpPr>
        <p:spPr>
          <a:xfrm>
            <a:off x="6720840" y="2377440"/>
            <a:ext cx="1783080" cy="1280160"/>
          </a:xfrm>
          <a:prstGeom prst="rect">
            <a:avLst/>
          </a:prstGeom>
          <a:noFill/>
        </p:spPr>
        <p:txBody>
          <a:bodyPr wrap="square" lIns="0" rIns="0" tIns="0" bIns="0" anchor="t">
            <a:spAutoFit/>
          </a:bodyPr>
          <a:lstStyle/>
          <a:p>
            <a:pPr algn="l"/>
            <a:r>
              <a:rPr sz="1250" b="0">
                <a:solidFill>
                  <a:srgbClr val="FFFFFF"/>
                </a:solidFill>
                <a:latin typeface="Ember Modern Display Standard"/>
              </a:rPr>
              <a:t>of pairs ever reach our expensive models.</a:t>
            </a:r>
          </a:p>
          <a:p>
            <a:pPr algn="l">
              <a:spcBef>
                <a:spcPts val="600"/>
              </a:spcBef>
            </a:pPr>
            <a:r>
              <a:rPr sz="1250" b="0">
                <a:solidFill>
                  <a:srgbClr val="B8C0CC"/>
                </a:solidFill>
                <a:latin typeface="Ember Modern Display Standard"/>
              </a:rPr>
              <a:t>A cheap model reads every pair first.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29"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3"/>
                                        </p:tgtEl>
                                        <p:attrNameLst>
                                          <p:attrName>style.visibility</p:attrName>
                                        </p:attrNameLst>
                                      </p:cBhvr>
                                      <p:to>
                                        <p:strVal val="visible"/>
                                      </p:to>
                                    </p:set>
                                    <p:animEffect transition="in" filter="fade">
                                      <p:cBhvr>
                                        <p:cTn id="16" dur="450"/>
                                        <p:tgtEl>
                                          <p:spTgt spid="27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4"/>
                                        </p:tgtEl>
                                        <p:attrNameLst>
                                          <p:attrName>style.visibility</p:attrName>
                                        </p:attrNameLst>
                                      </p:cBhvr>
                                      <p:to>
                                        <p:strVal val="visible"/>
                                      </p:to>
                                    </p:set>
                                    <p:animEffect transition="in" filter="fade">
                                      <p:cBhvr>
                                        <p:cTn id="19" dur="450"/>
                                        <p:tgtEl>
                                          <p:spTgt spid="27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5"/>
                                        </p:tgtEl>
                                        <p:attrNameLst>
                                          <p:attrName>style.visibility</p:attrName>
                                        </p:attrNameLst>
                                      </p:cBhvr>
                                      <p:to>
                                        <p:strVal val="visible"/>
                                      </p:to>
                                    </p:set>
                                    <p:animEffect transition="in" filter="fade">
                                      <p:cBhvr>
                                        <p:cTn id="22" dur="450"/>
                                        <p:tgtEl>
                                          <p:spTgt spid="27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6"/>
                                        </p:tgtEl>
                                        <p:attrNameLst>
                                          <p:attrName>style.visibility</p:attrName>
                                        </p:attrNameLst>
                                      </p:cBhvr>
                                      <p:to>
                                        <p:strVal val="visible"/>
                                      </p:to>
                                    </p:set>
                                    <p:animEffect transition="in" filter="fade">
                                      <p:cBhvr>
                                        <p:cTn id="25" dur="450"/>
                                        <p:tgtEl>
                                          <p:spTgt spid="27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72"/>
                                        </p:tgtEl>
                                        <p:attrNameLst>
                                          <p:attrName>style.visibility</p:attrName>
                                        </p:attrNameLst>
                                      </p:cBhvr>
                                      <p:to>
                                        <p:strVal val="visible"/>
                                      </p:to>
                                    </p:set>
                                    <p:animEffect transition="in" filter="fade">
                                      <p:cBhvr>
                                        <p:cTn id="28" dur="450"/>
                                        <p:tgtEl>
                                          <p:spTgt spid="272"/>
                                        </p:tgtEl>
                                      </p:cBhvr>
                                    </p:animEffect>
                                  </p:childTnLst>
                                </p:cTn>
                              </p:par>
                            </p:childTnLst>
                          </p:cTn>
                        </p:par>
                        <p:par>
                          <p:cTn id="33" fill="hold">
                            <p:stCondLst>
                              <p:cond delay="900"/>
                            </p:stCondLst>
                            <p:childTnLst>
                              <p:par>
                                <p:cTn id="30" presetID="10" presetClass="entr" presetSubtype="0" fill="hold" grpId="0" nodeType="after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childTnLst>
                          </p:cTn>
                        </p:par>
                        <p:par>
                          <p:cTn id="40" fill="hold">
                            <p:stCondLst>
                              <p:cond delay="1350"/>
                            </p:stCondLst>
                            <p:childTnLst>
                              <p:par>
                                <p:cTn id="34" presetID="10" presetClass="entr" presetSubtype="0" fill="hold" grpId="0" nodeType="after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fade">
                                      <p:cBhvr>
                                        <p:cTn id="36" dur="45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childTnLst>
                          </p:cTn>
                        </p:par>
                        <p:par>
                          <p:cTn id="47" fill="hold">
                            <p:stCondLst>
                              <p:cond delay="1800"/>
                            </p:stCondLst>
                            <p:childTnLst>
                              <p:par>
                                <p:cTn id="41" presetID="10" presetClass="entr" presetSubtype="0" fill="hold" grpId="0" nodeType="afterEffect">
                                  <p:stCondLst>
                                    <p:cond delay="0"/>
                                  </p:stCondLst>
                                  <p:childTnLst>
                                    <p:set>
                                      <p:cBhvr>
                                        <p:cTn id="42" dur="1" fill="hold">
                                          <p:stCondLst>
                                            <p:cond delay="0"/>
                                          </p:stCondLst>
                                        </p:cTn>
                                        <p:tgtEl>
                                          <p:spTgt spid="280"/>
                                        </p:tgtEl>
                                        <p:attrNameLst>
                                          <p:attrName>style.visibility</p:attrName>
                                        </p:attrNameLst>
                                      </p:cBhvr>
                                      <p:to>
                                        <p:strVal val="visible"/>
                                      </p:to>
                                    </p:set>
                                    <p:animEffect transition="in" filter="fade">
                                      <p:cBhvr>
                                        <p:cTn id="43" dur="450"/>
                                        <p:tgtEl>
                                          <p:spTgt spid="28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81"/>
                                        </p:tgtEl>
                                        <p:attrNameLst>
                                          <p:attrName>style.visibility</p:attrName>
                                        </p:attrNameLst>
                                      </p:cBhvr>
                                      <p:to>
                                        <p:strVal val="visible"/>
                                      </p:to>
                                    </p:set>
                                    <p:animEffect transition="in" filter="fade">
                                      <p:cBhvr>
                                        <p:cTn id="46" dur="450"/>
                                        <p:tgtEl>
                                          <p:spTgt spid="281"/>
                                        </p:tgtEl>
                                      </p:cBhvr>
                                    </p:animEffect>
                                  </p:childTnLst>
                                </p:cTn>
                              </p:par>
                            </p:childTnLst>
                          </p:cTn>
                        </p:par>
                        <p:par>
                          <p:cTn id="51" fill="hold">
                            <p:stCondLst>
                              <p:cond delay="2250"/>
                            </p:stCondLst>
                            <p:childTnLst>
                              <p:par>
                                <p:cTn id="48" presetID="10" presetClass="entr" presetSubtype="0" fill="hold" grpId="0" nodeType="after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450"/>
                                        <p:tgtEl>
                                          <p:spTgt spid="2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3" grpId="0" animBg="1"/>
      <p:bldP spid="274" grpId="0" animBg="1"/>
      <p:bldP spid="275" grpId="0" animBg="1"/>
      <p:bldP spid="276" grpId="0" animBg="1"/>
      <p:bldP spid="272" grpId="0" animBg="1"/>
      <p:bldP spid="277" grpId="0" animBg="1"/>
      <p:bldP spid="278" grpId="0" animBg="1"/>
      <p:bldP spid="279" grpId="0" animBg="1"/>
      <p:bldGraphic spid="280" grpId="0">
        <p:bldAsOne/>
      </p:bldGraphic>
      <p:bldP spid="281" grpId="0" animBg="1"/>
      <p:bldP spid="28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Smart</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Blocking</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We only compare records that could plausibly match.</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Invent and Simplify</a:t>
            </a:r>
          </a:p>
        </p:txBody>
      </p:sp>
      <p:sp>
        <p:nvSpPr>
          <p:cNvPr id="269" name="Rounded Rectangle 268"/>
          <p:cNvSpPr/>
          <p:nvPr/>
        </p:nvSpPr>
        <p:spPr>
          <a:xfrm>
            <a:off x="640080" y="1371600"/>
            <a:ext cx="7863840" cy="566928"/>
          </a:xfrm>
          <a:prstGeom prst="roundRect">
            <a:avLst>
              <a:gd name="adj" fmla="val 16129"/>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40080" y="1371600"/>
            <a:ext cx="7863840" cy="566928"/>
          </a:xfrm>
          <a:prstGeom prst="rect">
            <a:avLst/>
          </a:prstGeom>
          <a:noFill/>
        </p:spPr>
        <p:txBody>
          <a:bodyPr wrap="square" lIns="0" rIns="0" tIns="0" bIns="0" anchor="ctr">
            <a:spAutoFit/>
          </a:bodyPr>
          <a:lstStyle/>
          <a:p>
            <a:pPr algn="ctr"/>
            <a:r>
              <a:rPr sz="1300" b="0">
                <a:solidFill>
                  <a:srgbClr val="161D26"/>
                </a:solidFill>
                <a:latin typeface="Ember Modern Display Standard"/>
              </a:rPr>
              <a:t>Every possible pair  ·  </a:t>
            </a:r>
            <a:r>
              <a:rPr sz="1300" b="1">
                <a:solidFill>
                  <a:srgbClr val="161D26"/>
                </a:solidFill>
                <a:latin typeface="Ember Modern Display Standard"/>
              </a:rPr>
              <a:t>17 trillion</a:t>
            </a:r>
          </a:p>
        </p:txBody>
      </p:sp>
      <p:sp>
        <p:nvSpPr>
          <p:cNvPr id="271" name="Rounded Rectangle 270"/>
          <p:cNvSpPr/>
          <p:nvPr/>
        </p:nvSpPr>
        <p:spPr>
          <a:xfrm>
            <a:off x="2011680" y="2084832"/>
            <a:ext cx="5120640" cy="566928"/>
          </a:xfrm>
          <a:prstGeom prst="roundRect">
            <a:avLst>
              <a:gd name="adj" fmla="val 16129"/>
            </a:avLst>
          </a:prstGeom>
          <a:solidFill>
            <a:srgbClr val="C2C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2011680" y="2084832"/>
            <a:ext cx="5120640" cy="566928"/>
          </a:xfrm>
          <a:prstGeom prst="rect">
            <a:avLst/>
          </a:prstGeom>
          <a:noFill/>
        </p:spPr>
        <p:txBody>
          <a:bodyPr wrap="square" lIns="0" rIns="0" tIns="0" bIns="0" anchor="ctr">
            <a:spAutoFit/>
          </a:bodyPr>
          <a:lstStyle/>
          <a:p>
            <a:pPr algn="ctr"/>
            <a:r>
              <a:rPr sz="1300" b="0">
                <a:solidFill>
                  <a:srgbClr val="161D26"/>
                </a:solidFill>
                <a:latin typeface="Ember Modern Display Standard"/>
              </a:rPr>
              <a:t>Retrieval  ·  </a:t>
            </a:r>
            <a:r>
              <a:rPr sz="1300" b="1">
                <a:solidFill>
                  <a:srgbClr val="161D26"/>
                </a:solidFill>
                <a:latin typeface="Ember Modern Display Standard"/>
              </a:rPr>
              <a:t>58.4M pairs</a:t>
            </a:r>
            <a:r>
              <a:rPr sz="1300" b="0">
                <a:solidFill>
                  <a:srgbClr val="161D26"/>
                </a:solidFill>
                <a:latin typeface="Ember Modern Display Standard"/>
              </a:rPr>
              <a:t>  ·  99.1% of matches kept</a:t>
            </a:r>
          </a:p>
        </p:txBody>
      </p:sp>
      <p:sp>
        <p:nvSpPr>
          <p:cNvPr id="273" name="Rounded Rectangle 272"/>
          <p:cNvSpPr/>
          <p:nvPr/>
        </p:nvSpPr>
        <p:spPr>
          <a:xfrm>
            <a:off x="3337560" y="2798064"/>
            <a:ext cx="2468880" cy="566928"/>
          </a:xfrm>
          <a:prstGeom prst="roundRect">
            <a:avLst>
              <a:gd name="adj" fmla="val 16129"/>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3337560" y="2798064"/>
            <a:ext cx="2468880" cy="566928"/>
          </a:xfrm>
          <a:prstGeom prst="rect">
            <a:avLst/>
          </a:prstGeom>
          <a:noFill/>
        </p:spPr>
        <p:txBody>
          <a:bodyPr wrap="square" lIns="0" rIns="0" tIns="0" bIns="0" anchor="ctr">
            <a:spAutoFit/>
          </a:bodyPr>
          <a:lstStyle/>
          <a:p>
            <a:pPr algn="ctr"/>
            <a:r>
              <a:rPr sz="1800" b="1">
                <a:solidFill>
                  <a:srgbClr val="FF6200"/>
                </a:solidFill>
                <a:latin typeface="Ember Modern Display Standard"/>
              </a:rPr>
              <a:t>3.7</a:t>
            </a:r>
            <a:r>
              <a:rPr sz="1300" b="1">
                <a:solidFill>
                  <a:srgbClr val="FFFFFF"/>
                </a:solidFill>
                <a:latin typeface="Ember Modern Display Standard"/>
              </a:rPr>
              <a:t>  per entity</a:t>
            </a:r>
          </a:p>
        </p:txBody>
      </p:sp>
      <p:sp>
        <p:nvSpPr>
          <p:cNvPr id="275" name="TextBox 274"/>
          <p:cNvSpPr txBox="1"/>
          <p:nvPr/>
        </p:nvSpPr>
        <p:spPr>
          <a:xfrm>
            <a:off x="5943600" y="2907792"/>
            <a:ext cx="2743200" cy="457200"/>
          </a:xfrm>
          <a:prstGeom prst="rect">
            <a:avLst/>
          </a:prstGeom>
          <a:noFill/>
        </p:spPr>
        <p:txBody>
          <a:bodyPr wrap="square" lIns="0" rIns="0" tIns="0" bIns="0" anchor="t">
            <a:spAutoFit/>
          </a:bodyPr>
          <a:lstStyle/>
          <a:p>
            <a:pPr algn="l"/>
            <a:r>
              <a:rPr sz="1200" b="0">
                <a:solidFill>
                  <a:srgbClr val="161D26"/>
                </a:solidFill>
                <a:latin typeface="Ember Modern Display Standard"/>
              </a:rPr>
              <a:t>6.4M pairs  ·  </a:t>
            </a:r>
            <a:r>
              <a:rPr sz="1200" b="1">
                <a:solidFill>
                  <a:srgbClr val="161D26"/>
                </a:solidFill>
                <a:latin typeface="Ember Modern Display Standard"/>
              </a:rPr>
              <a:t>98.4% kept</a:t>
            </a:r>
          </a:p>
        </p:txBody>
      </p:sp>
      <p:sp>
        <p:nvSpPr>
          <p:cNvPr id="276" name="TextBox 275"/>
          <p:cNvSpPr txBox="1"/>
          <p:nvPr/>
        </p:nvSpPr>
        <p:spPr>
          <a:xfrm>
            <a:off x="502920" y="3611880"/>
            <a:ext cx="2743200" cy="274320"/>
          </a:xfrm>
          <a:prstGeom prst="rect">
            <a:avLst/>
          </a:prstGeom>
          <a:noFill/>
        </p:spPr>
        <p:txBody>
          <a:bodyPr wrap="square" lIns="0" rIns="0" tIns="0" bIns="0" anchor="t">
            <a:spAutoFit/>
          </a:bodyPr>
          <a:lstStyle/>
          <a:p>
            <a:pPr algn="l"/>
            <a:r>
              <a:rPr sz="1100" b="1">
                <a:solidFill>
                  <a:srgbClr val="6B7280"/>
                </a:solidFill>
                <a:latin typeface="Ember Modern Display Standard"/>
              </a:rPr>
              <a:t>How we search</a:t>
            </a:r>
          </a:p>
        </p:txBody>
      </p:sp>
      <p:sp>
        <p:nvSpPr>
          <p:cNvPr id="277" name="Rounded Rectangle 276"/>
          <p:cNvSpPr/>
          <p:nvPr/>
        </p:nvSpPr>
        <p:spPr>
          <a:xfrm>
            <a:off x="502920" y="3886200"/>
            <a:ext cx="173736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050" b="0">
                <a:solidFill>
                  <a:srgbClr val="161D26"/>
                </a:solidFill>
                <a:latin typeface="Ember Modern Display Standard"/>
              </a:rPr>
              <a:t>Each country separately</a:t>
            </a:r>
          </a:p>
        </p:txBody>
      </p:sp>
      <p:sp>
        <p:nvSpPr>
          <p:cNvPr id="278" name="Rounded Rectangle 277"/>
          <p:cNvSpPr/>
          <p:nvPr/>
        </p:nvSpPr>
        <p:spPr>
          <a:xfrm>
            <a:off x="2350008" y="3886200"/>
            <a:ext cx="1691639"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050" b="0">
                <a:solidFill>
                  <a:srgbClr val="161D26"/>
                </a:solidFill>
                <a:latin typeface="Ember Modern Display Standard"/>
              </a:rPr>
              <a:t>Name + address words</a:t>
            </a:r>
          </a:p>
        </p:txBody>
      </p:sp>
      <p:sp>
        <p:nvSpPr>
          <p:cNvPr id="279" name="Rounded Rectangle 278"/>
          <p:cNvSpPr/>
          <p:nvPr/>
        </p:nvSpPr>
        <p:spPr>
          <a:xfrm>
            <a:off x="4151376" y="3886200"/>
            <a:ext cx="228600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050" b="0">
                <a:solidFill>
                  <a:srgbClr val="161D26"/>
                </a:solidFill>
                <a:latin typeface="Ember Modern Display Standard"/>
              </a:rPr>
              <a:t>Name only, if the address is empty</a:t>
            </a:r>
          </a:p>
        </p:txBody>
      </p:sp>
      <p:sp>
        <p:nvSpPr>
          <p:cNvPr id="280" name="Rounded Rectangle 279"/>
          <p:cNvSpPr/>
          <p:nvPr/>
        </p:nvSpPr>
        <p:spPr>
          <a:xfrm>
            <a:off x="6547104" y="3886200"/>
            <a:ext cx="1737360" cy="384048"/>
          </a:xfrm>
          <a:prstGeom prst="roundRect">
            <a:avLst>
              <a:gd name="adj" fmla="val 5000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050" b="0">
                <a:solidFill>
                  <a:srgbClr val="161D26"/>
                </a:solidFill>
                <a:latin typeface="Ember Modern Display Standard"/>
              </a:rPr>
              <a:t>Repair spellings first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7"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fade">
                                      <p:cBhvr>
                                        <p:cTn id="26" dur="450"/>
                                        <p:tgtEl>
                                          <p:spTgt spid="275"/>
                                        </p:tgtEl>
                                      </p:cBhvr>
                                    </p:animEffect>
                                  </p:childTnLst>
                                </p:cTn>
                              </p:par>
                            </p:childTnLst>
                          </p:cTn>
                        </p:par>
                        <p:par>
                          <p:cTn id="43" fill="hold">
                            <p:stCondLst>
                              <p:cond delay="1350"/>
                            </p:stCondLst>
                            <p:childTnLst>
                              <p:par>
                                <p:cTn id="28" presetID="10" presetClass="entr" presetSubtype="0" fill="hold" grpId="0" nodeType="afterEffect">
                                  <p:stCondLst>
                                    <p:cond delay="0"/>
                                  </p:stCondLst>
                                  <p:childTnLst>
                                    <p:set>
                                      <p:cBhvr>
                                        <p:cTn id="29" dur="1" fill="hold">
                                          <p:stCondLst>
                                            <p:cond delay="0"/>
                                          </p:stCondLst>
                                        </p:cTn>
                                        <p:tgtEl>
                                          <p:spTgt spid="276"/>
                                        </p:tgtEl>
                                        <p:attrNameLst>
                                          <p:attrName>style.visibility</p:attrName>
                                        </p:attrNameLst>
                                      </p:cBhvr>
                                      <p:to>
                                        <p:strVal val="visible"/>
                                      </p:to>
                                    </p:set>
                                    <p:animEffect transition="in" filter="fade">
                                      <p:cBhvr>
                                        <p:cTn id="30" dur="450"/>
                                        <p:tgtEl>
                                          <p:spTgt spid="27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77"/>
                                        </p:tgtEl>
                                        <p:attrNameLst>
                                          <p:attrName>style.visibility</p:attrName>
                                        </p:attrNameLst>
                                      </p:cBhvr>
                                      <p:to>
                                        <p:strVal val="visible"/>
                                      </p:to>
                                    </p:set>
                                    <p:animEffect transition="in" filter="fade">
                                      <p:cBhvr>
                                        <p:cTn id="33" dur="450"/>
                                        <p:tgtEl>
                                          <p:spTgt spid="27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fade">
                                      <p:cBhvr>
                                        <p:cTn id="36" dur="45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0"/>
                                        </p:tgtEl>
                                        <p:attrNameLst>
                                          <p:attrName>style.visibility</p:attrName>
                                        </p:attrNameLst>
                                      </p:cBhvr>
                                      <p:to>
                                        <p:strVal val="visible"/>
                                      </p:to>
                                    </p:set>
                                    <p:animEffect transition="in" filter="fade">
                                      <p:cBhvr>
                                        <p:cTn id="42" dur="45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Our</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Architecture</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Seven steps, from raw records to final matches.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Think Big</a:t>
            </a:r>
          </a:p>
        </p:txBody>
      </p:sp>
      <p:sp>
        <p:nvSpPr>
          <p:cNvPr id="269" name="Rounded Rectangle 268"/>
          <p:cNvSpPr/>
          <p:nvPr/>
        </p:nvSpPr>
        <p:spPr>
          <a:xfrm>
            <a:off x="502920" y="1600200"/>
            <a:ext cx="1024128" cy="822960"/>
          </a:xfrm>
          <a:prstGeom prst="roundRect">
            <a:avLst>
              <a:gd name="adj" fmla="val 8888"/>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161D26"/>
                </a:solidFill>
                <a:latin typeface="Ember Modern Display Standard"/>
              </a:rPr>
              <a:t>Clean</a:t>
            </a:r>
          </a:p>
        </p:txBody>
      </p:sp>
      <p:sp>
        <p:nvSpPr>
          <p:cNvPr id="270" name="TextBox 269"/>
          <p:cNvSpPr txBox="1"/>
          <p:nvPr/>
        </p:nvSpPr>
        <p:spPr>
          <a:xfrm>
            <a:off x="484632"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fix spellings, OCR digits and web names</a:t>
            </a:r>
          </a:p>
        </p:txBody>
      </p:sp>
      <p:sp>
        <p:nvSpPr>
          <p:cNvPr id="271" name="Chevron 270"/>
          <p:cNvSpPr/>
          <p:nvPr/>
        </p:nvSpPr>
        <p:spPr>
          <a:xfrm>
            <a:off x="1540764"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ounded Rectangle 271"/>
          <p:cNvSpPr/>
          <p:nvPr/>
        </p:nvSpPr>
        <p:spPr>
          <a:xfrm>
            <a:off x="1682496" y="1600200"/>
            <a:ext cx="1024128" cy="822960"/>
          </a:xfrm>
          <a:prstGeom prst="roundRect">
            <a:avLst>
              <a:gd name="adj" fmla="val 8888"/>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161D26"/>
                </a:solidFill>
                <a:latin typeface="Ember Modern Display Standard"/>
              </a:rPr>
              <a:t>Retrieve</a:t>
            </a:r>
          </a:p>
        </p:txBody>
      </p:sp>
      <p:sp>
        <p:nvSpPr>
          <p:cNvPr id="273" name="TextBox 272"/>
          <p:cNvSpPr txBox="1"/>
          <p:nvPr/>
        </p:nvSpPr>
        <p:spPr>
          <a:xfrm>
            <a:off x="1664208"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search name and address words, per country</a:t>
            </a:r>
          </a:p>
        </p:txBody>
      </p:sp>
      <p:sp>
        <p:nvSpPr>
          <p:cNvPr id="274" name="Chevron 273"/>
          <p:cNvSpPr/>
          <p:nvPr/>
        </p:nvSpPr>
        <p:spPr>
          <a:xfrm>
            <a:off x="2720340"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ounded Rectangle 274"/>
          <p:cNvSpPr/>
          <p:nvPr/>
        </p:nvSpPr>
        <p:spPr>
          <a:xfrm>
            <a:off x="2862072" y="160020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Score</a:t>
            </a:r>
          </a:p>
        </p:txBody>
      </p:sp>
      <p:sp>
        <p:nvSpPr>
          <p:cNvPr id="276" name="TextBox 275"/>
          <p:cNvSpPr txBox="1"/>
          <p:nvPr/>
        </p:nvSpPr>
        <p:spPr>
          <a:xfrm>
            <a:off x="2843784"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XGBoost on name, address, number and rival features</a:t>
            </a:r>
          </a:p>
        </p:txBody>
      </p:sp>
      <p:sp>
        <p:nvSpPr>
          <p:cNvPr id="277" name="Chevron 276"/>
          <p:cNvSpPr/>
          <p:nvPr/>
        </p:nvSpPr>
        <p:spPr>
          <a:xfrm>
            <a:off x="3899915"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ounded Rectangle 277"/>
          <p:cNvSpPr/>
          <p:nvPr/>
        </p:nvSpPr>
        <p:spPr>
          <a:xfrm>
            <a:off x="4041648" y="160020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Re-read</a:t>
            </a:r>
          </a:p>
        </p:txBody>
      </p:sp>
      <p:sp>
        <p:nvSpPr>
          <p:cNvPr id="279" name="TextBox 278"/>
          <p:cNvSpPr txBox="1"/>
          <p:nvPr/>
        </p:nvSpPr>
        <p:spPr>
          <a:xfrm>
            <a:off x="4023360"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transformers read the unsure 2.6%</a:t>
            </a:r>
          </a:p>
        </p:txBody>
      </p:sp>
      <p:sp>
        <p:nvSpPr>
          <p:cNvPr id="280" name="Chevron 279"/>
          <p:cNvSpPr/>
          <p:nvPr/>
        </p:nvSpPr>
        <p:spPr>
          <a:xfrm>
            <a:off x="5079492"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5221224" y="1600200"/>
            <a:ext cx="1024128" cy="822960"/>
          </a:xfrm>
          <a:prstGeom prst="roundRect">
            <a:avLst>
              <a:gd name="adj" fmla="val 888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Rescore</a:t>
            </a:r>
          </a:p>
        </p:txBody>
      </p:sp>
      <p:sp>
        <p:nvSpPr>
          <p:cNvPr id="282" name="TextBox 281"/>
          <p:cNvSpPr txBox="1"/>
          <p:nvPr/>
        </p:nvSpPr>
        <p:spPr>
          <a:xfrm>
            <a:off x="5202936"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XGBoost adds their votes; calibrated</a:t>
            </a:r>
          </a:p>
        </p:txBody>
      </p:sp>
      <p:sp>
        <p:nvSpPr>
          <p:cNvPr id="283" name="Chevron 282"/>
          <p:cNvSpPr/>
          <p:nvPr/>
        </p:nvSpPr>
        <p:spPr>
          <a:xfrm>
            <a:off x="6259068"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6400800" y="1600200"/>
            <a:ext cx="1024128" cy="822960"/>
          </a:xfrm>
          <a:prstGeom prst="roundRect">
            <a:avLst>
              <a:gd name="adj" fmla="val 8888"/>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Decide</a:t>
            </a:r>
          </a:p>
        </p:txBody>
      </p:sp>
      <p:sp>
        <p:nvSpPr>
          <p:cNvPr id="285" name="TextBox 284"/>
          <p:cNvSpPr txBox="1"/>
          <p:nvPr/>
        </p:nvSpPr>
        <p:spPr>
          <a:xfrm>
            <a:off x="6382512"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best set per entity; one owner per record</a:t>
            </a:r>
          </a:p>
        </p:txBody>
      </p:sp>
      <p:sp>
        <p:nvSpPr>
          <p:cNvPr id="286" name="Chevron 285"/>
          <p:cNvSpPr/>
          <p:nvPr/>
        </p:nvSpPr>
        <p:spPr>
          <a:xfrm>
            <a:off x="7438644" y="1947672"/>
            <a:ext cx="128016" cy="128016"/>
          </a:xfrm>
          <a:prstGeom prst="chevron">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ounded Rectangle 286"/>
          <p:cNvSpPr/>
          <p:nvPr/>
        </p:nvSpPr>
        <p:spPr>
          <a:xfrm>
            <a:off x="7580376" y="1600200"/>
            <a:ext cx="1024128" cy="822960"/>
          </a:xfrm>
          <a:prstGeom prst="roundRect">
            <a:avLst>
              <a:gd name="adj" fmla="val 8888"/>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Check</a:t>
            </a:r>
          </a:p>
        </p:txBody>
      </p:sp>
      <p:sp>
        <p:nvSpPr>
          <p:cNvPr id="288" name="TextBox 287"/>
          <p:cNvSpPr txBox="1"/>
          <p:nvPr/>
        </p:nvSpPr>
        <p:spPr>
          <a:xfrm>
            <a:off x="7562088" y="2578608"/>
            <a:ext cx="1060704" cy="1097280"/>
          </a:xfrm>
          <a:prstGeom prst="rect">
            <a:avLst/>
          </a:prstGeom>
          <a:noFill/>
        </p:spPr>
        <p:txBody>
          <a:bodyPr wrap="square" lIns="0" rIns="0" tIns="0" bIns="0" anchor="t">
            <a:spAutoFit/>
          </a:bodyPr>
          <a:lstStyle/>
          <a:p>
            <a:pPr algn="ctr"/>
            <a:r>
              <a:rPr sz="1100" b="0">
                <a:solidFill>
                  <a:srgbClr val="161D26"/>
                </a:solidFill>
                <a:latin typeface="Ember Modern Display Standard"/>
              </a:rPr>
              <a:t>rules for known decoys; a 7B model re-checks</a:t>
            </a:r>
          </a:p>
        </p:txBody>
      </p:sp>
      <p:sp>
        <p:nvSpPr>
          <p:cNvPr id="289" name="Rounded Rectangle 288"/>
          <p:cNvSpPr/>
          <p:nvPr/>
        </p:nvSpPr>
        <p:spPr>
          <a:xfrm>
            <a:off x="502920" y="3858768"/>
            <a:ext cx="182880" cy="182880"/>
          </a:xfrm>
          <a:prstGeom prst="roundRect">
            <a:avLst>
              <a:gd name="adj" fmla="val 20000"/>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777240" y="3831336"/>
            <a:ext cx="1005840" cy="274320"/>
          </a:xfrm>
          <a:prstGeom prst="rect">
            <a:avLst/>
          </a:prstGeom>
          <a:noFill/>
        </p:spPr>
        <p:txBody>
          <a:bodyPr wrap="square" lIns="0" rIns="0" tIns="0" bIns="0" anchor="t">
            <a:spAutoFit/>
          </a:bodyPr>
          <a:lstStyle/>
          <a:p>
            <a:pPr algn="l"/>
            <a:r>
              <a:rPr sz="1100" b="0">
                <a:solidFill>
                  <a:srgbClr val="6B7280"/>
                </a:solidFill>
                <a:latin typeface="Ember Modern Display Standard"/>
              </a:rPr>
              <a:t>data</a:t>
            </a:r>
          </a:p>
        </p:txBody>
      </p:sp>
      <p:sp>
        <p:nvSpPr>
          <p:cNvPr id="291" name="Rounded Rectangle 290"/>
          <p:cNvSpPr/>
          <p:nvPr/>
        </p:nvSpPr>
        <p:spPr>
          <a:xfrm>
            <a:off x="1874519" y="3858768"/>
            <a:ext cx="182880" cy="182880"/>
          </a:xfrm>
          <a:prstGeom prst="roundRect">
            <a:avLst>
              <a:gd name="adj" fmla="val 20000"/>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2148839" y="3831336"/>
            <a:ext cx="1005840" cy="274320"/>
          </a:xfrm>
          <a:prstGeom prst="rect">
            <a:avLst/>
          </a:prstGeom>
          <a:noFill/>
        </p:spPr>
        <p:txBody>
          <a:bodyPr wrap="square" lIns="0" rIns="0" tIns="0" bIns="0" anchor="t">
            <a:spAutoFit/>
          </a:bodyPr>
          <a:lstStyle/>
          <a:p>
            <a:pPr algn="l"/>
            <a:r>
              <a:rPr sz="1100" b="0">
                <a:solidFill>
                  <a:srgbClr val="6B7280"/>
                </a:solidFill>
                <a:latin typeface="Ember Modern Display Standard"/>
              </a:rPr>
              <a:t>models</a:t>
            </a:r>
          </a:p>
        </p:txBody>
      </p:sp>
      <p:sp>
        <p:nvSpPr>
          <p:cNvPr id="293" name="Rounded Rectangle 292"/>
          <p:cNvSpPr/>
          <p:nvPr/>
        </p:nvSpPr>
        <p:spPr>
          <a:xfrm>
            <a:off x="3246120" y="3858768"/>
            <a:ext cx="182880" cy="182880"/>
          </a:xfrm>
          <a:prstGeom prst="roundRect">
            <a:avLst>
              <a:gd name="adj" fmla="val 20000"/>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3520439" y="3831336"/>
            <a:ext cx="1005840" cy="274320"/>
          </a:xfrm>
          <a:prstGeom prst="rect">
            <a:avLst/>
          </a:prstGeom>
          <a:noFill/>
        </p:spPr>
        <p:txBody>
          <a:bodyPr wrap="square" lIns="0" rIns="0" tIns="0" bIns="0" anchor="t">
            <a:spAutoFit/>
          </a:bodyPr>
          <a:lstStyle/>
          <a:p>
            <a:pPr algn="l"/>
            <a:r>
              <a:rPr sz="1100" b="0">
                <a:solidFill>
                  <a:srgbClr val="6B7280"/>
                </a:solidFill>
                <a:latin typeface="Ember Modern Display Standard"/>
              </a:rPr>
              <a:t>decisions</a:t>
            </a:r>
          </a:p>
        </p:txBody>
      </p:sp>
      <p:sp>
        <p:nvSpPr>
          <p:cNvPr id="295" name="TextBox 294"/>
          <p:cNvSpPr txBox="1"/>
          <p:nvPr/>
        </p:nvSpPr>
        <p:spPr>
          <a:xfrm>
            <a:off x="4754880" y="3794760"/>
            <a:ext cx="3886200" cy="457200"/>
          </a:xfrm>
          <a:prstGeom prst="rect">
            <a:avLst/>
          </a:prstGeom>
          <a:noFill/>
        </p:spPr>
        <p:txBody>
          <a:bodyPr wrap="square" lIns="0" rIns="0" tIns="0" bIns="0" anchor="t">
            <a:spAutoFit/>
          </a:bodyPr>
          <a:lstStyle/>
          <a:p>
            <a:pPr algn="r"/>
            <a:r>
              <a:rPr sz="1150" b="0">
                <a:solidFill>
                  <a:srgbClr val="161D26"/>
                </a:solidFill>
                <a:latin typeface="Ember Modern Display Standard"/>
              </a:rPr>
              <a:t>Cheap steps read everything; </a:t>
            </a:r>
            <a:r>
              <a:rPr sz="1150" b="1">
                <a:solidFill>
                  <a:srgbClr val="161D26"/>
                </a:solidFill>
                <a:latin typeface="Ember Modern Display Standard"/>
              </a:rPr>
              <a:t>expensive ones only what they must.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271"/>
                                        </p:tgtEl>
                                        <p:attrNameLst>
                                          <p:attrName>style.visibility</p:attrName>
                                        </p:attrNameLst>
                                      </p:cBhvr>
                                      <p:to>
                                        <p:strVal val="visible"/>
                                      </p:to>
                                    </p:set>
                                    <p:animEffect transition="in" filter="fade">
                                      <p:cBhvr>
                                        <p:cTn id="12" dur="450"/>
                                        <p:tgtEl>
                                          <p:spTgt spid="271"/>
                                        </p:tgtEl>
                                      </p:cBhvr>
                                    </p:animEffect>
                                  </p:childTnLst>
                                </p:cTn>
                              </p:par>
                            </p:childTnLst>
                          </p:cTn>
                        </p:par>
                        <p:par>
                          <p:cTn id="2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wipe(left)">
                                      <p:cBhvr>
                                        <p:cTn id="16" dur="500"/>
                                        <p:tgtEl>
                                          <p:spTgt spid="27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fade">
                                      <p:cBhvr>
                                        <p:cTn id="19" dur="45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childTnLst>
                          </p:cTn>
                        </p:par>
                        <p:par>
                          <p:cTn id="33" fill="hold">
                            <p:stCondLst>
                              <p:cond delay="10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500"/>
                                        <p:tgtEl>
                                          <p:spTgt spid="27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6"/>
                                        </p:tgtEl>
                                        <p:attrNameLst>
                                          <p:attrName>style.visibility</p:attrName>
                                        </p:attrNameLst>
                                      </p:cBhvr>
                                      <p:to>
                                        <p:strVal val="visible"/>
                                      </p:to>
                                    </p:set>
                                    <p:animEffect transition="in" filter="fade">
                                      <p:cBhvr>
                                        <p:cTn id="29" dur="450"/>
                                        <p:tgtEl>
                                          <p:spTgt spid="27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childTnLst>
                          </p:cTn>
                        </p:par>
                        <p:par>
                          <p:cTn id="43" fill="hold">
                            <p:stCondLst>
                              <p:cond delay="1500"/>
                            </p:stCondLst>
                            <p:childTnLst>
                              <p:par>
                                <p:cTn id="34" presetID="22" presetClass="entr" presetSubtype="8" fill="hold" grpId="0" nodeType="afterEffect">
                                  <p:stCondLst>
                                    <p:cond delay="0"/>
                                  </p:stCondLst>
                                  <p:childTnLst>
                                    <p:set>
                                      <p:cBhvr>
                                        <p:cTn id="35" dur="1" fill="hold">
                                          <p:stCondLst>
                                            <p:cond delay="0"/>
                                          </p:stCondLst>
                                        </p:cTn>
                                        <p:tgtEl>
                                          <p:spTgt spid="278"/>
                                        </p:tgtEl>
                                        <p:attrNameLst>
                                          <p:attrName>style.visibility</p:attrName>
                                        </p:attrNameLst>
                                      </p:cBhvr>
                                      <p:to>
                                        <p:strVal val="visible"/>
                                      </p:to>
                                    </p:set>
                                    <p:animEffect transition="in" filter="wipe(left)">
                                      <p:cBhvr>
                                        <p:cTn id="36" dur="500"/>
                                        <p:tgtEl>
                                          <p:spTgt spid="27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79"/>
                                        </p:tgtEl>
                                        <p:attrNameLst>
                                          <p:attrName>style.visibility</p:attrName>
                                        </p:attrNameLst>
                                      </p:cBhvr>
                                      <p:to>
                                        <p:strVal val="visible"/>
                                      </p:to>
                                    </p:set>
                                    <p:animEffect transition="in" filter="fade">
                                      <p:cBhvr>
                                        <p:cTn id="39" dur="450"/>
                                        <p:tgtEl>
                                          <p:spTgt spid="27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0"/>
                                        </p:tgtEl>
                                        <p:attrNameLst>
                                          <p:attrName>style.visibility</p:attrName>
                                        </p:attrNameLst>
                                      </p:cBhvr>
                                      <p:to>
                                        <p:strVal val="visible"/>
                                      </p:to>
                                    </p:set>
                                    <p:animEffect transition="in" filter="fade">
                                      <p:cBhvr>
                                        <p:cTn id="42" dur="450"/>
                                        <p:tgtEl>
                                          <p:spTgt spid="280"/>
                                        </p:tgtEl>
                                      </p:cBhvr>
                                    </p:animEffect>
                                  </p:childTnLst>
                                </p:cTn>
                              </p:par>
                            </p:childTnLst>
                          </p:cTn>
                        </p:par>
                        <p:par>
                          <p:cTn id="53" fill="hold">
                            <p:stCondLst>
                              <p:cond delay="2000"/>
                            </p:stCondLst>
                            <p:childTnLst>
                              <p:par>
                                <p:cTn id="44" presetID="22" presetClass="entr" presetSubtype="8" fill="hold" grpId="0" nodeType="afterEffect">
                                  <p:stCondLst>
                                    <p:cond delay="0"/>
                                  </p:stCondLst>
                                  <p:childTnLst>
                                    <p:set>
                                      <p:cBhvr>
                                        <p:cTn id="45" dur="1" fill="hold">
                                          <p:stCondLst>
                                            <p:cond delay="0"/>
                                          </p:stCondLst>
                                        </p:cTn>
                                        <p:tgtEl>
                                          <p:spTgt spid="281"/>
                                        </p:tgtEl>
                                        <p:attrNameLst>
                                          <p:attrName>style.visibility</p:attrName>
                                        </p:attrNameLst>
                                      </p:cBhvr>
                                      <p:to>
                                        <p:strVal val="visible"/>
                                      </p:to>
                                    </p:set>
                                    <p:animEffect transition="in" filter="wipe(left)">
                                      <p:cBhvr>
                                        <p:cTn id="46" dur="500"/>
                                        <p:tgtEl>
                                          <p:spTgt spid="28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2"/>
                                        </p:tgtEl>
                                        <p:attrNameLst>
                                          <p:attrName>style.visibility</p:attrName>
                                        </p:attrNameLst>
                                      </p:cBhvr>
                                      <p:to>
                                        <p:strVal val="visible"/>
                                      </p:to>
                                    </p:set>
                                    <p:animEffect transition="in" filter="fade">
                                      <p:cBhvr>
                                        <p:cTn id="49" dur="450"/>
                                        <p:tgtEl>
                                          <p:spTgt spid="28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3"/>
                                        </p:tgtEl>
                                        <p:attrNameLst>
                                          <p:attrName>style.visibility</p:attrName>
                                        </p:attrNameLst>
                                      </p:cBhvr>
                                      <p:to>
                                        <p:strVal val="visible"/>
                                      </p:to>
                                    </p:set>
                                    <p:animEffect transition="in" filter="fade">
                                      <p:cBhvr>
                                        <p:cTn id="52" dur="450"/>
                                        <p:tgtEl>
                                          <p:spTgt spid="283"/>
                                        </p:tgtEl>
                                      </p:cBhvr>
                                    </p:animEffect>
                                  </p:childTnLst>
                                </p:cTn>
                              </p:par>
                            </p:childTnLst>
                          </p:cTn>
                        </p:par>
                        <p:par>
                          <p:cTn id="63" fill="hold">
                            <p:stCondLst>
                              <p:cond delay="2500"/>
                            </p:stCondLst>
                            <p:childTnLst>
                              <p:par>
                                <p:cTn id="54" presetID="22" presetClass="entr" presetSubtype="8" fill="hold" grpId="0" nodeType="afterEffect">
                                  <p:stCondLst>
                                    <p:cond delay="0"/>
                                  </p:stCondLst>
                                  <p:childTnLst>
                                    <p:set>
                                      <p:cBhvr>
                                        <p:cTn id="55" dur="1" fill="hold">
                                          <p:stCondLst>
                                            <p:cond delay="0"/>
                                          </p:stCondLst>
                                        </p:cTn>
                                        <p:tgtEl>
                                          <p:spTgt spid="284"/>
                                        </p:tgtEl>
                                        <p:attrNameLst>
                                          <p:attrName>style.visibility</p:attrName>
                                        </p:attrNameLst>
                                      </p:cBhvr>
                                      <p:to>
                                        <p:strVal val="visible"/>
                                      </p:to>
                                    </p:set>
                                    <p:animEffect transition="in" filter="wipe(left)">
                                      <p:cBhvr>
                                        <p:cTn id="56" dur="500"/>
                                        <p:tgtEl>
                                          <p:spTgt spid="28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85"/>
                                        </p:tgtEl>
                                        <p:attrNameLst>
                                          <p:attrName>style.visibility</p:attrName>
                                        </p:attrNameLst>
                                      </p:cBhvr>
                                      <p:to>
                                        <p:strVal val="visible"/>
                                      </p:to>
                                    </p:set>
                                    <p:animEffect transition="in" filter="fade">
                                      <p:cBhvr>
                                        <p:cTn id="59" dur="450"/>
                                        <p:tgtEl>
                                          <p:spTgt spid="28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6"/>
                                        </p:tgtEl>
                                        <p:attrNameLst>
                                          <p:attrName>style.visibility</p:attrName>
                                        </p:attrNameLst>
                                      </p:cBhvr>
                                      <p:to>
                                        <p:strVal val="visible"/>
                                      </p:to>
                                    </p:set>
                                    <p:animEffect transition="in" filter="fade">
                                      <p:cBhvr>
                                        <p:cTn id="62" dur="450"/>
                                        <p:tgtEl>
                                          <p:spTgt spid="286"/>
                                        </p:tgtEl>
                                      </p:cBhvr>
                                    </p:animEffect>
                                  </p:childTnLst>
                                </p:cTn>
                              </p:par>
                            </p:childTnLst>
                          </p:cTn>
                        </p:par>
                        <p:par>
                          <p:cTn id="70" fill="hold">
                            <p:stCondLst>
                              <p:cond delay="3000"/>
                            </p:stCondLst>
                            <p:childTnLst>
                              <p:par>
                                <p:cTn id="64" presetID="22" presetClass="entr" presetSubtype="8" fill="hold" grpId="0" nodeType="afterEffect">
                                  <p:stCondLst>
                                    <p:cond delay="0"/>
                                  </p:stCondLst>
                                  <p:childTnLst>
                                    <p:set>
                                      <p:cBhvr>
                                        <p:cTn id="65" dur="1" fill="hold">
                                          <p:stCondLst>
                                            <p:cond delay="0"/>
                                          </p:stCondLst>
                                        </p:cTn>
                                        <p:tgtEl>
                                          <p:spTgt spid="287"/>
                                        </p:tgtEl>
                                        <p:attrNameLst>
                                          <p:attrName>style.visibility</p:attrName>
                                        </p:attrNameLst>
                                      </p:cBhvr>
                                      <p:to>
                                        <p:strVal val="visible"/>
                                      </p:to>
                                    </p:set>
                                    <p:animEffect transition="in" filter="wipe(left)">
                                      <p:cBhvr>
                                        <p:cTn id="66" dur="500"/>
                                        <p:tgtEl>
                                          <p:spTgt spid="28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8"/>
                                        </p:tgtEl>
                                        <p:attrNameLst>
                                          <p:attrName>style.visibility</p:attrName>
                                        </p:attrNameLst>
                                      </p:cBhvr>
                                      <p:to>
                                        <p:strVal val="visible"/>
                                      </p:to>
                                    </p:set>
                                    <p:animEffect transition="in" filter="fade">
                                      <p:cBhvr>
                                        <p:cTn id="69" dur="450"/>
                                        <p:tgtEl>
                                          <p:spTgt spid="288"/>
                                        </p:tgtEl>
                                      </p:cBhvr>
                                    </p:animEffect>
                                  </p:childTnLst>
                                </p:cTn>
                              </p:par>
                            </p:childTnLst>
                          </p:cTn>
                        </p:par>
                        <p:par>
                          <p:cTn id="92" fill="hold">
                            <p:stCondLst>
                              <p:cond delay="3500"/>
                            </p:stCondLst>
                            <p:childTnLst>
                              <p:par>
                                <p:cTn id="71" presetID="10" presetClass="entr" presetSubtype="0" fill="hold" grpId="0" nodeType="afterEffect">
                                  <p:stCondLst>
                                    <p:cond delay="0"/>
                                  </p:stCondLst>
                                  <p:childTnLst>
                                    <p:set>
                                      <p:cBhvr>
                                        <p:cTn id="72" dur="1" fill="hold">
                                          <p:stCondLst>
                                            <p:cond delay="0"/>
                                          </p:stCondLst>
                                        </p:cTn>
                                        <p:tgtEl>
                                          <p:spTgt spid="289"/>
                                        </p:tgtEl>
                                        <p:attrNameLst>
                                          <p:attrName>style.visibility</p:attrName>
                                        </p:attrNameLst>
                                      </p:cBhvr>
                                      <p:to>
                                        <p:strVal val="visible"/>
                                      </p:to>
                                    </p:set>
                                    <p:animEffect transition="in" filter="fade">
                                      <p:cBhvr>
                                        <p:cTn id="73" dur="450"/>
                                        <p:tgtEl>
                                          <p:spTgt spid="28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0"/>
                                        </p:tgtEl>
                                        <p:attrNameLst>
                                          <p:attrName>style.visibility</p:attrName>
                                        </p:attrNameLst>
                                      </p:cBhvr>
                                      <p:to>
                                        <p:strVal val="visible"/>
                                      </p:to>
                                    </p:set>
                                    <p:animEffect transition="in" filter="fade">
                                      <p:cBhvr>
                                        <p:cTn id="76" dur="450"/>
                                        <p:tgtEl>
                                          <p:spTgt spid="29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91"/>
                                        </p:tgtEl>
                                        <p:attrNameLst>
                                          <p:attrName>style.visibility</p:attrName>
                                        </p:attrNameLst>
                                      </p:cBhvr>
                                      <p:to>
                                        <p:strVal val="visible"/>
                                      </p:to>
                                    </p:set>
                                    <p:animEffect transition="in" filter="fade">
                                      <p:cBhvr>
                                        <p:cTn id="79" dur="450"/>
                                        <p:tgtEl>
                                          <p:spTgt spid="29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2"/>
                                        </p:tgtEl>
                                        <p:attrNameLst>
                                          <p:attrName>style.visibility</p:attrName>
                                        </p:attrNameLst>
                                      </p:cBhvr>
                                      <p:to>
                                        <p:strVal val="visible"/>
                                      </p:to>
                                    </p:set>
                                    <p:animEffect transition="in" filter="fade">
                                      <p:cBhvr>
                                        <p:cTn id="82" dur="450"/>
                                        <p:tgtEl>
                                          <p:spTgt spid="29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93"/>
                                        </p:tgtEl>
                                        <p:attrNameLst>
                                          <p:attrName>style.visibility</p:attrName>
                                        </p:attrNameLst>
                                      </p:cBhvr>
                                      <p:to>
                                        <p:strVal val="visible"/>
                                      </p:to>
                                    </p:set>
                                    <p:animEffect transition="in" filter="fade">
                                      <p:cBhvr>
                                        <p:cTn id="85" dur="450"/>
                                        <p:tgtEl>
                                          <p:spTgt spid="29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4"/>
                                        </p:tgtEl>
                                        <p:attrNameLst>
                                          <p:attrName>style.visibility</p:attrName>
                                        </p:attrNameLst>
                                      </p:cBhvr>
                                      <p:to>
                                        <p:strVal val="visible"/>
                                      </p:to>
                                    </p:set>
                                    <p:animEffect transition="in" filter="fade">
                                      <p:cBhvr>
                                        <p:cTn id="88" dur="450"/>
                                        <p:tgtEl>
                                          <p:spTgt spid="29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5"/>
                                        </p:tgtEl>
                                        <p:attrNameLst>
                                          <p:attrName>style.visibility</p:attrName>
                                        </p:attrNameLst>
                                      </p:cBhvr>
                                      <p:to>
                                        <p:strVal val="visible"/>
                                      </p:to>
                                    </p:set>
                                    <p:animEffect transition="in" filter="fade">
                                      <p:cBhvr>
                                        <p:cTn id="91" dur="450"/>
                                        <p:tgtEl>
                                          <p:spTgt spid="2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88" grpId="0" animBg="1"/>
      <p:bldP spid="289" grpId="0" animBg="1"/>
      <p:bldP spid="290" grpId="0" animBg="1"/>
      <p:bldP spid="291" grpId="0" animBg="1"/>
      <p:bldP spid="292" grpId="0" animBg="1"/>
      <p:bldP spid="293" grpId="0" animBg="1"/>
      <p:bldP spid="294" grpId="0" animBg="1"/>
      <p:bldP spid="29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How a Match Is</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Decided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One entity, four candidates: a simple example.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1">
                <a:solidFill>
                  <a:srgbClr val="FF6200"/>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Customer Obsession</a:t>
            </a:r>
          </a:p>
        </p:txBody>
      </p:sp>
      <p:sp>
        <p:nvSpPr>
          <p:cNvPr id="269" name="Rounded Rectangle 268"/>
          <p:cNvSpPr/>
          <p:nvPr/>
        </p:nvSpPr>
        <p:spPr>
          <a:xfrm>
            <a:off x="502920" y="1325880"/>
            <a:ext cx="5577840" cy="566928"/>
          </a:xfrm>
          <a:prstGeom prst="roundRect">
            <a:avLst>
              <a:gd name="adj" fmla="val 12903"/>
            </a:avLst>
          </a:prstGeom>
          <a:solidFill>
            <a:srgbClr val="D6D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85800" y="1325880"/>
            <a:ext cx="5303520" cy="566928"/>
          </a:xfrm>
          <a:prstGeom prst="rect">
            <a:avLst/>
          </a:prstGeom>
          <a:noFill/>
        </p:spPr>
        <p:txBody>
          <a:bodyPr wrap="square" lIns="0" rIns="0" tIns="0" bIns="0" anchor="ctr">
            <a:spAutoFit/>
          </a:bodyPr>
          <a:lstStyle/>
          <a:p>
            <a:pPr algn="l"/>
            <a:r>
              <a:rPr sz="900" b="0">
                <a:solidFill>
                  <a:srgbClr val="6B7280"/>
                </a:solidFill>
                <a:latin typeface="Ember Modern Display Standard"/>
              </a:rPr>
              <a:t>ENTITY   </a:t>
            </a:r>
            <a:r>
              <a:rPr sz="1300" b="1">
                <a:solidFill>
                  <a:srgbClr val="161D26"/>
                </a:solidFill>
                <a:latin typeface="Ember Modern Display Standard"/>
              </a:rPr>
              <a:t>Acme Robotics Inc  ·  500 Market St, San Jose</a:t>
            </a:r>
          </a:p>
        </p:txBody>
      </p:sp>
      <p:sp>
        <p:nvSpPr>
          <p:cNvPr id="271" name="TextBox 270"/>
          <p:cNvSpPr txBox="1"/>
          <p:nvPr/>
        </p:nvSpPr>
        <p:spPr>
          <a:xfrm>
            <a:off x="502920" y="2103120"/>
            <a:ext cx="2834640" cy="411480"/>
          </a:xfrm>
          <a:prstGeom prst="rect">
            <a:avLst/>
          </a:prstGeom>
          <a:noFill/>
        </p:spPr>
        <p:txBody>
          <a:bodyPr wrap="square" lIns="0" rIns="0" tIns="0" bIns="0" anchor="ctr">
            <a:spAutoFit/>
          </a:bodyPr>
          <a:lstStyle/>
          <a:p>
            <a:pPr algn="l"/>
            <a:r>
              <a:rPr sz="1100" b="0">
                <a:solidFill>
                  <a:srgbClr val="161D26"/>
                </a:solidFill>
                <a:latin typeface="Ember Modern Display Standard"/>
              </a:rPr>
              <a:t>Acme Robotics Incorporated · 500 Market Street</a:t>
            </a:r>
          </a:p>
        </p:txBody>
      </p:sp>
      <p:sp>
        <p:nvSpPr>
          <p:cNvPr id="272" name="Rounded Rectangle 271"/>
          <p:cNvSpPr/>
          <p:nvPr/>
        </p:nvSpPr>
        <p:spPr>
          <a:xfrm>
            <a:off x="3429000" y="2212848"/>
            <a:ext cx="201168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ounded Rectangle 272"/>
          <p:cNvSpPr/>
          <p:nvPr/>
        </p:nvSpPr>
        <p:spPr>
          <a:xfrm>
            <a:off x="3429000" y="2212848"/>
            <a:ext cx="1971446" cy="201168"/>
          </a:xfrm>
          <a:prstGeom prst="roundRect">
            <a:avLst>
              <a:gd name="adj" fmla="val 50000"/>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5504688" y="2103120"/>
            <a:ext cx="411480" cy="411480"/>
          </a:xfrm>
          <a:prstGeom prst="rect">
            <a:avLst/>
          </a:prstGeom>
          <a:noFill/>
        </p:spPr>
        <p:txBody>
          <a:bodyPr wrap="square" lIns="0" rIns="0" tIns="0" bIns="0" anchor="ctr">
            <a:spAutoFit/>
          </a:bodyPr>
          <a:lstStyle/>
          <a:p>
            <a:pPr algn="l"/>
            <a:r>
              <a:rPr sz="1100" b="1">
                <a:solidFill>
                  <a:srgbClr val="161D26"/>
                </a:solidFill>
                <a:latin typeface="Ember Modern Display Standard"/>
              </a:rPr>
              <a:t>0.98</a:t>
            </a:r>
          </a:p>
        </p:txBody>
      </p:sp>
      <p:sp>
        <p:nvSpPr>
          <p:cNvPr id="275" name="TextBox 274"/>
          <p:cNvSpPr txBox="1"/>
          <p:nvPr/>
        </p:nvSpPr>
        <p:spPr>
          <a:xfrm>
            <a:off x="5870448" y="2103120"/>
            <a:ext cx="274320" cy="411480"/>
          </a:xfrm>
          <a:prstGeom prst="rect">
            <a:avLst/>
          </a:prstGeom>
          <a:noFill/>
        </p:spPr>
        <p:txBody>
          <a:bodyPr wrap="square" lIns="0" rIns="0" tIns="0" bIns="0" anchor="ctr">
            <a:spAutoFit/>
          </a:bodyPr>
          <a:lstStyle/>
          <a:p>
            <a:pPr algn="l"/>
            <a:r>
              <a:rPr sz="1500" b="1">
                <a:solidFill>
                  <a:srgbClr val="FF6200"/>
                </a:solidFill>
                <a:latin typeface="Ember Modern Display Standard"/>
              </a:rPr>
              <a:t>✓</a:t>
            </a:r>
          </a:p>
        </p:txBody>
      </p:sp>
      <p:sp>
        <p:nvSpPr>
          <p:cNvPr id="276" name="TextBox 275"/>
          <p:cNvSpPr txBox="1"/>
          <p:nvPr/>
        </p:nvSpPr>
        <p:spPr>
          <a:xfrm>
            <a:off x="502920" y="2651760"/>
            <a:ext cx="2834640" cy="411480"/>
          </a:xfrm>
          <a:prstGeom prst="rect">
            <a:avLst/>
          </a:prstGeom>
          <a:noFill/>
        </p:spPr>
        <p:txBody>
          <a:bodyPr wrap="square" lIns="0" rIns="0" tIns="0" bIns="0" anchor="ctr">
            <a:spAutoFit/>
          </a:bodyPr>
          <a:lstStyle/>
          <a:p>
            <a:pPr algn="l"/>
            <a:r>
              <a:rPr sz="1100" b="0">
                <a:solidFill>
                  <a:srgbClr val="161D26"/>
                </a:solidFill>
                <a:latin typeface="Ember Modern Display Standard"/>
              </a:rPr>
              <a:t>Acme Robotics · Nr. City Hall, San Jose</a:t>
            </a:r>
          </a:p>
        </p:txBody>
      </p:sp>
      <p:sp>
        <p:nvSpPr>
          <p:cNvPr id="277" name="Rounded Rectangle 276"/>
          <p:cNvSpPr/>
          <p:nvPr/>
        </p:nvSpPr>
        <p:spPr>
          <a:xfrm>
            <a:off x="3429000" y="2761488"/>
            <a:ext cx="201168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ounded Rectangle 277"/>
          <p:cNvSpPr/>
          <p:nvPr/>
        </p:nvSpPr>
        <p:spPr>
          <a:xfrm>
            <a:off x="3429000" y="2761488"/>
            <a:ext cx="1629460" cy="201168"/>
          </a:xfrm>
          <a:prstGeom prst="roundRect">
            <a:avLst>
              <a:gd name="adj" fmla="val 50000"/>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5504688" y="2651760"/>
            <a:ext cx="411480" cy="411480"/>
          </a:xfrm>
          <a:prstGeom prst="rect">
            <a:avLst/>
          </a:prstGeom>
          <a:noFill/>
        </p:spPr>
        <p:txBody>
          <a:bodyPr wrap="square" lIns="0" rIns="0" tIns="0" bIns="0" anchor="ctr">
            <a:spAutoFit/>
          </a:bodyPr>
          <a:lstStyle/>
          <a:p>
            <a:pPr algn="l"/>
            <a:r>
              <a:rPr sz="1100" b="1">
                <a:solidFill>
                  <a:srgbClr val="161D26"/>
                </a:solidFill>
                <a:latin typeface="Ember Modern Display Standard"/>
              </a:rPr>
              <a:t>0.81</a:t>
            </a:r>
          </a:p>
        </p:txBody>
      </p:sp>
      <p:sp>
        <p:nvSpPr>
          <p:cNvPr id="280" name="TextBox 279"/>
          <p:cNvSpPr txBox="1"/>
          <p:nvPr/>
        </p:nvSpPr>
        <p:spPr>
          <a:xfrm>
            <a:off x="5870448" y="2651760"/>
            <a:ext cx="274320" cy="411480"/>
          </a:xfrm>
          <a:prstGeom prst="rect">
            <a:avLst/>
          </a:prstGeom>
          <a:noFill/>
        </p:spPr>
        <p:txBody>
          <a:bodyPr wrap="square" lIns="0" rIns="0" tIns="0" bIns="0" anchor="ctr">
            <a:spAutoFit/>
          </a:bodyPr>
          <a:lstStyle/>
          <a:p>
            <a:pPr algn="l"/>
            <a:r>
              <a:rPr sz="1500" b="1">
                <a:solidFill>
                  <a:srgbClr val="FF6200"/>
                </a:solidFill>
                <a:latin typeface="Ember Modern Display Standard"/>
              </a:rPr>
              <a:t>✓</a:t>
            </a:r>
          </a:p>
        </p:txBody>
      </p:sp>
      <p:sp>
        <p:nvSpPr>
          <p:cNvPr id="281" name="TextBox 280"/>
          <p:cNvSpPr txBox="1"/>
          <p:nvPr/>
        </p:nvSpPr>
        <p:spPr>
          <a:xfrm>
            <a:off x="502920" y="3200400"/>
            <a:ext cx="2834640" cy="411480"/>
          </a:xfrm>
          <a:prstGeom prst="rect">
            <a:avLst/>
          </a:prstGeom>
          <a:noFill/>
        </p:spPr>
        <p:txBody>
          <a:bodyPr wrap="square" lIns="0" rIns="0" tIns="0" bIns="0" anchor="ctr">
            <a:spAutoFit/>
          </a:bodyPr>
          <a:lstStyle/>
          <a:p>
            <a:pPr algn="l"/>
            <a:r>
              <a:rPr sz="1100" b="0">
                <a:solidFill>
                  <a:srgbClr val="161D26"/>
                </a:solidFill>
                <a:latin typeface="Ember Modern Display Standard"/>
              </a:rPr>
              <a:t>Acme Robotix · 12 Elm Rd</a:t>
            </a:r>
          </a:p>
        </p:txBody>
      </p:sp>
      <p:sp>
        <p:nvSpPr>
          <p:cNvPr id="282" name="Rounded Rectangle 281"/>
          <p:cNvSpPr/>
          <p:nvPr/>
        </p:nvSpPr>
        <p:spPr>
          <a:xfrm>
            <a:off x="3429000" y="3310128"/>
            <a:ext cx="201168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3429000" y="3310128"/>
            <a:ext cx="241401" cy="201168"/>
          </a:xfrm>
          <a:prstGeom prst="roundRect">
            <a:avLst>
              <a:gd name="adj" fmla="val 50000"/>
            </a:avLst>
          </a:prstGeom>
          <a:solidFill>
            <a:srgbClr val="B8C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5504688" y="3200400"/>
            <a:ext cx="411480" cy="411480"/>
          </a:xfrm>
          <a:prstGeom prst="rect">
            <a:avLst/>
          </a:prstGeom>
          <a:noFill/>
        </p:spPr>
        <p:txBody>
          <a:bodyPr wrap="square" lIns="0" rIns="0" tIns="0" bIns="0" anchor="ctr">
            <a:spAutoFit/>
          </a:bodyPr>
          <a:lstStyle/>
          <a:p>
            <a:pPr algn="l"/>
            <a:r>
              <a:rPr sz="1100" b="1">
                <a:solidFill>
                  <a:srgbClr val="161D26"/>
                </a:solidFill>
                <a:latin typeface="Ember Modern Display Standard"/>
              </a:rPr>
              <a:t>0.12</a:t>
            </a:r>
          </a:p>
        </p:txBody>
      </p:sp>
      <p:sp>
        <p:nvSpPr>
          <p:cNvPr id="285" name="TextBox 284"/>
          <p:cNvSpPr txBox="1"/>
          <p:nvPr/>
        </p:nvSpPr>
        <p:spPr>
          <a:xfrm>
            <a:off x="5870448" y="3200400"/>
            <a:ext cx="274320" cy="411480"/>
          </a:xfrm>
          <a:prstGeom prst="rect">
            <a:avLst/>
          </a:prstGeom>
          <a:noFill/>
        </p:spPr>
        <p:txBody>
          <a:bodyPr wrap="square" lIns="0" rIns="0" tIns="0" bIns="0" anchor="ctr">
            <a:spAutoFit/>
          </a:bodyPr>
          <a:lstStyle/>
          <a:p>
            <a:pPr algn="l"/>
            <a:r>
              <a:rPr sz="1500" b="1">
                <a:solidFill>
                  <a:srgbClr val="6B7280"/>
                </a:solidFill>
                <a:latin typeface="Ember Modern Display Standard"/>
              </a:rPr>
              <a:t>✗</a:t>
            </a:r>
          </a:p>
        </p:txBody>
      </p:sp>
      <p:sp>
        <p:nvSpPr>
          <p:cNvPr id="286" name="TextBox 285"/>
          <p:cNvSpPr txBox="1"/>
          <p:nvPr/>
        </p:nvSpPr>
        <p:spPr>
          <a:xfrm>
            <a:off x="502920" y="3749039"/>
            <a:ext cx="2834640" cy="411480"/>
          </a:xfrm>
          <a:prstGeom prst="rect">
            <a:avLst/>
          </a:prstGeom>
          <a:noFill/>
        </p:spPr>
        <p:txBody>
          <a:bodyPr wrap="square" lIns="0" rIns="0" tIns="0" bIns="0" anchor="ctr">
            <a:spAutoFit/>
          </a:bodyPr>
          <a:lstStyle/>
          <a:p>
            <a:pPr algn="l"/>
            <a:r>
              <a:rPr sz="1100" b="0">
                <a:solidFill>
                  <a:srgbClr val="161D26"/>
                </a:solidFill>
                <a:latin typeface="Ember Modern Display Standard"/>
              </a:rPr>
              <a:t>Acme Bakery · 500 Market St</a:t>
            </a:r>
          </a:p>
        </p:txBody>
      </p:sp>
      <p:sp>
        <p:nvSpPr>
          <p:cNvPr id="287" name="Rounded Rectangle 286"/>
          <p:cNvSpPr/>
          <p:nvPr/>
        </p:nvSpPr>
        <p:spPr>
          <a:xfrm>
            <a:off x="3429000" y="3858768"/>
            <a:ext cx="2011680" cy="201168"/>
          </a:xfrm>
          <a:prstGeom prst="roundRect">
            <a:avLst>
              <a:gd name="adj" fmla="val 50000"/>
            </a:avLst>
          </a:prstGeom>
          <a:solidFill>
            <a:srgbClr val="E3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ounded Rectangle 287"/>
          <p:cNvSpPr/>
          <p:nvPr/>
        </p:nvSpPr>
        <p:spPr>
          <a:xfrm>
            <a:off x="3429000" y="3858768"/>
            <a:ext cx="109728" cy="201168"/>
          </a:xfrm>
          <a:prstGeom prst="roundRect">
            <a:avLst>
              <a:gd name="adj" fmla="val 50000"/>
            </a:avLst>
          </a:prstGeom>
          <a:solidFill>
            <a:srgbClr val="B8C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5504688" y="3749039"/>
            <a:ext cx="411480" cy="411480"/>
          </a:xfrm>
          <a:prstGeom prst="rect">
            <a:avLst/>
          </a:prstGeom>
          <a:noFill/>
        </p:spPr>
        <p:txBody>
          <a:bodyPr wrap="square" lIns="0" rIns="0" tIns="0" bIns="0" anchor="ctr">
            <a:spAutoFit/>
          </a:bodyPr>
          <a:lstStyle/>
          <a:p>
            <a:pPr algn="l"/>
            <a:r>
              <a:rPr sz="1100" b="1">
                <a:solidFill>
                  <a:srgbClr val="161D26"/>
                </a:solidFill>
                <a:latin typeface="Ember Modern Display Standard"/>
              </a:rPr>
              <a:t>0.03</a:t>
            </a:r>
          </a:p>
        </p:txBody>
      </p:sp>
      <p:sp>
        <p:nvSpPr>
          <p:cNvPr id="290" name="TextBox 289"/>
          <p:cNvSpPr txBox="1"/>
          <p:nvPr/>
        </p:nvSpPr>
        <p:spPr>
          <a:xfrm>
            <a:off x="5870448" y="3749039"/>
            <a:ext cx="274320" cy="411480"/>
          </a:xfrm>
          <a:prstGeom prst="rect">
            <a:avLst/>
          </a:prstGeom>
          <a:noFill/>
        </p:spPr>
        <p:txBody>
          <a:bodyPr wrap="square" lIns="0" rIns="0" tIns="0" bIns="0" anchor="ctr">
            <a:spAutoFit/>
          </a:bodyPr>
          <a:lstStyle/>
          <a:p>
            <a:pPr algn="l"/>
            <a:r>
              <a:rPr sz="1500" b="1">
                <a:solidFill>
                  <a:srgbClr val="6B7280"/>
                </a:solidFill>
                <a:latin typeface="Ember Modern Display Standard"/>
              </a:rPr>
              <a:t>✗</a:t>
            </a:r>
          </a:p>
        </p:txBody>
      </p:sp>
      <p:sp>
        <p:nvSpPr>
          <p:cNvPr id="291" name="TextBox 290"/>
          <p:cNvSpPr txBox="1"/>
          <p:nvPr/>
        </p:nvSpPr>
        <p:spPr>
          <a:xfrm>
            <a:off x="502920" y="4315968"/>
            <a:ext cx="5577840" cy="228600"/>
          </a:xfrm>
          <a:prstGeom prst="rect">
            <a:avLst/>
          </a:prstGeom>
          <a:noFill/>
        </p:spPr>
        <p:txBody>
          <a:bodyPr wrap="square" lIns="0" rIns="0" tIns="0" bIns="0" anchor="t">
            <a:spAutoFit/>
          </a:bodyPr>
          <a:lstStyle/>
          <a:p>
            <a:pPr algn="l"/>
            <a:r>
              <a:rPr sz="900" b="0">
                <a:solidFill>
                  <a:srgbClr val="6B7280"/>
                </a:solidFill>
                <a:latin typeface="Ember Modern Display Standard"/>
              </a:rPr>
              <a:t>Illustrative probabilities</a:t>
            </a:r>
          </a:p>
        </p:txBody>
      </p:sp>
      <p:sp>
        <p:nvSpPr>
          <p:cNvPr id="292" name="Rounded Rectangle 291"/>
          <p:cNvSpPr/>
          <p:nvPr/>
        </p:nvSpPr>
        <p:spPr>
          <a:xfrm>
            <a:off x="6400800" y="1325880"/>
            <a:ext cx="2240280" cy="3054096"/>
          </a:xfrm>
          <a:prstGeom prst="roundRect">
            <a:avLst>
              <a:gd name="adj" fmla="val 244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6583680" y="15544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1</a:t>
            </a:r>
          </a:p>
        </p:txBody>
      </p:sp>
      <p:sp>
        <p:nvSpPr>
          <p:cNvPr id="294" name="TextBox 293"/>
          <p:cNvSpPr txBox="1"/>
          <p:nvPr/>
        </p:nvSpPr>
        <p:spPr>
          <a:xfrm>
            <a:off x="7040880" y="1536192"/>
            <a:ext cx="1463040" cy="822960"/>
          </a:xfrm>
          <a:prstGeom prst="rect">
            <a:avLst/>
          </a:prstGeom>
          <a:noFill/>
        </p:spPr>
        <p:txBody>
          <a:bodyPr wrap="square" lIns="0" rIns="0" tIns="0" bIns="0" anchor="t">
            <a:spAutoFit/>
          </a:bodyPr>
          <a:lstStyle/>
          <a:p>
            <a:pPr algn="l"/>
            <a:r>
              <a:rPr sz="1150" b="0">
                <a:solidFill>
                  <a:srgbClr val="FFFFFF"/>
                </a:solidFill>
                <a:latin typeface="Ember Modern Display Standard"/>
              </a:rPr>
              <a:t>Score each pair: a calibrated probability</a:t>
            </a:r>
          </a:p>
        </p:txBody>
      </p:sp>
      <p:sp>
        <p:nvSpPr>
          <p:cNvPr id="295" name="Oval 294"/>
          <p:cNvSpPr/>
          <p:nvPr/>
        </p:nvSpPr>
        <p:spPr>
          <a:xfrm>
            <a:off x="6583680" y="24688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2</a:t>
            </a:r>
          </a:p>
        </p:txBody>
      </p:sp>
      <p:sp>
        <p:nvSpPr>
          <p:cNvPr id="296" name="TextBox 295"/>
          <p:cNvSpPr txBox="1"/>
          <p:nvPr/>
        </p:nvSpPr>
        <p:spPr>
          <a:xfrm>
            <a:off x="7040880" y="2450592"/>
            <a:ext cx="1463040" cy="822960"/>
          </a:xfrm>
          <a:prstGeom prst="rect">
            <a:avLst/>
          </a:prstGeom>
          <a:noFill/>
        </p:spPr>
        <p:txBody>
          <a:bodyPr wrap="square" lIns="0" rIns="0" tIns="0" bIns="0" anchor="t">
            <a:spAutoFit/>
          </a:bodyPr>
          <a:lstStyle/>
          <a:p>
            <a:pPr algn="l"/>
            <a:r>
              <a:rPr sz="1150" b="0">
                <a:solidFill>
                  <a:srgbClr val="FFFFFF"/>
                </a:solidFill>
                <a:latin typeface="Ember Modern Display Standard"/>
              </a:rPr>
              <a:t>Add matches while the expected F0.5 goes up</a:t>
            </a:r>
          </a:p>
        </p:txBody>
      </p:sp>
      <p:sp>
        <p:nvSpPr>
          <p:cNvPr id="297" name="Oval 296"/>
          <p:cNvSpPr/>
          <p:nvPr/>
        </p:nvSpPr>
        <p:spPr>
          <a:xfrm>
            <a:off x="6583680" y="3383280"/>
            <a:ext cx="329184" cy="32918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latin typeface="Ember Modern Display Standard"/>
              </a:rPr>
              <a:t>3</a:t>
            </a:r>
          </a:p>
        </p:txBody>
      </p:sp>
      <p:sp>
        <p:nvSpPr>
          <p:cNvPr id="298" name="TextBox 297"/>
          <p:cNvSpPr txBox="1"/>
          <p:nvPr/>
        </p:nvSpPr>
        <p:spPr>
          <a:xfrm>
            <a:off x="7040880" y="3364992"/>
            <a:ext cx="1463040" cy="822960"/>
          </a:xfrm>
          <a:prstGeom prst="rect">
            <a:avLst/>
          </a:prstGeom>
          <a:noFill/>
        </p:spPr>
        <p:txBody>
          <a:bodyPr wrap="square" lIns="0" rIns="0" tIns="0" bIns="0" anchor="t">
            <a:spAutoFit/>
          </a:bodyPr>
          <a:lstStyle/>
          <a:p>
            <a:pPr algn="l"/>
            <a:r>
              <a:rPr sz="1150" b="0">
                <a:solidFill>
                  <a:srgbClr val="FFFFFF"/>
                </a:solidFill>
                <a:latin typeface="Ember Modern Display Standard"/>
              </a:rPr>
              <a:t>Each record goes to one entity only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26"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wipe(left)">
                                      <p:cBhvr>
                                        <p:cTn id="19" dur="500"/>
                                        <p:tgtEl>
                                          <p:spTgt spid="27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4"/>
                                        </p:tgtEl>
                                        <p:attrNameLst>
                                          <p:attrName>style.visibility</p:attrName>
                                        </p:attrNameLst>
                                      </p:cBhvr>
                                      <p:to>
                                        <p:strVal val="visible"/>
                                      </p:to>
                                    </p:set>
                                    <p:animEffect transition="in" filter="fade">
                                      <p:cBhvr>
                                        <p:cTn id="22" dur="450"/>
                                        <p:tgtEl>
                                          <p:spTgt spid="27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5"/>
                                        </p:tgtEl>
                                        <p:attrNameLst>
                                          <p:attrName>style.visibility</p:attrName>
                                        </p:attrNameLst>
                                      </p:cBhvr>
                                      <p:to>
                                        <p:strVal val="visible"/>
                                      </p:to>
                                    </p:set>
                                    <p:animEffect transition="in" filter="fade">
                                      <p:cBhvr>
                                        <p:cTn id="25" dur="450"/>
                                        <p:tgtEl>
                                          <p:spTgt spid="275"/>
                                        </p:tgtEl>
                                      </p:cBhvr>
                                    </p:animEffect>
                                  </p:childTnLst>
                                </p:cTn>
                              </p:par>
                            </p:childTnLst>
                          </p:cTn>
                        </p:par>
                        <p:par>
                          <p:cTn id="42" fill="hold">
                            <p:stCondLst>
                              <p:cond delay="950"/>
                            </p:stCondLst>
                            <p:childTnLst>
                              <p:par>
                                <p:cTn id="27" presetID="10" presetClass="entr" presetSubtype="0" fill="hold" grpId="0" nodeType="afterEffect">
                                  <p:stCondLst>
                                    <p:cond delay="0"/>
                                  </p:stCondLst>
                                  <p:childTnLst>
                                    <p:set>
                                      <p:cBhvr>
                                        <p:cTn id="28" dur="1" fill="hold">
                                          <p:stCondLst>
                                            <p:cond delay="0"/>
                                          </p:stCondLst>
                                        </p:cTn>
                                        <p:tgtEl>
                                          <p:spTgt spid="276"/>
                                        </p:tgtEl>
                                        <p:attrNameLst>
                                          <p:attrName>style.visibility</p:attrName>
                                        </p:attrNameLst>
                                      </p:cBhvr>
                                      <p:to>
                                        <p:strVal val="visible"/>
                                      </p:to>
                                    </p:set>
                                    <p:animEffect transition="in" filter="fade">
                                      <p:cBhvr>
                                        <p:cTn id="29" dur="450"/>
                                        <p:tgtEl>
                                          <p:spTgt spid="27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7"/>
                                        </p:tgtEl>
                                        <p:attrNameLst>
                                          <p:attrName>style.visibility</p:attrName>
                                        </p:attrNameLst>
                                      </p:cBhvr>
                                      <p:to>
                                        <p:strVal val="visible"/>
                                      </p:to>
                                    </p:set>
                                    <p:animEffect transition="in" filter="fade">
                                      <p:cBhvr>
                                        <p:cTn id="32" dur="450"/>
                                        <p:tgtEl>
                                          <p:spTgt spid="277"/>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278"/>
                                        </p:tgtEl>
                                        <p:attrNameLst>
                                          <p:attrName>style.visibility</p:attrName>
                                        </p:attrNameLst>
                                      </p:cBhvr>
                                      <p:to>
                                        <p:strVal val="visible"/>
                                      </p:to>
                                    </p:set>
                                    <p:animEffect transition="in" filter="wipe(left)">
                                      <p:cBhvr>
                                        <p:cTn id="35" dur="500"/>
                                        <p:tgtEl>
                                          <p:spTgt spid="27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79"/>
                                        </p:tgtEl>
                                        <p:attrNameLst>
                                          <p:attrName>style.visibility</p:attrName>
                                        </p:attrNameLst>
                                      </p:cBhvr>
                                      <p:to>
                                        <p:strVal val="visible"/>
                                      </p:to>
                                    </p:set>
                                    <p:animEffect transition="in" filter="fade">
                                      <p:cBhvr>
                                        <p:cTn id="38" dur="450"/>
                                        <p:tgtEl>
                                          <p:spTgt spid="27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80"/>
                                        </p:tgtEl>
                                        <p:attrNameLst>
                                          <p:attrName>style.visibility</p:attrName>
                                        </p:attrNameLst>
                                      </p:cBhvr>
                                      <p:to>
                                        <p:strVal val="visible"/>
                                      </p:to>
                                    </p:set>
                                    <p:animEffect transition="in" filter="fade">
                                      <p:cBhvr>
                                        <p:cTn id="41" dur="450"/>
                                        <p:tgtEl>
                                          <p:spTgt spid="280"/>
                                        </p:tgtEl>
                                      </p:cBhvr>
                                    </p:animEffect>
                                  </p:childTnLst>
                                </p:cTn>
                              </p:par>
                            </p:childTnLst>
                          </p:cTn>
                        </p:par>
                        <p:par>
                          <p:cTn id="58" fill="hold">
                            <p:stCondLst>
                              <p:cond delay="1450"/>
                            </p:stCondLst>
                            <p:childTnLst>
                              <p:par>
                                <p:cTn id="43" presetID="10" presetClass="entr" presetSubtype="0" fill="hold" grpId="0" nodeType="afterEffect">
                                  <p:stCondLst>
                                    <p:cond delay="0"/>
                                  </p:stCondLst>
                                  <p:childTnLst>
                                    <p:set>
                                      <p:cBhvr>
                                        <p:cTn id="44" dur="1" fill="hold">
                                          <p:stCondLst>
                                            <p:cond delay="0"/>
                                          </p:stCondLst>
                                        </p:cTn>
                                        <p:tgtEl>
                                          <p:spTgt spid="281"/>
                                        </p:tgtEl>
                                        <p:attrNameLst>
                                          <p:attrName>style.visibility</p:attrName>
                                        </p:attrNameLst>
                                      </p:cBhvr>
                                      <p:to>
                                        <p:strVal val="visible"/>
                                      </p:to>
                                    </p:set>
                                    <p:animEffect transition="in" filter="fade">
                                      <p:cBhvr>
                                        <p:cTn id="45" dur="450"/>
                                        <p:tgtEl>
                                          <p:spTgt spid="28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82"/>
                                        </p:tgtEl>
                                        <p:attrNameLst>
                                          <p:attrName>style.visibility</p:attrName>
                                        </p:attrNameLst>
                                      </p:cBhvr>
                                      <p:to>
                                        <p:strVal val="visible"/>
                                      </p:to>
                                    </p:set>
                                    <p:animEffect transition="in" filter="fade">
                                      <p:cBhvr>
                                        <p:cTn id="48" dur="450"/>
                                        <p:tgtEl>
                                          <p:spTgt spid="282"/>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83"/>
                                        </p:tgtEl>
                                        <p:attrNameLst>
                                          <p:attrName>style.visibility</p:attrName>
                                        </p:attrNameLst>
                                      </p:cBhvr>
                                      <p:to>
                                        <p:strVal val="visible"/>
                                      </p:to>
                                    </p:set>
                                    <p:animEffect transition="in" filter="wipe(left)">
                                      <p:cBhvr>
                                        <p:cTn id="51" dur="500"/>
                                        <p:tgtEl>
                                          <p:spTgt spid="28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4"/>
                                        </p:tgtEl>
                                        <p:attrNameLst>
                                          <p:attrName>style.visibility</p:attrName>
                                        </p:attrNameLst>
                                      </p:cBhvr>
                                      <p:to>
                                        <p:strVal val="visible"/>
                                      </p:to>
                                    </p:set>
                                    <p:animEffect transition="in" filter="fade">
                                      <p:cBhvr>
                                        <p:cTn id="54" dur="450"/>
                                        <p:tgtEl>
                                          <p:spTgt spid="28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5"/>
                                        </p:tgtEl>
                                        <p:attrNameLst>
                                          <p:attrName>style.visibility</p:attrName>
                                        </p:attrNameLst>
                                      </p:cBhvr>
                                      <p:to>
                                        <p:strVal val="visible"/>
                                      </p:to>
                                    </p:set>
                                    <p:animEffect transition="in" filter="fade">
                                      <p:cBhvr>
                                        <p:cTn id="57" dur="450"/>
                                        <p:tgtEl>
                                          <p:spTgt spid="285"/>
                                        </p:tgtEl>
                                      </p:cBhvr>
                                    </p:animEffect>
                                  </p:childTnLst>
                                </p:cTn>
                              </p:par>
                            </p:childTnLst>
                          </p:cTn>
                        </p:par>
                        <p:par>
                          <p:cTn id="74" fill="hold">
                            <p:stCondLst>
                              <p:cond delay="1950"/>
                            </p:stCondLst>
                            <p:childTnLst>
                              <p:par>
                                <p:cTn id="59" presetID="10" presetClass="entr" presetSubtype="0" fill="hold" grpId="0" nodeType="afterEffect">
                                  <p:stCondLst>
                                    <p:cond delay="0"/>
                                  </p:stCondLst>
                                  <p:childTnLst>
                                    <p:set>
                                      <p:cBhvr>
                                        <p:cTn id="60" dur="1" fill="hold">
                                          <p:stCondLst>
                                            <p:cond delay="0"/>
                                          </p:stCondLst>
                                        </p:cTn>
                                        <p:tgtEl>
                                          <p:spTgt spid="286"/>
                                        </p:tgtEl>
                                        <p:attrNameLst>
                                          <p:attrName>style.visibility</p:attrName>
                                        </p:attrNameLst>
                                      </p:cBhvr>
                                      <p:to>
                                        <p:strVal val="visible"/>
                                      </p:to>
                                    </p:set>
                                    <p:animEffect transition="in" filter="fade">
                                      <p:cBhvr>
                                        <p:cTn id="61" dur="450"/>
                                        <p:tgtEl>
                                          <p:spTgt spid="28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87"/>
                                        </p:tgtEl>
                                        <p:attrNameLst>
                                          <p:attrName>style.visibility</p:attrName>
                                        </p:attrNameLst>
                                      </p:cBhvr>
                                      <p:to>
                                        <p:strVal val="visible"/>
                                      </p:to>
                                    </p:set>
                                    <p:animEffect transition="in" filter="fade">
                                      <p:cBhvr>
                                        <p:cTn id="64" dur="450"/>
                                        <p:tgtEl>
                                          <p:spTgt spid="28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8"/>
                                        </p:tgtEl>
                                        <p:attrNameLst>
                                          <p:attrName>style.visibility</p:attrName>
                                        </p:attrNameLst>
                                      </p:cBhvr>
                                      <p:to>
                                        <p:strVal val="visible"/>
                                      </p:to>
                                    </p:set>
                                    <p:animEffect transition="in" filter="wipe(left)">
                                      <p:cBhvr>
                                        <p:cTn id="67" dur="500"/>
                                        <p:tgtEl>
                                          <p:spTgt spid="28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9"/>
                                        </p:tgtEl>
                                        <p:attrNameLst>
                                          <p:attrName>style.visibility</p:attrName>
                                        </p:attrNameLst>
                                      </p:cBhvr>
                                      <p:to>
                                        <p:strVal val="visible"/>
                                      </p:to>
                                    </p:set>
                                    <p:animEffect transition="in" filter="fade">
                                      <p:cBhvr>
                                        <p:cTn id="70" dur="450"/>
                                        <p:tgtEl>
                                          <p:spTgt spid="28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90"/>
                                        </p:tgtEl>
                                        <p:attrNameLst>
                                          <p:attrName>style.visibility</p:attrName>
                                        </p:attrNameLst>
                                      </p:cBhvr>
                                      <p:to>
                                        <p:strVal val="visible"/>
                                      </p:to>
                                    </p:set>
                                    <p:animEffect transition="in" filter="fade">
                                      <p:cBhvr>
                                        <p:cTn id="73" dur="450"/>
                                        <p:tgtEl>
                                          <p:spTgt spid="290"/>
                                        </p:tgtEl>
                                      </p:cBhvr>
                                    </p:animEffect>
                                  </p:childTnLst>
                                </p:cTn>
                              </p:par>
                            </p:childTnLst>
                          </p:cTn>
                        </p:par>
                        <p:par>
                          <p:cTn id="78" fill="hold">
                            <p:stCondLst>
                              <p:cond delay="2450"/>
                            </p:stCondLst>
                            <p:childTnLst>
                              <p:par>
                                <p:cTn id="75" presetID="10" presetClass="entr" presetSubtype="0" fill="hold" grpId="0" nodeType="afterEffect">
                                  <p:stCondLst>
                                    <p:cond delay="0"/>
                                  </p:stCondLst>
                                  <p:childTnLst>
                                    <p:set>
                                      <p:cBhvr>
                                        <p:cTn id="76" dur="1" fill="hold">
                                          <p:stCondLst>
                                            <p:cond delay="0"/>
                                          </p:stCondLst>
                                        </p:cTn>
                                        <p:tgtEl>
                                          <p:spTgt spid="291"/>
                                        </p:tgtEl>
                                        <p:attrNameLst>
                                          <p:attrName>style.visibility</p:attrName>
                                        </p:attrNameLst>
                                      </p:cBhvr>
                                      <p:to>
                                        <p:strVal val="visible"/>
                                      </p:to>
                                    </p:set>
                                    <p:animEffect transition="in" filter="fade">
                                      <p:cBhvr>
                                        <p:cTn id="77" dur="450"/>
                                        <p:tgtEl>
                                          <p:spTgt spid="291"/>
                                        </p:tgtEl>
                                      </p:cBhvr>
                                    </p:animEffect>
                                  </p:childTnLst>
                                </p:cTn>
                              </p:par>
                            </p:childTnLst>
                          </p:cTn>
                        </p:par>
                        <p:par>
                          <p:cTn id="100" fill="hold">
                            <p:stCondLst>
                              <p:cond delay="2900"/>
                            </p:stCondLst>
                            <p:childTnLst>
                              <p:par>
                                <p:cTn id="79" presetID="10" presetClass="entr" presetSubtype="0" fill="hold" grpId="0" nodeType="afterEffect">
                                  <p:stCondLst>
                                    <p:cond delay="0"/>
                                  </p:stCondLst>
                                  <p:childTnLst>
                                    <p:set>
                                      <p:cBhvr>
                                        <p:cTn id="80" dur="1" fill="hold">
                                          <p:stCondLst>
                                            <p:cond delay="0"/>
                                          </p:stCondLst>
                                        </p:cTn>
                                        <p:tgtEl>
                                          <p:spTgt spid="292"/>
                                        </p:tgtEl>
                                        <p:attrNameLst>
                                          <p:attrName>style.visibility</p:attrName>
                                        </p:attrNameLst>
                                      </p:cBhvr>
                                      <p:to>
                                        <p:strVal val="visible"/>
                                      </p:to>
                                    </p:set>
                                    <p:animEffect transition="in" filter="fade">
                                      <p:cBhvr>
                                        <p:cTn id="81" dur="450"/>
                                        <p:tgtEl>
                                          <p:spTgt spid="29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3"/>
                                        </p:tgtEl>
                                        <p:attrNameLst>
                                          <p:attrName>style.visibility</p:attrName>
                                        </p:attrNameLst>
                                      </p:cBhvr>
                                      <p:to>
                                        <p:strVal val="visible"/>
                                      </p:to>
                                    </p:set>
                                    <p:animEffect transition="in" filter="fade">
                                      <p:cBhvr>
                                        <p:cTn id="84" dur="450"/>
                                        <p:tgtEl>
                                          <p:spTgt spid="29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4"/>
                                        </p:tgtEl>
                                        <p:attrNameLst>
                                          <p:attrName>style.visibility</p:attrName>
                                        </p:attrNameLst>
                                      </p:cBhvr>
                                      <p:to>
                                        <p:strVal val="visible"/>
                                      </p:to>
                                    </p:set>
                                    <p:animEffect transition="in" filter="fade">
                                      <p:cBhvr>
                                        <p:cTn id="87" dur="450"/>
                                        <p:tgtEl>
                                          <p:spTgt spid="29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5"/>
                                        </p:tgtEl>
                                        <p:attrNameLst>
                                          <p:attrName>style.visibility</p:attrName>
                                        </p:attrNameLst>
                                      </p:cBhvr>
                                      <p:to>
                                        <p:strVal val="visible"/>
                                      </p:to>
                                    </p:set>
                                    <p:animEffect transition="in" filter="fade">
                                      <p:cBhvr>
                                        <p:cTn id="90" dur="450"/>
                                        <p:tgtEl>
                                          <p:spTgt spid="29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96"/>
                                        </p:tgtEl>
                                        <p:attrNameLst>
                                          <p:attrName>style.visibility</p:attrName>
                                        </p:attrNameLst>
                                      </p:cBhvr>
                                      <p:to>
                                        <p:strVal val="visible"/>
                                      </p:to>
                                    </p:set>
                                    <p:animEffect transition="in" filter="fade">
                                      <p:cBhvr>
                                        <p:cTn id="93" dur="450"/>
                                        <p:tgtEl>
                                          <p:spTgt spid="29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7"/>
                                        </p:tgtEl>
                                        <p:attrNameLst>
                                          <p:attrName>style.visibility</p:attrName>
                                        </p:attrNameLst>
                                      </p:cBhvr>
                                      <p:to>
                                        <p:strVal val="visible"/>
                                      </p:to>
                                    </p:set>
                                    <p:animEffect transition="in" filter="fade">
                                      <p:cBhvr>
                                        <p:cTn id="96" dur="450"/>
                                        <p:tgtEl>
                                          <p:spTgt spid="29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8"/>
                                        </p:tgtEl>
                                        <p:attrNameLst>
                                          <p:attrName>style.visibility</p:attrName>
                                        </p:attrNameLst>
                                      </p:cBhvr>
                                      <p:to>
                                        <p:strVal val="visible"/>
                                      </p:to>
                                    </p:set>
                                    <p:animEffect transition="in" filter="fade">
                                      <p:cBhvr>
                                        <p:cTn id="99" dur="450"/>
                                        <p:tgtEl>
                                          <p:spTgt spid="2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88" grpId="0" animBg="1"/>
      <p:bldP spid="289" grpId="0" animBg="1"/>
      <p:bldP spid="290" grpId="0" animBg="1"/>
      <p:bldP spid="291" grpId="0" animBg="1"/>
      <p:bldP spid="292" grpId="0" animBg="1"/>
      <p:bldP spid="293" grpId="0" animBg="1"/>
      <p:bldP spid="294" grpId="0" animBg="1"/>
      <p:bldP spid="295" grpId="0" animBg="1"/>
      <p:bldP spid="296" grpId="0" animBg="1"/>
      <p:bldP spid="297" grpId="0" animBg="1"/>
      <p:bldP spid="29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 Leaderboard</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Talked Back</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Our first scores showed a gap our validation could not see.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1">
                <a:solidFill>
                  <a:srgbClr val="FF6200"/>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Insist on the Highest Standards</a:t>
            </a:r>
          </a:p>
        </p:txBody>
      </p:sp>
      <p:sp>
        <p:nvSpPr>
          <p:cNvPr id="269" name="TextBox 268"/>
          <p:cNvSpPr txBox="1"/>
          <p:nvPr/>
        </p:nvSpPr>
        <p:spPr>
          <a:xfrm>
            <a:off x="502920" y="1325880"/>
            <a:ext cx="3840480" cy="274320"/>
          </a:xfrm>
          <a:prstGeom prst="rect">
            <a:avLst/>
          </a:prstGeom>
          <a:noFill/>
        </p:spPr>
        <p:txBody>
          <a:bodyPr wrap="square" lIns="0" rIns="0" tIns="0" bIns="0" anchor="t">
            <a:spAutoFit/>
          </a:bodyPr>
          <a:lstStyle/>
          <a:p>
            <a:pPr algn="l"/>
            <a:r>
              <a:rPr sz="1200" b="1">
                <a:solidFill>
                  <a:srgbClr val="6B7280"/>
                </a:solidFill>
                <a:latin typeface="Ember Modern Display Standard"/>
              </a:rPr>
              <a:t>Our first scores</a:t>
            </a:r>
          </a:p>
        </p:txBody>
      </p:sp>
      <p:graphicFrame>
        <p:nvGraphicFramePr>
          <p:cNvPr id="270" name="Chart 269"/>
          <p:cNvGraphicFramePr>
            <a:graphicFrameLocks noGrp="1"/>
          </p:cNvGraphicFramePr>
          <p:nvPr/>
        </p:nvGraphicFramePr>
        <p:xfrm>
          <a:off x="411480" y="1554480"/>
          <a:ext cx="3931920" cy="2331720"/>
        </p:xfrm>
        <a:graphic>
          <a:graphicData uri="http://schemas.openxmlformats.org/drawingml/2006/chart">
            <c:chart xmlns:c="http://schemas.openxmlformats.org/drawingml/2006/chart" r:id="rId2"/>
          </a:graphicData>
        </a:graphic>
      </p:graphicFrame>
      <p:sp>
        <p:nvSpPr>
          <p:cNvPr id="271" name="TextBox 270"/>
          <p:cNvSpPr txBox="1"/>
          <p:nvPr/>
        </p:nvSpPr>
        <p:spPr>
          <a:xfrm>
            <a:off x="4709160" y="1325880"/>
            <a:ext cx="3931920" cy="274320"/>
          </a:xfrm>
          <a:prstGeom prst="rect">
            <a:avLst/>
          </a:prstGeom>
          <a:noFill/>
        </p:spPr>
        <p:txBody>
          <a:bodyPr wrap="square" lIns="0" rIns="0" tIns="0" bIns="0" anchor="t">
            <a:spAutoFit/>
          </a:bodyPr>
          <a:lstStyle/>
          <a:p>
            <a:pPr algn="l"/>
            <a:r>
              <a:rPr sz="1200" b="1">
                <a:solidFill>
                  <a:srgbClr val="6B7280"/>
                </a:solidFill>
                <a:latin typeface="Ember Modern Display Standard"/>
              </a:rPr>
              <a:t>By country (estimated)</a:t>
            </a:r>
          </a:p>
        </p:txBody>
      </p:sp>
      <p:graphicFrame>
        <p:nvGraphicFramePr>
          <p:cNvPr id="272" name="Chart 271"/>
          <p:cNvGraphicFramePr>
            <a:graphicFrameLocks noGrp="1"/>
          </p:cNvGraphicFramePr>
          <p:nvPr/>
        </p:nvGraphicFramePr>
        <p:xfrm>
          <a:off x="4617720" y="1554480"/>
          <a:ext cx="4023360" cy="2331720"/>
        </p:xfrm>
        <a:graphic>
          <a:graphicData uri="http://schemas.openxmlformats.org/drawingml/2006/chart">
            <c:chart xmlns:c="http://schemas.openxmlformats.org/drawingml/2006/chart" r:id="rId4"/>
          </a:graphicData>
        </a:graphic>
      </p:graphicFrame>
      <p:sp>
        <p:nvSpPr>
          <p:cNvPr id="273" name="TextBox 272"/>
          <p:cNvSpPr txBox="1"/>
          <p:nvPr/>
        </p:nvSpPr>
        <p:spPr>
          <a:xfrm>
            <a:off x="502920" y="4041648"/>
            <a:ext cx="8138160" cy="320040"/>
          </a:xfrm>
          <a:prstGeom prst="rect">
            <a:avLst/>
          </a:prstGeom>
          <a:noFill/>
        </p:spPr>
        <p:txBody>
          <a:bodyPr wrap="square" lIns="0" rIns="0" tIns="0" bIns="0" anchor="t">
            <a:spAutoFit/>
          </a:bodyPr>
          <a:lstStyle/>
          <a:p>
            <a:pPr algn="l"/>
            <a:r>
              <a:rPr sz="1250" b="0">
                <a:solidFill>
                  <a:srgbClr val="161D26"/>
                </a:solidFill>
                <a:latin typeface="Ember Modern Display Standard"/>
              </a:rPr>
              <a:t>We ruled out bugs, split the gap by country, then </a:t>
            </a:r>
            <a:r>
              <a:rPr sz="1250" b="1">
                <a:solidFill>
                  <a:srgbClr val="161D26"/>
                </a:solidFill>
                <a:latin typeface="Ember Modern Display Standard"/>
              </a:rPr>
              <a:t>read the French errors by hand.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1"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Graphic spid="270" grpId="0">
        <p:bldAsOne/>
      </p:bldGraphic>
      <p:bldP spid="271" grpId="0" animBg="1"/>
      <p:bldGraphic spid="272" grpId="0">
        <p:bldAsOne/>
      </p:bldGraphic>
      <p:bldP spid="27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A Country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Never Saw</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France had no labels, so we let the data teach us, with guards.</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1">
                <a:solidFill>
                  <a:srgbClr val="FF6200"/>
                </a:solidFill>
                <a:latin typeface="Ember Modern Display Standard"/>
              </a:rPr>
              <a:t>03 Feedback</a:t>
            </a:r>
            <a:r>
              <a:rPr sz="850" b="0">
                <a:solidFill>
                  <a:srgbClr val="161D26"/>
                </a:solidFill>
                <a:latin typeface="Ember Modern Display Standard"/>
              </a:rPr>
              <a:t>    </a:t>
            </a:r>
            <a:r>
              <a:rPr sz="850" b="0">
                <a:solidFill>
                  <a:srgbClr val="B8C0CC"/>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Are Right, A Lot</a:t>
            </a:r>
          </a:p>
        </p:txBody>
      </p:sp>
      <p:sp>
        <p:nvSpPr>
          <p:cNvPr id="269" name="Oval 268"/>
          <p:cNvSpPr/>
          <p:nvPr/>
        </p:nvSpPr>
        <p:spPr>
          <a:xfrm>
            <a:off x="502920" y="141732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1</a:t>
            </a:r>
          </a:p>
        </p:txBody>
      </p:sp>
      <p:sp>
        <p:nvSpPr>
          <p:cNvPr id="270" name="TextBox 269"/>
          <p:cNvSpPr txBox="1"/>
          <p:nvPr/>
        </p:nvSpPr>
        <p:spPr>
          <a:xfrm>
            <a:off x="1097280" y="1399032"/>
            <a:ext cx="4023360" cy="777240"/>
          </a:xfrm>
          <a:prstGeom prst="rect">
            <a:avLst/>
          </a:prstGeom>
          <a:noFill/>
        </p:spPr>
        <p:txBody>
          <a:bodyPr wrap="square" lIns="0" rIns="0" tIns="0" bIns="0" anchor="t">
            <a:spAutoFit/>
          </a:bodyPr>
          <a:lstStyle/>
          <a:p>
            <a:pPr algn="l"/>
            <a:r>
              <a:rPr sz="1500" b="1">
                <a:solidFill>
                  <a:srgbClr val="161D26"/>
                </a:solidFill>
                <a:latin typeface="Ember Modern Display Standard"/>
              </a:rPr>
              <a:t>Learn its words</a:t>
            </a:r>
          </a:p>
          <a:p>
            <a:pPr algn="l"/>
            <a:r>
              <a:rPr sz="1200" b="0">
                <a:solidFill>
                  <a:srgbClr val="161D26"/>
                </a:solidFill>
                <a:latin typeface="Ember Modern Display Standard"/>
              </a:rPr>
              <a:t>word statistics, without labels</a:t>
            </a:r>
          </a:p>
        </p:txBody>
      </p:sp>
      <p:sp>
        <p:nvSpPr>
          <p:cNvPr id="271" name="Oval 270"/>
          <p:cNvSpPr/>
          <p:nvPr/>
        </p:nvSpPr>
        <p:spPr>
          <a:xfrm>
            <a:off x="502920" y="228600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2</a:t>
            </a:r>
          </a:p>
        </p:txBody>
      </p:sp>
      <p:sp>
        <p:nvSpPr>
          <p:cNvPr id="272" name="TextBox 271"/>
          <p:cNvSpPr txBox="1"/>
          <p:nvPr/>
        </p:nvSpPr>
        <p:spPr>
          <a:xfrm>
            <a:off x="1097280" y="2267712"/>
            <a:ext cx="4023360" cy="777240"/>
          </a:xfrm>
          <a:prstGeom prst="rect">
            <a:avLst/>
          </a:prstGeom>
          <a:noFill/>
        </p:spPr>
        <p:txBody>
          <a:bodyPr wrap="square" lIns="0" rIns="0" tIns="0" bIns="0" anchor="t">
            <a:spAutoFit/>
          </a:bodyPr>
          <a:lstStyle/>
          <a:p>
            <a:pPr algn="l"/>
            <a:r>
              <a:rPr sz="1500" b="1">
                <a:solidFill>
                  <a:srgbClr val="161D26"/>
                </a:solidFill>
                <a:latin typeface="Ember Modern Display Standard"/>
              </a:rPr>
              <a:t>Teach itself</a:t>
            </a:r>
          </a:p>
          <a:p>
            <a:pPr algn="l"/>
            <a:r>
              <a:rPr sz="1200" b="0">
                <a:solidFill>
                  <a:srgbClr val="161D26"/>
                </a:solidFill>
                <a:latin typeface="Ember Modern Display Standard"/>
              </a:rPr>
              <a:t>learn from its own confident answers, cross-checked</a:t>
            </a:r>
          </a:p>
        </p:txBody>
      </p:sp>
      <p:sp>
        <p:nvSpPr>
          <p:cNvPr id="273" name="Oval 272"/>
          <p:cNvSpPr/>
          <p:nvPr/>
        </p:nvSpPr>
        <p:spPr>
          <a:xfrm>
            <a:off x="502920" y="3154680"/>
            <a:ext cx="420624" cy="420624"/>
          </a:xfrm>
          <a:prstGeom prst="ellipse">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400" b="1">
                <a:solidFill>
                  <a:srgbClr val="FFFFFF"/>
                </a:solidFill>
                <a:latin typeface="Ember Modern Display Standard"/>
              </a:rPr>
              <a:t>3</a:t>
            </a:r>
          </a:p>
        </p:txBody>
      </p:sp>
      <p:sp>
        <p:nvSpPr>
          <p:cNvPr id="274" name="TextBox 273"/>
          <p:cNvSpPr txBox="1"/>
          <p:nvPr/>
        </p:nvSpPr>
        <p:spPr>
          <a:xfrm>
            <a:off x="1097280" y="3136392"/>
            <a:ext cx="4023360" cy="777240"/>
          </a:xfrm>
          <a:prstGeom prst="rect">
            <a:avLst/>
          </a:prstGeom>
          <a:noFill/>
        </p:spPr>
        <p:txBody>
          <a:bodyPr wrap="square" lIns="0" rIns="0" tIns="0" bIns="0" anchor="t">
            <a:spAutoFit/>
          </a:bodyPr>
          <a:lstStyle/>
          <a:p>
            <a:pPr algn="l"/>
            <a:r>
              <a:rPr sz="1500" b="1">
                <a:solidFill>
                  <a:srgbClr val="161D26"/>
                </a:solidFill>
                <a:latin typeface="Ember Modern Display Standard"/>
              </a:rPr>
              <a:t>Second opinion</a:t>
            </a:r>
          </a:p>
          <a:p>
            <a:pPr algn="l"/>
            <a:r>
              <a:rPr sz="1200" b="0">
                <a:solidFill>
                  <a:srgbClr val="161D26"/>
                </a:solidFill>
                <a:latin typeface="Ember Modern Display Standard"/>
              </a:rPr>
              <a:t>different models vote; a 7B re-checks</a:t>
            </a:r>
          </a:p>
        </p:txBody>
      </p:sp>
      <p:sp>
        <p:nvSpPr>
          <p:cNvPr id="275" name="TextBox 274"/>
          <p:cNvSpPr txBox="1"/>
          <p:nvPr/>
        </p:nvSpPr>
        <p:spPr>
          <a:xfrm>
            <a:off x="502920" y="4069080"/>
            <a:ext cx="4754880" cy="274320"/>
          </a:xfrm>
          <a:prstGeom prst="rect">
            <a:avLst/>
          </a:prstGeom>
          <a:noFill/>
        </p:spPr>
        <p:txBody>
          <a:bodyPr wrap="square" lIns="0" rIns="0" tIns="0" bIns="0" anchor="t">
            <a:spAutoFit/>
          </a:bodyPr>
          <a:lstStyle/>
          <a:p>
            <a:pPr algn="l"/>
            <a:r>
              <a:rPr sz="1200" b="1">
                <a:solidFill>
                  <a:srgbClr val="6B7280"/>
                </a:solidFill>
                <a:latin typeface="Ember Modern Display Standard"/>
              </a:rPr>
              <a:t>Honestly: </a:t>
            </a:r>
            <a:r>
              <a:rPr sz="1200" b="0">
                <a:solidFill>
                  <a:srgbClr val="6B7280"/>
                </a:solidFill>
                <a:latin typeface="Ember Modern Display Standard"/>
              </a:rPr>
              <a:t>self-training failed twice before it worked.</a:t>
            </a:r>
          </a:p>
        </p:txBody>
      </p:sp>
      <p:sp>
        <p:nvSpPr>
          <p:cNvPr id="276" name="TextBox 275"/>
          <p:cNvSpPr txBox="1"/>
          <p:nvPr/>
        </p:nvSpPr>
        <p:spPr>
          <a:xfrm>
            <a:off x="5623560" y="1325880"/>
            <a:ext cx="3017520" cy="274320"/>
          </a:xfrm>
          <a:prstGeom prst="rect">
            <a:avLst/>
          </a:prstGeom>
          <a:noFill/>
        </p:spPr>
        <p:txBody>
          <a:bodyPr wrap="square" lIns="0" rIns="0" tIns="0" bIns="0" anchor="t">
            <a:spAutoFit/>
          </a:bodyPr>
          <a:lstStyle/>
          <a:p>
            <a:pPr algn="l"/>
            <a:r>
              <a:rPr sz="1200" b="1">
                <a:solidFill>
                  <a:srgbClr val="6B7280"/>
                </a:solidFill>
                <a:latin typeface="Ember Modern Display Standard"/>
              </a:rPr>
              <a:t>France (estimated)</a:t>
            </a:r>
          </a:p>
        </p:txBody>
      </p:sp>
      <p:graphicFrame>
        <p:nvGraphicFramePr>
          <p:cNvPr id="277" name="Chart 276"/>
          <p:cNvGraphicFramePr>
            <a:graphicFrameLocks noGrp="1"/>
          </p:cNvGraphicFramePr>
          <p:nvPr/>
        </p:nvGraphicFramePr>
        <p:xfrm>
          <a:off x="5532120" y="1554480"/>
          <a:ext cx="3108960" cy="2423160"/>
        </p:xfrm>
        <a:graphic>
          <a:graphicData uri="http://schemas.openxmlformats.org/drawingml/2006/chart">
            <c:chart xmlns:c="http://schemas.openxmlformats.org/drawingml/2006/chart" r:id="rId2"/>
          </a:graphicData>
        </a:graphic>
      </p:graphicFrame>
      <p:sp>
        <p:nvSpPr>
          <p:cNvPr id="278" name="TextBox 277"/>
          <p:cNvSpPr txBox="1"/>
          <p:nvPr/>
        </p:nvSpPr>
        <p:spPr>
          <a:xfrm>
            <a:off x="5623560" y="4041648"/>
            <a:ext cx="3017520" cy="320040"/>
          </a:xfrm>
          <a:prstGeom prst="rect">
            <a:avLst/>
          </a:prstGeom>
          <a:noFill/>
        </p:spPr>
        <p:txBody>
          <a:bodyPr wrap="square" lIns="0" rIns="0" tIns="0" bIns="0" anchor="t">
            <a:spAutoFit/>
          </a:bodyPr>
          <a:lstStyle/>
          <a:p>
            <a:pPr algn="ctr"/>
            <a:r>
              <a:rPr sz="1000" b="0">
                <a:solidFill>
                  <a:srgbClr val="6B7280"/>
                </a:solidFill>
                <a:latin typeface="Ember Modern Display Standard"/>
              </a:rPr>
              <a:t>never measured directly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7"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childTnLst>
                          </p:cTn>
                        </p:par>
                        <p:par>
                          <p:cTn id="24" fill="hold">
                            <p:stCondLst>
                              <p:cond delay="900"/>
                            </p:stCondLst>
                            <p:childTnLst>
                              <p:par>
                                <p:cTn id="18" presetID="10" presetClass="entr" presetSubtype="0" fill="hold" grpId="0" nodeType="afterEffect">
                                  <p:stCondLst>
                                    <p:cond delay="0"/>
                                  </p:stCondLst>
                                  <p:childTnLst>
                                    <p:set>
                                      <p:cBhvr>
                                        <p:cTn id="19" dur="1" fill="hold">
                                          <p:stCondLst>
                                            <p:cond delay="0"/>
                                          </p:stCondLst>
                                        </p:cTn>
                                        <p:tgtEl>
                                          <p:spTgt spid="273"/>
                                        </p:tgtEl>
                                        <p:attrNameLst>
                                          <p:attrName>style.visibility</p:attrName>
                                        </p:attrNameLst>
                                      </p:cBhvr>
                                      <p:to>
                                        <p:strVal val="visible"/>
                                      </p:to>
                                    </p:set>
                                    <p:animEffect transition="in" filter="fade">
                                      <p:cBhvr>
                                        <p:cTn id="20" dur="450"/>
                                        <p:tgtEl>
                                          <p:spTgt spid="27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childTnLst>
                          </p:cTn>
                        </p:par>
                        <p:par>
                          <p:cTn id="28" fill="hold">
                            <p:stCondLst>
                              <p:cond delay="1350"/>
                            </p:stCondLst>
                            <p:childTnLst>
                              <p:par>
                                <p:cTn id="25" presetID="10" presetClass="entr" presetSubtype="0" fill="hold" grpId="0" nodeType="afterEffect">
                                  <p:stCondLst>
                                    <p:cond delay="0"/>
                                  </p:stCondLst>
                                  <p:childTnLst>
                                    <p:set>
                                      <p:cBhvr>
                                        <p:cTn id="26" dur="1" fill="hold">
                                          <p:stCondLst>
                                            <p:cond delay="0"/>
                                          </p:stCondLst>
                                        </p:cTn>
                                        <p:tgtEl>
                                          <p:spTgt spid="275"/>
                                        </p:tgtEl>
                                        <p:attrNameLst>
                                          <p:attrName>style.visibility</p:attrName>
                                        </p:attrNameLst>
                                      </p:cBhvr>
                                      <p:to>
                                        <p:strVal val="visible"/>
                                      </p:to>
                                    </p:set>
                                    <p:animEffect transition="in" filter="fade">
                                      <p:cBhvr>
                                        <p:cTn id="27" dur="450"/>
                                        <p:tgtEl>
                                          <p:spTgt spid="275"/>
                                        </p:tgtEl>
                                      </p:cBhvr>
                                    </p:animEffect>
                                  </p:childTnLst>
                                </p:cTn>
                              </p:par>
                            </p:childTnLst>
                          </p:cTn>
                        </p:par>
                        <p:par>
                          <p:cTn id="38" fill="hold">
                            <p:stCondLst>
                              <p:cond delay="1800"/>
                            </p:stCondLst>
                            <p:childTnLst>
                              <p:par>
                                <p:cTn id="29" presetID="10" presetClass="entr" presetSubtype="0" fill="hold" grpId="0" nodeType="afterEffect">
                                  <p:stCondLst>
                                    <p:cond delay="0"/>
                                  </p:stCondLst>
                                  <p:childTnLst>
                                    <p:set>
                                      <p:cBhvr>
                                        <p:cTn id="30" dur="1" fill="hold">
                                          <p:stCondLst>
                                            <p:cond delay="0"/>
                                          </p:stCondLst>
                                        </p:cTn>
                                        <p:tgtEl>
                                          <p:spTgt spid="276"/>
                                        </p:tgtEl>
                                        <p:attrNameLst>
                                          <p:attrName>style.visibility</p:attrName>
                                        </p:attrNameLst>
                                      </p:cBhvr>
                                      <p:to>
                                        <p:strVal val="visible"/>
                                      </p:to>
                                    </p:set>
                                    <p:animEffect transition="in" filter="fade">
                                      <p:cBhvr>
                                        <p:cTn id="31" dur="450"/>
                                        <p:tgtEl>
                                          <p:spTgt spid="27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7"/>
                                        </p:tgtEl>
                                        <p:attrNameLst>
                                          <p:attrName>style.visibility</p:attrName>
                                        </p:attrNameLst>
                                      </p:cBhvr>
                                      <p:to>
                                        <p:strVal val="visible"/>
                                      </p:to>
                                    </p:set>
                                    <p:animEffect transition="in" filter="fade">
                                      <p:cBhvr>
                                        <p:cTn id="34" dur="450"/>
                                        <p:tgtEl>
                                          <p:spTgt spid="27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4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1" grpId="0" animBg="1"/>
      <p:bldP spid="272" grpId="0" animBg="1"/>
      <p:bldP spid="273" grpId="0" animBg="1"/>
      <p:bldP spid="274" grpId="0" animBg="1"/>
      <p:bldP spid="275" grpId="0" animBg="1"/>
      <p:bldP spid="276" grpId="0" animBg="1"/>
      <p:bldGraphic spid="277" grpId="0">
        <p:bldAsOne/>
      </p:bldGraphic>
      <p:bldP spid="27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Every Idea</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Tested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Three people, 329 experiments, and only evidence decided.</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Bias for Action  ·  Ownership  ·  Earn Trust</a:t>
            </a:r>
          </a:p>
        </p:txBody>
      </p:sp>
      <p:graphicFrame>
        <p:nvGraphicFramePr>
          <p:cNvPr id="269" name="Chart 268"/>
          <p:cNvGraphicFramePr>
            <a:graphicFrameLocks noGrp="1"/>
          </p:cNvGraphicFramePr>
          <p:nvPr/>
        </p:nvGraphicFramePr>
        <p:xfrm>
          <a:off x="502920" y="1325880"/>
          <a:ext cx="2514600" cy="2514600"/>
        </p:xfrm>
        <a:graphic>
          <a:graphicData uri="http://schemas.openxmlformats.org/drawingml/2006/chart">
            <c:chart xmlns:c="http://schemas.openxmlformats.org/drawingml/2006/chart" r:id="rId2"/>
          </a:graphicData>
        </a:graphic>
      </p:graphicFrame>
      <p:sp>
        <p:nvSpPr>
          <p:cNvPr id="270" name="TextBox 269"/>
          <p:cNvSpPr txBox="1"/>
          <p:nvPr/>
        </p:nvSpPr>
        <p:spPr>
          <a:xfrm>
            <a:off x="502920" y="2212848"/>
            <a:ext cx="2514600" cy="731520"/>
          </a:xfrm>
          <a:prstGeom prst="rect">
            <a:avLst/>
          </a:prstGeom>
          <a:noFill/>
        </p:spPr>
        <p:txBody>
          <a:bodyPr wrap="square" lIns="0" rIns="0" tIns="0" bIns="0" anchor="t">
            <a:spAutoFit/>
          </a:bodyPr>
          <a:lstStyle/>
          <a:p>
            <a:pPr algn="ctr"/>
            <a:r>
              <a:rPr sz="2600" b="1">
                <a:solidFill>
                  <a:srgbClr val="161D26"/>
                </a:solidFill>
                <a:latin typeface="Ember Modern Display Standard"/>
              </a:rPr>
              <a:t>329</a:t>
            </a:r>
          </a:p>
          <a:p>
            <a:pPr algn="ctr"/>
            <a:r>
              <a:rPr sz="1100" b="0">
                <a:solidFill>
                  <a:srgbClr val="6B7280"/>
                </a:solidFill>
                <a:latin typeface="Ember Modern Display Standard"/>
              </a:rPr>
              <a:t>experiments</a:t>
            </a:r>
          </a:p>
        </p:txBody>
      </p:sp>
      <p:sp>
        <p:nvSpPr>
          <p:cNvPr id="271" name="TextBox 270"/>
          <p:cNvSpPr txBox="1"/>
          <p:nvPr/>
        </p:nvSpPr>
        <p:spPr>
          <a:xfrm>
            <a:off x="502920" y="3977639"/>
            <a:ext cx="2926080" cy="274320"/>
          </a:xfrm>
          <a:prstGeom prst="rect">
            <a:avLst/>
          </a:prstGeom>
          <a:noFill/>
        </p:spPr>
        <p:txBody>
          <a:bodyPr wrap="square" lIns="0" rIns="0" tIns="0" bIns="0" anchor="t">
            <a:spAutoFit/>
          </a:bodyPr>
          <a:lstStyle/>
          <a:p>
            <a:pPr algn="l"/>
            <a:r>
              <a:rPr sz="1050" b="0">
                <a:solidFill>
                  <a:srgbClr val="FF6200"/>
                </a:solidFill>
                <a:latin typeface="Ember Modern Display Standard"/>
              </a:rPr>
              <a:t>■ </a:t>
            </a:r>
            <a:r>
              <a:rPr sz="1050" b="0">
                <a:solidFill>
                  <a:srgbClr val="161D26"/>
                </a:solidFill>
                <a:latin typeface="Ember Modern Display Standard"/>
              </a:rPr>
              <a:t>177 kept   </a:t>
            </a:r>
            <a:r>
              <a:rPr sz="1050" b="0">
                <a:solidFill>
                  <a:srgbClr val="161D26"/>
                </a:solidFill>
                <a:latin typeface="Ember Modern Display Standard"/>
              </a:rPr>
              <a:t>■ </a:t>
            </a:r>
            <a:r>
              <a:rPr sz="1050" b="0">
                <a:solidFill>
                  <a:srgbClr val="161D26"/>
                </a:solidFill>
                <a:latin typeface="Ember Modern Display Standard"/>
              </a:rPr>
              <a:t>126 dropped   </a:t>
            </a:r>
            <a:r>
              <a:rPr sz="1050" b="0">
                <a:solidFill>
                  <a:srgbClr val="D6DCE7"/>
                </a:solidFill>
                <a:latin typeface="Ember Modern Display Standard"/>
              </a:rPr>
              <a:t>■ </a:t>
            </a:r>
            <a:r>
              <a:rPr sz="1050" b="0">
                <a:solidFill>
                  <a:srgbClr val="161D26"/>
                </a:solidFill>
                <a:latin typeface="Ember Modern Display Standard"/>
              </a:rPr>
              <a:t>26 other</a:t>
            </a:r>
          </a:p>
        </p:txBody>
      </p:sp>
      <p:sp>
        <p:nvSpPr>
          <p:cNvPr id="272" name="TextBox 271"/>
          <p:cNvSpPr txBox="1"/>
          <p:nvPr/>
        </p:nvSpPr>
        <p:spPr>
          <a:xfrm>
            <a:off x="3657600" y="1417320"/>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Ameya</a:t>
            </a:r>
          </a:p>
          <a:p>
            <a:pPr algn="l"/>
            <a:r>
              <a:rPr sz="1250" b="0">
                <a:solidFill>
                  <a:srgbClr val="161D26"/>
                </a:solidFill>
                <a:latin typeface="Ember Modern Display Standard"/>
              </a:rPr>
              <a:t>data, blocking, the pipeline, France</a:t>
            </a:r>
          </a:p>
        </p:txBody>
      </p:sp>
      <p:sp>
        <p:nvSpPr>
          <p:cNvPr id="273" name="TextBox 272"/>
          <p:cNvSpPr txBox="1"/>
          <p:nvPr/>
        </p:nvSpPr>
        <p:spPr>
          <a:xfrm>
            <a:off x="3657600" y="2130552"/>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Aarush</a:t>
            </a:r>
          </a:p>
          <a:p>
            <a:pPr algn="l"/>
            <a:r>
              <a:rPr sz="1250" b="0">
                <a:solidFill>
                  <a:srgbClr val="161D26"/>
                </a:solidFill>
                <a:latin typeface="Ember Modern Display Standard"/>
              </a:rPr>
              <a:t>the 7B model, the re-check, the final submission</a:t>
            </a:r>
          </a:p>
        </p:txBody>
      </p:sp>
      <p:sp>
        <p:nvSpPr>
          <p:cNvPr id="274" name="TextBox 273"/>
          <p:cNvSpPr txBox="1"/>
          <p:nvPr/>
        </p:nvSpPr>
        <p:spPr>
          <a:xfrm>
            <a:off x="3657600" y="2843784"/>
            <a:ext cx="4937760" cy="640080"/>
          </a:xfrm>
          <a:prstGeom prst="rect">
            <a:avLst/>
          </a:prstGeom>
          <a:noFill/>
        </p:spPr>
        <p:txBody>
          <a:bodyPr wrap="square" lIns="0" rIns="0" tIns="0" bIns="0" anchor="t">
            <a:spAutoFit/>
          </a:bodyPr>
          <a:lstStyle/>
          <a:p>
            <a:pPr algn="l"/>
            <a:r>
              <a:rPr sz="1600" b="1">
                <a:solidFill>
                  <a:srgbClr val="FF6200"/>
                </a:solidFill>
                <a:latin typeface="Ember Modern Display Standard"/>
              </a:rPr>
              <a:t>Sachi</a:t>
            </a:r>
          </a:p>
          <a:p>
            <a:pPr algn="l"/>
            <a:r>
              <a:rPr sz="1250" b="0">
                <a:solidFill>
                  <a:srgbClr val="161D26"/>
                </a:solidFill>
                <a:latin typeface="Ember Modern Display Standard"/>
              </a:rPr>
              <a:t>testing gates, a Qwen model, synthetic French</a:t>
            </a:r>
          </a:p>
        </p:txBody>
      </p:sp>
      <p:sp>
        <p:nvSpPr>
          <p:cNvPr id="275" name="Rounded Rectangle 274"/>
          <p:cNvSpPr/>
          <p:nvPr/>
        </p:nvSpPr>
        <p:spPr>
          <a:xfrm>
            <a:off x="3657600" y="3611880"/>
            <a:ext cx="4983480" cy="502920"/>
          </a:xfrm>
          <a:prstGeom prst="roundRect">
            <a:avLst>
              <a:gd name="adj" fmla="val 49090"/>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0">
                <a:solidFill>
                  <a:srgbClr val="161D26"/>
                </a:solidFill>
                <a:latin typeface="Ember Modern Display Standard"/>
              </a:rPr>
              <a:t>Our rule: when two ideas tie, keep the simpler 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childTnLst>
                          </p:cTn>
                        </p:par>
                        <p:par>
                          <p:cTn id="18"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2"/>
                                        </p:tgtEl>
                                        <p:attrNameLst>
                                          <p:attrName>style.visibility</p:attrName>
                                        </p:attrNameLst>
                                      </p:cBhvr>
                                      <p:to>
                                        <p:strVal val="visible"/>
                                      </p:to>
                                    </p:set>
                                    <p:animEffect transition="in" filter="fade">
                                      <p:cBhvr>
                                        <p:cTn id="17" dur="450"/>
                                        <p:tgtEl>
                                          <p:spTgt spid="272"/>
                                        </p:tgtEl>
                                      </p:cBhvr>
                                    </p:animEffect>
                                  </p:childTnLst>
                                </p:cTn>
                              </p:par>
                            </p:childTnLst>
                          </p:cTn>
                        </p:par>
                        <p:par>
                          <p:cTn id="22"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3"/>
                                        </p:tgtEl>
                                        <p:attrNameLst>
                                          <p:attrName>style.visibility</p:attrName>
                                        </p:attrNameLst>
                                      </p:cBhvr>
                                      <p:to>
                                        <p:strVal val="visible"/>
                                      </p:to>
                                    </p:set>
                                    <p:animEffect transition="in" filter="fade">
                                      <p:cBhvr>
                                        <p:cTn id="21" dur="450"/>
                                        <p:tgtEl>
                                          <p:spTgt spid="273"/>
                                        </p:tgtEl>
                                      </p:cBhvr>
                                    </p:animEffect>
                                  </p:childTnLst>
                                </p:cTn>
                              </p:par>
                            </p:childTnLst>
                          </p:cTn>
                        </p:par>
                        <p:par>
                          <p:cTn id="26" fill="hold">
                            <p:stCondLst>
                              <p:cond delay="1800"/>
                            </p:stCondLst>
                            <p:childTnLst>
                              <p:par>
                                <p:cTn id="23" presetID="10" presetClass="entr" presetSubtype="0" fill="hold" grpId="0" nodeType="afterEffect">
                                  <p:stCondLst>
                                    <p:cond delay="0"/>
                                  </p:stCondLst>
                                  <p:childTnLst>
                                    <p:set>
                                      <p:cBhvr>
                                        <p:cTn id="24" dur="1" fill="hold">
                                          <p:stCondLst>
                                            <p:cond delay="0"/>
                                          </p:stCondLst>
                                        </p:cTn>
                                        <p:tgtEl>
                                          <p:spTgt spid="274"/>
                                        </p:tgtEl>
                                        <p:attrNameLst>
                                          <p:attrName>style.visibility</p:attrName>
                                        </p:attrNameLst>
                                      </p:cBhvr>
                                      <p:to>
                                        <p:strVal val="visible"/>
                                      </p:to>
                                    </p:set>
                                    <p:animEffect transition="in" filter="fade">
                                      <p:cBhvr>
                                        <p:cTn id="25" dur="450"/>
                                        <p:tgtEl>
                                          <p:spTgt spid="274"/>
                                        </p:tgtEl>
                                      </p:cBhvr>
                                    </p:animEffect>
                                  </p:childTnLst>
                                </p:cTn>
                              </p:par>
                            </p:childTnLst>
                          </p:cTn>
                        </p:par>
                        <p:par>
                          <p:cTn id="30" fill="hold">
                            <p:stCondLst>
                              <p:cond delay="2250"/>
                            </p:stCondLst>
                            <p:childTnLst>
                              <p:par>
                                <p:cTn id="27" presetID="10" presetClass="entr" presetSubtype="0" fill="hold" grpId="0" nodeType="afterEffect">
                                  <p:stCondLst>
                                    <p:cond delay="0"/>
                                  </p:stCondLst>
                                  <p:childTnLst>
                                    <p:set>
                                      <p:cBhvr>
                                        <p:cTn id="28" dur="1" fill="hold">
                                          <p:stCondLst>
                                            <p:cond delay="0"/>
                                          </p:stCondLst>
                                        </p:cTn>
                                        <p:tgtEl>
                                          <p:spTgt spid="275"/>
                                        </p:tgtEl>
                                        <p:attrNameLst>
                                          <p:attrName>style.visibility</p:attrName>
                                        </p:attrNameLst>
                                      </p:cBhvr>
                                      <p:to>
                                        <p:strVal val="visible"/>
                                      </p:to>
                                    </p:set>
                                    <p:animEffect transition="in" filter="fade">
                                      <p:cBhvr>
                                        <p:cTn id="29" dur="450"/>
                                        <p:tgtEl>
                                          <p:spTgt spid="2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The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Climb</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Each upload changed one thing, and we learned from each.</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Deliver Results</a:t>
            </a:r>
          </a:p>
        </p:txBody>
      </p:sp>
      <p:graphicFrame>
        <p:nvGraphicFramePr>
          <p:cNvPr id="269" name="Chart 268"/>
          <p:cNvGraphicFramePr>
            <a:graphicFrameLocks noGrp="1"/>
          </p:cNvGraphicFramePr>
          <p:nvPr/>
        </p:nvGraphicFramePr>
        <p:xfrm>
          <a:off x="411480" y="1298448"/>
          <a:ext cx="5806440" cy="3200400"/>
        </p:xfrm>
        <a:graphic>
          <a:graphicData uri="http://schemas.openxmlformats.org/drawingml/2006/chart">
            <c:chart xmlns:c="http://schemas.openxmlformats.org/drawingml/2006/chart" r:id="rId2"/>
          </a:graphicData>
        </a:graphic>
      </p:graphicFrame>
      <p:sp>
        <p:nvSpPr>
          <p:cNvPr id="270" name="Rounded Rectangle 269"/>
          <p:cNvSpPr/>
          <p:nvPr/>
        </p:nvSpPr>
        <p:spPr>
          <a:xfrm>
            <a:off x="6400800" y="1371600"/>
            <a:ext cx="2240280" cy="3008376"/>
          </a:xfrm>
          <a:prstGeom prst="roundRect">
            <a:avLst>
              <a:gd name="adj" fmla="val 2448"/>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6601968" y="1600200"/>
            <a:ext cx="1920240" cy="228600"/>
          </a:xfrm>
          <a:prstGeom prst="rect">
            <a:avLst/>
          </a:prstGeom>
          <a:noFill/>
        </p:spPr>
        <p:txBody>
          <a:bodyPr wrap="square" lIns="0" rIns="0" tIns="0" bIns="0" anchor="t">
            <a:spAutoFit/>
          </a:bodyPr>
          <a:lstStyle/>
          <a:p>
            <a:pPr algn="l"/>
            <a:r>
              <a:rPr sz="900" b="1">
                <a:solidFill>
                  <a:srgbClr val="FFB28B"/>
                </a:solidFill>
                <a:latin typeface="Ember Modern Display Standard"/>
              </a:rPr>
              <a:t>FINAL SCORE</a:t>
            </a:r>
          </a:p>
        </p:txBody>
      </p:sp>
      <p:sp>
        <p:nvSpPr>
          <p:cNvPr id="272" name="TextBox 271"/>
          <p:cNvSpPr txBox="1"/>
          <p:nvPr/>
        </p:nvSpPr>
        <p:spPr>
          <a:xfrm>
            <a:off x="6601968" y="1828800"/>
            <a:ext cx="1920240" cy="502920"/>
          </a:xfrm>
          <a:prstGeom prst="rect">
            <a:avLst/>
          </a:prstGeom>
          <a:noFill/>
        </p:spPr>
        <p:txBody>
          <a:bodyPr wrap="square" lIns="0" rIns="0" tIns="0" bIns="0" anchor="t">
            <a:spAutoFit/>
          </a:bodyPr>
          <a:lstStyle/>
          <a:p>
            <a:pPr algn="l"/>
            <a:r>
              <a:rPr sz="2500" b="1">
                <a:solidFill>
                  <a:srgbClr val="FF6200"/>
                </a:solidFill>
                <a:latin typeface="Ember Modern Display Standard"/>
              </a:rPr>
              <a:t>0.990879</a:t>
            </a:r>
          </a:p>
        </p:txBody>
      </p:sp>
      <p:sp>
        <p:nvSpPr>
          <p:cNvPr id="273" name="TextBox 272"/>
          <p:cNvSpPr txBox="1"/>
          <p:nvPr/>
        </p:nvSpPr>
        <p:spPr>
          <a:xfrm>
            <a:off x="6601968" y="2304288"/>
            <a:ext cx="1920240" cy="274320"/>
          </a:xfrm>
          <a:prstGeom prst="rect">
            <a:avLst/>
          </a:prstGeom>
          <a:noFill/>
        </p:spPr>
        <p:txBody>
          <a:bodyPr wrap="square" lIns="0" rIns="0" tIns="0" bIns="0" anchor="t">
            <a:spAutoFit/>
          </a:bodyPr>
          <a:lstStyle/>
          <a:p>
            <a:pPr algn="l"/>
            <a:r>
              <a:rPr sz="1150" b="0">
                <a:solidFill>
                  <a:srgbClr val="B8C0CC"/>
                </a:solidFill>
                <a:latin typeface="Ember Modern Display Standard"/>
              </a:rPr>
              <a:t>public leaderboard</a:t>
            </a:r>
          </a:p>
        </p:txBody>
      </p:sp>
      <p:sp>
        <p:nvSpPr>
          <p:cNvPr id="274" name="TextBox 273"/>
          <p:cNvSpPr txBox="1"/>
          <p:nvPr/>
        </p:nvSpPr>
        <p:spPr>
          <a:xfrm>
            <a:off x="6601968" y="2926080"/>
            <a:ext cx="19202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2nd</a:t>
            </a:r>
            <a:r>
              <a:rPr sz="1300" b="0">
                <a:solidFill>
                  <a:srgbClr val="FFFFFF"/>
                </a:solidFill>
                <a:latin typeface="Ember Modern Display Standard"/>
              </a:rPr>
              <a:t>  of the Top 10</a:t>
            </a:r>
          </a:p>
        </p:txBody>
      </p:sp>
      <p:sp>
        <p:nvSpPr>
          <p:cNvPr id="275" name="TextBox 274"/>
          <p:cNvSpPr txBox="1"/>
          <p:nvPr/>
        </p:nvSpPr>
        <p:spPr>
          <a:xfrm>
            <a:off x="6601968" y="3611880"/>
            <a:ext cx="1920240" cy="274320"/>
          </a:xfrm>
          <a:prstGeom prst="rect">
            <a:avLst/>
          </a:prstGeom>
          <a:noFill/>
        </p:spPr>
        <p:txBody>
          <a:bodyPr wrap="square" lIns="0" rIns="0" tIns="0" bIns="0" anchor="t">
            <a:spAutoFit/>
          </a:bodyPr>
          <a:lstStyle/>
          <a:p>
            <a:pPr algn="l"/>
            <a:r>
              <a:rPr sz="1150" b="0">
                <a:solidFill>
                  <a:srgbClr val="FFB28B"/>
                </a:solidFill>
                <a:latin typeface="Ember Modern Display Standard"/>
              </a:rPr>
              <a:t>among 32,000+ teams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wipe(left)">
                                      <p:cBhvr>
                                        <p:cTn id="6" dur="500"/>
                                        <p:tgtEl>
                                          <p:spTgt spid="269"/>
                                        </p:tgtEl>
                                      </p:cBhvr>
                                    </p:animEffect>
                                  </p:childTnLst>
                                </p:cTn>
                              </p:par>
                            </p:childTnLst>
                          </p:cTn>
                        </p:par>
                        <p:par>
                          <p:cTn id="20" fill="hold">
                            <p:stCondLst>
                              <p:cond delay="500"/>
                            </p:stCondLst>
                            <p:childTnLst>
                              <p:par>
                                <p:cTn id="8" presetID="10" presetClass="entr" presetSubtype="0" fill="hold" grpId="0" nodeType="afterEffect">
                                  <p:stCondLst>
                                    <p:cond delay="0"/>
                                  </p:stCondLst>
                                  <p:childTnLst>
                                    <p:set>
                                      <p:cBhvr>
                                        <p:cTn id="9" dur="1" fill="hold">
                                          <p:stCondLst>
                                            <p:cond delay="0"/>
                                          </p:stCondLst>
                                        </p:cTn>
                                        <p:tgtEl>
                                          <p:spTgt spid="270"/>
                                        </p:tgtEl>
                                        <p:attrNameLst>
                                          <p:attrName>style.visibility</p:attrName>
                                        </p:attrNameLst>
                                      </p:cBhvr>
                                      <p:to>
                                        <p:strVal val="visible"/>
                                      </p:to>
                                    </p:set>
                                    <p:animEffect transition="in" filter="fade">
                                      <p:cBhvr>
                                        <p:cTn id="10" dur="450"/>
                                        <p:tgtEl>
                                          <p:spTgt spid="27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1"/>
                                        </p:tgtEl>
                                        <p:attrNameLst>
                                          <p:attrName>style.visibility</p:attrName>
                                        </p:attrNameLst>
                                      </p:cBhvr>
                                      <p:to>
                                        <p:strVal val="visible"/>
                                      </p:to>
                                    </p:set>
                                    <p:animEffect transition="in" filter="fade">
                                      <p:cBhvr>
                                        <p:cTn id="13" dur="450"/>
                                        <p:tgtEl>
                                          <p:spTgt spid="27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2"/>
                                        </p:tgtEl>
                                        <p:attrNameLst>
                                          <p:attrName>style.visibility</p:attrName>
                                        </p:attrNameLst>
                                      </p:cBhvr>
                                      <p:to>
                                        <p:strVal val="visible"/>
                                      </p:to>
                                    </p:set>
                                    <p:animEffect transition="in" filter="fade">
                                      <p:cBhvr>
                                        <p:cTn id="16" dur="450"/>
                                        <p:tgtEl>
                                          <p:spTgt spid="27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3"/>
                                        </p:tgtEl>
                                        <p:attrNameLst>
                                          <p:attrName>style.visibility</p:attrName>
                                        </p:attrNameLst>
                                      </p:cBhvr>
                                      <p:to>
                                        <p:strVal val="visible"/>
                                      </p:to>
                                    </p:set>
                                    <p:animEffect transition="in" filter="fade">
                                      <p:cBhvr>
                                        <p:cTn id="19" dur="450"/>
                                        <p:tgtEl>
                                          <p:spTgt spid="273"/>
                                        </p:tgtEl>
                                      </p:cBhvr>
                                    </p:animEffect>
                                  </p:childTnLst>
                                </p:cTn>
                              </p:par>
                            </p:childTnLst>
                          </p:cTn>
                        </p:par>
                        <p:par>
                          <p:cTn id="27" fill="hold">
                            <p:stCondLst>
                              <p:cond delay="950"/>
                            </p:stCondLst>
                            <p:childTnLst>
                              <p:par>
                                <p:cTn id="21" presetID="10" presetClass="entr" presetSubtype="0" fill="hold" grpId="0" nodeType="afterEffect">
                                  <p:stCondLst>
                                    <p:cond delay="0"/>
                                  </p:stCondLst>
                                  <p:childTnLst>
                                    <p:set>
                                      <p:cBhvr>
                                        <p:cTn id="22" dur="1" fill="hold">
                                          <p:stCondLst>
                                            <p:cond delay="0"/>
                                          </p:stCondLst>
                                        </p:cTn>
                                        <p:tgtEl>
                                          <p:spTgt spid="274"/>
                                        </p:tgtEl>
                                        <p:attrNameLst>
                                          <p:attrName>style.visibility</p:attrName>
                                        </p:attrNameLst>
                                      </p:cBhvr>
                                      <p:to>
                                        <p:strVal val="visible"/>
                                      </p:to>
                                    </p:set>
                                    <p:animEffect transition="in" filter="fade">
                                      <p:cBhvr>
                                        <p:cTn id="23" dur="450"/>
                                        <p:tgtEl>
                                          <p:spTgt spid="27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fade">
                                      <p:cBhvr>
                                        <p:cTn id="26" dur="450"/>
                                        <p:tgtEl>
                                          <p:spTgt spid="2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69" grpId="0">
        <p:bldAsOne/>
      </p:bldGraphic>
      <p:bldP spid="270" grpId="0" animBg="1"/>
      <p:bldP spid="271" grpId="0" animBg="1"/>
      <p:bldP spid="272" grpId="0" animBg="1"/>
      <p:bldP spid="273" grpId="0" animBg="1"/>
      <p:bldP spid="274" grpId="0" animBg="1"/>
      <p:bldP spid="27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265"/>
        <p:cNvGrpSpPr/>
        <p:nvPr/>
      </p:nvGrpSpPr>
      <p:grpSpPr>
        <a:xfrm>
          <a:off x="0" y="0"/>
          <a:ext cx="0" cy="0"/>
          <a:chOff x="0" y="0"/>
          <a:chExt cx="0" cy="0"/>
        </a:xfrm>
      </p:grpSpPr>
      <p:sp>
        <p:nvSpPr>
          <p:cNvPr id="266" name="Google Shape;266;p42"/>
          <p:cNvSpPr>
            <a:spLocks noGrp="1" noRot="1" noMove="1" noResize="1" noEditPoints="1" noAdjustHandles="1" noChangeArrowheads="1" noChangeShapeType="1"/>
          </p:cNvSpPr>
          <p:nvPr/>
        </p:nvSpPr>
        <p:spPr>
          <a:xfrm>
            <a:off x="239400" y="198600"/>
            <a:ext cx="8665200" cy="4746300"/>
          </a:xfrm>
          <a:prstGeom prst="roundRect">
            <a:avLst>
              <a:gd name="adj" fmla="val 230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mber Modern Display Standard" panose="020B0503020204020204" pitchFamily="34" charset="0"/>
            </a:endParaRPr>
          </a:p>
        </p:txBody>
      </p:sp>
      <p:pic>
        <p:nvPicPr>
          <p:cNvPr id="18" name="Picture 17">
            <a:extLst>
              <a:ext uri="{FF2B5EF4-FFF2-40B4-BE49-F238E27FC236}">
                <a16:creationId xmlns:a16="http://schemas.microsoft.com/office/drawing/2014/main" id="{D5ECEFE9-E472-7AAB-38A6-250A92180EB7}"/>
              </a:ext>
            </a:extLst>
          </p:cNvPr>
          <p:cNvPicPr>
            <a:picLocks noGrp="1" noRo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rcRect/>
          <a:stretch/>
        </p:blipFill>
        <p:spPr>
          <a:xfrm>
            <a:off x="8120900" y="352642"/>
            <a:ext cx="554186" cy="185610"/>
          </a:xfrm>
          <a:prstGeom prst="rect">
            <a:avLst/>
          </a:prstGeom>
        </p:spPr>
      </p:pic>
      <p:sp>
        <p:nvSpPr>
          <p:cNvPr id="2" name="Google Shape;267;p42">
            <a:extLst>
              <a:ext uri="{FF2B5EF4-FFF2-40B4-BE49-F238E27FC236}">
                <a16:creationId xmlns:a16="http://schemas.microsoft.com/office/drawing/2014/main" id="{25C426BC-3C84-EEEE-F6B4-050A4A5F0CF5}"/>
              </a:ext>
            </a:extLst>
          </p:cNvPr>
          <p:cNvSpPr txBox="1"/>
          <p:nvPr/>
        </p:nvSpPr>
        <p:spPr>
          <a:xfrm>
            <a:off x="316975" y="441425"/>
            <a:ext cx="8358111" cy="825000"/>
          </a:xfrm>
          <a:prstGeom prst="rect">
            <a:avLst/>
          </a:prstGeom>
          <a:noFill/>
          <a:ln>
            <a:noFill/>
          </a:ln>
        </p:spPr>
        <p:txBody>
          <a:bodyPr spcFirstLastPara="1" wrap="square" lIns="91425" tIns="91425" rIns="91425" bIns="91425" anchor="t" anchorCtr="0">
            <a:spAutoFit/>
          </a:bodyPr>
          <a:lstStyle/>
          <a:p>
            <a:pPr marL="0" lvl="0" indent="0" algn="l" rtl="0">
              <a:lnSpc>
                <a:spcPct val="80000"/>
              </a:lnSpc>
              <a:spcBef>
                <a:spcPts val="0"/>
              </a:spcBef>
              <a:spcAft>
                <a:spcPts val="0"/>
              </a:spcAft>
              <a:buNone/>
            </a:pPr>
            <a:r>
              <a:rPr lang="en" sz="3000" b="1" dirty="0">
                <a:solidFill>
                  <a:schemeClr val="accent2"/>
                </a:solidFill>
                <a:latin typeface="Ember Modern Display Standard" panose="020B0503020204020204" pitchFamily="34" charset="0"/>
                <a:ea typeface="Special Gothic"/>
                <a:cs typeface="Special Gothic"/>
                <a:sym typeface="Special Gothic"/>
              </a:rPr>
              <a:t>What We</a:t>
            </a:r>
            <a:r>
              <a:rPr lang="en" sz="3000" b="1" dirty="0">
                <a:solidFill>
                  <a:schemeClr val="dk1"/>
                </a:solidFill>
                <a:latin typeface="Ember Modern Display Standard" panose="020B0503020204020204" pitchFamily="34" charset="0"/>
                <a:ea typeface="Special Gothic"/>
                <a:cs typeface="Special Gothic"/>
                <a:sym typeface="Special Gothic"/>
              </a:rPr>
              <a:t> </a:t>
            </a:r>
            <a:r>
              <a:rPr lang="en" sz="3000" b="1" dirty="0">
                <a:solidFill>
                  <a:srgbClr val="FF6200"/>
                </a:solidFill>
                <a:latin typeface="Ember Modern Display Standard" panose="020B0503020204020204" pitchFamily="34" charset="0"/>
                <a:ea typeface="Special Gothic"/>
                <a:cs typeface="Special Gothic"/>
                <a:sym typeface="Special Gothic"/>
              </a:rPr>
              <a:t>Learned</a:t>
            </a:r>
            <a:br>
              <a:rPr lang="en" sz="1100" dirty="0">
                <a:solidFill>
                  <a:srgbClr val="222222"/>
                </a:solidFill>
                <a:highlight>
                  <a:srgbClr val="FFFFFF"/>
                </a:highlight>
                <a:latin typeface="Ember Modern Display Standard" panose="020B0503020204020204" pitchFamily="34" charset="0"/>
                <a:ea typeface="Special Gothic"/>
                <a:cs typeface="Special Gothic"/>
                <a:sym typeface="Special Gothic"/>
              </a:rPr>
            </a:br>
            <a:br>
              <a:rPr lang="en" sz="1100" dirty="0">
                <a:solidFill>
                  <a:schemeClr val="accent2"/>
                </a:solidFill>
                <a:highlight>
                  <a:srgbClr val="FFFFFF"/>
                </a:highlight>
                <a:latin typeface="Ember Modern Display Standard" panose="020B0503020204020204" pitchFamily="34" charset="0"/>
                <a:ea typeface="Special Gothic"/>
                <a:cs typeface="Special Gothic"/>
                <a:sym typeface="Special Gothic"/>
              </a:rPr>
            </a:br>
            <a:r>
              <a:rPr lang="en" sz="1100" dirty="0">
                <a:solidFill>
                  <a:schemeClr val="accent2"/>
                </a:solidFill>
                <a:latin typeface="Ember Modern Display Standard" panose="020B0503020204020204" pitchFamily="34" charset="0"/>
              </a:rPr>
              <a:t>And what we would do next, at Amazon scale.</a:t>
            </a:r>
            <a:endParaRPr sz="3000" b="1" dirty="0">
              <a:solidFill>
                <a:schemeClr val="accent2"/>
              </a:solidFill>
              <a:latin typeface="Ember Modern Display Standard" panose="020B0503020204020204" pitchFamily="34" charset="0"/>
              <a:ea typeface="Special Gothic"/>
              <a:cs typeface="Special Gothic"/>
              <a:sym typeface="Special Gothic"/>
            </a:endParaRPr>
          </a:p>
        </p:txBody>
      </p:sp>
      <p:sp>
        <p:nvSpPr>
          <p:cNvPr id="267" name="TextBox 266"/>
          <p:cNvSpPr txBox="1"/>
          <p:nvPr/>
        </p:nvSpPr>
        <p:spPr>
          <a:xfrm>
            <a:off x="502920" y="4608576"/>
            <a:ext cx="5029200" cy="201168"/>
          </a:xfrm>
          <a:prstGeom prst="rect">
            <a:avLst/>
          </a:prstGeom>
          <a:noFill/>
        </p:spPr>
        <p:txBody>
          <a:bodyPr wrap="square" lIns="0" rIns="0" tIns="0" bIns="0" anchor="t">
            <a:spAutoFit/>
          </a:bodyPr>
          <a:lstStyle/>
          <a:p>
            <a:pPr algn="l"/>
            <a:r>
              <a:rPr sz="850" b="0">
                <a:solidFill>
                  <a:srgbClr val="B8C0CC"/>
                </a:solidFill>
                <a:latin typeface="Ember Modern Display Standard"/>
              </a:rPr>
              <a:t>01 Understanding</a:t>
            </a:r>
            <a:r>
              <a:rPr sz="850" b="0">
                <a:solidFill>
                  <a:srgbClr val="161D26"/>
                </a:solidFill>
                <a:latin typeface="Ember Modern Display Standard"/>
              </a:rPr>
              <a:t>    </a:t>
            </a:r>
            <a:r>
              <a:rPr sz="850" b="0">
                <a:solidFill>
                  <a:srgbClr val="B8C0CC"/>
                </a:solidFill>
                <a:latin typeface="Ember Modern Display Standard"/>
              </a:rPr>
              <a:t>02 Building</a:t>
            </a:r>
            <a:r>
              <a:rPr sz="850" b="0">
                <a:solidFill>
                  <a:srgbClr val="161D26"/>
                </a:solidFill>
                <a:latin typeface="Ember Modern Display Standard"/>
              </a:rPr>
              <a:t>    </a:t>
            </a:r>
            <a:r>
              <a:rPr sz="850" b="0">
                <a:solidFill>
                  <a:srgbClr val="B8C0CC"/>
                </a:solidFill>
                <a:latin typeface="Ember Modern Display Standard"/>
              </a:rPr>
              <a:t>03 Feedback</a:t>
            </a:r>
            <a:r>
              <a:rPr sz="850" b="0">
                <a:solidFill>
                  <a:srgbClr val="161D26"/>
                </a:solidFill>
                <a:latin typeface="Ember Modern Display Standard"/>
              </a:rPr>
              <a:t>    </a:t>
            </a:r>
            <a:r>
              <a:rPr sz="850" b="1">
                <a:solidFill>
                  <a:srgbClr val="FF6200"/>
                </a:solidFill>
                <a:latin typeface="Ember Modern Display Standard"/>
              </a:rPr>
              <a:t>04 Results</a:t>
            </a:r>
          </a:p>
        </p:txBody>
      </p:sp>
      <p:sp>
        <p:nvSpPr>
          <p:cNvPr id="268" name="TextBox 267"/>
          <p:cNvSpPr txBox="1"/>
          <p:nvPr/>
        </p:nvSpPr>
        <p:spPr>
          <a:xfrm>
            <a:off x="5486400" y="4608576"/>
            <a:ext cx="3154680" cy="201168"/>
          </a:xfrm>
          <a:prstGeom prst="rect">
            <a:avLst/>
          </a:prstGeom>
          <a:noFill/>
        </p:spPr>
        <p:txBody>
          <a:bodyPr wrap="square" lIns="0" rIns="0" tIns="0" bIns="0" anchor="t">
            <a:spAutoFit/>
          </a:bodyPr>
          <a:lstStyle/>
          <a:p>
            <a:pPr algn="r"/>
            <a:r>
              <a:rPr sz="700" b="0">
                <a:solidFill>
                  <a:srgbClr val="FF6200"/>
                </a:solidFill>
                <a:latin typeface="Ember Modern Display Standard"/>
              </a:rPr>
              <a:t>● </a:t>
            </a:r>
            <a:r>
              <a:rPr sz="850" b="0">
                <a:solidFill>
                  <a:srgbClr val="6B7280"/>
                </a:solidFill>
                <a:latin typeface="Ember Modern Display Standard"/>
              </a:rPr>
              <a:t>Success and Scale Bring Broad Responsibility</a:t>
            </a:r>
          </a:p>
        </p:txBody>
      </p:sp>
      <p:sp>
        <p:nvSpPr>
          <p:cNvPr id="269" name="Rounded Rectangle 268"/>
          <p:cNvSpPr/>
          <p:nvPr/>
        </p:nvSpPr>
        <p:spPr>
          <a:xfrm>
            <a:off x="502920" y="1371600"/>
            <a:ext cx="3931920" cy="3008376"/>
          </a:xfrm>
          <a:prstGeom prst="roundRect">
            <a:avLst>
              <a:gd name="adj" fmla="val 1823"/>
            </a:avLst>
          </a:prstGeom>
          <a:solidFill>
            <a:srgbClr val="F5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731520" y="1554480"/>
            <a:ext cx="356616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Lessons</a:t>
            </a:r>
          </a:p>
        </p:txBody>
      </p:sp>
      <p:sp>
        <p:nvSpPr>
          <p:cNvPr id="271" name="Rounded Rectangle 270"/>
          <p:cNvSpPr/>
          <p:nvPr/>
        </p:nvSpPr>
        <p:spPr>
          <a:xfrm>
            <a:off x="4709160" y="1371600"/>
            <a:ext cx="3931920" cy="3008376"/>
          </a:xfrm>
          <a:prstGeom prst="roundRect">
            <a:avLst>
              <a:gd name="adj" fmla="val 1823"/>
            </a:avLst>
          </a:prstGeom>
          <a:solidFill>
            <a:srgbClr val="161D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extBox 271"/>
          <p:cNvSpPr txBox="1"/>
          <p:nvPr/>
        </p:nvSpPr>
        <p:spPr>
          <a:xfrm>
            <a:off x="4937760" y="1554480"/>
            <a:ext cx="3566160" cy="320040"/>
          </a:xfrm>
          <a:prstGeom prst="rect">
            <a:avLst/>
          </a:prstGeom>
          <a:noFill/>
        </p:spPr>
        <p:txBody>
          <a:bodyPr wrap="square" lIns="0" rIns="0" tIns="0" bIns="0" anchor="t">
            <a:spAutoFit/>
          </a:bodyPr>
          <a:lstStyle/>
          <a:p>
            <a:pPr algn="l"/>
            <a:r>
              <a:rPr sz="1500" b="1">
                <a:solidFill>
                  <a:srgbClr val="FF6200"/>
                </a:solidFill>
                <a:latin typeface="Ember Modern Display Standard"/>
              </a:rPr>
              <a:t>Next, at scale</a:t>
            </a:r>
          </a:p>
        </p:txBody>
      </p:sp>
      <p:sp>
        <p:nvSpPr>
          <p:cNvPr id="273" name="TextBox 272"/>
          <p:cNvSpPr txBox="1"/>
          <p:nvPr/>
        </p:nvSpPr>
        <p:spPr>
          <a:xfrm>
            <a:off x="731520" y="2011680"/>
            <a:ext cx="3566160" cy="685800"/>
          </a:xfrm>
          <a:prstGeom prst="rect">
            <a:avLst/>
          </a:prstGeom>
          <a:noFill/>
        </p:spPr>
        <p:txBody>
          <a:bodyPr wrap="square" lIns="0" rIns="0" tIns="0" bIns="0" anchor="t">
            <a:spAutoFit/>
          </a:bodyPr>
          <a:lstStyle/>
          <a:p>
            <a:pPr algn="l"/>
            <a:r>
              <a:rPr sz="1500" b="1">
                <a:solidFill>
                  <a:srgbClr val="161D26"/>
                </a:solidFill>
                <a:latin typeface="Ember Modern Display Standard"/>
              </a:rPr>
              <a:t>Data first</a:t>
            </a:r>
          </a:p>
          <a:p>
            <a:pPr algn="l"/>
            <a:r>
              <a:rPr sz="1200" b="0">
                <a:solidFill>
                  <a:srgbClr val="161D26"/>
                </a:solidFill>
                <a:latin typeface="Ember Modern Display Standard"/>
              </a:rPr>
              <a:t>it drove every good decision</a:t>
            </a:r>
          </a:p>
        </p:txBody>
      </p:sp>
      <p:sp>
        <p:nvSpPr>
          <p:cNvPr id="274" name="TextBox 273"/>
          <p:cNvSpPr txBox="1"/>
          <p:nvPr/>
        </p:nvSpPr>
        <p:spPr>
          <a:xfrm>
            <a:off x="731520" y="2761488"/>
            <a:ext cx="3566160" cy="685800"/>
          </a:xfrm>
          <a:prstGeom prst="rect">
            <a:avLst/>
          </a:prstGeom>
          <a:noFill/>
        </p:spPr>
        <p:txBody>
          <a:bodyPr wrap="square" lIns="0" rIns="0" tIns="0" bIns="0" anchor="t">
            <a:spAutoFit/>
          </a:bodyPr>
          <a:lstStyle/>
          <a:p>
            <a:pPr algn="l"/>
            <a:r>
              <a:rPr sz="1500" b="1">
                <a:solidFill>
                  <a:srgbClr val="161D26"/>
                </a:solidFill>
                <a:latin typeface="Ember Modern Display Standard"/>
              </a:rPr>
              <a:t>Doubt estimates</a:t>
            </a:r>
          </a:p>
          <a:p>
            <a:pPr algn="l"/>
            <a:r>
              <a:rPr sz="1200" b="0">
                <a:solidFill>
                  <a:srgbClr val="161D26"/>
                </a:solidFill>
                <a:latin typeface="Ember Modern Display Standard"/>
              </a:rPr>
              <a:t>they share the model's blind spots</a:t>
            </a:r>
          </a:p>
        </p:txBody>
      </p:sp>
      <p:sp>
        <p:nvSpPr>
          <p:cNvPr id="275" name="TextBox 274"/>
          <p:cNvSpPr txBox="1"/>
          <p:nvPr/>
        </p:nvSpPr>
        <p:spPr>
          <a:xfrm>
            <a:off x="731520" y="3511296"/>
            <a:ext cx="3566160" cy="685800"/>
          </a:xfrm>
          <a:prstGeom prst="rect">
            <a:avLst/>
          </a:prstGeom>
          <a:noFill/>
        </p:spPr>
        <p:txBody>
          <a:bodyPr wrap="square" lIns="0" rIns="0" tIns="0" bIns="0" anchor="t">
            <a:spAutoFit/>
          </a:bodyPr>
          <a:lstStyle/>
          <a:p>
            <a:pPr algn="l"/>
            <a:r>
              <a:rPr sz="1500" b="1">
                <a:solidFill>
                  <a:srgbClr val="161D26"/>
                </a:solidFill>
                <a:latin typeface="Ember Modern Display Standard"/>
              </a:rPr>
              <a:t>Diversity wins</a:t>
            </a:r>
          </a:p>
          <a:p>
            <a:pPr algn="l"/>
            <a:r>
              <a:rPr sz="1200" b="0">
                <a:solidFill>
                  <a:srgbClr val="161D26"/>
                </a:solidFill>
                <a:latin typeface="Ember Modern Display Standard"/>
              </a:rPr>
              <a:t>most of all in the unknown</a:t>
            </a:r>
          </a:p>
        </p:txBody>
      </p:sp>
      <p:sp>
        <p:nvSpPr>
          <p:cNvPr id="276" name="TextBox 275"/>
          <p:cNvSpPr txBox="1"/>
          <p:nvPr/>
        </p:nvSpPr>
        <p:spPr>
          <a:xfrm>
            <a:off x="4937760" y="2011680"/>
            <a:ext cx="3566160" cy="685800"/>
          </a:xfrm>
          <a:prstGeom prst="rect">
            <a:avLst/>
          </a:prstGeom>
          <a:noFill/>
        </p:spPr>
        <p:txBody>
          <a:bodyPr wrap="square" lIns="0" rIns="0" tIns="0" bIns="0" anchor="t">
            <a:spAutoFit/>
          </a:bodyPr>
          <a:lstStyle/>
          <a:p>
            <a:pPr algn="l"/>
            <a:r>
              <a:rPr sz="1500" b="1">
                <a:solidFill>
                  <a:srgbClr val="FFFFFF"/>
                </a:solidFill>
                <a:latin typeface="Ember Modern Display Standard"/>
              </a:rPr>
              <a:t>Label a little</a:t>
            </a:r>
          </a:p>
          <a:p>
            <a:pPr algn="l"/>
            <a:r>
              <a:rPr sz="1200" b="0">
                <a:solidFill>
                  <a:srgbClr val="FFFFFF"/>
                </a:solidFill>
                <a:latin typeface="Ember Modern Display Standard"/>
              </a:rPr>
              <a:t>500 French pairs where models disagree</a:t>
            </a:r>
          </a:p>
        </p:txBody>
      </p:sp>
      <p:sp>
        <p:nvSpPr>
          <p:cNvPr id="277" name="TextBox 276"/>
          <p:cNvSpPr txBox="1"/>
          <p:nvPr/>
        </p:nvSpPr>
        <p:spPr>
          <a:xfrm>
            <a:off x="4937760" y="2761488"/>
            <a:ext cx="3566160" cy="685800"/>
          </a:xfrm>
          <a:prstGeom prst="rect">
            <a:avLst/>
          </a:prstGeom>
          <a:noFill/>
        </p:spPr>
        <p:txBody>
          <a:bodyPr wrap="square" lIns="0" rIns="0" tIns="0" bIns="0" anchor="t">
            <a:spAutoFit/>
          </a:bodyPr>
          <a:lstStyle/>
          <a:p>
            <a:pPr algn="l"/>
            <a:r>
              <a:rPr sz="1500" b="1">
                <a:solidFill>
                  <a:srgbClr val="FFFFFF"/>
                </a:solidFill>
                <a:latin typeface="Ember Modern Display Standard"/>
              </a:rPr>
              <a:t>Shard the work</a:t>
            </a:r>
          </a:p>
          <a:p>
            <a:pPr algn="l"/>
            <a:r>
              <a:rPr sz="1200" b="0">
                <a:solidFill>
                  <a:srgbClr val="FFFFFF"/>
                </a:solidFill>
                <a:latin typeface="Ember Modern Display Standard"/>
              </a:rPr>
              <a:t>by country and region</a:t>
            </a:r>
          </a:p>
        </p:txBody>
      </p:sp>
      <p:sp>
        <p:nvSpPr>
          <p:cNvPr id="278" name="TextBox 277"/>
          <p:cNvSpPr txBox="1"/>
          <p:nvPr/>
        </p:nvSpPr>
        <p:spPr>
          <a:xfrm>
            <a:off x="4937760" y="3511296"/>
            <a:ext cx="3566160" cy="685800"/>
          </a:xfrm>
          <a:prstGeom prst="rect">
            <a:avLst/>
          </a:prstGeom>
          <a:noFill/>
        </p:spPr>
        <p:txBody>
          <a:bodyPr wrap="square" lIns="0" rIns="0" tIns="0" bIns="0" anchor="t">
            <a:spAutoFit/>
          </a:bodyPr>
          <a:lstStyle/>
          <a:p>
            <a:pPr algn="l"/>
            <a:r>
              <a:rPr sz="1500" b="1">
                <a:solidFill>
                  <a:srgbClr val="FFFFFF"/>
                </a:solidFill>
                <a:latin typeface="Ember Modern Display Standard"/>
              </a:rPr>
              <a:t>Guard the ratio</a:t>
            </a:r>
          </a:p>
          <a:p>
            <a:pPr algn="l"/>
            <a:r>
              <a:rPr sz="1200" b="0">
                <a:solidFill>
                  <a:srgbClr val="FFFFFF"/>
                </a:solidFill>
                <a:latin typeface="Ember Modern Display Standard"/>
              </a:rPr>
              <a:t>keep 3 to 4 candidates per entity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269"/>
                                        </p:tgtEl>
                                        <p:attrNameLst>
                                          <p:attrName>style.visibility</p:attrName>
                                        </p:attrNameLst>
                                      </p:cBhvr>
                                      <p:to>
                                        <p:strVal val="visible"/>
                                      </p:to>
                                    </p:set>
                                    <p:animEffect transition="in" filter="fade">
                                      <p:cBhvr>
                                        <p:cTn id="6" dur="450"/>
                                        <p:tgtEl>
                                          <p:spTgt spid="269"/>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270"/>
                                        </p:tgtEl>
                                        <p:attrNameLst>
                                          <p:attrName>style.visibility</p:attrName>
                                        </p:attrNameLst>
                                      </p:cBhvr>
                                      <p:to>
                                        <p:strVal val="visible"/>
                                      </p:to>
                                    </p:set>
                                    <p:animEffect transition="in" filter="fade">
                                      <p:cBhvr>
                                        <p:cTn id="9" dur="450"/>
                                        <p:tgtEl>
                                          <p:spTgt spid="270"/>
                                        </p:tgtEl>
                                      </p:cBhvr>
                                    </p:animEffect>
                                  </p:childTnLst>
                                </p:cTn>
                              </p:par>
                            </p:childTnLst>
                          </p:cTn>
                        </p:par>
                        <p:par>
                          <p:cTn id="14" fill="hold">
                            <p:stCondLst>
                              <p:cond delay="450"/>
                            </p:stCondLst>
                            <p:childTnLst>
                              <p:par>
                                <p:cTn id="11" presetID="10" presetClass="entr" presetSubtype="0" fill="hold" grpId="0" nodeType="afterEffect">
                                  <p:stCondLst>
                                    <p:cond delay="0"/>
                                  </p:stCondLst>
                                  <p:childTnLst>
                                    <p:set>
                                      <p:cBhvr>
                                        <p:cTn id="12" dur="1" fill="hold">
                                          <p:stCondLst>
                                            <p:cond delay="0"/>
                                          </p:stCondLst>
                                        </p:cTn>
                                        <p:tgtEl>
                                          <p:spTgt spid="273"/>
                                        </p:tgtEl>
                                        <p:attrNameLst>
                                          <p:attrName>style.visibility</p:attrName>
                                        </p:attrNameLst>
                                      </p:cBhvr>
                                      <p:to>
                                        <p:strVal val="visible"/>
                                      </p:to>
                                    </p:set>
                                    <p:animEffect transition="in" filter="fade">
                                      <p:cBhvr>
                                        <p:cTn id="13" dur="450"/>
                                        <p:tgtEl>
                                          <p:spTgt spid="273"/>
                                        </p:tgtEl>
                                      </p:cBhvr>
                                    </p:animEffect>
                                  </p:childTnLst>
                                </p:cTn>
                              </p:par>
                            </p:childTnLst>
                          </p:cTn>
                        </p:par>
                        <p:par>
                          <p:cTn id="18"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274"/>
                                        </p:tgtEl>
                                        <p:attrNameLst>
                                          <p:attrName>style.visibility</p:attrName>
                                        </p:attrNameLst>
                                      </p:cBhvr>
                                      <p:to>
                                        <p:strVal val="visible"/>
                                      </p:to>
                                    </p:set>
                                    <p:animEffect transition="in" filter="fade">
                                      <p:cBhvr>
                                        <p:cTn id="17" dur="450"/>
                                        <p:tgtEl>
                                          <p:spTgt spid="274"/>
                                        </p:tgtEl>
                                      </p:cBhvr>
                                    </p:animEffect>
                                  </p:childTnLst>
                                </p:cTn>
                              </p:par>
                            </p:childTnLst>
                          </p:cTn>
                        </p:par>
                        <p:par>
                          <p:cTn id="22" fill="hold">
                            <p:stCondLst>
                              <p:cond delay="1350"/>
                            </p:stCondLst>
                            <p:childTnLst>
                              <p:par>
                                <p:cTn id="19" presetID="10" presetClass="entr" presetSubtype="0" fill="hold" grpId="0" nodeType="afterEffect">
                                  <p:stCondLst>
                                    <p:cond delay="0"/>
                                  </p:stCondLst>
                                  <p:childTnLst>
                                    <p:set>
                                      <p:cBhvr>
                                        <p:cTn id="20" dur="1" fill="hold">
                                          <p:stCondLst>
                                            <p:cond delay="0"/>
                                          </p:stCondLst>
                                        </p:cTn>
                                        <p:tgtEl>
                                          <p:spTgt spid="275"/>
                                        </p:tgtEl>
                                        <p:attrNameLst>
                                          <p:attrName>style.visibility</p:attrName>
                                        </p:attrNameLst>
                                      </p:cBhvr>
                                      <p:to>
                                        <p:strVal val="visible"/>
                                      </p:to>
                                    </p:set>
                                    <p:animEffect transition="in" filter="fade">
                                      <p:cBhvr>
                                        <p:cTn id="21" dur="450"/>
                                        <p:tgtEl>
                                          <p:spTgt spid="275"/>
                                        </p:tgtEl>
                                      </p:cBhvr>
                                    </p:animEffect>
                                  </p:childTnLst>
                                </p:cTn>
                              </p:par>
                            </p:childTnLst>
                          </p:cTn>
                        </p:par>
                        <p:par>
                          <p:cTn id="29" fill="hold">
                            <p:stCondLst>
                              <p:cond delay="1800"/>
                            </p:stCondLst>
                            <p:childTnLst>
                              <p:par>
                                <p:cTn id="23" presetID="10" presetClass="entr" presetSubtype="0" fill="hold" grpId="0" nodeType="afterEffect">
                                  <p:stCondLst>
                                    <p:cond delay="0"/>
                                  </p:stCondLst>
                                  <p:childTnLst>
                                    <p:set>
                                      <p:cBhvr>
                                        <p:cTn id="24" dur="1" fill="hold">
                                          <p:stCondLst>
                                            <p:cond delay="0"/>
                                          </p:stCondLst>
                                        </p:cTn>
                                        <p:tgtEl>
                                          <p:spTgt spid="271"/>
                                        </p:tgtEl>
                                        <p:attrNameLst>
                                          <p:attrName>style.visibility</p:attrName>
                                        </p:attrNameLst>
                                      </p:cBhvr>
                                      <p:to>
                                        <p:strVal val="visible"/>
                                      </p:to>
                                    </p:set>
                                    <p:animEffect transition="in" filter="fade">
                                      <p:cBhvr>
                                        <p:cTn id="25" dur="450"/>
                                        <p:tgtEl>
                                          <p:spTgt spid="27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72"/>
                                        </p:tgtEl>
                                        <p:attrNameLst>
                                          <p:attrName>style.visibility</p:attrName>
                                        </p:attrNameLst>
                                      </p:cBhvr>
                                      <p:to>
                                        <p:strVal val="visible"/>
                                      </p:to>
                                    </p:set>
                                    <p:animEffect transition="in" filter="fade">
                                      <p:cBhvr>
                                        <p:cTn id="28" dur="450"/>
                                        <p:tgtEl>
                                          <p:spTgt spid="272"/>
                                        </p:tgtEl>
                                      </p:cBhvr>
                                    </p:animEffect>
                                  </p:childTnLst>
                                </p:cTn>
                              </p:par>
                            </p:childTnLst>
                          </p:cTn>
                        </p:par>
                        <p:par>
                          <p:cTn id="33" fill="hold">
                            <p:stCondLst>
                              <p:cond delay="2250"/>
                            </p:stCondLst>
                            <p:childTnLst>
                              <p:par>
                                <p:cTn id="30" presetID="10" presetClass="entr" presetSubtype="0" fill="hold" grpId="0" nodeType="afterEffect">
                                  <p:stCondLst>
                                    <p:cond delay="0"/>
                                  </p:stCondLst>
                                  <p:childTnLst>
                                    <p:set>
                                      <p:cBhvr>
                                        <p:cTn id="31" dur="1" fill="hold">
                                          <p:stCondLst>
                                            <p:cond delay="0"/>
                                          </p:stCondLst>
                                        </p:cTn>
                                        <p:tgtEl>
                                          <p:spTgt spid="276"/>
                                        </p:tgtEl>
                                        <p:attrNameLst>
                                          <p:attrName>style.visibility</p:attrName>
                                        </p:attrNameLst>
                                      </p:cBhvr>
                                      <p:to>
                                        <p:strVal val="visible"/>
                                      </p:to>
                                    </p:set>
                                    <p:animEffect transition="in" filter="fade">
                                      <p:cBhvr>
                                        <p:cTn id="32" dur="450"/>
                                        <p:tgtEl>
                                          <p:spTgt spid="276"/>
                                        </p:tgtEl>
                                      </p:cBhvr>
                                    </p:animEffect>
                                  </p:childTnLst>
                                </p:cTn>
                              </p:par>
                            </p:childTnLst>
                          </p:cTn>
                        </p:par>
                        <p:par>
                          <p:cTn id="37" fill="hold">
                            <p:stCondLst>
                              <p:cond delay="2700"/>
                            </p:stCondLst>
                            <p:childTnLst>
                              <p:par>
                                <p:cTn id="34" presetID="10" presetClass="entr" presetSubtype="0" fill="hold" grpId="0" nodeType="afterEffect">
                                  <p:stCondLst>
                                    <p:cond delay="0"/>
                                  </p:stCondLst>
                                  <p:childTnLst>
                                    <p:set>
                                      <p:cBhvr>
                                        <p:cTn id="35" dur="1" fill="hold">
                                          <p:stCondLst>
                                            <p:cond delay="0"/>
                                          </p:stCondLst>
                                        </p:cTn>
                                        <p:tgtEl>
                                          <p:spTgt spid="277"/>
                                        </p:tgtEl>
                                        <p:attrNameLst>
                                          <p:attrName>style.visibility</p:attrName>
                                        </p:attrNameLst>
                                      </p:cBhvr>
                                      <p:to>
                                        <p:strVal val="visible"/>
                                      </p:to>
                                    </p:set>
                                    <p:animEffect transition="in" filter="fade">
                                      <p:cBhvr>
                                        <p:cTn id="36" dur="450"/>
                                        <p:tgtEl>
                                          <p:spTgt spid="277"/>
                                        </p:tgtEl>
                                      </p:cBhvr>
                                    </p:animEffect>
                                  </p:childTnLst>
                                </p:cTn>
                              </p:par>
                            </p:childTnLst>
                          </p:cTn>
                        </p:par>
                        <p:par>
                          <p:cTn id="41" fill="hold">
                            <p:stCondLst>
                              <p:cond delay="3150"/>
                            </p:stCondLst>
                            <p:childTnLst>
                              <p:par>
                                <p:cTn id="38" presetID="10" presetClass="entr" presetSubtype="0" fill="hold" grpId="0" nodeType="afterEffect">
                                  <p:stCondLst>
                                    <p:cond delay="0"/>
                                  </p:stCondLst>
                                  <p:childTnLst>
                                    <p:set>
                                      <p:cBhvr>
                                        <p:cTn id="39" dur="1" fill="hold">
                                          <p:stCondLst>
                                            <p:cond delay="0"/>
                                          </p:stCondLst>
                                        </p:cTn>
                                        <p:tgtEl>
                                          <p:spTgt spid="278"/>
                                        </p:tgtEl>
                                        <p:attrNameLst>
                                          <p:attrName>style.visibility</p:attrName>
                                        </p:attrNameLst>
                                      </p:cBhvr>
                                      <p:to>
                                        <p:strVal val="visible"/>
                                      </p:to>
                                    </p:set>
                                    <p:animEffect transition="in" filter="fade">
                                      <p:cBhvr>
                                        <p:cTn id="40" dur="4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9" grpId="0" animBg="1"/>
      <p:bldP spid="270" grpId="0" animBg="1"/>
      <p:bldP spid="273" grpId="0" animBg="1"/>
      <p:bldP spid="274" grpId="0" animBg="1"/>
      <p:bldP spid="275" grpId="0" animBg="1"/>
      <p:bldP spid="271" grpId="0" animBg="1"/>
      <p:bldP spid="272" grpId="0" animBg="1"/>
      <p:bldP spid="276" grpId="0" animBg="1"/>
      <p:bldP spid="277" grpId="0" animBg="1"/>
      <p:bldP spid="27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1 of 4</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01</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Understanding the problem</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What the data told us, and the rules we set ourselves.</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2 of 4</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02</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Building the solution</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How we search, score and decide.</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3 of 4</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03</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Learning from feedback</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What the leaderboard showed us, and how we responded.</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1143000" y="3474720"/>
            <a:ext cx="1371600" cy="310896"/>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100" b="1">
                <a:solidFill>
                  <a:srgbClr val="FFFFFF"/>
                </a:solidFill>
                <a:latin typeface="Ember Modern Display Standard"/>
              </a:rPr>
              <a:t>Part 4 of 4</a:t>
            </a:r>
          </a:p>
        </p:txBody>
      </p:sp>
      <p:sp>
        <p:nvSpPr>
          <p:cNvPr id="126" name="TextBox 125"/>
          <p:cNvSpPr txBox="1"/>
          <p:nvPr/>
        </p:nvSpPr>
        <p:spPr>
          <a:xfrm>
            <a:off x="1143000" y="1097280"/>
            <a:ext cx="3657600" cy="1005840"/>
          </a:xfrm>
          <a:prstGeom prst="rect">
            <a:avLst/>
          </a:prstGeom>
          <a:noFill/>
        </p:spPr>
        <p:txBody>
          <a:bodyPr wrap="square" lIns="0" rIns="0" tIns="0" bIns="0" anchor="t">
            <a:spAutoFit/>
          </a:bodyPr>
          <a:lstStyle/>
          <a:p>
            <a:pPr algn="l"/>
            <a:r>
              <a:rPr sz="7200" b="1">
                <a:solidFill>
                  <a:srgbClr val="FF6200"/>
                </a:solidFill>
                <a:latin typeface="Ember Modern Display Standard"/>
              </a:rPr>
              <a:t>04</a:t>
            </a:r>
          </a:p>
        </p:txBody>
      </p:sp>
      <p:sp>
        <p:nvSpPr>
          <p:cNvPr id="127" name="TextBox 126"/>
          <p:cNvSpPr txBox="1"/>
          <p:nvPr/>
        </p:nvSpPr>
        <p:spPr>
          <a:xfrm>
            <a:off x="1143000" y="2194560"/>
            <a:ext cx="6949440" cy="640080"/>
          </a:xfrm>
          <a:prstGeom prst="rect">
            <a:avLst/>
          </a:prstGeom>
          <a:noFill/>
        </p:spPr>
        <p:txBody>
          <a:bodyPr wrap="square" lIns="0" rIns="0" tIns="0" bIns="0" anchor="t">
            <a:spAutoFit/>
          </a:bodyPr>
          <a:lstStyle/>
          <a:p>
            <a:pPr algn="l"/>
            <a:r>
              <a:rPr sz="3400" b="1">
                <a:solidFill>
                  <a:srgbClr val="FFFFFF"/>
                </a:solidFill>
                <a:latin typeface="Ember Modern Display Standard"/>
              </a:rPr>
              <a:t>Results and reflection</a:t>
            </a:r>
          </a:p>
        </p:txBody>
      </p:sp>
      <p:sp>
        <p:nvSpPr>
          <p:cNvPr id="128" name="TextBox 127"/>
          <p:cNvSpPr txBox="1"/>
          <p:nvPr/>
        </p:nvSpPr>
        <p:spPr>
          <a:xfrm>
            <a:off x="1143000" y="2852928"/>
            <a:ext cx="6949440" cy="365760"/>
          </a:xfrm>
          <a:prstGeom prst="rect">
            <a:avLst/>
          </a:prstGeom>
          <a:noFill/>
        </p:spPr>
        <p:txBody>
          <a:bodyPr wrap="square" lIns="0" rIns="0" tIns="0" bIns="0" anchor="t">
            <a:spAutoFit/>
          </a:bodyPr>
          <a:lstStyle/>
          <a:p>
            <a:pPr algn="l"/>
            <a:r>
              <a:rPr sz="1500" b="0">
                <a:solidFill>
                  <a:srgbClr val="D6DCE7"/>
                </a:solidFill>
                <a:latin typeface="Ember Modern Display Standard"/>
              </a:rPr>
              <a:t>How we worked, where we landed, and what we learned.</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7"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8"/>
                                        </p:tgtEl>
                                        <p:attrNameLst>
                                          <p:attrName>style.visibility</p:attrName>
                                        </p:attrNameLst>
                                      </p:cBhvr>
                                      <p:to>
                                        <p:strVal val="visible"/>
                                      </p:to>
                                    </p:set>
                                    <p:animEffect transition="in" filter="fade">
                                      <p:cBhvr>
                                        <p:cTn id="13" dur="450"/>
                                        <p:tgtEl>
                                          <p:spTgt spid="1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128" grpId="0" animBg="1"/>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61D26"/>
        </a:solidFill>
        <a:effectLst/>
      </p:bgPr>
    </p:bg>
    <p:spTree>
      <p:nvGrpSpPr>
        <p:cNvPr id="1" name="Shape 124">
          <a:extLst>
            <a:ext uri="{FF2B5EF4-FFF2-40B4-BE49-F238E27FC236}">
              <a16:creationId xmlns:a16="http://schemas.microsoft.com/office/drawing/2014/main" id="{73DD50EC-CAFF-8F02-F010-6694E0B1FB8B}"/>
            </a:ext>
          </a:extLst>
        </p:cNvPr>
        <p:cNvGrpSpPr/>
        <p:nvPr/>
      </p:nvGrpSpPr>
      <p:grpSpPr>
        <a:xfrm>
          <a:off x="0" y="0"/>
          <a:ext cx="0" cy="0"/>
          <a:chOff x="0" y="0"/>
          <a:chExt cx="0" cy="0"/>
        </a:xfrm>
      </p:grpSpPr>
      <p:sp>
        <p:nvSpPr>
          <p:cNvPr id="125" name="Google Shape;125;p36">
            <a:extLst>
              <a:ext uri="{FF2B5EF4-FFF2-40B4-BE49-F238E27FC236}">
                <a16:creationId xmlns:a16="http://schemas.microsoft.com/office/drawing/2014/main" id="{FB03AD22-4ED4-FE94-6FE7-8417ED8F816B}"/>
              </a:ext>
            </a:extLst>
          </p:cNvPr>
          <p:cNvSpPr>
            <a:spLocks noGrp="1" noRot="1" noMove="1" noResize="1" noEditPoints="1" noAdjustHandles="1" noChangeArrowheads="1" noChangeShapeType="1"/>
          </p:cNvSpPr>
          <p:nvPr/>
        </p:nvSpPr>
        <p:spPr>
          <a:xfrm>
            <a:off x="487675" y="403650"/>
            <a:ext cx="8181300" cy="4153800"/>
          </a:xfrm>
          <a:prstGeom prst="roundRect">
            <a:avLst>
              <a:gd name="adj" fmla="val 2303"/>
            </a:avLst>
          </a:prstGeom>
          <a:solidFill>
            <a:srgbClr val="29344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Picture 1" descr="A logo of a company&#10;&#10;AI-generated content may be incorrect.">
            <a:extLst>
              <a:ext uri="{FF2B5EF4-FFF2-40B4-BE49-F238E27FC236}">
                <a16:creationId xmlns:a16="http://schemas.microsoft.com/office/drawing/2014/main" id="{7EBF125C-021C-FEB9-9139-9A3274BE5891}"/>
              </a:ext>
            </a:extLst>
          </p:cNvPr>
          <p:cNvPicPr>
            <a:picLocks noGrp="1" noRot="1" noChangeAspect="1" noMove="1" noResize="1" noEditPoints="1" noAdjustHandles="1" noChangeArrowheads="1" noChangeShapeType="1" noCrop="1"/>
          </p:cNvPicPr>
          <p:nvPr/>
        </p:nvPicPr>
        <p:blipFill>
          <a:blip r:embed="rId3" cstate="screen">
            <a:extLst>
              <a:ext uri="{28A0092B-C50C-407E-A947-70E740481C1C}">
                <a14:useLocalDpi xmlns:a14="http://schemas.microsoft.com/office/drawing/2010/main"/>
              </a:ext>
            </a:extLst>
          </a:blip>
          <a:stretch>
            <a:fillRect/>
          </a:stretch>
        </p:blipFill>
        <p:spPr>
          <a:xfrm>
            <a:off x="4294907" y="4731974"/>
            <a:ext cx="554186" cy="185801"/>
          </a:xfrm>
          <a:prstGeom prst="rect">
            <a:avLst/>
          </a:prstGeom>
        </p:spPr>
      </p:pic>
      <p:sp>
        <p:nvSpPr>
          <p:cNvPr id="4" name="Google Shape;572;p58">
            <a:extLst>
              <a:ext uri="{FF2B5EF4-FFF2-40B4-BE49-F238E27FC236}">
                <a16:creationId xmlns:a16="http://schemas.microsoft.com/office/drawing/2014/main" id="{2BD61A1F-1DC5-B773-FCE6-6725995FE91D}"/>
              </a:ext>
            </a:extLst>
          </p:cNvPr>
          <p:cNvSpPr/>
          <p:nvPr/>
        </p:nvSpPr>
        <p:spPr>
          <a:xfrm>
            <a:off x="3035315" y="3156693"/>
            <a:ext cx="3114474" cy="292800"/>
          </a:xfrm>
          <a:prstGeom prst="roundRect">
            <a:avLst>
              <a:gd name="adj" fmla="val 50000"/>
            </a:avLst>
          </a:prstGeom>
          <a:solidFill>
            <a:srgbClr val="FF620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algn="ctr"/>
            <a:r>
              <a:rPr sz="1200" b="1">
                <a:solidFill>
                  <a:srgbClr val="FFFFFF"/>
                </a:solidFill>
                <a:latin typeface="Ember Modern Display Standard"/>
              </a:rPr>
              <a:t>Questions welcome</a:t>
            </a:r>
          </a:p>
        </p:txBody>
      </p:sp>
      <p:sp>
        <p:nvSpPr>
          <p:cNvPr id="126" name="TextBox 125"/>
          <p:cNvSpPr txBox="1"/>
          <p:nvPr/>
        </p:nvSpPr>
        <p:spPr>
          <a:xfrm>
            <a:off x="484632" y="1051560"/>
            <a:ext cx="8183879" cy="822960"/>
          </a:xfrm>
          <a:prstGeom prst="rect">
            <a:avLst/>
          </a:prstGeom>
          <a:noFill/>
        </p:spPr>
        <p:txBody>
          <a:bodyPr wrap="square" lIns="0" rIns="0" tIns="0" bIns="0" anchor="t">
            <a:spAutoFit/>
          </a:bodyPr>
          <a:lstStyle/>
          <a:p>
            <a:pPr algn="ctr"/>
            <a:r>
              <a:rPr sz="4400" b="1">
                <a:solidFill>
                  <a:srgbClr val="FFFFFF"/>
                </a:solidFill>
                <a:latin typeface="Ember Modern Display Standard"/>
              </a:rPr>
              <a:t>Thank </a:t>
            </a:r>
            <a:r>
              <a:rPr sz="4400" b="1">
                <a:solidFill>
                  <a:srgbClr val="FF6200"/>
                </a:solidFill>
                <a:latin typeface="Ember Modern Display Standard"/>
              </a:rPr>
              <a:t>You</a:t>
            </a:r>
          </a:p>
        </p:txBody>
      </p:sp>
      <p:sp>
        <p:nvSpPr>
          <p:cNvPr id="127" name="TextBox 126"/>
          <p:cNvSpPr txBox="1"/>
          <p:nvPr/>
        </p:nvSpPr>
        <p:spPr>
          <a:xfrm>
            <a:off x="914400" y="2148840"/>
            <a:ext cx="7315200" cy="365760"/>
          </a:xfrm>
          <a:prstGeom prst="rect">
            <a:avLst/>
          </a:prstGeom>
          <a:noFill/>
        </p:spPr>
        <p:txBody>
          <a:bodyPr wrap="square" lIns="0" rIns="0" tIns="0" bIns="0" anchor="t">
            <a:spAutoFit/>
          </a:bodyPr>
          <a:lstStyle/>
          <a:p>
            <a:pPr algn="ctr"/>
            <a:r>
              <a:rPr sz="1500" b="0">
                <a:solidFill>
                  <a:srgbClr val="D6DCE7"/>
                </a:solidFill>
                <a:latin typeface="Ember Modern Display Standard"/>
              </a:rPr>
              <a:t>Read the data.   Decide like the metric.   Spend compute where it matters.</a:t>
            </a:r>
          </a:p>
        </p:txBody>
      </p:sp>
      <p:sp>
        <p:nvSpPr>
          <p:cNvPr id="128" name="TextBox 127"/>
          <p:cNvSpPr txBox="1"/>
          <p:nvPr/>
        </p:nvSpPr>
        <p:spPr>
          <a:xfrm>
            <a:off x="484632" y="3749039"/>
            <a:ext cx="8183879" cy="274320"/>
          </a:xfrm>
          <a:prstGeom prst="rect">
            <a:avLst/>
          </a:prstGeom>
          <a:noFill/>
        </p:spPr>
        <p:txBody>
          <a:bodyPr wrap="square" lIns="0" rIns="0" tIns="0" bIns="0" anchor="t">
            <a:spAutoFit/>
          </a:bodyPr>
          <a:lstStyle/>
          <a:p>
            <a:pPr algn="ctr"/>
            <a:r>
              <a:rPr sz="1100" b="0">
                <a:solidFill>
                  <a:srgbClr val="B8C0CC"/>
                </a:solidFill>
                <a:latin typeface="Ember Modern Display Standard"/>
              </a:rPr>
              <a:t>Team Grenuke  ·  Ameya Borkar  ·  Aarush Bakshi  ·  Sachi Dhoka</a:t>
            </a:r>
          </a:p>
        </p:txBody>
      </p:sp>
    </p:spTree>
    <p:extLst>
      <p:ext uri="{BB962C8B-B14F-4D97-AF65-F5344CB8AC3E}">
        <p14:creationId xmlns:p14="http://schemas.microsoft.com/office/powerpoint/2010/main" val="32279695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126"/>
                                        </p:tgtEl>
                                        <p:attrNameLst>
                                          <p:attrName>style.visibility</p:attrName>
                                        </p:attrNameLst>
                                      </p:cBhvr>
                                      <p:to>
                                        <p:strVal val="visible"/>
                                      </p:to>
                                    </p:set>
                                    <p:animEffect transition="in" filter="fade">
                                      <p:cBhvr>
                                        <p:cTn id="6" dur="450"/>
                                        <p:tgtEl>
                                          <p:spTgt spid="126"/>
                                        </p:tgtEl>
                                      </p:cBhvr>
                                    </p:animEffect>
                                  </p:childTnLst>
                                </p:cTn>
                              </p:par>
                            </p:childTnLst>
                          </p:cTn>
                        </p:par>
                        <p:par>
                          <p:cTn id="11" fill="hold">
                            <p:stCondLst>
                              <p:cond delay="450"/>
                            </p:stCondLst>
                            <p:childTnLst>
                              <p:par>
                                <p:cTn id="8" presetID="10" presetClass="entr" presetSubtype="0" fill="hold" grpId="0" nodeType="afterEffect">
                                  <p:stCondLst>
                                    <p:cond delay="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childTnLst>
                          </p:cTn>
                        </p:par>
                        <p:par>
                          <p:cTn id="18" fill="hold">
                            <p:stCondLst>
                              <p:cond delay="9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5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8"/>
                                        </p:tgtEl>
                                        <p:attrNameLst>
                                          <p:attrName>style.visibility</p:attrName>
                                        </p:attrNameLst>
                                      </p:cBhvr>
                                      <p:to>
                                        <p:strVal val="visible"/>
                                      </p:to>
                                    </p:set>
                                    <p:animEffect transition="in" filter="fade">
                                      <p:cBhvr>
                                        <p:cTn id="17" dur="45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animBg="1"/>
      <p:bldP spid="127" grpId="0" animBg="1"/>
      <p:bldP spid="4" grpId="0" animBg="1"/>
      <p:bldP spid="128" grpId="0" animBg="1"/>
    </p:bldLst>
  </p:timing>
</p:sld>
</file>

<file path=ppt/theme/theme1.xml><?xml version="1.0" encoding="utf-8"?>
<a:theme xmlns:a="http://schemas.openxmlformats.org/drawingml/2006/main" name="Amazon">
  <a:themeElements>
    <a:clrScheme name="Simple Light">
      <a:dk1>
        <a:srgbClr val="000000"/>
      </a:dk1>
      <a:lt1>
        <a:srgbClr val="FFFFFF"/>
      </a:lt1>
      <a:dk2>
        <a:srgbClr val="595959"/>
      </a:dk2>
      <a:lt2>
        <a:srgbClr val="EEEEEE"/>
      </a:lt2>
      <a:accent1>
        <a:srgbClr val="FF6200"/>
      </a:accent1>
      <a:accent2>
        <a:srgbClr val="161D26"/>
      </a:accent2>
      <a:accent3>
        <a:srgbClr val="F5F3EF"/>
      </a:accent3>
      <a:accent4>
        <a:srgbClr val="FFB28B"/>
      </a:accent4>
      <a:accent5>
        <a:srgbClr val="D1CAC2"/>
      </a:accent5>
      <a:accent6>
        <a:srgbClr val="D6DCE7"/>
      </a:accent6>
      <a:hlink>
        <a:srgbClr val="B6BF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473</TotalTime>
  <Words>285</Words>
  <Application>Microsoft Office PowerPoint</Application>
  <PresentationFormat>On-screen Show (16:9)</PresentationFormat>
  <Paragraphs>13</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Ember Modern Display Standard</vt:lpstr>
      <vt:lpstr>Arial</vt:lpstr>
      <vt:lpstr>Helvetica Neue</vt:lpstr>
      <vt:lpstr>Play</vt:lpstr>
      <vt:lpstr>Amazon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Kumar A, Lathish</dc:creator>
  <cp:lastModifiedBy>Kumar A, Lathish</cp:lastModifiedBy>
  <cp:revision>16</cp:revision>
  <dcterms:modified xsi:type="dcterms:W3CDTF">2026-10-03T09:35:33Z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2026-01-29T18:51:21Z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c58a1bf8-dfa2-42af-b639-c349773bb8a9</vt:lpwstr>
  </property>
  <property fmtid="{D5CDD505-2E9C-101B-9397-08002B2CF9AE}" pid="8" name="MSIP_Label_19e68092-05df-4271-8e3e-b2a4c82ba797_ContentBits">
    <vt:lpwstr>0</vt:lpwstr>
  </property>
  <property fmtid="{D5CDD505-2E9C-101B-9397-08002B2CF9AE}" pid="9" name="MSIP_Label_19e68092-05df-4271-8e3e-b2a4c82ba797_Tag">
    <vt:lpwstr>10, 3, 0, 1</vt:lpwstr>
  </property>
</Properties>
</file>